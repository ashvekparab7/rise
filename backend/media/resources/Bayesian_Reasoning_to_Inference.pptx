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rikrishna Narvekar" initials="SN" lastIdx="1" clrIdx="0">
    <p:extLst>
      <p:ext uri="{19B8F6BF-5375-455C-9EA6-DF929625EA0E}">
        <p15:presenceInfo xmlns:p15="http://schemas.microsoft.com/office/powerpoint/2012/main" userId="f4bc5d624d5605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23T13:51:21.376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BC4FB-5184-496D-AEE3-847B6979934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DB785-0728-43B6-A4DC-9FB024C5A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46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Real-World Example</a:t>
            </a:r>
          </a:p>
          <a:p>
            <a:r>
              <a:rPr lang="en-US" dirty="0"/>
              <a:t>Google uses Naive Bayes for:</a:t>
            </a:r>
          </a:p>
          <a:p>
            <a:r>
              <a:rPr lang="en-US" dirty="0"/>
              <a:t>Spell correction</a:t>
            </a:r>
          </a:p>
          <a:p>
            <a:r>
              <a:rPr lang="en-US" dirty="0"/>
              <a:t>Spam filtering</a:t>
            </a:r>
          </a:p>
          <a:p>
            <a:r>
              <a:rPr lang="en-US" dirty="0"/>
              <a:t>Text classification</a:t>
            </a:r>
          </a:p>
          <a:p>
            <a:r>
              <a:rPr lang="en-US" dirty="0"/>
              <a:t>It performs competitively with:</a:t>
            </a:r>
          </a:p>
          <a:p>
            <a:r>
              <a:rPr lang="en-US" dirty="0"/>
              <a:t>Decision Trees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In many large dataset cases, it even outperforms them.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77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Problem with Assumptions</a:t>
            </a:r>
          </a:p>
          <a:p>
            <a:r>
              <a:rPr lang="en-US" dirty="0"/>
              <a:t>Most classical distributions:</a:t>
            </a:r>
          </a:p>
          <a:p>
            <a:r>
              <a:rPr lang="en-US" dirty="0"/>
              <a:t>Are </a:t>
            </a:r>
            <a:r>
              <a:rPr lang="en-US" b="1" dirty="0"/>
              <a:t>Unimodal</a:t>
            </a:r>
            <a:r>
              <a:rPr lang="en-US" dirty="0"/>
              <a:t> (one peak)</a:t>
            </a:r>
          </a:p>
          <a:p>
            <a:r>
              <a:rPr lang="en-US" dirty="0"/>
              <a:t>But real-world data:</a:t>
            </a:r>
          </a:p>
          <a:p>
            <a:r>
              <a:rPr lang="en-US" dirty="0"/>
              <a:t>Often </a:t>
            </a:r>
            <a:r>
              <a:rPr lang="en-US" b="1" dirty="0"/>
              <a:t>Multimodal</a:t>
            </a:r>
            <a:r>
              <a:rPr lang="en-US" dirty="0"/>
              <a:t> (multiple peaks)</a:t>
            </a:r>
          </a:p>
          <a:p>
            <a:r>
              <a:rPr lang="en-US" dirty="0"/>
              <a:t>So assumptions may be unrealistic.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50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Interpretation: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looking at the word “Offer”, we believe: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 emails are Spam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 emails are Not Spam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our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belief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73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email is Spam → 80% chance it contains “Offer”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email is Not Spam → 10% chance it contains “Offer</a:t>
            </a:r>
          </a:p>
          <a:p>
            <a:pPr lvl="0"/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Interpretation:</a:t>
            </a:r>
            <a:b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38% of all emails contain the word “Offer”.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 acts as a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normalization factor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19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Final Interpretation</a:t>
                </a: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𝑆𝑝𝑎𝑚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∣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𝑂𝑓𝑓𝑒𝑟</m:t>
                      </m:r>
                      <m:r>
                        <a:rPr lang="en-IN" sz="1200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)=84.2</m:t>
                      </m:r>
                      <m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%</m:t>
                      </m:r>
                    </m:oMath>
                  </m:oMathPara>
                </a14:m>
                <a:b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an email contains the word “Offer”, there is </a:t>
                </a:r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84.2% probability</a:t>
                </a:r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that it is Spam.</a:t>
                </a:r>
              </a:p>
              <a:p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called </a:t>
                </a:r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posterior probability</a:t>
                </a:r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meaning:</a:t>
                </a:r>
              </a:p>
              <a:p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Complete Understanding in One Line</a:t>
                </a: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Posterior=</a:t>
                </a:r>
                <a14:m>
                  <m:oMath xmlns:m="http://schemas.openxmlformats.org/officeDocument/2006/math">
                    <m:r>
                      <a:rPr lang="en-IN" sz="1200" b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​</m:t>
                    </m:r>
                    <m:f>
                      <m:fPr>
                        <m:ctrlPr>
                          <a:rPr lang="en-IN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IN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𝐏𝐫𝐢𝐨𝐫</m:t>
                        </m:r>
                        <m:r>
                          <a:rPr lang="en-IN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IN" sz="1200" b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r>
                          <a:rPr lang="en-IN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lang="en-IN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𝐋𝐢𝐤𝐞𝐥𝐢𝐡𝐨𝐨𝐝</m:t>
                        </m:r>
                      </m:num>
                      <m:den>
                        <m:r>
                          <a:rPr lang="en-IN" sz="1200" b="1" i="1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𝐄𝐯𝐢𝐝𝐞𝐧𝐜𝐞</m:t>
                        </m:r>
                      </m:den>
                    </m:f>
                  </m:oMath>
                </a14:m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Final Interpretation</a:t>
                </a: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N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𝑃(𝑆𝑝𝑎𝑚∣𝑂𝑓𝑓𝑒𝑟)=84.2%</a:t>
                </a:r>
                <a:b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an email contains the word “Offer”, there is </a:t>
                </a:r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84.2% probability</a:t>
                </a:r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that it is Spam.</a:t>
                </a:r>
              </a:p>
              <a:p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called </a:t>
                </a:r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posterior probability</a:t>
                </a:r>
                <a:r>
                  <a:rPr lang="en-IN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meaning:</a:t>
                </a:r>
              </a:p>
              <a:p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Complete Understanding in One Line</a:t>
                </a: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IN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Posterior=</a:t>
                </a:r>
                <a:r>
                  <a:rPr lang="en-IN" sz="1200" b="1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 (𝐏𝐫𝐢𝐨𝐫 × 𝐋𝐢𝐤𝐞𝐥𝐢𝐡𝐨𝐨𝐝)/𝐄𝐯𝐢𝐝𝐞𝐧𝐜𝐞</a:t>
                </a:r>
                <a:endParaRPr lang="en-IN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IN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10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Flight Delay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82% flights are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Time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18% flights are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Delayed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very simple rule: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 all flights as "On Time"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 = 82%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called the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majority class rule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it ignores all features like: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Day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Weather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Carrier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Departure time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classifier should do better than this baseline.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0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real life: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are NOT truly independent.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this assumption simplifies computation greatly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773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real life, attributes are often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dependent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we predict </a:t>
            </a:r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Lung Cancer</a:t>
            </a: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Smoking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History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Pollution</a:t>
            </a:r>
          </a:p>
          <a:p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reality: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Smoking and Pollution may be related.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Family history and cancer risk may also be related.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149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Simple Example</a:t>
            </a:r>
          </a:p>
          <a:p>
            <a:r>
              <a:rPr lang="en-US" dirty="0"/>
              <a:t>Suppose:</a:t>
            </a:r>
          </a:p>
          <a:p>
            <a:r>
              <a:rPr lang="en-US" dirty="0"/>
              <a:t>Rain (R)</a:t>
            </a:r>
          </a:p>
          <a:p>
            <a:r>
              <a:rPr lang="en-US" dirty="0"/>
              <a:t>Wet Ground (W)</a:t>
            </a:r>
          </a:p>
          <a:p>
            <a:r>
              <a:rPr lang="en-US" dirty="0"/>
              <a:t>Sprinkler (S)</a:t>
            </a:r>
          </a:p>
          <a:p>
            <a:r>
              <a:rPr lang="en-US" dirty="0"/>
              <a:t>Rain and sprinkler both cause wet ground.</a:t>
            </a:r>
          </a:p>
          <a:p>
            <a:r>
              <a:rPr lang="en-US" dirty="0"/>
              <a:t>If we know the </a:t>
            </a:r>
            <a:r>
              <a:rPr lang="en-US" b="1" dirty="0"/>
              <a:t>ground is wet</a:t>
            </a:r>
            <a:r>
              <a:rPr lang="en-US" dirty="0"/>
              <a:t>, Rain and Sprinkler are not independent.</a:t>
            </a:r>
          </a:p>
          <a:p>
            <a:r>
              <a:rPr lang="en-US" dirty="0"/>
              <a:t>But if we know </a:t>
            </a:r>
            <a:r>
              <a:rPr lang="en-US" b="1" dirty="0"/>
              <a:t>whether rain occurred</a:t>
            </a:r>
            <a:r>
              <a:rPr lang="en-US" dirty="0"/>
              <a:t>, sprinkler and wet ground become conditionally independent.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48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Meaning:</a:t>
            </a:r>
          </a:p>
          <a:p>
            <a:r>
              <a:rPr lang="en-US" dirty="0"/>
              <a:t>If a person has </a:t>
            </a:r>
            <a:r>
              <a:rPr lang="en-US" b="1" dirty="0"/>
              <a:t>family history</a:t>
            </a:r>
            <a:r>
              <a:rPr lang="en-US" dirty="0"/>
              <a:t>, risk of lung cancer increases.</a:t>
            </a:r>
          </a:p>
          <a:p>
            <a:r>
              <a:rPr lang="en-US" dirty="0"/>
              <a:t>If a person </a:t>
            </a:r>
            <a:r>
              <a:rPr lang="en-US" b="1" dirty="0"/>
              <a:t>smokes</a:t>
            </a:r>
            <a:r>
              <a:rPr lang="en-US" dirty="0"/>
              <a:t>, risk of lung cancer increases.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DB785-0728-43B6-A4DC-9FB024C5AD1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869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48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18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788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40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07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79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58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09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0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15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331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53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44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521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284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166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28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9D5AD1-4AAF-4E3D-AB09-D8C4E6F682CB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93D761C-DF8E-4804-8F45-5F05CB77A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48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C0FC-0168-646C-19B3-B1E2C31F67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Reasoning to Inference 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46E5A-0B68-5E5F-238D-D8D725D7EF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Shrikrishna Anand Narvekar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91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8D84-1E0E-DD5A-2E52-D03523B9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E9E47-89E9-277F-5AF3-238F8197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Model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assumptions in Bayesian learning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belief network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89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8596-F8BC-024D-8DA7-07A3A91A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4ADA-BE2C-CA15-60F6-07F0F628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232" y="2491618"/>
            <a:ext cx="9601196" cy="3318936"/>
          </a:xfrm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Earlier, prediction problems assumed: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is either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uncertainty considered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only on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maximizing success rate (accuracy)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a model predicts whether an email is Spam or Not Spam: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prediction is binary —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probability attached.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095B25-07ED-08DC-10C2-A882C7C72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41337"/>
              </p:ext>
            </p:extLst>
          </p:nvPr>
        </p:nvGraphicFramePr>
        <p:xfrm>
          <a:off x="6270171" y="4880740"/>
          <a:ext cx="5066522" cy="1188720"/>
        </p:xfrm>
        <a:graphic>
          <a:graphicData uri="http://schemas.openxmlformats.org/drawingml/2006/table">
            <a:tbl>
              <a:tblPr/>
              <a:tblGrid>
                <a:gridCol w="1046477">
                  <a:extLst>
                    <a:ext uri="{9D8B030D-6E8A-4147-A177-3AD203B41FA5}">
                      <a16:colId xmlns:a16="http://schemas.microsoft.com/office/drawing/2014/main" val="2153322708"/>
                    </a:ext>
                  </a:extLst>
                </a:gridCol>
                <a:gridCol w="1254239">
                  <a:extLst>
                    <a:ext uri="{9D8B030D-6E8A-4147-A177-3AD203B41FA5}">
                      <a16:colId xmlns:a16="http://schemas.microsoft.com/office/drawing/2014/main" val="2697417848"/>
                    </a:ext>
                  </a:extLst>
                </a:gridCol>
                <a:gridCol w="1447360">
                  <a:extLst>
                    <a:ext uri="{9D8B030D-6E8A-4147-A177-3AD203B41FA5}">
                      <a16:colId xmlns:a16="http://schemas.microsoft.com/office/drawing/2014/main" val="2074909396"/>
                    </a:ext>
                  </a:extLst>
                </a:gridCol>
                <a:gridCol w="1318446">
                  <a:extLst>
                    <a:ext uri="{9D8B030D-6E8A-4147-A177-3AD203B41FA5}">
                      <a16:colId xmlns:a16="http://schemas.microsoft.com/office/drawing/2014/main" val="1006642718"/>
                    </a:ext>
                  </a:extLst>
                </a:gridCol>
              </a:tblGrid>
              <a:tr h="382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821869"/>
                  </a:ext>
                </a:extLst>
              </a:tr>
              <a:tr h="382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784765"/>
                  </a:ext>
                </a:extLst>
              </a:tr>
              <a:tr h="382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561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23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6FBB-D7A3-D1E9-C1A3-7C3DDAA7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Model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50DC-8AE2-9BFD-BDC4-0DB4697CC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saying: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“This email is Spam”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classification says: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“There is a 92% probability that this email is Spam.”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Bayesian learning: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 to predictions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decisions using probability reasoning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based on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174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C03C-639E-B748-F9B7-CEED2999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Assumption in Bayesian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16196-CB03-4C07-AEA9-6DA6F222A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approach assumes: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follow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distributions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compute probabilities using: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knowledge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Observed data</a:t>
            </a: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8028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E2C1-2E97-5076-C0A9-41E498B3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Bayesian Learning in Machine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09B1-AF22-1517-DBE2-CE2B21D0E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Algorithms – Naive Bayes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explicit probabilities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extremely well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Conceptual Importance of Bayesian Thinking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if some algorithms do not directly compute probabilities (like Decision Trees or SVM), understanding Bayesian reasoning helps: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model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Understand uncertainty,</a:t>
            </a:r>
            <a:r>
              <a:rPr lang="en-IN" sz="2000" dirty="0"/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ML problems probabilistically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217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F6198-DEC8-A1FA-9386-43D1F970A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0" y="811763"/>
            <a:ext cx="10310327" cy="53184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Not Always Use Pure Bayesian Optimal Solution?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1: Need Prior Probabilities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methods require: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probability P(Class)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 P(Data | Class)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in real life: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rarely know the true probability distribution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often assume parametric forms (like Normal distribution)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2: High Computational Cost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 Optimal Hypothesis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 all possible hypotheses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computation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memory requirements</a:t>
            </a: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93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40C26-1E84-EC6F-9566-D858FDEDC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408" y="830424"/>
            <a:ext cx="10010189" cy="504544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Approximate Methods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of: Unknown distributions &amp; Computational complexity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 (Approximate Bayesian Method)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Assumes feature independence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complexity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large datasets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may give suboptimal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485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1D856-0948-15DB-6114-1526CA671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5" y="615820"/>
            <a:ext cx="5116286" cy="5187821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Numerical Example (Bayesian Thinking)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 emails are Spam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 are Not Spam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“Offer” appears: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in Spam emails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 in Not Spam emails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Bayes Theorem: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026ED4-741D-DF7D-7422-F890324CD9C4}"/>
                  </a:ext>
                </a:extLst>
              </p:cNvPr>
              <p:cNvSpPr txBox="1"/>
              <p:nvPr/>
            </p:nvSpPr>
            <p:spPr>
              <a:xfrm>
                <a:off x="6186195" y="690464"/>
                <a:ext cx="5262466" cy="2900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</a:t>
                </a:r>
                <a:r>
                  <a:rPr lang="en-IN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Spam∣Offer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)=P(Offer)P(</a:t>
                </a:r>
                <a:r>
                  <a:rPr lang="en-IN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Offer∣Spam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)/P(Spam)​ 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d>
                            <m:d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06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842</m:t>
                      </m:r>
                    </m:oMath>
                  </m:oMathPara>
                </a14:m>
                <a:endParaRPr lang="ar-AE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email has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84.2% probability of being Spam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probabilistic classification.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026ED4-741D-DF7D-7422-F890324CD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195" y="690464"/>
                <a:ext cx="5262466" cy="2900538"/>
              </a:xfrm>
              <a:prstGeom prst="rect">
                <a:avLst/>
              </a:prstGeom>
              <a:blipFill>
                <a:blip r:embed="rId2"/>
                <a:stretch>
                  <a:fillRect l="-1275" t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431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957D-DC7C-6EE2-CE1D-515F0C811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8FDCA-3C0B-4CD1-2EB7-E51C16CEC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named after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Thomas Bayes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one of the fundamental concept in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theory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decision theory.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classification problems.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60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CF72-C85D-E810-7062-75EA537C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setting in machine learning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2BCEF-0A8B-10EE-61A4-1A9B78C222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1"/>
                <a:ext cx="9854380" cy="3652139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are given training data: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</a:t>
                </a:r>
                <a:r>
                  <a:rPr lang="en-IN" dirty="0"/>
                  <a:t>D={(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dirty="0"/>
                  <a:t>},</a:t>
                </a:r>
                <a:r>
                  <a:rPr lang="en-IN" dirty="0" err="1"/>
                  <a:t>i</a:t>
                </a:r>
                <a:r>
                  <a:rPr lang="en-IN" dirty="0"/>
                  <a:t>=1,2,…,N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,"/>
                        <m:sepChr m:val=",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vector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labels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  <a:b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new feature vector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the 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probable class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D2BCEF-0A8B-10EE-61A4-1A9B78C22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1"/>
                <a:ext cx="9854380" cy="3652139"/>
              </a:xfrm>
              <a:blipFill>
                <a:blip r:embed="rId2"/>
                <a:stretch>
                  <a:fillRect l="-1114" t="-2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04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CE9AA6-6B56-93B9-10FA-DA8B69456F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6916" y="722671"/>
                <a:ext cx="10129681" cy="5153197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Probability terms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Dataset: Email Spam Classification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we collected the following dataset of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 emails: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 Probability —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 probability is the probability of a class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before seeing any feature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</m:d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𝑁𝑜𝑡</m:t>
                    </m:r>
                    <m:r>
                      <m:rPr>
                        <m:nor/>
                      </m:rPr>
                      <a:rPr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Spam</m:t>
                    </m:r>
                    <m:r>
                      <m:rPr>
                        <m:nor/>
                      </m:rPr>
                      <a:rPr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br>
                  <a:rPr lang="en-IN" i="1" dirty="0"/>
                </a:br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CE9AA6-6B56-93B9-10FA-DA8B69456F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6916" y="722671"/>
                <a:ext cx="10129681" cy="5153197"/>
              </a:xfrm>
              <a:blipFill>
                <a:blip r:embed="rId3"/>
                <a:stretch>
                  <a:fillRect l="-1385" t="-1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C08019-390A-B70D-64F9-0D4C364AC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00093"/>
              </p:ext>
            </p:extLst>
          </p:nvPr>
        </p:nvGraphicFramePr>
        <p:xfrm>
          <a:off x="6567948" y="2448231"/>
          <a:ext cx="5083278" cy="2949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4426">
                  <a:extLst>
                    <a:ext uri="{9D8B030D-6E8A-4147-A177-3AD203B41FA5}">
                      <a16:colId xmlns:a16="http://schemas.microsoft.com/office/drawing/2014/main" val="4029007960"/>
                    </a:ext>
                  </a:extLst>
                </a:gridCol>
                <a:gridCol w="1694426">
                  <a:extLst>
                    <a:ext uri="{9D8B030D-6E8A-4147-A177-3AD203B41FA5}">
                      <a16:colId xmlns:a16="http://schemas.microsoft.com/office/drawing/2014/main" val="1458698457"/>
                    </a:ext>
                  </a:extLst>
                </a:gridCol>
                <a:gridCol w="1694426">
                  <a:extLst>
                    <a:ext uri="{9D8B030D-6E8A-4147-A177-3AD203B41FA5}">
                      <a16:colId xmlns:a16="http://schemas.microsoft.com/office/drawing/2014/main" val="2257167072"/>
                    </a:ext>
                  </a:extLst>
                </a:gridCol>
              </a:tblGrid>
              <a:tr h="17048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Emails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Emails Containing Word “Offer”</a:t>
                      </a:r>
                      <a:endParaRPr lang="en-IN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6526324"/>
                  </a:ext>
                </a:extLst>
              </a:tr>
              <a:tr h="4149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40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32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7838784"/>
                  </a:ext>
                </a:extLst>
              </a:tr>
              <a:tr h="4149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Spam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60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6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6535798"/>
                  </a:ext>
                </a:extLst>
              </a:tr>
              <a:tr h="4149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20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100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38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82133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66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290A4-2DFA-BD32-FA4A-124F7149D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9652" y="678426"/>
                <a:ext cx="10353367" cy="5427406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Likelihood —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Likelihood is the probability of observing feature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class.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feature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Email contains word “Offer”.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𝑂𝑓𝑓𝑒𝑟</m:t>
                        </m:r>
                      </m:e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</m:d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𝑂𝑓𝑓𝑒𝑟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𝑁𝑜𝑡</m:t>
                    </m:r>
                    <m:r>
                      <m:rPr>
                        <m:nor/>
                      </m:rPr>
                      <a:rPr lang="en-IN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𝑆𝑝𝑎𝑚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br>
                  <a:rPr lang="en-IN" i="1" dirty="0"/>
                </a:b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 —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 is the total probability of observing feature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regardless of class.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formula: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𝑂𝑓𝑓𝑒𝑟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06</m:t>
                    </m:r>
                  </m:oMath>
                </a14:m>
                <a:b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br>
                  <a:rPr lang="en-I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290A4-2DFA-BD32-FA4A-124F7149D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9652" y="678426"/>
                <a:ext cx="10353367" cy="5427406"/>
              </a:xfrm>
              <a:blipFill>
                <a:blip r:embed="rId3"/>
                <a:stretch>
                  <a:fillRect l="-883" t="-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653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2A2EE-0359-9F95-A8CB-870A0D25AC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6129" y="973394"/>
                <a:ext cx="9790468" cy="4902474"/>
              </a:xfrm>
            </p:spPr>
            <p:txBody>
              <a:bodyPr>
                <a:normAutofit lnSpcReduction="10000"/>
              </a:bodyPr>
              <a:lstStyle/>
              <a:p>
                <a:pPr lvl="0"/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Posterior Probability —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I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what we actually want to compute: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𝑆𝑝𝑎𝑚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𝑂𝑓𝑓𝑒𝑟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Bayes Theorem: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𝑆𝑝𝑎𝑚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𝑂𝑓𝑓𝑒𝑟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𝑂𝑓𝑓𝑒𝑟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𝑆𝑝𝑎𝑚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𝑆𝑝𝑎𝑚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𝑂𝑓𝑓𝑒𝑟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br>
                  <a:rPr lang="en-IN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0.8×0.4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0.38</m:t>
                        </m:r>
                      </m:den>
                    </m:f>
                  </m:oMath>
                </a14:m>
                <a:br>
                  <a:rPr lang="en-IN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0.32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0.38</m:t>
                        </m:r>
                      </m:den>
                    </m:f>
                  </m:oMath>
                </a14:m>
                <a:br>
                  <a:rPr lang="en-IN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=0.842</m:t>
                    </m:r>
                  </m:oMath>
                </a14:m>
                <a:b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2A2EE-0359-9F95-A8CB-870A0D25A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6129" y="973394"/>
                <a:ext cx="9790468" cy="4902474"/>
              </a:xfrm>
              <a:blipFill>
                <a:blip r:embed="rId3"/>
                <a:stretch>
                  <a:fillRect l="-1121" t="-2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05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396B-B5E6-F822-D441-2529AD49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MAP (Maximum A Posteriori)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DC41D-8295-9420-2F5B-99E880BA0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4913670" cy="35489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many learning problems, our goal is: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observed data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the most probable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class that has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highest posterior probability</a:t>
                </a: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the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 class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0DC41D-8295-9420-2F5B-99E880BA0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4913670" cy="3548900"/>
              </a:xfrm>
              <a:blipFill>
                <a:blip r:embed="rId2"/>
                <a:stretch>
                  <a:fillRect l="-2233" t="-34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45B45E-A22E-9D2C-45D9-D9E81F5EE14C}"/>
                  </a:ext>
                </a:extLst>
              </p:cNvPr>
              <p:cNvSpPr txBox="1"/>
              <p:nvPr/>
            </p:nvSpPr>
            <p:spPr>
              <a:xfrm>
                <a:off x="6209071" y="2556932"/>
                <a:ext cx="5058697" cy="3878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mathematically: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lim>
                      </m:limLow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</a:endParaRPr>
              </a:p>
              <a:p>
                <a:r>
                  <a:rPr lang="en-I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does “</a:t>
                </a:r>
                <a:r>
                  <a:rPr lang="en-IN" sz="24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arg</a:t>
                </a:r>
                <a:r>
                  <a:rPr lang="en-I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max” mean?</a:t>
                </a:r>
                <a:endParaRPr lang="en-I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</a:t>
                </a:r>
                <a:r>
                  <a:rPr lang="en-IN" sz="24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arg</a:t>
                </a:r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max” means:</a:t>
                </a:r>
              </a:p>
              <a:p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(i.e., the class) for which the function is maximum.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are not finding maximum value but we are finding class which gives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value.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45B45E-A22E-9D2C-45D9-D9E81F5EE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071" y="2556932"/>
                <a:ext cx="5058697" cy="3878754"/>
              </a:xfrm>
              <a:prstGeom prst="rect">
                <a:avLst/>
              </a:prstGeom>
              <a:blipFill>
                <a:blip r:embed="rId3"/>
                <a:stretch>
                  <a:fillRect l="-1930" t="-1256" r="-20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825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FEB35-E26B-858D-1A9B-0AE57126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MAP using bayes theorem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A88EEE-7321-DDEE-D8D2-EAAD6AEA50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671" y="2442961"/>
                <a:ext cx="4925961" cy="3618627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Bayes Theorem: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substitute into MAP formula: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𝑀𝐴𝑃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limLow>
                      <m:limLow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lim>
                    </m:limLow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A88EEE-7321-DDEE-D8D2-EAAD6AEA50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671" y="2442961"/>
                <a:ext cx="4925961" cy="3618627"/>
              </a:xfrm>
              <a:blipFill>
                <a:blip r:embed="rId2"/>
                <a:stretch>
                  <a:fillRect l="-2228" t="-25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9B5E6-A1FE-DC3B-32CC-577E260368C4}"/>
                  </a:ext>
                </a:extLst>
              </p:cNvPr>
              <p:cNvSpPr txBox="1"/>
              <p:nvPr/>
            </p:nvSpPr>
            <p:spPr>
              <a:xfrm>
                <a:off x="5442155" y="2442961"/>
                <a:ext cx="6027173" cy="3977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Do We Drop </a:t>
                </a:r>
                <a14:m>
                  <m:oMath xmlns:m="http://schemas.openxmlformats.org/officeDocument/2006/math">
                    <m:r>
                      <a:rPr lang="en-I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I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I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does not depend on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I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same for all classes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we are only comparing classes, dividing by the same constant does not change which one is largest.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we simplify: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arg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lim>
                      </m:limLow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I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is the practical MAP decision rule</a:t>
                </a:r>
                <a:endParaRPr lang="en-IN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E9B5E6-A1FE-DC3B-32CC-577E26036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155" y="2442961"/>
                <a:ext cx="6027173" cy="3977756"/>
              </a:xfrm>
              <a:prstGeom prst="rect">
                <a:avLst/>
              </a:prstGeom>
              <a:blipFill>
                <a:blip r:embed="rId3"/>
                <a:stretch>
                  <a:fillRect l="-1619" t="-1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697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9C1B-49C9-C1FF-ECC5-166F1FD5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case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81AA5-8151-46BF-2DE2-60F1A03A2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987412" cy="3318936"/>
          </a:xfrm>
        </p:spPr>
        <p:txBody>
          <a:bodyPr>
            <a:normAutofit fontScale="92500" lnSpcReduction="20000"/>
          </a:bodyPr>
          <a:lstStyle/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examples assumed categorical data (like Spam / Not Spam).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Bayes theorem is more general.</a:t>
            </a:r>
          </a:p>
          <a:p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data is continuous:</a:t>
            </a:r>
          </a:p>
          <a:p>
            <a:pPr lvl="0"/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 not use simple probabilities</a:t>
            </a:r>
          </a:p>
          <a:p>
            <a:pPr lvl="0"/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I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density functions (PDFs)</a:t>
            </a:r>
            <a:endParaRPr lang="en-IN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D2A74A-1CE5-D8FB-5867-5904FC6A6D0A}"/>
                  </a:ext>
                </a:extLst>
              </p:cNvPr>
              <p:cNvSpPr txBox="1"/>
              <p:nvPr/>
            </p:nvSpPr>
            <p:spPr>
              <a:xfrm>
                <a:off x="6757219" y="2724270"/>
                <a:ext cx="4689987" cy="2273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I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density function.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D2A74A-1CE5-D8FB-5867-5904FC6A6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219" y="2724270"/>
                <a:ext cx="4689987" cy="2273058"/>
              </a:xfrm>
              <a:prstGeom prst="rect">
                <a:avLst/>
              </a:prstGeom>
              <a:blipFill>
                <a:blip r:embed="rId2"/>
                <a:stretch>
                  <a:fillRect l="-1948" t="-2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997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4B8C-8BCE-5F3B-0110-600DA587A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47E90C-8DC8-6B48-5E60-DD05A99AB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Naive Bayes 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one such simple but powerful classifier.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 though it makes strong assumptions, it performs surprisingly well in many real-world problems.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Before using any features, we can classify using only prior probabilities.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Naive Bayes uses: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)∏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means:</a:t>
                </a:r>
                <a:br>
                  <a:rPr lang="en-I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posterior probability is proportional to the product of prior and likelihood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47E90C-8DC8-6B48-5E60-DD05A99AB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53" t="-29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244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33D077-0673-F24B-E38A-0E37F8EF68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58645" y="634181"/>
                <a:ext cx="9937952" cy="5241687"/>
              </a:xfrm>
            </p:spPr>
            <p:txBody>
              <a:bodyPr/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classify a sample: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prior probability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Multiply it with probabilities of each feature given class</a:t>
                </a:r>
              </a:p>
              <a:p>
                <a:pPr lvl="0"/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class with maximum value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Is It Called “Naive”?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it assumes: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features are conditionally independent given the class.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)=∏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33D077-0673-F24B-E38A-0E37F8EF68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8645" y="634181"/>
                <a:ext cx="9937952" cy="5241687"/>
              </a:xfrm>
              <a:blipFill>
                <a:blip r:embed="rId3"/>
                <a:stretch>
                  <a:fillRect l="-1104" t="-16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811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CCC108-9FF8-0CA9-77D1-C36039500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0155" y="722671"/>
                <a:ext cx="10456606" cy="5692877"/>
              </a:xfrm>
            </p:spPr>
            <p:txBody>
              <a:bodyPr/>
              <a:lstStyle/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This Simplification Is Important?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independence assumption: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must estimate:            Huge number of combinations.</a:t>
                </a:r>
              </a:p>
              <a:p>
                <a:r>
                  <a:rPr lang="en-IN" dirty="0">
                    <a:solidFill>
                      <a:schemeClr val="tx1"/>
                    </a:solidFill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i="1" dirty="0"/>
                </a:b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independence assumption: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estimate only: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total probabilities needed: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     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instead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br>
                  <a:rPr lang="en-IN" i="1" dirty="0"/>
                </a:b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CCC108-9FF8-0CA9-77D1-C36039500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0155" y="722671"/>
                <a:ext cx="10456606" cy="5692877"/>
              </a:xfrm>
              <a:blipFill>
                <a:blip r:embed="rId2"/>
                <a:stretch>
                  <a:fillRect l="-1050" t="-1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889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5204-CC7D-7EF7-B27D-00B50501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Naïve bayes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8BE94C-71DB-0E71-2B95-23A59D1E4C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prior probability for the target class.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Frequency matrix and likelihood probability for each of the feature.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bayes theorem to calculate the probability of all hypothesis.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Maximum Posteriori(MAP) hypothesis,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𝑀𝐴𝑃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classify test object to the hypothesis with highest probability.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8BE94C-71DB-0E71-2B95-23A59D1E4C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5602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3F35-4E96-AE75-7443-7E74EAFC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904" y="615821"/>
            <a:ext cx="10629120" cy="802433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a students performance using Naïve bayes algorithm with the dataset provided in table. Predict whether student gets a job offer or not in his final year of course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86204C-2058-1EF0-CDCA-64B9AF6E1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75345"/>
              </p:ext>
            </p:extLst>
          </p:nvPr>
        </p:nvGraphicFramePr>
        <p:xfrm>
          <a:off x="845976" y="1280160"/>
          <a:ext cx="9601200" cy="42976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9706708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131288358"/>
                    </a:ext>
                  </a:extLst>
                </a:gridCol>
                <a:gridCol w="1757265">
                  <a:extLst>
                    <a:ext uri="{9D8B030D-6E8A-4147-A177-3AD203B41FA5}">
                      <a16:colId xmlns:a16="http://schemas.microsoft.com/office/drawing/2014/main" val="2464348235"/>
                    </a:ext>
                  </a:extLst>
                </a:gridCol>
                <a:gridCol w="1443135">
                  <a:extLst>
                    <a:ext uri="{9D8B030D-6E8A-4147-A177-3AD203B41FA5}">
                      <a16:colId xmlns:a16="http://schemas.microsoft.com/office/drawing/2014/main" val="62953510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5860999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12635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Knowledge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 Skills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Offer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022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24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62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36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18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887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54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16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97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58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9098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C63507-8CB8-1C83-3AAA-3F3DD60C94AA}"/>
              </a:ext>
            </a:extLst>
          </p:cNvPr>
          <p:cNvSpPr txBox="1"/>
          <p:nvPr/>
        </p:nvSpPr>
        <p:spPr>
          <a:xfrm>
            <a:off x="845976" y="5775649"/>
            <a:ext cx="10500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Data= (CGPA≥9 ,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Interactiveness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=Yes, Practical Knowledge=Average,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Skills=Good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49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FA77-748C-BB1E-6753-F41EC909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E7954-4E10-27C2-83DA-D0467B9C8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Bayes assumes that: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attributes are conditionally independent given the class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the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Naïve Bayes assumption may be too strong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Bayesian Belief Networks (BBN)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E7954-4E10-27C2-83DA-D0467B9C8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4" t="-2569" r="-6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92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003E-5DCE-A529-8D1F-7A4660D1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Bayesian Belief Network?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0730-84CB-1DB6-3BCF-E33C997A6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Belief Network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graphical model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contains: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 → Random variables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Directed edges → Dependency relationships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 Tables (CPT)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variables influence each other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411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E2B7-1C5F-6CC3-9E4B-2E77258A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Independence in BBN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0FDEF-EADE-7DDF-314D-F89D60D70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variables are </a:t>
                </a:r>
                <a:r>
                  <a:rPr lang="en-I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conditionally independent</a:t>
                </a:r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if: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Their relationship depends only on a third variable.</a:t>
                </a:r>
              </a:p>
              <a:p>
                <a:r>
                  <a:rPr lang="en-I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know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and b become independent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E0FDEF-EADE-7DDF-314D-F89D60D70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44" t="-2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927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3FED-BB8C-DC43-EDE9-249AD54E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Representation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297669-F902-C6B8-EF75-BD3860929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78243" y="2557993"/>
            <a:ext cx="2754329" cy="3317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2A65DD-1348-301C-D30B-E95DDE0DC89C}"/>
              </a:ext>
            </a:extLst>
          </p:cNvPr>
          <p:cNvSpPr txBox="1"/>
          <p:nvPr/>
        </p:nvSpPr>
        <p:spPr>
          <a:xfrm>
            <a:off x="1163826" y="1862439"/>
            <a:ext cx="72144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BBN: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= variable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 = causal influence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network from the page: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contain 6 variables (nodes):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FamilyHistory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LungCancer</a:t>
            </a:r>
          </a:p>
          <a:p>
            <a:pPr font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PositiveXRay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Smoker, Emphysema,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Lung Cancer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FamilyHistory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LungCancer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 → LungCancer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0837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393E01-D32B-281F-1DDE-481E09126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205247"/>
              </p:ext>
            </p:extLst>
          </p:nvPr>
        </p:nvGraphicFramePr>
        <p:xfrm>
          <a:off x="2047568" y="856717"/>
          <a:ext cx="7430893" cy="356616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197077">
                  <a:extLst>
                    <a:ext uri="{9D8B030D-6E8A-4147-A177-3AD203B41FA5}">
                      <a16:colId xmlns:a16="http://schemas.microsoft.com/office/drawing/2014/main" val="4245255952"/>
                    </a:ext>
                  </a:extLst>
                </a:gridCol>
                <a:gridCol w="2104268">
                  <a:extLst>
                    <a:ext uri="{9D8B030D-6E8A-4147-A177-3AD203B41FA5}">
                      <a16:colId xmlns:a16="http://schemas.microsoft.com/office/drawing/2014/main" val="3217990756"/>
                    </a:ext>
                  </a:extLst>
                </a:gridCol>
                <a:gridCol w="4129548">
                  <a:extLst>
                    <a:ext uri="{9D8B030D-6E8A-4147-A177-3AD203B41FA5}">
                      <a16:colId xmlns:a16="http://schemas.microsoft.com/office/drawing/2014/main" val="1751652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84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a₁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FamilyHistory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403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a₂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LungCancer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80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a₃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PositiveXRay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X-ray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5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a₄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 smokes or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08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a₅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Emphysema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Lung disease caused by smoking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617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a₆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Dyspnea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Breathing difficulty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435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090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B9762-6BC0-77FA-FAEE-9A25B60B0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413" y="707923"/>
            <a:ext cx="10100184" cy="5167945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Smoking also causes Emphysema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Smoker → Emphysema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Smoking may lead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emphysema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another lung disease.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LungCancer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PositiveXRay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LungCancer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Emphysema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 may 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X-ray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 may 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breathing difficulty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Emphysema may also cause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breathing difficulty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685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EAA3-BD95-C92B-7812-0225616A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(Very Important Concept)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(breathing difficulty) can occur because of two reasons: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Emphysema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arrows point to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LungCancer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Emphysema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Dyspnea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522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7AD0-1D0F-2878-1F02-E295B4A3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55" y="718458"/>
            <a:ext cx="10467392" cy="401215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Naïve Bayes algorithm for following dataset and class news instance as M/H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425E745-9C8F-744C-3E3A-B859F2E048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9476099"/>
              </p:ext>
            </p:extLst>
          </p:nvPr>
        </p:nvGraphicFramePr>
        <p:xfrm>
          <a:off x="2096234" y="1040363"/>
          <a:ext cx="8708616" cy="29019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4548">
                  <a:extLst>
                    <a:ext uri="{9D8B030D-6E8A-4147-A177-3AD203B41FA5}">
                      <a16:colId xmlns:a16="http://schemas.microsoft.com/office/drawing/2014/main" val="212853590"/>
                    </a:ext>
                  </a:extLst>
                </a:gridCol>
                <a:gridCol w="1447587">
                  <a:extLst>
                    <a:ext uri="{9D8B030D-6E8A-4147-A177-3AD203B41FA5}">
                      <a16:colId xmlns:a16="http://schemas.microsoft.com/office/drawing/2014/main" val="4169316707"/>
                    </a:ext>
                  </a:extLst>
                </a:gridCol>
                <a:gridCol w="1434990">
                  <a:extLst>
                    <a:ext uri="{9D8B030D-6E8A-4147-A177-3AD203B41FA5}">
                      <a16:colId xmlns:a16="http://schemas.microsoft.com/office/drawing/2014/main" val="2661725160"/>
                    </a:ext>
                  </a:extLst>
                </a:gridCol>
                <a:gridCol w="1467532">
                  <a:extLst>
                    <a:ext uri="{9D8B030D-6E8A-4147-A177-3AD203B41FA5}">
                      <a16:colId xmlns:a16="http://schemas.microsoft.com/office/drawing/2014/main" val="1779322259"/>
                    </a:ext>
                  </a:extLst>
                </a:gridCol>
                <a:gridCol w="1472781">
                  <a:extLst>
                    <a:ext uri="{9D8B030D-6E8A-4147-A177-3AD203B41FA5}">
                      <a16:colId xmlns:a16="http://schemas.microsoft.com/office/drawing/2014/main" val="1403888929"/>
                    </a:ext>
                  </a:extLst>
                </a:gridCol>
                <a:gridCol w="1481178">
                  <a:extLst>
                    <a:ext uri="{9D8B030D-6E8A-4147-A177-3AD203B41FA5}">
                      <a16:colId xmlns:a16="http://schemas.microsoft.com/office/drawing/2014/main" val="2223436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 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Smelly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3362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85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Tall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521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266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6439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1874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Tall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67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Tall 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855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2261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Tall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8504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387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956E-DEAC-4120-E3B7-EC3839B61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61" y="555318"/>
            <a:ext cx="9882672" cy="433728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Naïve Bayes algorithm for following dataset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C4F0F5-8DA5-D15D-D73F-C37CDC7B8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14251"/>
              </p:ext>
            </p:extLst>
          </p:nvPr>
        </p:nvGraphicFramePr>
        <p:xfrm>
          <a:off x="978161" y="1129004"/>
          <a:ext cx="7688426" cy="4765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172">
                  <a:extLst>
                    <a:ext uri="{9D8B030D-6E8A-4147-A177-3AD203B41FA5}">
                      <a16:colId xmlns:a16="http://schemas.microsoft.com/office/drawing/2014/main" val="34386525"/>
                    </a:ext>
                  </a:extLst>
                </a:gridCol>
                <a:gridCol w="1528066">
                  <a:extLst>
                    <a:ext uri="{9D8B030D-6E8A-4147-A177-3AD203B41FA5}">
                      <a16:colId xmlns:a16="http://schemas.microsoft.com/office/drawing/2014/main" val="3400356525"/>
                    </a:ext>
                  </a:extLst>
                </a:gridCol>
                <a:gridCol w="1575991">
                  <a:extLst>
                    <a:ext uri="{9D8B030D-6E8A-4147-A177-3AD203B41FA5}">
                      <a16:colId xmlns:a16="http://schemas.microsoft.com/office/drawing/2014/main" val="4193488333"/>
                    </a:ext>
                  </a:extLst>
                </a:gridCol>
                <a:gridCol w="1524600">
                  <a:extLst>
                    <a:ext uri="{9D8B030D-6E8A-4147-A177-3AD203B41FA5}">
                      <a16:colId xmlns:a16="http://schemas.microsoft.com/office/drawing/2014/main" val="161727656"/>
                    </a:ext>
                  </a:extLst>
                </a:gridCol>
                <a:gridCol w="2179597">
                  <a:extLst>
                    <a:ext uri="{9D8B030D-6E8A-4147-A177-3AD203B41FA5}">
                      <a16:colId xmlns:a16="http://schemas.microsoft.com/office/drawing/2014/main" val="2341944087"/>
                    </a:ext>
                  </a:extLst>
                </a:gridCol>
              </a:tblGrid>
              <a:tr h="46893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Stolen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566990"/>
                  </a:ext>
                </a:extLst>
              </a:tr>
              <a:tr h="39885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26760"/>
                  </a:ext>
                </a:extLst>
              </a:tr>
              <a:tr h="17161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301749"/>
                  </a:ext>
                </a:extLst>
              </a:tr>
              <a:tr h="34745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964730"/>
                  </a:ext>
                </a:extLst>
              </a:tr>
              <a:tr h="34745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082093"/>
                  </a:ext>
                </a:extLst>
              </a:tr>
              <a:tr h="34745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225023"/>
                  </a:ext>
                </a:extLst>
              </a:tr>
              <a:tr h="37581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092281"/>
                  </a:ext>
                </a:extLst>
              </a:tr>
              <a:tr h="40772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103175"/>
                  </a:ext>
                </a:extLst>
              </a:tr>
              <a:tr h="35454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Yellow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94536"/>
                  </a:ext>
                </a:extLst>
              </a:tr>
              <a:tr h="37227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582023"/>
                  </a:ext>
                </a:extLst>
              </a:tr>
              <a:tr h="42974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535410"/>
                  </a:ext>
                </a:extLst>
              </a:tr>
              <a:tr h="48380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SUV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Domestic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982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638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707E-7056-5A63-B389-B58AC224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Naïve bayes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6CAA73-8AD7-26C7-1933-BD43D8AE2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546525"/>
              </p:ext>
            </p:extLst>
          </p:nvPr>
        </p:nvGraphicFramePr>
        <p:xfrm>
          <a:off x="987492" y="2463661"/>
          <a:ext cx="6449006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073">
                  <a:extLst>
                    <a:ext uri="{9D8B030D-6E8A-4147-A177-3AD203B41FA5}">
                      <a16:colId xmlns:a16="http://schemas.microsoft.com/office/drawing/2014/main" val="522429908"/>
                    </a:ext>
                  </a:extLst>
                </a:gridCol>
                <a:gridCol w="1455576">
                  <a:extLst>
                    <a:ext uri="{9D8B030D-6E8A-4147-A177-3AD203B41FA5}">
                      <a16:colId xmlns:a16="http://schemas.microsoft.com/office/drawing/2014/main" val="3290017962"/>
                    </a:ext>
                  </a:extLst>
                </a:gridCol>
                <a:gridCol w="1735492">
                  <a:extLst>
                    <a:ext uri="{9D8B030D-6E8A-4147-A177-3AD203B41FA5}">
                      <a16:colId xmlns:a16="http://schemas.microsoft.com/office/drawing/2014/main" val="479767200"/>
                    </a:ext>
                  </a:extLst>
                </a:gridCol>
                <a:gridCol w="1604865">
                  <a:extLst>
                    <a:ext uri="{9D8B030D-6E8A-4147-A177-3AD203B41FA5}">
                      <a16:colId xmlns:a16="http://schemas.microsoft.com/office/drawing/2014/main" val="3057950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(ft)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lbs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Foot size (inches)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5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50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97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332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48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769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702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28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5.75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100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B1DDFE-E700-17D5-F926-CE922052838B}"/>
              </a:ext>
            </a:extLst>
          </p:cNvPr>
          <p:cNvSpPr txBox="1"/>
          <p:nvPr/>
        </p:nvSpPr>
        <p:spPr>
          <a:xfrm>
            <a:off x="7436498" y="2463660"/>
            <a:ext cx="38348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following data determine the gender of a person having height 6ft, weight 130lbs and foot size 8 inches. Use Gaussian  Naïve bayes classifier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116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147F0-6A6C-86BE-89E3-6AAF4A17C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73" y="639147"/>
            <a:ext cx="10699103" cy="5579706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 student’s performance using naïve bayes algorithm for continuous attribute. Predict whether student gets a job in his final year of course. The training dataset T consist of 10 data instances with attributes such as ‘CGPA’ and ‘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Interactiveness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as shown in the table. The target variable is Job Offer which is classified as Yes or No for a candidate student</a:t>
            </a:r>
          </a:p>
          <a:p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Test data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CGPA=9, 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Interactiveness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=Yes,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Job Offer=?    </a:t>
            </a:r>
          </a:p>
          <a:p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E87585-4EE1-D4D4-5D19-E7583F557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58884"/>
              </p:ext>
            </p:extLst>
          </p:nvPr>
        </p:nvGraphicFramePr>
        <p:xfrm>
          <a:off x="814873" y="2144693"/>
          <a:ext cx="8128000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86312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342456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443422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87037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Interactiveness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Offer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92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32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9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68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558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88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22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095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6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507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091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5757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1403</TotalTime>
  <Words>2510</Words>
  <Application>Microsoft Office PowerPoint</Application>
  <PresentationFormat>Widescreen</PresentationFormat>
  <Paragraphs>625</Paragraphs>
  <Slides>33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 Math</vt:lpstr>
      <vt:lpstr>Garamond</vt:lpstr>
      <vt:lpstr>Times New Roman</vt:lpstr>
      <vt:lpstr>Wingdings</vt:lpstr>
      <vt:lpstr>Organic</vt:lpstr>
      <vt:lpstr>Bayesian Reasoning to Inference </vt:lpstr>
      <vt:lpstr>Content</vt:lpstr>
      <vt:lpstr>Introduction</vt:lpstr>
      <vt:lpstr>Bayesian Model</vt:lpstr>
      <vt:lpstr>Core Assumption in Bayesian Learning</vt:lpstr>
      <vt:lpstr>Importance of Bayesian Learning in Machine Learning</vt:lpstr>
      <vt:lpstr>PowerPoint Presentation</vt:lpstr>
      <vt:lpstr>PowerPoint Presentation</vt:lpstr>
      <vt:lpstr>PowerPoint Presentation</vt:lpstr>
      <vt:lpstr>Bayes Theorem</vt:lpstr>
      <vt:lpstr>Problem setting in machine learning</vt:lpstr>
      <vt:lpstr>PowerPoint Presentation</vt:lpstr>
      <vt:lpstr>PowerPoint Presentation</vt:lpstr>
      <vt:lpstr>PowerPoint Presentation</vt:lpstr>
      <vt:lpstr>What is MAP (Maximum A Posteriori)</vt:lpstr>
      <vt:lpstr>Expanding MAP using bayes theorem</vt:lpstr>
      <vt:lpstr>Continuous data case</vt:lpstr>
      <vt:lpstr>Naïve bayes classifier</vt:lpstr>
      <vt:lpstr>PowerPoint Presentation</vt:lpstr>
      <vt:lpstr>PowerPoint Presentation</vt:lpstr>
      <vt:lpstr>Algorithm Naïve bayes </vt:lpstr>
      <vt:lpstr>Numerical: Assess a students performance using Naïve bayes algorithm with the dataset provided in table. Predict whether student gets a job offer or not in his final year of course</vt:lpstr>
      <vt:lpstr>Limitations of Naïve Bayes</vt:lpstr>
      <vt:lpstr>What is a Bayesian Belief Network?</vt:lpstr>
      <vt:lpstr>Conditional Independence in BBN</vt:lpstr>
      <vt:lpstr>Graph Representation</vt:lpstr>
      <vt:lpstr>PowerPoint Presentation</vt:lpstr>
      <vt:lpstr>PowerPoint Presentation</vt:lpstr>
      <vt:lpstr>PowerPoint Presentation</vt:lpstr>
      <vt:lpstr>Apply Naïve Bayes algorithm for following dataset and class news instance as M/H </vt:lpstr>
      <vt:lpstr>Apply Naïve Bayes algorithm for following dataset </vt:lpstr>
      <vt:lpstr>Gaussian Naïve bayes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23</cp:revision>
  <dcterms:created xsi:type="dcterms:W3CDTF">2026-03-02T08:52:50Z</dcterms:created>
  <dcterms:modified xsi:type="dcterms:W3CDTF">2026-04-07T07:42:51Z</dcterms:modified>
</cp:coreProperties>
</file>