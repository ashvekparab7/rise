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6" r:id="rId8"/>
    <p:sldId id="262" r:id="rId9"/>
    <p:sldId id="270" r:id="rId10"/>
    <p:sldId id="263" r:id="rId11"/>
    <p:sldId id="264" r:id="rId12"/>
    <p:sldId id="265"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267"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A0A1C-946F-4640-92EC-6B7497470492}"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D21AD-A1E2-488F-9B5E-9A5D967B1BE5}" type="slidenum">
              <a:rPr lang="en-IN" smtClean="0"/>
              <a:t>‹#›</a:t>
            </a:fld>
            <a:endParaRPr lang="en-IN"/>
          </a:p>
        </p:txBody>
      </p:sp>
    </p:spTree>
    <p:extLst>
      <p:ext uri="{BB962C8B-B14F-4D97-AF65-F5344CB8AC3E}">
        <p14:creationId xmlns:p14="http://schemas.microsoft.com/office/powerpoint/2010/main" val="20613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Overfitting</a:t>
            </a:r>
          </a:p>
          <a:p>
            <a:r>
              <a:rPr lang="en-US" dirty="0"/>
              <a:t>📌 </a:t>
            </a:r>
            <a:r>
              <a:rPr lang="en-US" i="1" dirty="0"/>
              <a:t>Concept</a:t>
            </a:r>
            <a:r>
              <a:rPr lang="en-US" dirty="0"/>
              <a:t>: The model learns the training data too well (including noise), so it performs poorly on new/unseen data.</a:t>
            </a:r>
            <a:br>
              <a:rPr lang="en-US" dirty="0"/>
            </a:br>
            <a:r>
              <a:rPr lang="en-US" dirty="0"/>
              <a:t>📌 </a:t>
            </a:r>
            <a:r>
              <a:rPr lang="en-US" i="1" dirty="0"/>
              <a:t>Real-life Scenario</a:t>
            </a:r>
            <a:r>
              <a:rPr lang="en-US" dirty="0"/>
              <a:t>:</a:t>
            </a:r>
            <a:br>
              <a:rPr lang="en-US" dirty="0"/>
            </a:br>
            <a:r>
              <a:rPr lang="en-US" dirty="0"/>
              <a:t>Imagine a </a:t>
            </a:r>
            <a:r>
              <a:rPr lang="en-US" b="1" dirty="0"/>
              <a:t>real estate agency</a:t>
            </a:r>
            <a:r>
              <a:rPr lang="en-US" dirty="0"/>
              <a:t> trying to predict house prices.</a:t>
            </a:r>
          </a:p>
          <a:p>
            <a:r>
              <a:rPr lang="en-US" dirty="0"/>
              <a:t>They collect data with too many irrelevant details (like the color of curtains, number of flower pots, or wallpaper design).</a:t>
            </a:r>
          </a:p>
          <a:p>
            <a:r>
              <a:rPr lang="en-US" dirty="0"/>
              <a:t>If these features are included, the model may “memorize” them and predict well on the training houses, but on new houses, the predictions fail because curtain color does not really affect house prices.</a:t>
            </a:r>
          </a:p>
          <a:p>
            <a:r>
              <a:rPr lang="en-US" dirty="0"/>
              <a:t>👉 </a:t>
            </a:r>
            <a:r>
              <a:rPr lang="en-US" b="1" dirty="0"/>
              <a:t>Lesson</a:t>
            </a:r>
            <a:r>
              <a:rPr lang="en-US" dirty="0"/>
              <a:t>: Overfitting happens when the model includes too many irrelevant details.</a:t>
            </a:r>
          </a:p>
          <a:p>
            <a:br>
              <a:rPr lang="en-US" dirty="0"/>
            </a:br>
            <a:endParaRPr lang="en-US" dirty="0"/>
          </a:p>
          <a:p>
            <a:r>
              <a:rPr lang="en-US" b="1" dirty="0"/>
              <a:t>2. Multicollinearity</a:t>
            </a:r>
          </a:p>
          <a:p>
            <a:r>
              <a:rPr lang="en-US" dirty="0"/>
              <a:t>📌 </a:t>
            </a:r>
            <a:r>
              <a:rPr lang="en-US" i="1" dirty="0"/>
              <a:t>Concept</a:t>
            </a:r>
            <a:r>
              <a:rPr lang="en-US" dirty="0"/>
              <a:t>: Two or more predictor variables are highly correlated, making it difficult to estimate their individual effect on the outcome.</a:t>
            </a:r>
            <a:br>
              <a:rPr lang="en-US" dirty="0"/>
            </a:br>
            <a:r>
              <a:rPr lang="en-US" dirty="0"/>
              <a:t>📌 </a:t>
            </a:r>
            <a:r>
              <a:rPr lang="en-US" i="1" dirty="0"/>
              <a:t>Real-life Scenario</a:t>
            </a:r>
            <a:r>
              <a:rPr lang="en-US" dirty="0"/>
              <a:t>:</a:t>
            </a:r>
            <a:br>
              <a:rPr lang="en-US" dirty="0"/>
            </a:br>
            <a:r>
              <a:rPr lang="en-US" dirty="0"/>
              <a:t>In predicting a </a:t>
            </a:r>
            <a:r>
              <a:rPr lang="en-US" b="1" dirty="0"/>
              <a:t>student’s exam score</a:t>
            </a:r>
            <a:r>
              <a:rPr lang="en-US" dirty="0"/>
              <a:t>, suppose we use both:</a:t>
            </a:r>
          </a:p>
          <a:p>
            <a:r>
              <a:rPr lang="en-US" i="1" dirty="0"/>
              <a:t>Study time (hours spent reading)</a:t>
            </a:r>
            <a:endParaRPr lang="en-US" dirty="0"/>
          </a:p>
          <a:p>
            <a:r>
              <a:rPr lang="en-US" i="1" dirty="0"/>
              <a:t>Number of pages read</a:t>
            </a:r>
            <a:endParaRPr lang="en-US" dirty="0"/>
          </a:p>
          <a:p>
            <a:r>
              <a:rPr lang="en-US" dirty="0"/>
              <a:t>These two variables are strongly correlated (more hours usually means more pages read).</a:t>
            </a:r>
            <a:br>
              <a:rPr lang="en-US" dirty="0"/>
            </a:br>
            <a:r>
              <a:rPr lang="en-US" dirty="0"/>
              <a:t>The model struggles to decide: </a:t>
            </a:r>
            <a:r>
              <a:rPr lang="en-US" i="1" dirty="0"/>
              <a:t>Is the score going up because of hours or because of pages?</a:t>
            </a:r>
            <a:endParaRPr lang="en-US" dirty="0"/>
          </a:p>
          <a:p>
            <a:r>
              <a:rPr lang="en-US" dirty="0"/>
              <a:t>👉 </a:t>
            </a:r>
            <a:r>
              <a:rPr lang="en-US" b="1" dirty="0"/>
              <a:t>Lesson</a:t>
            </a:r>
            <a:r>
              <a:rPr lang="en-US" dirty="0"/>
              <a:t>: Multicollinearity makes interpretation of coefficients confusing.</a:t>
            </a:r>
          </a:p>
          <a:p>
            <a:br>
              <a:rPr lang="en-US" dirty="0"/>
            </a:br>
            <a:endParaRPr lang="en-US" dirty="0"/>
          </a:p>
          <a:p>
            <a:r>
              <a:rPr lang="en-US" b="1" dirty="0"/>
              <a:t>3. Assumption of Linearity</a:t>
            </a:r>
          </a:p>
          <a:p>
            <a:r>
              <a:rPr lang="en-US" dirty="0"/>
              <a:t>📌 </a:t>
            </a:r>
            <a:r>
              <a:rPr lang="en-US" i="1" dirty="0"/>
              <a:t>Concept</a:t>
            </a:r>
            <a:r>
              <a:rPr lang="en-US" dirty="0"/>
              <a:t>: Linear regression assumes a straight-line relationship between independent and dependent variables.</a:t>
            </a:r>
            <a:br>
              <a:rPr lang="en-US" dirty="0"/>
            </a:br>
            <a:r>
              <a:rPr lang="en-US" dirty="0"/>
              <a:t>📌 </a:t>
            </a:r>
            <a:r>
              <a:rPr lang="en-US" i="1" dirty="0"/>
              <a:t>Real-life Scenario</a:t>
            </a:r>
            <a:r>
              <a:rPr lang="en-US" dirty="0"/>
              <a:t>:</a:t>
            </a:r>
            <a:br>
              <a:rPr lang="en-US" dirty="0"/>
            </a:br>
            <a:r>
              <a:rPr lang="en-US" dirty="0"/>
              <a:t>Consider predicting </a:t>
            </a:r>
            <a:r>
              <a:rPr lang="en-US" b="1" dirty="0"/>
              <a:t>employee productivity</a:t>
            </a:r>
            <a:r>
              <a:rPr lang="en-US" dirty="0"/>
              <a:t> based on </a:t>
            </a:r>
            <a:r>
              <a:rPr lang="en-US" b="1" dirty="0"/>
              <a:t>working hours</a:t>
            </a:r>
            <a:r>
              <a:rPr lang="en-US" dirty="0"/>
              <a:t>.</a:t>
            </a:r>
          </a:p>
          <a:p>
            <a:r>
              <a:rPr lang="en-US" dirty="0"/>
              <a:t>Up to 8 hours, productivity increases with time.</a:t>
            </a:r>
          </a:p>
          <a:p>
            <a:r>
              <a:rPr lang="en-US" dirty="0"/>
              <a:t>After 9–10 hours, productivity drops due to fatigue.</a:t>
            </a:r>
          </a:p>
          <a:p>
            <a:r>
              <a:rPr lang="en-US" dirty="0"/>
              <a:t>If we use linear regression, it assumes productivity always rises with hours worked, which is not true in real life.</a:t>
            </a:r>
          </a:p>
          <a:p>
            <a:r>
              <a:rPr lang="en-US" dirty="0"/>
              <a:t>👉 </a:t>
            </a:r>
            <a:r>
              <a:rPr lang="en-US" b="1" dirty="0"/>
              <a:t>Lesson</a:t>
            </a:r>
            <a:r>
              <a:rPr lang="en-US" dirty="0"/>
              <a:t>: Not all relationships are linear; sometimes curves (polynomial or non-linear models) are better.</a:t>
            </a:r>
          </a:p>
          <a:p>
            <a:br>
              <a:rPr lang="en-US" dirty="0"/>
            </a:br>
            <a:endParaRPr lang="en-US" dirty="0"/>
          </a:p>
          <a:p>
            <a:r>
              <a:rPr lang="en-US" b="1" dirty="0"/>
              <a:t>4. Sensitivity to Outliers</a:t>
            </a:r>
          </a:p>
          <a:p>
            <a:r>
              <a:rPr lang="en-US" dirty="0"/>
              <a:t>📌 </a:t>
            </a:r>
            <a:r>
              <a:rPr lang="en-US" i="1" dirty="0"/>
              <a:t>Concept</a:t>
            </a:r>
            <a:r>
              <a:rPr lang="en-US" dirty="0"/>
              <a:t>: A single extreme value can distort the regression line heavily.</a:t>
            </a:r>
            <a:br>
              <a:rPr lang="en-US" dirty="0"/>
            </a:br>
            <a:r>
              <a:rPr lang="en-US" dirty="0"/>
              <a:t>📌 </a:t>
            </a:r>
            <a:r>
              <a:rPr lang="en-US" i="1" dirty="0"/>
              <a:t>Real-life Scenario</a:t>
            </a:r>
            <a:r>
              <a:rPr lang="en-US" dirty="0"/>
              <a:t>:</a:t>
            </a:r>
            <a:br>
              <a:rPr lang="en-US" dirty="0"/>
            </a:br>
            <a:r>
              <a:rPr lang="en-US" dirty="0"/>
              <a:t>Suppose we are predicting </a:t>
            </a:r>
            <a:r>
              <a:rPr lang="en-US" b="1" dirty="0"/>
              <a:t>monthly income</a:t>
            </a:r>
            <a:r>
              <a:rPr lang="en-US" dirty="0"/>
              <a:t> based on </a:t>
            </a:r>
            <a:r>
              <a:rPr lang="en-US" b="1" dirty="0"/>
              <a:t>years of experience</a:t>
            </a:r>
            <a:r>
              <a:rPr lang="en-US" dirty="0"/>
              <a:t>.</a:t>
            </a:r>
          </a:p>
          <a:p>
            <a:r>
              <a:rPr lang="en-US" dirty="0"/>
              <a:t>Most employees earn between ₹20,000–₹80,000.</a:t>
            </a:r>
          </a:p>
          <a:p>
            <a:r>
              <a:rPr lang="en-US" dirty="0"/>
              <a:t>But the CEO (40 years of experience) earns ₹10,00,000.</a:t>
            </a:r>
          </a:p>
          <a:p>
            <a:r>
              <a:rPr lang="en-US" dirty="0"/>
              <a:t>That one outlier can pull the regression line upward, making the model overestimate incomes for regular employees.</a:t>
            </a:r>
          </a:p>
          <a:p>
            <a:r>
              <a:rPr lang="en-US" dirty="0"/>
              <a:t>👉 </a:t>
            </a:r>
            <a:r>
              <a:rPr lang="en-US" b="1" dirty="0"/>
              <a:t>Lesson</a:t>
            </a:r>
            <a:r>
              <a:rPr lang="en-US" dirty="0"/>
              <a:t>: Outliers can mislead the regression model’s predictions.</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10</a:t>
            </a:fld>
            <a:endParaRPr lang="en-IN"/>
          </a:p>
        </p:txBody>
      </p:sp>
    </p:spTree>
    <p:extLst>
      <p:ext uri="{BB962C8B-B14F-4D97-AF65-F5344CB8AC3E}">
        <p14:creationId xmlns:p14="http://schemas.microsoft.com/office/powerpoint/2010/main" val="732752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Linearity</a:t>
            </a:r>
            <a:r>
              <a:rPr lang="en-US" dirty="0"/>
              <a:t>: </a:t>
            </a:r>
            <a:r>
              <a:rPr lang="en-US" b="1" dirty="0"/>
              <a:t>✅ Real-life example</a:t>
            </a:r>
          </a:p>
          <a:p>
            <a:r>
              <a:rPr lang="en-US" dirty="0"/>
              <a:t>Suppose you want to predict </a:t>
            </a:r>
            <a:r>
              <a:rPr lang="en-US" b="1" dirty="0"/>
              <a:t>house price (Y)</a:t>
            </a:r>
            <a:r>
              <a:rPr lang="en-US" dirty="0"/>
              <a:t> based on the </a:t>
            </a:r>
            <a:r>
              <a:rPr lang="en-US" b="1" dirty="0"/>
              <a:t>size of the house in square feet (X)</a:t>
            </a:r>
            <a:r>
              <a:rPr lang="en-US" dirty="0"/>
              <a:t>.</a:t>
            </a:r>
          </a:p>
          <a:p>
            <a:r>
              <a:rPr lang="en-US" dirty="0"/>
              <a:t>Generally, as the size increases, the price also increases in a roughly straight-line pattern → this satisfies the </a:t>
            </a:r>
            <a:r>
              <a:rPr lang="en-US" b="1" dirty="0"/>
              <a:t>linearity assumption</a:t>
            </a:r>
            <a:r>
              <a:rPr lang="en-US" dirty="0"/>
              <a:t>.</a:t>
            </a:r>
          </a:p>
          <a:p>
            <a:r>
              <a:rPr lang="en-US" dirty="0"/>
              <a:t>But, if the relationship is curved (e.g., for very large houses, the price doesn’t increase proportionally due to location constraints), then the linearity assumption is violated.</a:t>
            </a:r>
          </a:p>
          <a:p>
            <a:br>
              <a:rPr lang="en-US" dirty="0"/>
            </a:br>
            <a:endParaRPr lang="en-US" dirty="0"/>
          </a:p>
          <a:p>
            <a:r>
              <a:rPr lang="en-US" b="1" dirty="0"/>
              <a:t>🔎 How to check linearity?</a:t>
            </a:r>
          </a:p>
          <a:p>
            <a:r>
              <a:rPr lang="en-US" b="1" dirty="0"/>
              <a:t>Scatterplot</a:t>
            </a:r>
            <a:r>
              <a:rPr lang="en-US" dirty="0"/>
              <a:t>: Plot X vs Y. If the data points form a straight-line trend, linearity holds.</a:t>
            </a:r>
          </a:p>
          <a:p>
            <a:r>
              <a:rPr lang="en-US" b="1" dirty="0"/>
              <a:t>Residual plots</a:t>
            </a:r>
            <a:r>
              <a:rPr lang="en-US" dirty="0"/>
              <a:t>: Residuals (errors) should not show any curve/trend. If they do, the relationship may be non-linear.</a:t>
            </a:r>
          </a:p>
          <a:p>
            <a:br>
              <a:rPr lang="en-US" dirty="0"/>
            </a:br>
            <a:endParaRPr lang="en-US" dirty="0"/>
          </a:p>
          <a:p>
            <a:r>
              <a:rPr lang="en-US" b="1" dirty="0"/>
              <a:t>⚠️ What if this assumption is violated?</a:t>
            </a:r>
          </a:p>
          <a:p>
            <a:r>
              <a:rPr lang="en-US" dirty="0"/>
              <a:t>Predictions will be biased or misleading.</a:t>
            </a:r>
          </a:p>
          <a:p>
            <a:r>
              <a:rPr lang="en-US" dirty="0"/>
              <a:t>Example: Predicting </a:t>
            </a:r>
            <a:r>
              <a:rPr lang="en-US" b="1" dirty="0"/>
              <a:t>employee productivity from working hours</a:t>
            </a:r>
            <a:r>
              <a:rPr lang="en-US" dirty="0"/>
              <a:t> – productivity rises up to 8 hours but then drops due to fatigue → a linear model would wrongly assume more hours always mean higher productivity.</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11</a:t>
            </a:fld>
            <a:endParaRPr lang="en-IN"/>
          </a:p>
        </p:txBody>
      </p:sp>
    </p:spTree>
    <p:extLst>
      <p:ext uri="{BB962C8B-B14F-4D97-AF65-F5344CB8AC3E}">
        <p14:creationId xmlns:p14="http://schemas.microsoft.com/office/powerpoint/2010/main" val="4120768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Independence of Errors</a:t>
            </a:r>
          </a:p>
          <a:p>
            <a:r>
              <a:rPr lang="en-US" b="1" dirty="0"/>
              <a:t>Meaning</a:t>
            </a:r>
            <a:r>
              <a:rPr lang="en-US" dirty="0"/>
              <a:t>: The residuals (errors) should be independent of each other.</a:t>
            </a:r>
          </a:p>
          <a:p>
            <a:r>
              <a:rPr lang="en-US" b="1" dirty="0"/>
              <a:t>Real-life Scenario</a:t>
            </a:r>
            <a:r>
              <a:rPr lang="en-US" dirty="0"/>
              <a:t>: Suppose you are predicting </a:t>
            </a:r>
            <a:r>
              <a:rPr lang="en-US" b="1" dirty="0"/>
              <a:t>daily sales of a shop</a:t>
            </a:r>
            <a:r>
              <a:rPr lang="en-US" dirty="0"/>
              <a:t> based on advertising spend. If sales today are strongly dependent on yesterday’s sales (like seasonal trends or customer habits), then errors are not independent.</a:t>
            </a:r>
          </a:p>
          <a:p>
            <a:r>
              <a:rPr lang="en-US" b="1" dirty="0"/>
              <a:t>If violated</a:t>
            </a:r>
            <a:r>
              <a:rPr lang="en-US" dirty="0"/>
              <a:t>: Model underestimates or overestimates errors → results in misleading confidence intervals.</a:t>
            </a:r>
          </a:p>
          <a:p>
            <a:br>
              <a:rPr lang="en-US" dirty="0"/>
            </a:br>
            <a:endParaRPr lang="en-US" dirty="0"/>
          </a:p>
          <a:p>
            <a:r>
              <a:rPr lang="en-US" b="1" dirty="0"/>
              <a:t>2. Constant Variance (Homoscedasticity)</a:t>
            </a:r>
          </a:p>
          <a:p>
            <a:r>
              <a:rPr lang="en-US" b="1" dirty="0"/>
              <a:t>Meaning</a:t>
            </a:r>
            <a:r>
              <a:rPr lang="en-US" dirty="0"/>
              <a:t>: The spread of residuals (errors) should be the same across all levels of the independent variable(s).</a:t>
            </a:r>
          </a:p>
          <a:p>
            <a:r>
              <a:rPr lang="en-US" b="1" dirty="0"/>
              <a:t>Real-life Scenario</a:t>
            </a:r>
            <a:r>
              <a:rPr lang="en-US" dirty="0"/>
              <a:t>: Predicting </a:t>
            </a:r>
            <a:r>
              <a:rPr lang="en-US" b="1" dirty="0"/>
              <a:t>salary based on years of experience</a:t>
            </a:r>
            <a:r>
              <a:rPr lang="en-US" dirty="0"/>
              <a:t>.</a:t>
            </a:r>
          </a:p>
          <a:p>
            <a:pPr lvl="1"/>
            <a:r>
              <a:rPr lang="en-US" dirty="0"/>
              <a:t>If at low experience, salaries vary slightly (tight spread), but at high experience, salaries vary a lot (some earn modestly, some very high), the variance is not constant.</a:t>
            </a:r>
          </a:p>
          <a:p>
            <a:r>
              <a:rPr lang="en-US" b="1" dirty="0"/>
              <a:t>If violated (heteroscedasticity)</a:t>
            </a:r>
            <a:r>
              <a:rPr lang="en-US" dirty="0"/>
              <a:t>: The model’s predictions are less reliable for certain ranges of X.</a:t>
            </a:r>
          </a:p>
          <a:p>
            <a:br>
              <a:rPr lang="en-US" dirty="0"/>
            </a:br>
            <a:endParaRPr lang="en-US" dirty="0"/>
          </a:p>
          <a:p>
            <a:r>
              <a:rPr lang="en-US" b="1" dirty="0"/>
              <a:t>3. Normality of Errors</a:t>
            </a:r>
          </a:p>
          <a:p>
            <a:r>
              <a:rPr lang="en-US" b="1" dirty="0"/>
              <a:t>Meaning</a:t>
            </a:r>
            <a:r>
              <a:rPr lang="en-US" dirty="0"/>
              <a:t>: The residuals should follow a normal distribution (bell curve).</a:t>
            </a:r>
          </a:p>
          <a:p>
            <a:r>
              <a:rPr lang="en-US" b="1" dirty="0"/>
              <a:t>Real-life Scenario</a:t>
            </a:r>
            <a:r>
              <a:rPr lang="en-US" dirty="0"/>
              <a:t>: In predicting </a:t>
            </a:r>
            <a:r>
              <a:rPr lang="en-US" b="1" dirty="0"/>
              <a:t>students’ marks from study hours</a:t>
            </a:r>
            <a:r>
              <a:rPr lang="en-US" dirty="0"/>
              <a:t>, most students should fall near the predicted line, with fewer very high/very low deviations.</a:t>
            </a:r>
          </a:p>
          <a:p>
            <a:r>
              <a:rPr lang="en-US" b="1" dirty="0"/>
              <a:t>If violated</a:t>
            </a:r>
            <a:r>
              <a:rPr lang="en-US" dirty="0"/>
              <a:t>: Hypothesis tests (like t-tests, F-tests) become invalid.</a:t>
            </a:r>
          </a:p>
          <a:p>
            <a:br>
              <a:rPr lang="en-US" dirty="0"/>
            </a:br>
            <a:endParaRPr lang="en-US" dirty="0"/>
          </a:p>
          <a:p>
            <a:r>
              <a:rPr lang="en-US" b="1" dirty="0"/>
              <a:t>4. No Multicollinearity</a:t>
            </a:r>
          </a:p>
          <a:p>
            <a:r>
              <a:rPr lang="en-US" b="1" dirty="0"/>
              <a:t>Meaning</a:t>
            </a:r>
            <a:r>
              <a:rPr lang="en-US" dirty="0"/>
              <a:t>: Independent variables should not be highly correlated with each other.</a:t>
            </a:r>
          </a:p>
          <a:p>
            <a:r>
              <a:rPr lang="en-US" b="1" dirty="0"/>
              <a:t>Real-life Scenario</a:t>
            </a:r>
            <a:r>
              <a:rPr lang="en-US" dirty="0"/>
              <a:t>: Predicting </a:t>
            </a:r>
            <a:r>
              <a:rPr lang="en-US" b="1" dirty="0"/>
              <a:t>car price</a:t>
            </a:r>
            <a:r>
              <a:rPr lang="en-US" dirty="0"/>
              <a:t> using both </a:t>
            </a:r>
            <a:r>
              <a:rPr lang="en-US" i="1" dirty="0"/>
              <a:t>engine size</a:t>
            </a:r>
            <a:r>
              <a:rPr lang="en-US" dirty="0"/>
              <a:t> and </a:t>
            </a:r>
            <a:r>
              <a:rPr lang="en-US" i="1" dirty="0"/>
              <a:t>horsepower</a:t>
            </a:r>
            <a:r>
              <a:rPr lang="en-US" dirty="0"/>
              <a:t>. Since they are strongly related, the model struggles to decide which one actually influences the price.</a:t>
            </a:r>
          </a:p>
          <a:p>
            <a:r>
              <a:rPr lang="en-US" b="1" dirty="0"/>
              <a:t>If violated</a:t>
            </a:r>
            <a:r>
              <a:rPr lang="en-US" dirty="0"/>
              <a:t>: Coefficients become unstable and hard to interpret.</a:t>
            </a:r>
          </a:p>
          <a:p>
            <a:br>
              <a:rPr lang="en-US" dirty="0"/>
            </a:br>
            <a:endParaRPr lang="en-US" dirty="0"/>
          </a:p>
          <a:p>
            <a:r>
              <a:rPr lang="en-US" b="1" dirty="0"/>
              <a:t>5. No Autocorrelation</a:t>
            </a:r>
          </a:p>
          <a:p>
            <a:r>
              <a:rPr lang="en-US" b="1" dirty="0"/>
              <a:t>Meaning</a:t>
            </a:r>
            <a:r>
              <a:rPr lang="en-US" dirty="0"/>
              <a:t>: Errors should not follow a systematic pattern (especially in time series).</a:t>
            </a:r>
          </a:p>
          <a:p>
            <a:r>
              <a:rPr lang="en-US" b="1" dirty="0"/>
              <a:t>Real-life Scenario</a:t>
            </a:r>
            <a:r>
              <a:rPr lang="en-US" dirty="0"/>
              <a:t>: Predicting </a:t>
            </a:r>
            <a:r>
              <a:rPr lang="en-US" b="1" dirty="0"/>
              <a:t>monthly electricity consumption</a:t>
            </a:r>
            <a:r>
              <a:rPr lang="en-US" dirty="0"/>
              <a:t> based on temperature. If residuals follow a pattern across months (e.g., higher errors every summer), autocorrelation exists.</a:t>
            </a:r>
          </a:p>
          <a:p>
            <a:r>
              <a:rPr lang="en-US" b="1" dirty="0"/>
              <a:t>If violated</a:t>
            </a:r>
            <a:r>
              <a:rPr lang="en-US" dirty="0"/>
              <a:t>: The model fails to capture time-based trends.</a:t>
            </a:r>
          </a:p>
          <a:p>
            <a:br>
              <a:rPr lang="en-US" dirty="0"/>
            </a:br>
            <a:endParaRPr lang="en-US" dirty="0"/>
          </a:p>
          <a:p>
            <a:r>
              <a:rPr lang="en-US" b="1" dirty="0"/>
              <a:t>6. Additivity</a:t>
            </a:r>
          </a:p>
          <a:p>
            <a:r>
              <a:rPr lang="en-US" b="1" dirty="0"/>
              <a:t>Meaning</a:t>
            </a:r>
            <a:r>
              <a:rPr lang="en-US" dirty="0"/>
              <a:t>: The effect of independent variables on the dependent variable is additive (the total effect is the sum of individual effects).</a:t>
            </a:r>
          </a:p>
          <a:p>
            <a:r>
              <a:rPr lang="en-US" b="1" dirty="0"/>
              <a:t>Real-life Scenario</a:t>
            </a:r>
            <a:r>
              <a:rPr lang="en-US" dirty="0"/>
              <a:t>: Predicting </a:t>
            </a:r>
            <a:r>
              <a:rPr lang="en-US" b="1" dirty="0"/>
              <a:t>exam score</a:t>
            </a:r>
            <a:r>
              <a:rPr lang="en-US" dirty="0"/>
              <a:t> based on </a:t>
            </a:r>
            <a:r>
              <a:rPr lang="en-US" i="1" dirty="0"/>
              <a:t>study hours</a:t>
            </a:r>
            <a:r>
              <a:rPr lang="en-US" dirty="0"/>
              <a:t> and </a:t>
            </a:r>
            <a:r>
              <a:rPr lang="en-US" i="1" dirty="0"/>
              <a:t>tuition hours</a:t>
            </a:r>
            <a:r>
              <a:rPr lang="en-US" dirty="0"/>
              <a:t>. Linear regression assumes:</a:t>
            </a:r>
          </a:p>
          <a:p>
            <a:pPr lvl="1"/>
            <a:r>
              <a:rPr lang="en-US" dirty="0"/>
              <a:t>Score = effect of study hours + effect of tuition hours.</a:t>
            </a:r>
          </a:p>
          <a:p>
            <a:pPr lvl="1"/>
            <a:r>
              <a:rPr lang="en-US" dirty="0"/>
              <a:t>If the two factors interact (e.g., tuition is more effective only if self-study is also high), additivity is violated.</a:t>
            </a:r>
          </a:p>
          <a:p>
            <a:r>
              <a:rPr lang="en-US" b="1" dirty="0"/>
              <a:t>If violated</a:t>
            </a:r>
            <a:r>
              <a:rPr lang="en-US" dirty="0"/>
              <a:t>: Interaction terms or non-linear models are needed.</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12</a:t>
            </a:fld>
            <a:endParaRPr lang="en-IN"/>
          </a:p>
        </p:txBody>
      </p:sp>
    </p:spTree>
    <p:extLst>
      <p:ext uri="{BB962C8B-B14F-4D97-AF65-F5344CB8AC3E}">
        <p14:creationId xmlns:p14="http://schemas.microsoft.com/office/powerpoint/2010/main" val="18320344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D41093A-C23D-429B-98DA-B7C0090128F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512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234935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653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77FE8A-B814-4D40-8DE8-AB9276525101}"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136129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77FE8A-B814-4D40-8DE8-AB9276525101}"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41093A-C23D-429B-98DA-B7C0090128F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188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77FE8A-B814-4D40-8DE8-AB9276525101}"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7518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77FE8A-B814-4D40-8DE8-AB9276525101}"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910362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1301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1071044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485501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7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1981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701610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6059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163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7271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785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777FE8A-B814-4D40-8DE8-AB9276525101}" type="datetimeFigureOut">
              <a:rPr lang="en-IN" smtClean="0"/>
              <a:t>07-04-2026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41093A-C23D-429B-98DA-B7C0090128F6}" type="slidenum">
              <a:rPr lang="en-IN" smtClean="0"/>
              <a:t>‹#›</a:t>
            </a:fld>
            <a:endParaRPr lang="en-IN"/>
          </a:p>
        </p:txBody>
      </p:sp>
    </p:spTree>
    <p:extLst>
      <p:ext uri="{BB962C8B-B14F-4D97-AF65-F5344CB8AC3E}">
        <p14:creationId xmlns:p14="http://schemas.microsoft.com/office/powerpoint/2010/main" val="1651093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A992-42EC-64B0-4559-13E5AA3829FD}"/>
              </a:ext>
            </a:extLst>
          </p:cNvPr>
          <p:cNvSpPr>
            <a:spLocks noGrp="1"/>
          </p:cNvSpPr>
          <p:nvPr>
            <p:ph type="ctrTitle"/>
          </p:nvPr>
        </p:nvSpPr>
        <p:spPr/>
        <p:txBody>
          <a:bodyPr/>
          <a:lstStyle/>
          <a:p>
            <a:r>
              <a:rPr lang="en-US" sz="4000" b="1" dirty="0">
                <a:latin typeface="Times New Roman" panose="02020603050405020304" pitchFamily="18" charset="0"/>
                <a:cs typeface="Times New Roman" panose="02020603050405020304" pitchFamily="18" charset="0"/>
              </a:rPr>
              <a:t>Regression Analysis</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9AAC82-F0C6-0815-51DB-257B2CD0C114}"/>
              </a:ext>
            </a:extLst>
          </p:cNvPr>
          <p:cNvSpPr>
            <a:spLocks noGrp="1"/>
          </p:cNvSpPr>
          <p:nvPr>
            <p:ph type="subTitle" idx="1"/>
          </p:nvPr>
        </p:nvSpPr>
        <p:spPr>
          <a:xfrm>
            <a:off x="2692398" y="3657596"/>
            <a:ext cx="6936794" cy="1763489"/>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2996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7D75-3713-A570-95AC-34465781DE3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D1D320-5736-6CDE-2927-6A46D1AFBB73}"/>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Identify relationship amongst variable based on historical data</a:t>
            </a:r>
          </a:p>
          <a:p>
            <a:r>
              <a:rPr lang="en-US" dirty="0">
                <a:solidFill>
                  <a:schemeClr val="tx1"/>
                </a:solidFill>
                <a:latin typeface="Times New Roman" panose="02020603050405020304" pitchFamily="18" charset="0"/>
                <a:cs typeface="Times New Roman" panose="02020603050405020304" pitchFamily="18" charset="0"/>
              </a:rPr>
              <a:t>Example: Predicting price of house based on several parameters</a:t>
            </a:r>
            <a:r>
              <a:rPr lang="en-IN" dirty="0">
                <a:solidFill>
                  <a:schemeClr val="tx1"/>
                </a:solidFill>
                <a:latin typeface="Times New Roman" panose="02020603050405020304" pitchFamily="18" charset="0"/>
                <a:cs typeface="Times New Roman" panose="02020603050405020304" pitchFamily="18" charset="0"/>
              </a:rPr>
              <a:t> such as size, location , age etc</a:t>
            </a:r>
          </a:p>
          <a:p>
            <a:r>
              <a:rPr lang="en-US" dirty="0">
                <a:solidFill>
                  <a:schemeClr val="tx1"/>
                </a:solidFill>
                <a:latin typeface="Times New Roman" panose="02020603050405020304" pitchFamily="18" charset="0"/>
                <a:cs typeface="Times New Roman" panose="02020603050405020304" pitchFamily="18" charset="0"/>
              </a:rPr>
              <a:t>Independent variable: Size, location ,age</a:t>
            </a:r>
          </a:p>
          <a:p>
            <a:r>
              <a:rPr lang="en-US" dirty="0">
                <a:solidFill>
                  <a:schemeClr val="tx1"/>
                </a:solidFill>
                <a:latin typeface="Times New Roman" panose="02020603050405020304" pitchFamily="18" charset="0"/>
                <a:cs typeface="Times New Roman" panose="02020603050405020304" pitchFamily="18" charset="0"/>
              </a:rPr>
              <a:t>Dependent variable: Price</a:t>
            </a:r>
          </a:p>
          <a:p>
            <a:r>
              <a:rPr lang="en-US" dirty="0">
                <a:solidFill>
                  <a:schemeClr val="tx1"/>
                </a:solidFill>
                <a:latin typeface="Times New Roman" panose="02020603050405020304" pitchFamily="18" charset="0"/>
                <a:cs typeface="Times New Roman" panose="02020603050405020304" pitchFamily="18" charset="0"/>
              </a:rPr>
              <a:t>Use this developed relation to predict future</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456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DADE-4ED7-B8DC-BC4F-D81BE7A48CF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Regression analysis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A71771-E517-459A-87A6-E13E35D8141D}"/>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Estimating relationship amongst variable</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How dependent variable is influenced by independent variable</a:t>
            </a:r>
          </a:p>
          <a:p>
            <a:pPr>
              <a:buFont typeface="Wingdings" panose="05000000000000000000" pitchFamily="2" charset="2"/>
              <a:buChar char="Ø"/>
            </a:pPr>
            <a:r>
              <a:rPr lang="en-US" dirty="0" err="1">
                <a:solidFill>
                  <a:schemeClr val="tx1"/>
                </a:solidFill>
                <a:latin typeface="Times New Roman" panose="02020603050405020304" pitchFamily="18" charset="0"/>
                <a:cs typeface="Times New Roman" panose="02020603050405020304" pitchFamily="18" charset="0"/>
              </a:rPr>
              <a:t>Eg:Petrol</a:t>
            </a:r>
            <a:r>
              <a:rPr lang="en-US" dirty="0">
                <a:solidFill>
                  <a:schemeClr val="tx1"/>
                </a:solidFill>
                <a:latin typeface="Times New Roman" panose="02020603050405020304" pitchFamily="18" charset="0"/>
                <a:cs typeface="Times New Roman" panose="02020603050405020304" pitchFamily="18" charset="0"/>
              </a:rPr>
              <a:t> prices increase with increase in demand</a:t>
            </a:r>
          </a:p>
          <a:p>
            <a:pPr marL="0" indent="0">
              <a:buNone/>
            </a:pPr>
            <a:r>
              <a:rPr lang="en-US" dirty="0">
                <a:solidFill>
                  <a:schemeClr val="tx1"/>
                </a:solidFill>
                <a:latin typeface="Times New Roman" panose="02020603050405020304" pitchFamily="18" charset="0"/>
                <a:cs typeface="Times New Roman" panose="02020603050405020304" pitchFamily="18" charset="0"/>
              </a:rPr>
              <a:t>Dependent variable: Petrol Prices(Variable  you want to predict or explain)</a:t>
            </a:r>
          </a:p>
          <a:p>
            <a:pPr marL="0" indent="0">
              <a:buNone/>
            </a:pPr>
            <a:r>
              <a:rPr lang="en-US" dirty="0">
                <a:solidFill>
                  <a:schemeClr val="tx1"/>
                </a:solidFill>
                <a:latin typeface="Times New Roman" panose="02020603050405020304" pitchFamily="18" charset="0"/>
                <a:cs typeface="Times New Roman" panose="02020603050405020304" pitchFamily="18" charset="0"/>
              </a:rPr>
              <a:t>Independent variable: Demand for petrol( Factor that influences petrol prices)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50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37DBE3-722C-B393-8042-54111F9166DA}"/>
              </a:ext>
            </a:extLst>
          </p:cNvPr>
          <p:cNvSpPr>
            <a:spLocks noGrp="1"/>
          </p:cNvSpPr>
          <p:nvPr>
            <p:ph idx="1"/>
          </p:nvPr>
        </p:nvSpPr>
        <p:spPr>
          <a:xfrm>
            <a:off x="1212980" y="2528596"/>
            <a:ext cx="9683617" cy="3347272"/>
          </a:xfrm>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Understand the variables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Create a dummy data</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Perform regression analysis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Interpret the results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Graphical representation</a:t>
            </a:r>
          </a:p>
          <a:p>
            <a:pPr marL="457200" indent="-457200">
              <a:buFont typeface="+mj-lt"/>
              <a:buAutoNum type="arabicPeriod"/>
            </a:pP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9B6E4F8-7196-3F38-1CE6-57BC7D9FF58C}"/>
              </a:ext>
            </a:extLst>
          </p:cNvPr>
          <p:cNvSpPr txBox="1"/>
          <p:nvPr/>
        </p:nvSpPr>
        <p:spPr>
          <a:xfrm>
            <a:off x="1632857" y="1054358"/>
            <a:ext cx="684867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Steps involved on Regression</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513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17A0D-5641-6F36-E8B2-1DC4B758F7B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regression 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046002-CB01-7488-8B0C-286C94D245A9}"/>
              </a:ext>
            </a:extLst>
          </p:cNvPr>
          <p:cNvSpPr>
            <a:spLocks noGrp="1"/>
          </p:cNvSpPr>
          <p:nvPr>
            <p:ph idx="1"/>
          </p:nvPr>
        </p:nvSpPr>
        <p:spPr/>
        <p:txBody>
          <a:bodyPr/>
          <a:lstStyle/>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Number of Independent Variables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Shape of the Regression Line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Type of Dependent Variable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29000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F8383-C08E-04A6-C928-6EFAA9935F68}"/>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Understanding benefits  of regression analysis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D86AAF-A839-BC8A-31D1-F124092E2869}"/>
              </a:ext>
            </a:extLst>
          </p:cNvPr>
          <p:cNvSpPr>
            <a:spLocks noGrp="1"/>
          </p:cNvSpPr>
          <p:nvPr>
            <p:ph idx="1"/>
          </p:nvPr>
        </p:nvSpPr>
        <p:spPr/>
        <p:txBody>
          <a:bodyPr/>
          <a:lstStyle/>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Indicates the Significant Relationships between Dependent and Independent Variables: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Indicates the Strength of Impact of Multiple Independent Variables on a Dependent Variable:</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Helps Compare the Effects of Variables Measured on Different Scales: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Evaluates the Effects of Price Changes and the Number of Promotional Activities</a:t>
            </a: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Benefits Market Researchers / Data Analysts / Data Scientists: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8018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181D6-BCED-CAF0-5B09-C25428365A3C}"/>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Line of best fit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7C396B-0588-4F7F-6BA1-F8D131F9DDE5}"/>
              </a:ext>
            </a:extLst>
          </p:cNvPr>
          <p:cNvSpPr>
            <a:spLocks noGrp="1"/>
          </p:cNvSpPr>
          <p:nvPr>
            <p:ph idx="1"/>
          </p:nvPr>
        </p:nvSpPr>
        <p:spPr>
          <a:xfrm>
            <a:off x="1295401" y="2556932"/>
            <a:ext cx="3519195" cy="3190725"/>
          </a:xfrm>
        </p:spPr>
        <p:txBody>
          <a:bodyPr/>
          <a:lstStyle/>
          <a:p>
            <a:r>
              <a:rPr lang="en-US" dirty="0">
                <a:latin typeface="Times New Roman" panose="02020603050405020304" pitchFamily="18" charset="0"/>
                <a:cs typeface="Times New Roman" panose="02020603050405020304" pitchFamily="18" charset="0"/>
              </a:rPr>
              <a:t>Imagine you have some points, and want to have a </a:t>
            </a:r>
            <a:r>
              <a:rPr lang="en-US" b="1" dirty="0">
                <a:latin typeface="Times New Roman" panose="02020603050405020304" pitchFamily="18" charset="0"/>
                <a:cs typeface="Times New Roman" panose="02020603050405020304" pitchFamily="18" charset="0"/>
              </a:rPr>
              <a:t>line that best fits </a:t>
            </a:r>
            <a:r>
              <a:rPr lang="en-US" dirty="0">
                <a:latin typeface="Times New Roman" panose="02020603050405020304" pitchFamily="18" charset="0"/>
                <a:cs typeface="Times New Roman" panose="02020603050405020304" pitchFamily="18" charset="0"/>
              </a:rPr>
              <a:t>them like this</a:t>
            </a:r>
          </a:p>
          <a:p>
            <a:r>
              <a:rPr lang="en-US" dirty="0">
                <a:latin typeface="Times New Roman" panose="02020603050405020304" pitchFamily="18" charset="0"/>
                <a:cs typeface="Times New Roman" panose="02020603050405020304" pitchFamily="18" charset="0"/>
              </a:rPr>
              <a:t>But for better accuracy we will calculate the line using </a:t>
            </a:r>
            <a:r>
              <a:rPr lang="en-US" b="1" dirty="0">
                <a:latin typeface="Times New Roman" panose="02020603050405020304" pitchFamily="18" charset="0"/>
                <a:cs typeface="Times New Roman" panose="02020603050405020304" pitchFamily="18" charset="0"/>
              </a:rPr>
              <a:t>Least Squares Regression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4FC16B7-3D10-58AC-521A-1BE681F08EA0}"/>
              </a:ext>
            </a:extLst>
          </p:cNvPr>
          <p:cNvPicPr>
            <a:picLocks noChangeAspect="1"/>
          </p:cNvPicPr>
          <p:nvPr/>
        </p:nvPicPr>
        <p:blipFill>
          <a:blip r:embed="rId2"/>
          <a:stretch>
            <a:fillRect/>
          </a:stretch>
        </p:blipFill>
        <p:spPr>
          <a:xfrm>
            <a:off x="5451172" y="2452006"/>
            <a:ext cx="5633113" cy="3528915"/>
          </a:xfrm>
          <a:prstGeom prst="rect">
            <a:avLst/>
          </a:prstGeom>
        </p:spPr>
      </p:pic>
    </p:spTree>
    <p:extLst>
      <p:ext uri="{BB962C8B-B14F-4D97-AF65-F5344CB8AC3E}">
        <p14:creationId xmlns:p14="http://schemas.microsoft.com/office/powerpoint/2010/main" val="2765151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50D-8198-E5A2-6559-9EE13432A858}"/>
              </a:ext>
            </a:extLst>
          </p:cNvPr>
          <p:cNvSpPr>
            <a:spLocks noGrp="1"/>
          </p:cNvSpPr>
          <p:nvPr>
            <p:ph type="title"/>
          </p:nvPr>
        </p:nvSpPr>
        <p:spPr/>
        <p:txBody>
          <a:bodyPr/>
          <a:lstStyle/>
          <a:p>
            <a:r>
              <a:rPr lang="en-US" dirty="0"/>
              <a:t>Questions Asked</a:t>
            </a:r>
            <a:endParaRPr lang="en-IN" dirty="0"/>
          </a:p>
        </p:txBody>
      </p:sp>
      <p:sp>
        <p:nvSpPr>
          <p:cNvPr id="3" name="Content Placeholder 2">
            <a:extLst>
              <a:ext uri="{FF2B5EF4-FFF2-40B4-BE49-F238E27FC236}">
                <a16:creationId xmlns:a16="http://schemas.microsoft.com/office/drawing/2014/main" id="{2B3B51A4-492B-9D4B-C793-1FC09FD81092}"/>
              </a:ext>
            </a:extLst>
          </p:cNvPr>
          <p:cNvSpPr>
            <a:spLocks noGrp="1"/>
          </p:cNvSpPr>
          <p:nvPr>
            <p:ph idx="1"/>
          </p:nvPr>
        </p:nvSpPr>
        <p:spPr/>
        <p:txBody>
          <a:bodyPr/>
          <a:lstStyle/>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simple linear regression? State how to use simple linear regression with its relevant formula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multiple linear regression? state how to use multiple linear regression with its formula? explain with the help of house price prediction example</a:t>
            </a:r>
          </a:p>
          <a:p>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1A88F69-7C72-DB0C-B72F-5F20E90A089D}"/>
              </a:ext>
            </a:extLst>
          </p:cNvPr>
          <p:cNvPicPr>
            <a:picLocks noChangeAspect="1"/>
          </p:cNvPicPr>
          <p:nvPr/>
        </p:nvPicPr>
        <p:blipFill>
          <a:blip r:embed="rId2"/>
          <a:stretch>
            <a:fillRect/>
          </a:stretch>
        </p:blipFill>
        <p:spPr>
          <a:xfrm>
            <a:off x="1382782" y="4376076"/>
            <a:ext cx="8516997" cy="1899481"/>
          </a:xfrm>
          <a:prstGeom prst="rect">
            <a:avLst/>
          </a:prstGeom>
        </p:spPr>
      </p:pic>
    </p:spTree>
    <p:extLst>
      <p:ext uri="{BB962C8B-B14F-4D97-AF65-F5344CB8AC3E}">
        <p14:creationId xmlns:p14="http://schemas.microsoft.com/office/powerpoint/2010/main" val="1554432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ECC3-40B5-1C23-CAD6-D1C0EF766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19D0D-FF8A-86E7-19EC-4F64A92CECA6}"/>
              </a:ext>
            </a:extLst>
          </p:cNvPr>
          <p:cNvSpPr>
            <a:spLocks noGrp="1"/>
          </p:cNvSpPr>
          <p:nvPr>
            <p:ph type="title"/>
          </p:nvPr>
        </p:nvSpPr>
        <p:spPr/>
        <p:txBody>
          <a:bodyPr/>
          <a:lstStyle/>
          <a:p>
            <a:r>
              <a:rPr lang="en-US" dirty="0"/>
              <a:t>Questions Asked</a:t>
            </a:r>
            <a:endParaRPr lang="en-IN" dirty="0"/>
          </a:p>
        </p:txBody>
      </p:sp>
      <p:sp>
        <p:nvSpPr>
          <p:cNvPr id="3" name="Content Placeholder 2">
            <a:extLst>
              <a:ext uri="{FF2B5EF4-FFF2-40B4-BE49-F238E27FC236}">
                <a16:creationId xmlns:a16="http://schemas.microsoft.com/office/drawing/2014/main" id="{AED565D4-873F-EDA1-6D30-2A69F4E4E4AE}"/>
              </a:ext>
            </a:extLst>
          </p:cNvPr>
          <p:cNvSpPr>
            <a:spLocks noGrp="1"/>
          </p:cNvSpPr>
          <p:nvPr>
            <p:ph idx="1"/>
          </p:nvPr>
        </p:nvSpPr>
        <p:spPr/>
        <p:txBody>
          <a:bodyPr/>
          <a:lstStyle/>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simple linear regression? State how to use simple linear regression with its relevant formula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multiple linear regression? state how to use multiple linear regression with its formula? explain with the help of house price prediction example</a:t>
            </a:r>
          </a:p>
          <a:p>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D36F23C2-0A1C-6193-8807-53B18E66C1DA}"/>
              </a:ext>
            </a:extLst>
          </p:cNvPr>
          <p:cNvPicPr>
            <a:picLocks noChangeAspect="1"/>
          </p:cNvPicPr>
          <p:nvPr/>
        </p:nvPicPr>
        <p:blipFill>
          <a:blip r:embed="rId2"/>
          <a:stretch>
            <a:fillRect/>
          </a:stretch>
        </p:blipFill>
        <p:spPr>
          <a:xfrm>
            <a:off x="1382782" y="4376076"/>
            <a:ext cx="8516997" cy="1899481"/>
          </a:xfrm>
          <a:prstGeom prst="rect">
            <a:avLst/>
          </a:prstGeom>
        </p:spPr>
      </p:pic>
    </p:spTree>
    <p:extLst>
      <p:ext uri="{BB962C8B-B14F-4D97-AF65-F5344CB8AC3E}">
        <p14:creationId xmlns:p14="http://schemas.microsoft.com/office/powerpoint/2010/main" val="4201039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BE49-4481-6940-31A0-5F74EBD73E1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in linear 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8598CD-789D-50EE-15D1-630ACCD113FC}"/>
              </a:ext>
            </a:extLst>
          </p:cNvPr>
          <p:cNvSpPr>
            <a:spLocks noGrp="1"/>
          </p:cNvSpPr>
          <p:nvPr>
            <p:ph idx="1"/>
          </p:nvPr>
        </p:nvSpPr>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Overfitting: </a:t>
            </a:r>
            <a:r>
              <a:rPr lang="en-US" sz="2200" dirty="0">
                <a:latin typeface="Times New Roman" panose="02020603050405020304" pitchFamily="18" charset="0"/>
                <a:cs typeface="Times New Roman" panose="02020603050405020304" pitchFamily="18" charset="0"/>
              </a:rPr>
              <a:t>Overfitting happens when the model includes too many irrelevant details.</a:t>
            </a:r>
          </a:p>
          <a:p>
            <a:pPr marL="457200" indent="-457200">
              <a:buFont typeface="+mj-lt"/>
              <a:buAutoNum type="arabicPeriod"/>
            </a:pPr>
            <a:r>
              <a:rPr lang="en-IN" b="1" dirty="0">
                <a:latin typeface="Times New Roman" panose="02020603050405020304" pitchFamily="18" charset="0"/>
                <a:cs typeface="Times New Roman" panose="02020603050405020304" pitchFamily="18" charset="0"/>
              </a:rPr>
              <a:t>Multicollinearity: </a:t>
            </a:r>
            <a:r>
              <a:rPr lang="en-IN" sz="2200" dirty="0">
                <a:latin typeface="Times New Roman" panose="02020603050405020304" pitchFamily="18" charset="0"/>
                <a:cs typeface="Times New Roman" panose="02020603050405020304" pitchFamily="18" charset="0"/>
              </a:rPr>
              <a:t>T</a:t>
            </a:r>
            <a:r>
              <a:rPr lang="en-US" sz="2200" dirty="0">
                <a:latin typeface="Times New Roman" panose="02020603050405020304" pitchFamily="18" charset="0"/>
                <a:cs typeface="Times New Roman" panose="02020603050405020304" pitchFamily="18" charset="0"/>
              </a:rPr>
              <a:t>wo or more predictor variables are highly correlated, making it difficult to estimate their individual effect on the outcome.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Assumption of linearity: </a:t>
            </a:r>
            <a:r>
              <a:rPr lang="en-US" sz="2200" dirty="0">
                <a:latin typeface="Times New Roman" panose="02020603050405020304" pitchFamily="18" charset="0"/>
                <a:cs typeface="Times New Roman" panose="02020603050405020304" pitchFamily="18" charset="0"/>
              </a:rPr>
              <a:t>Linear regression assumes a straight-line relationship between independent and dependent variables.</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Sensitive to outliers: </a:t>
            </a:r>
            <a:r>
              <a:rPr lang="en-US" sz="2200" dirty="0">
                <a:latin typeface="Times New Roman" panose="02020603050405020304" pitchFamily="18" charset="0"/>
                <a:cs typeface="Times New Roman" panose="02020603050405020304" pitchFamily="18" charset="0"/>
              </a:rPr>
              <a:t>A single extreme value can distort the regression line heavily.</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516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066D-4CE9-4976-5676-A7C6A259CB6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Assumptions of linear 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73914F-9D2E-04F7-4046-25EC9614939F}"/>
              </a:ext>
            </a:extLst>
          </p:cNvPr>
          <p:cNvSpPr>
            <a:spLocks noGrp="1"/>
          </p:cNvSpPr>
          <p:nvPr>
            <p:ph idx="1"/>
          </p:nvPr>
        </p:nvSpPr>
        <p:spPr/>
        <p:txBody>
          <a:bodyPr>
            <a:normAutofit/>
          </a:bodyPr>
          <a:lstStyle/>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Linearity: </a:t>
            </a:r>
            <a:r>
              <a:rPr lang="en-US" sz="2200" dirty="0">
                <a:solidFill>
                  <a:schemeClr val="tx1"/>
                </a:solidFill>
                <a:latin typeface="Times New Roman" panose="02020603050405020304" pitchFamily="18" charset="0"/>
                <a:cs typeface="Times New Roman" panose="02020603050405020304" pitchFamily="18" charset="0"/>
              </a:rPr>
              <a:t>Linear regression assumes that there is a </a:t>
            </a:r>
            <a:r>
              <a:rPr lang="en-US" sz="2200" b="1" dirty="0">
                <a:solidFill>
                  <a:schemeClr val="tx1"/>
                </a:solidFill>
                <a:latin typeface="Times New Roman" panose="02020603050405020304" pitchFamily="18" charset="0"/>
                <a:cs typeface="Times New Roman" panose="02020603050405020304" pitchFamily="18" charset="0"/>
              </a:rPr>
              <a:t>linear (straight-line) relationship</a:t>
            </a:r>
            <a:r>
              <a:rPr lang="en-US" sz="2200" dirty="0">
                <a:solidFill>
                  <a:schemeClr val="tx1"/>
                </a:solidFill>
                <a:latin typeface="Times New Roman" panose="02020603050405020304" pitchFamily="18" charset="0"/>
                <a:cs typeface="Times New Roman" panose="02020603050405020304" pitchFamily="18" charset="0"/>
              </a:rPr>
              <a:t> between the independent variable(s) (X) and the dependent variable (Y).</a:t>
            </a:r>
          </a:p>
          <a:p>
            <a:pPr marL="457200" indent="-457200">
              <a:buFont typeface="+mj-lt"/>
              <a:buAutoNum type="arabicPeriod"/>
            </a:pPr>
            <a:endParaRPr lang="en-US" sz="2200"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60A0B8-542D-3AB3-5523-7EC918BB6C0E}"/>
              </a:ext>
            </a:extLst>
          </p:cNvPr>
          <p:cNvPicPr>
            <a:picLocks noChangeAspect="1"/>
          </p:cNvPicPr>
          <p:nvPr/>
        </p:nvPicPr>
        <p:blipFill>
          <a:blip r:embed="rId3"/>
          <a:stretch>
            <a:fillRect/>
          </a:stretch>
        </p:blipFill>
        <p:spPr>
          <a:xfrm>
            <a:off x="1935332" y="3690475"/>
            <a:ext cx="7608164" cy="2282450"/>
          </a:xfrm>
          <a:prstGeom prst="rect">
            <a:avLst/>
          </a:prstGeom>
        </p:spPr>
      </p:pic>
    </p:spTree>
    <p:extLst>
      <p:ext uri="{BB962C8B-B14F-4D97-AF65-F5344CB8AC3E}">
        <p14:creationId xmlns:p14="http://schemas.microsoft.com/office/powerpoint/2010/main" val="1930997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0C7AF-3610-6385-D3FD-8D1D5EAD22EF}"/>
              </a:ext>
            </a:extLst>
          </p:cNvPr>
          <p:cNvSpPr>
            <a:spLocks noGrp="1"/>
          </p:cNvSpPr>
          <p:nvPr>
            <p:ph idx="1"/>
          </p:nvPr>
        </p:nvSpPr>
        <p:spPr>
          <a:xfrm>
            <a:off x="1018309" y="758536"/>
            <a:ext cx="9878288" cy="5117332"/>
          </a:xfrm>
        </p:spPr>
        <p:txBody>
          <a:bodyPr/>
          <a:lstStyle/>
          <a:p>
            <a:pPr marL="0" indent="0">
              <a:buNone/>
            </a:pPr>
            <a:r>
              <a:rPr lang="en-US" b="1" dirty="0">
                <a:latin typeface="Times New Roman" panose="02020603050405020304" pitchFamily="18" charset="0"/>
                <a:cs typeface="Times New Roman" panose="02020603050405020304" pitchFamily="18" charset="0"/>
              </a:rPr>
              <a:t>2. Independence of errors: </a:t>
            </a:r>
            <a:r>
              <a:rPr lang="en-US" dirty="0">
                <a:latin typeface="Times New Roman" panose="02020603050405020304" pitchFamily="18" charset="0"/>
                <a:cs typeface="Times New Roman" panose="02020603050405020304" pitchFamily="18" charset="0"/>
              </a:rPr>
              <a:t>Errors in the prediction should not affect each other.</a:t>
            </a:r>
          </a:p>
          <a:p>
            <a:pPr marL="0" indent="0">
              <a:buNone/>
            </a:pPr>
            <a:r>
              <a:rPr lang="en-IN" b="1" dirty="0">
                <a:latin typeface="Times New Roman" panose="02020603050405020304" pitchFamily="18" charset="0"/>
                <a:cs typeface="Times New Roman" panose="02020603050405020304" pitchFamily="18" charset="0"/>
              </a:rPr>
              <a:t>3. Constant Variance (Homoscedasticity): </a:t>
            </a:r>
            <a:r>
              <a:rPr lang="en-US" dirty="0">
                <a:solidFill>
                  <a:schemeClr val="tx1"/>
                </a:solidFill>
                <a:latin typeface="Times New Roman" panose="02020603050405020304" pitchFamily="18" charset="0"/>
                <a:cs typeface="Times New Roman" panose="02020603050405020304" pitchFamily="18" charset="0"/>
              </a:rPr>
              <a:t>The spread of residuals (errors) should be the same across all levels of the independent variable(s).</a:t>
            </a:r>
          </a:p>
          <a:p>
            <a:pPr marL="0" indent="0">
              <a:buNone/>
            </a:pPr>
            <a:r>
              <a:rPr lang="en-US" b="1" dirty="0">
                <a:solidFill>
                  <a:schemeClr val="tx1"/>
                </a:solidFill>
                <a:latin typeface="Times New Roman" panose="02020603050405020304" pitchFamily="18" charset="0"/>
                <a:cs typeface="Times New Roman" panose="02020603050405020304" pitchFamily="18" charset="0"/>
              </a:rPr>
              <a:t>4. Normality of errors:  </a:t>
            </a:r>
            <a:r>
              <a:rPr lang="en-US" dirty="0">
                <a:solidFill>
                  <a:schemeClr val="tx1"/>
                </a:solidFill>
                <a:latin typeface="Times New Roman" panose="02020603050405020304" pitchFamily="18" charset="0"/>
                <a:cs typeface="Times New Roman" panose="02020603050405020304" pitchFamily="18" charset="0"/>
              </a:rPr>
              <a:t>The residual should follow a normal distribution.</a:t>
            </a:r>
          </a:p>
          <a:p>
            <a:pPr marL="0" indent="0">
              <a:buNone/>
            </a:pPr>
            <a:r>
              <a:rPr lang="en-US" b="1" dirty="0">
                <a:solidFill>
                  <a:schemeClr val="tx1"/>
                </a:solidFill>
                <a:latin typeface="Times New Roman" panose="02020603050405020304" pitchFamily="18" charset="0"/>
                <a:cs typeface="Times New Roman" panose="02020603050405020304" pitchFamily="18" charset="0"/>
              </a:rPr>
              <a:t>5. No multicollinearity: </a:t>
            </a:r>
            <a:r>
              <a:rPr lang="en-US" dirty="0">
                <a:solidFill>
                  <a:schemeClr val="tx1"/>
                </a:solidFill>
                <a:latin typeface="Times New Roman" panose="02020603050405020304" pitchFamily="18" charset="0"/>
                <a:cs typeface="Times New Roman" panose="02020603050405020304" pitchFamily="18" charset="0"/>
              </a:rPr>
              <a:t>Independent variables should not be highly correlated with each other.</a:t>
            </a:r>
          </a:p>
          <a:p>
            <a:pPr marL="0" indent="0">
              <a:buNone/>
            </a:pPr>
            <a:r>
              <a:rPr lang="en-US" b="1" dirty="0">
                <a:solidFill>
                  <a:schemeClr val="tx1"/>
                </a:solidFill>
                <a:latin typeface="Times New Roman" panose="02020603050405020304" pitchFamily="18" charset="0"/>
                <a:cs typeface="Times New Roman" panose="02020603050405020304" pitchFamily="18" charset="0"/>
              </a:rPr>
              <a:t>6. No Autocorrelation: </a:t>
            </a:r>
            <a:r>
              <a:rPr lang="en-US" dirty="0">
                <a:solidFill>
                  <a:schemeClr val="tx1"/>
                </a:solidFill>
                <a:latin typeface="Times New Roman" panose="02020603050405020304" pitchFamily="18" charset="0"/>
                <a:cs typeface="Times New Roman" panose="02020603050405020304" pitchFamily="18" charset="0"/>
              </a:rPr>
              <a:t>Errors should not follow a systematic pattern (especially in time series).</a:t>
            </a:r>
          </a:p>
          <a:p>
            <a:pPr marL="0" indent="0">
              <a:buNone/>
            </a:pPr>
            <a:r>
              <a:rPr lang="en-US" b="1" dirty="0">
                <a:solidFill>
                  <a:schemeClr val="tx1"/>
                </a:solidFill>
                <a:latin typeface="Times New Roman" panose="02020603050405020304" pitchFamily="18" charset="0"/>
                <a:cs typeface="Times New Roman" panose="02020603050405020304" pitchFamily="18" charset="0"/>
              </a:rPr>
              <a:t>7. Additivity: </a:t>
            </a:r>
            <a:r>
              <a:rPr lang="en-US" dirty="0">
                <a:solidFill>
                  <a:schemeClr val="tx1"/>
                </a:solidFill>
                <a:latin typeface="Times New Roman" panose="02020603050405020304" pitchFamily="18" charset="0"/>
                <a:cs typeface="Times New Roman" panose="02020603050405020304" pitchFamily="18" charset="0"/>
              </a:rPr>
              <a:t>The effect of independent variables on the dependent variable is additive (the total effect is the sum of individual effects).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90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B576B-198D-B3C0-E323-C74D24EDD7A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Example</a:t>
            </a:r>
            <a:endParaRPr lang="en-IN"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69D2E7C-9B80-201C-404F-D9290F2C4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5936" y="2506287"/>
            <a:ext cx="4572000" cy="3611880"/>
          </a:xfrm>
          <a:prstGeom prst="rect">
            <a:avLst/>
          </a:prstGeom>
        </p:spPr>
      </p:pic>
      <p:sp>
        <p:nvSpPr>
          <p:cNvPr id="9" name="TextBox 8">
            <a:extLst>
              <a:ext uri="{FF2B5EF4-FFF2-40B4-BE49-F238E27FC236}">
                <a16:creationId xmlns:a16="http://schemas.microsoft.com/office/drawing/2014/main" id="{9E8510DB-7736-A48E-878A-63821BCEC77B}"/>
              </a:ext>
            </a:extLst>
          </p:cNvPr>
          <p:cNvSpPr txBox="1"/>
          <p:nvPr/>
        </p:nvSpPr>
        <p:spPr>
          <a:xfrm>
            <a:off x="1149928" y="2506287"/>
            <a:ext cx="5157353" cy="2677656"/>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Find the least square regression line for the following set of data {(-1 , 0),(0 , 2),(1 , 4),(2 , 5)} </a:t>
            </a:r>
          </a:p>
          <a:p>
            <a:r>
              <a:rPr lang="en-US" sz="2800" dirty="0">
                <a:latin typeface="Times New Roman" panose="02020603050405020304" pitchFamily="18" charset="0"/>
                <a:cs typeface="Times New Roman" panose="02020603050405020304" pitchFamily="18" charset="0"/>
              </a:rPr>
              <a:t>b) Plot the given points and the regression line in the same rectangular system of axes.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5874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D52B-2A09-C397-FF8F-DAFA3E30E204}"/>
              </a:ext>
            </a:extLst>
          </p:cNvPr>
          <p:cNvSpPr>
            <a:spLocks noGrp="1"/>
          </p:cNvSpPr>
          <p:nvPr>
            <p:ph type="title"/>
          </p:nvPr>
        </p:nvSpPr>
        <p:spPr/>
        <p:txBody>
          <a:bodyPr/>
          <a:lstStyle/>
          <a:p>
            <a:r>
              <a:rPr lang="en-US" dirty="0"/>
              <a:t>Steps in least square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028A85-932E-1FAB-A228-5A119FCA4C78}"/>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Step 1: Collect the data</a:t>
                </a:r>
              </a:p>
              <a:p>
                <a:r>
                  <a:rPr lang="en-US" dirty="0">
                    <a:latin typeface="Times New Roman" panose="02020603050405020304" pitchFamily="18" charset="0"/>
                    <a:cs typeface="Times New Roman" panose="02020603050405020304" pitchFamily="18" charset="0"/>
                  </a:rPr>
                  <a:t>You are given pairs of values: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1</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𝑛</m:t>
                        </m:r>
                      </m:sub>
                    </m:sSub>
                  </m:oMath>
                </a14:m>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Step 2:</a:t>
                </a:r>
                <a:r>
                  <a:rPr lang="en-IN" b="1" dirty="0">
                    <a:latin typeface="Times New Roman" panose="02020603050405020304" pitchFamily="18" charset="0"/>
                    <a:cs typeface="Times New Roman" panose="02020603050405020304" pitchFamily="18" charset="0"/>
                  </a:rPr>
                  <a:t>Compute required sums</a:t>
                </a:r>
              </a:p>
              <a:p>
                <a:pPr marL="0" indent="0">
                  <a:buNone/>
                </a:pPr>
                <a:r>
                  <a:rPr lang="en-IN" dirty="0"/>
                  <a:t>∑x, ∑y, ∑</a:t>
                </a:r>
                <a:r>
                  <a:rPr lang="en-IN" dirty="0" err="1"/>
                  <a:t>xy</a:t>
                </a:r>
                <a:r>
                  <a:rPr lang="en-IN" dirty="0"/>
                  <a:t>, ∑</a:t>
                </a:r>
                <a14:m>
                  <m:oMath xmlns:m="http://schemas.openxmlformats.org/officeDocument/2006/math">
                    <m:sSup>
                      <m:sSupPr>
                        <m:ctrlPr>
                          <a:rPr lang="en-IN"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Step 3: calculate slope m</a:t>
                </a:r>
              </a:p>
              <a:p>
                <a:pPr marL="0" indent="0">
                  <a:buNone/>
                </a:pPr>
                <a:r>
                  <a:rPr lang="en-US" b="1" dirty="0">
                    <a:latin typeface="Times New Roman" panose="02020603050405020304" pitchFamily="18" charset="0"/>
                    <a:cs typeface="Times New Roman" panose="02020603050405020304" pitchFamily="18" charset="0"/>
                  </a:rPr>
                  <a:t>Step 4: calculate intercept C</a:t>
                </a:r>
              </a:p>
              <a:p>
                <a:pPr marL="0" indent="0">
                  <a:buNone/>
                </a:pPr>
                <a:r>
                  <a:rPr lang="en-US" b="1" dirty="0">
                    <a:latin typeface="Times New Roman" panose="02020603050405020304" pitchFamily="18" charset="0"/>
                    <a:cs typeface="Times New Roman" panose="02020603050405020304" pitchFamily="18" charset="0"/>
                  </a:rPr>
                  <a:t>Step 5: Form the equation of the line Y=mx +C</a:t>
                </a:r>
              </a:p>
            </p:txBody>
          </p:sp>
        </mc:Choice>
        <mc:Fallback xmlns="">
          <p:sp>
            <p:nvSpPr>
              <p:cNvPr id="3" name="Content Placeholder 2">
                <a:extLst>
                  <a:ext uri="{FF2B5EF4-FFF2-40B4-BE49-F238E27FC236}">
                    <a16:creationId xmlns:a16="http://schemas.microsoft.com/office/drawing/2014/main" id="{02028A85-932E-1FAB-A228-5A119FCA4C78}"/>
                  </a:ext>
                </a:extLst>
              </p:cNvPr>
              <p:cNvSpPr>
                <a:spLocks noGrp="1" noRot="1" noChangeAspect="1" noMove="1" noResize="1" noEditPoints="1" noAdjustHandles="1" noChangeArrowheads="1" noChangeShapeType="1" noTextEdit="1"/>
              </p:cNvSpPr>
              <p:nvPr>
                <p:ph idx="1"/>
              </p:nvPr>
            </p:nvSpPr>
            <p:spPr>
              <a:blipFill>
                <a:blip r:embed="rId2"/>
                <a:stretch>
                  <a:fillRect l="-1144" t="-2569" b="-3303"/>
                </a:stretch>
              </a:blipFill>
            </p:spPr>
            <p:txBody>
              <a:bodyPr/>
              <a:lstStyle/>
              <a:p>
                <a:r>
                  <a:rPr lang="en-IN">
                    <a:noFill/>
                  </a:rPr>
                  <a:t> </a:t>
                </a:r>
              </a:p>
            </p:txBody>
          </p:sp>
        </mc:Fallback>
      </mc:AlternateContent>
    </p:spTree>
    <p:extLst>
      <p:ext uri="{BB962C8B-B14F-4D97-AF65-F5344CB8AC3E}">
        <p14:creationId xmlns:p14="http://schemas.microsoft.com/office/powerpoint/2010/main" val="387557408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643</TotalTime>
  <Words>1738</Words>
  <Application>Microsoft Office PowerPoint</Application>
  <PresentationFormat>Widescreen</PresentationFormat>
  <Paragraphs>139</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Cambria Math</vt:lpstr>
      <vt:lpstr>Garamond</vt:lpstr>
      <vt:lpstr>Times New Roman</vt:lpstr>
      <vt:lpstr>Wingdings</vt:lpstr>
      <vt:lpstr>Organic</vt:lpstr>
      <vt:lpstr>Regression Analysis</vt:lpstr>
      <vt:lpstr>Regression</vt:lpstr>
      <vt:lpstr>Regression analysis</vt:lpstr>
      <vt:lpstr>PowerPoint Presentation</vt:lpstr>
      <vt:lpstr>Types of regression techniques</vt:lpstr>
      <vt:lpstr>Understanding benefits  of regression analysis</vt:lpstr>
      <vt:lpstr>Line of best fit</vt:lpstr>
      <vt:lpstr>Questions Asked</vt:lpstr>
      <vt:lpstr>Questions Asked</vt:lpstr>
      <vt:lpstr>Challenges in linear regression</vt:lpstr>
      <vt:lpstr>Assumptions of linear regression</vt:lpstr>
      <vt:lpstr>PowerPoint Presentation</vt:lpstr>
      <vt:lpstr>Example</vt:lpstr>
      <vt:lpstr>Steps in least square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9</cp:revision>
  <dcterms:created xsi:type="dcterms:W3CDTF">2024-09-04T03:57:47Z</dcterms:created>
  <dcterms:modified xsi:type="dcterms:W3CDTF">2026-04-07T07:42:45Z</dcterms:modified>
</cp:coreProperties>
</file>