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2" r:id="rId23"/>
    <p:sldId id="283" r:id="rId24"/>
    <p:sldId id="277" r:id="rId25"/>
    <p:sldId id="278" r:id="rId26"/>
    <p:sldId id="279" r:id="rId27"/>
    <p:sldId id="281" r:id="rId28"/>
    <p:sldId id="284" r:id="rId29"/>
    <p:sldId id="280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01" r:id="rId38"/>
    <p:sldId id="296" r:id="rId39"/>
    <p:sldId id="292" r:id="rId40"/>
    <p:sldId id="293" r:id="rId41"/>
    <p:sldId id="297" r:id="rId42"/>
    <p:sldId id="298" r:id="rId43"/>
    <p:sldId id="294" r:id="rId44"/>
    <p:sldId id="295" r:id="rId45"/>
    <p:sldId id="299" r:id="rId46"/>
    <p:sldId id="300" r:id="rId47"/>
    <p:sldId id="302" r:id="rId48"/>
    <p:sldId id="303" r:id="rId49"/>
    <p:sldId id="305" r:id="rId50"/>
    <p:sldId id="306" r:id="rId51"/>
    <p:sldId id="304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32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8241D-3F18-4805-8B31-2E9FADA3AFA2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4CD61-7041-4874-BE8A-9D9616481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2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Bayesian (The "Believer"):</a:t>
            </a:r>
            <a:r>
              <a:rPr lang="en-US" dirty="0"/>
              <a:t> Uses </a:t>
            </a:r>
            <a:r>
              <a:rPr lang="en-US" b="1" dirty="0"/>
              <a:t>Prior Belief + New Data</a:t>
            </a:r>
            <a:r>
              <a:rPr lang="en-US" dirty="0"/>
              <a:t> to reach a conclusion.</a:t>
            </a:r>
          </a:p>
          <a:p>
            <a:r>
              <a:rPr lang="en-US" i="1" dirty="0"/>
              <a:t>The "Doctor" Example:</a:t>
            </a:r>
            <a:r>
              <a:rPr lang="en-US" dirty="0"/>
              <a:t> You think a young patient is healthy (Prior). They have chest pain (New Data). You still conclude it’s likely not heart disease because the Prior is so strong.</a:t>
            </a:r>
          </a:p>
          <a:p>
            <a:r>
              <a:rPr lang="en-US" b="1" dirty="0"/>
              <a:t>Classical (The "Observer"):</a:t>
            </a:r>
            <a:r>
              <a:rPr lang="en-US" dirty="0"/>
              <a:t> Uses </a:t>
            </a:r>
            <a:r>
              <a:rPr lang="en-US" b="1" dirty="0"/>
              <a:t>Only the Current Data</a:t>
            </a:r>
            <a:r>
              <a:rPr lang="en-US" dirty="0"/>
              <a:t>.</a:t>
            </a:r>
          </a:p>
          <a:p>
            <a:r>
              <a:rPr lang="en-US" i="1" dirty="0"/>
              <a:t>The "Coin Flip" Example:</a:t>
            </a:r>
            <a:r>
              <a:rPr lang="en-US" dirty="0"/>
              <a:t> It doesn’t matter if the coin "felt" lucky yesterday. If you flip it 100 times now and get 50 heads, that is your only truth.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Deductive (Conventional Statistics):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"All humans need water. John is a human. Therefore, John needs water."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Inductive (Machine Learning):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baby touches a hot stove, a hot iron, and a hot soup bowl. After three painful experiences, the baby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induces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rule: "Glowing/steaming things shouldn't be touched." The baby discovered the rule from the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56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Computing (Analytical Models):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like following a strict recipe. You use specific mathematical equations to get an exact answer. If you have the right formula and the right input, you get the 100% correct output every time.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Day-to-Day Example: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Calculator.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you type 567×432, the computer uses a "hard" mathematical rule. There is no guesswork; the answer is either right or wrong.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(Machine Learning):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more like a human learning to recognize a face. There isn't one single equation for "what a face looks like." Instead, the computer looks at thousands of photos and builds a "soft" model that says, "This is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probably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face."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Day-to-Day Example: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Netflix Recommendations.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There is no "hard" rule that says if you liked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Stranger Things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will definitely like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Wednesday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computer uses a "soft model" to guess your preferences based on patterns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0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Sometimes the GPS "jitters," making it look like you suddenly jumped 20 feet to the left and back. That "jump" is noise.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run through a tunnel, and the GPS loses signal for 30 seconds. That is a missing value.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Solution: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app uses probability to "smooth out" the jitter and "guess" your path through the tunnel. It handles the uncertainty so the final map looks correct.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66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Noise (Irrelevant or Extreme Values)</a:t>
            </a:r>
          </a:p>
          <a:p>
            <a:r>
              <a:rPr lang="en-US" dirty="0"/>
              <a:t>👉 Row: </a:t>
            </a:r>
            <a:r>
              <a:rPr lang="en-US" b="1" dirty="0"/>
              <a:t>E103 – Salary ₹150 Lakhs</a:t>
            </a:r>
            <a:endParaRPr lang="en-US" dirty="0"/>
          </a:p>
          <a:p>
            <a:r>
              <a:rPr lang="en-US" dirty="0"/>
              <a:t>Others earn between 4–7 Lakhs.</a:t>
            </a:r>
          </a:p>
          <a:p>
            <a:r>
              <a:rPr lang="en-US" dirty="0"/>
              <a:t>₹150 Lakhs looks unrealistic.</a:t>
            </a:r>
          </a:p>
          <a:p>
            <a:r>
              <a:rPr lang="en-US" dirty="0"/>
              <a:t>Could be:</a:t>
            </a:r>
          </a:p>
          <a:p>
            <a:pPr lvl="1"/>
            <a:r>
              <a:rPr lang="en-US" dirty="0"/>
              <a:t>Typing mistake (15 instead of 150)</a:t>
            </a:r>
          </a:p>
          <a:p>
            <a:pPr lvl="1"/>
            <a:r>
              <a:rPr lang="en-US" dirty="0"/>
              <a:t>Extra zero added</a:t>
            </a:r>
          </a:p>
          <a:p>
            <a:pPr lvl="1"/>
            <a:r>
              <a:rPr lang="en-US" dirty="0"/>
              <a:t>Data entry error</a:t>
            </a:r>
          </a:p>
          <a:p>
            <a:r>
              <a:rPr lang="en-US" dirty="0"/>
              <a:t>✔ This extreme value is </a:t>
            </a:r>
            <a:r>
              <a:rPr lang="en-US" b="1" dirty="0"/>
              <a:t>Noise (Outlier)</a:t>
            </a:r>
            <a:br>
              <a:rPr lang="en-US" dirty="0"/>
            </a:br>
            <a:r>
              <a:rPr lang="en-US" dirty="0"/>
              <a:t>It can distort average salary calculations.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🟡 2. Missing Values (Data Gaps)</a:t>
            </a:r>
          </a:p>
          <a:p>
            <a:r>
              <a:rPr lang="en-US" dirty="0"/>
              <a:t>👉 Row: </a:t>
            </a:r>
            <a:r>
              <a:rPr lang="en-US" b="1" dirty="0"/>
              <a:t>E104 – Age is missing (–)</a:t>
            </a:r>
            <a:endParaRPr lang="en-US" dirty="0"/>
          </a:p>
          <a:p>
            <a:r>
              <a:rPr lang="en-US" dirty="0"/>
              <a:t>Age not recorded.</a:t>
            </a:r>
          </a:p>
          <a:p>
            <a:r>
              <a:rPr lang="en-US" dirty="0"/>
              <a:t>We don’t know whether employee is 22 or 45.</a:t>
            </a:r>
          </a:p>
          <a:p>
            <a:r>
              <a:rPr lang="en-US" dirty="0"/>
              <a:t>✔ This is a </a:t>
            </a:r>
            <a:r>
              <a:rPr lang="en-US" b="1" dirty="0"/>
              <a:t>Missing Value</a:t>
            </a:r>
            <a:endParaRPr lang="en-US" dirty="0"/>
          </a:p>
          <a:p>
            <a:r>
              <a:rPr lang="en-US" dirty="0"/>
              <a:t>Machine Learning must:</a:t>
            </a:r>
          </a:p>
          <a:p>
            <a:r>
              <a:rPr lang="en-US" dirty="0"/>
              <a:t>Remove the row</a:t>
            </a:r>
          </a:p>
          <a:p>
            <a:r>
              <a:rPr lang="en-US" dirty="0"/>
              <a:t>Or replace with average age</a:t>
            </a:r>
          </a:p>
          <a:p>
            <a:r>
              <a:rPr lang="en-US" dirty="0"/>
              <a:t>Or predict age using other features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🟠 3. Inconsistencies (Contradicting Data)</a:t>
            </a:r>
          </a:p>
          <a:p>
            <a:r>
              <a:rPr lang="en-US" dirty="0"/>
              <a:t>👉 Row: </a:t>
            </a:r>
            <a:r>
              <a:rPr lang="en-US" b="1" dirty="0"/>
              <a:t>E105 – 12 Years Experience but Department = Intern</a:t>
            </a:r>
            <a:endParaRPr lang="en-US" dirty="0"/>
          </a:p>
          <a:p>
            <a:r>
              <a:rPr lang="en-US" dirty="0"/>
              <a:t>Interns usually have 0–1 years experience.</a:t>
            </a:r>
          </a:p>
          <a:p>
            <a:r>
              <a:rPr lang="en-US" dirty="0"/>
              <a:t>12 years experience contradicts job role.</a:t>
            </a:r>
          </a:p>
          <a:p>
            <a:r>
              <a:rPr lang="en-US" dirty="0"/>
              <a:t>✔ This is </a:t>
            </a:r>
            <a:r>
              <a:rPr lang="en-US" b="1" dirty="0"/>
              <a:t>Inconsistent Data</a:t>
            </a:r>
            <a:endParaRPr lang="en-US" dirty="0"/>
          </a:p>
          <a:p>
            <a:r>
              <a:rPr lang="en-US" dirty="0"/>
              <a:t>Possible causes:</a:t>
            </a:r>
          </a:p>
          <a:p>
            <a:r>
              <a:rPr lang="en-US" dirty="0"/>
              <a:t>Wrong department entry</a:t>
            </a:r>
          </a:p>
          <a:p>
            <a:r>
              <a:rPr lang="en-US" dirty="0"/>
              <a:t>Wrong experience value</a:t>
            </a:r>
          </a:p>
          <a:p>
            <a:r>
              <a:rPr lang="en-US" dirty="0"/>
              <a:t>Data merged from two sources incorrectly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838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Probability that your commute time is </a:t>
            </a:r>
            <a:r>
              <a:rPr lang="en-US" b="1" dirty="0"/>
              <a:t>exactly 20.000000 minutes</a:t>
            </a:r>
            <a:r>
              <a:rPr lang="en-US" dirty="0"/>
              <a:t> = 0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Because time can be:</a:t>
            </a:r>
            <a:br>
              <a:rPr lang="en-US" dirty="0"/>
            </a:br>
            <a:r>
              <a:rPr lang="en-US" dirty="0"/>
              <a:t>20.000001</a:t>
            </a:r>
            <a:br>
              <a:rPr lang="en-US" dirty="0"/>
            </a:br>
            <a:r>
              <a:rPr lang="en-US" dirty="0"/>
              <a:t>20.000002</a:t>
            </a:r>
            <a:br>
              <a:rPr lang="en-US" dirty="0"/>
            </a:br>
            <a:r>
              <a:rPr lang="en-US" dirty="0"/>
              <a:t>20.000003</a:t>
            </a:r>
          </a:p>
          <a:p>
            <a:r>
              <a:rPr lang="en-US" dirty="0"/>
              <a:t>There are infinite options!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397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Self-Driving Car Example (Very Practical)</a:t>
            </a:r>
          </a:p>
          <a:p>
            <a:r>
              <a:rPr lang="en-IN" dirty="0"/>
              <a:t>A self-driving car uses both PMF and PDF:</a:t>
            </a:r>
          </a:p>
          <a:p>
            <a:r>
              <a:rPr lang="en-IN" b="1" dirty="0"/>
              <a:t>🟥 PMF (Discrete Decision)</a:t>
            </a:r>
          </a:p>
          <a:p>
            <a:r>
              <a:rPr lang="en-IN" dirty="0"/>
              <a:t>Traffic light </a:t>
            </a:r>
            <a:r>
              <a:rPr lang="en-IN" dirty="0" err="1"/>
              <a:t>color</a:t>
            </a:r>
            <a:r>
              <a:rPr lang="en-IN" dirty="0"/>
              <a:t>:</a:t>
            </a:r>
          </a:p>
          <a:p>
            <a:r>
              <a:rPr lang="en-IN" dirty="0"/>
              <a:t>Red</a:t>
            </a:r>
          </a:p>
          <a:p>
            <a:r>
              <a:rPr lang="en-IN" dirty="0"/>
              <a:t>Green</a:t>
            </a:r>
          </a:p>
          <a:p>
            <a:r>
              <a:rPr lang="en-IN" dirty="0"/>
              <a:t>Yellow</a:t>
            </a:r>
          </a:p>
          <a:p>
            <a:r>
              <a:rPr lang="en-IN" dirty="0"/>
              <a:t>These are countable categories → PMF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📏 PDF (Continuous Measurement)</a:t>
            </a:r>
          </a:p>
          <a:p>
            <a:r>
              <a:rPr lang="en-IN" dirty="0"/>
              <a:t>Distance from car in front:</a:t>
            </a:r>
          </a:p>
          <a:p>
            <a:r>
              <a:rPr lang="en-IN" dirty="0"/>
              <a:t>10.25 meters</a:t>
            </a:r>
          </a:p>
          <a:p>
            <a:r>
              <a:rPr lang="en-IN" dirty="0"/>
              <a:t>10.256 meters</a:t>
            </a:r>
          </a:p>
          <a:p>
            <a:r>
              <a:rPr lang="en-IN" dirty="0"/>
              <a:t>10.25678 meters</a:t>
            </a:r>
          </a:p>
          <a:p>
            <a:r>
              <a:rPr lang="en-IN" dirty="0"/>
              <a:t>Infinite possible values → PDF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798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4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3. Additivity Rule</a:t>
                </a:r>
              </a:p>
              <a:p>
                <a:r>
                  <a:rPr lang="en-IN" dirty="0"/>
                  <a:t>Suppose:</a:t>
                </a:r>
              </a:p>
              <a:p>
                <a:r>
                  <a:rPr lang="en-IN" dirty="0"/>
                  <a:t>Daily food expense = average ₹200</a:t>
                </a:r>
                <a:br>
                  <a:rPr lang="en-IN" dirty="0"/>
                </a:br>
                <a:r>
                  <a:rPr lang="en-IN" dirty="0"/>
                  <a:t>Daily travel expense = average ₹100</a:t>
                </a:r>
              </a:p>
              <a:p>
                <a:r>
                  <a:rPr lang="en-IN" dirty="0"/>
                  <a:t>Total expense = ₹300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👉 Average total expense = sum of averages.</a:t>
                </a:r>
              </a:p>
              <a:p>
                <a:endParaRPr lang="en-IN" dirty="0"/>
              </a:p>
              <a:p>
                <a:r>
                  <a:rPr lang="en-IN" b="1" dirty="0"/>
                  <a:t>What Does the Double Integral Mean?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∫</m:t>
                          </m:r>
                        </m:e>
                      </m:nary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sepChr m:val=",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In simple words:</a:t>
                </a:r>
              </a:p>
              <a:p>
                <a:r>
                  <a:rPr lang="en-IN" dirty="0"/>
                  <a:t>Take all possible values of X₁ and X₂</a:t>
                </a:r>
              </a:p>
              <a:p>
                <a:r>
                  <a:rPr lang="en-IN" dirty="0"/>
                  <a:t>Multiply them</a:t>
                </a:r>
              </a:p>
              <a:p>
                <a:r>
                  <a:rPr lang="en-IN" dirty="0"/>
                  <a:t>Multiply by how likely they occur together</a:t>
                </a:r>
              </a:p>
              <a:p>
                <a:r>
                  <a:rPr lang="en-IN" dirty="0"/>
                  <a:t>Add everything up</a:t>
                </a:r>
              </a:p>
              <a:p>
                <a:r>
                  <a:rPr lang="en-IN" dirty="0"/>
                  <a:t>That’s it.</a:t>
                </a:r>
              </a:p>
              <a:p>
                <a:r>
                  <a:rPr lang="en-IN" dirty="0"/>
                  <a:t>The double integral is just a continuous version of adding all combinations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3. Additivity Rule</a:t>
                </a:r>
              </a:p>
              <a:p>
                <a:r>
                  <a:rPr lang="en-IN" dirty="0"/>
                  <a:t>Suppose:</a:t>
                </a:r>
              </a:p>
              <a:p>
                <a:r>
                  <a:rPr lang="en-IN" dirty="0"/>
                  <a:t>Daily food expense = average ₹200</a:t>
                </a:r>
                <a:br>
                  <a:rPr lang="en-IN" dirty="0"/>
                </a:br>
                <a:r>
                  <a:rPr lang="en-IN" dirty="0"/>
                  <a:t>Daily travel expense = average ₹100</a:t>
                </a:r>
              </a:p>
              <a:p>
                <a:r>
                  <a:rPr lang="en-IN" dirty="0"/>
                  <a:t>Total expense = ₹300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[𝑋+𝑌]=𝐸[𝑋]+𝐸[𝑌]</a:t>
                </a:r>
                <a:endParaRPr lang="ar-AE" dirty="0"/>
              </a:p>
              <a:p>
                <a:r>
                  <a:rPr lang="en-IN" dirty="0"/>
                  <a:t>👉 Average total expense = sum of averages.</a:t>
                </a:r>
              </a:p>
              <a:p>
                <a:endParaRPr lang="en-IN" dirty="0"/>
              </a:p>
              <a:p>
                <a:r>
                  <a:rPr lang="en-IN" b="1" dirty="0"/>
                  <a:t>What Does the Double Integral Mean?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[𝑋_1 𝑋_2 ]=∫128▒∫ 𝑥_1 𝑥_2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𝑝(𝑥_1ⓜ,𝑥_2 )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𝑑𝑥_1 𝑑𝑥_2</a:t>
                </a:r>
                <a:endParaRPr lang="ar-AE" b="0" dirty="0"/>
              </a:p>
              <a:p>
                <a:r>
                  <a:rPr lang="en-IN" dirty="0"/>
                  <a:t>In simple words:</a:t>
                </a:r>
              </a:p>
              <a:p>
                <a:r>
                  <a:rPr lang="en-IN" dirty="0"/>
                  <a:t>Take all possible values of X₁ and X₂</a:t>
                </a:r>
              </a:p>
              <a:p>
                <a:r>
                  <a:rPr lang="en-IN" dirty="0"/>
                  <a:t>Multiply them</a:t>
                </a:r>
              </a:p>
              <a:p>
                <a:r>
                  <a:rPr lang="en-IN" dirty="0"/>
                  <a:t>Multiply by how likely they occur together</a:t>
                </a:r>
              </a:p>
              <a:p>
                <a:r>
                  <a:rPr lang="en-IN" dirty="0"/>
                  <a:t>Add everything up</a:t>
                </a:r>
              </a:p>
              <a:p>
                <a:r>
                  <a:rPr lang="en-IN" dirty="0"/>
                  <a:t>That’s it.</a:t>
                </a:r>
              </a:p>
              <a:p>
                <a:r>
                  <a:rPr lang="en-IN" dirty="0"/>
                  <a:t>The double integral is just a continuous version of adding all combinations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822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In Machine Learning:</a:t>
                </a:r>
              </a:p>
              <a:p>
                <a:r>
                  <a:rPr lang="en-IN" dirty="0"/>
                  <a:t>Data point = vector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..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Expected value gives:</a:t>
                </a:r>
              </a:p>
              <a:p>
                <a:r>
                  <a:rPr lang="en-IN" dirty="0"/>
                  <a:t>Mean vector</a:t>
                </a:r>
              </a:p>
              <a:p>
                <a:r>
                  <a:rPr lang="en-IN" dirty="0"/>
                  <a:t>Which is used in:</a:t>
                </a:r>
              </a:p>
              <a:p>
                <a:r>
                  <a:rPr lang="en-IN" dirty="0"/>
                  <a:t>Clustering</a:t>
                </a:r>
              </a:p>
              <a:p>
                <a:r>
                  <a:rPr lang="en-IN" dirty="0"/>
                  <a:t>Gaussian distribution</a:t>
                </a:r>
              </a:p>
              <a:p>
                <a:r>
                  <a:rPr lang="en-IN" dirty="0"/>
                  <a:t>Covariance matrix</a:t>
                </a:r>
              </a:p>
              <a:p>
                <a:r>
                  <a:rPr lang="en-IN" dirty="0"/>
                  <a:t>PCA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In Machine Learning:</a:t>
                </a:r>
              </a:p>
              <a:p>
                <a:r>
                  <a:rPr lang="en-IN" dirty="0"/>
                  <a:t>Data point = vector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(𝑥_1ⓜ,𝑥_2ⓜ,𝑥_3ⓜ,.ⓜ,..𝑥_𝑛 )</a:t>
                </a:r>
                <a:endParaRPr lang="ar-AE" dirty="0"/>
              </a:p>
              <a:p>
                <a:r>
                  <a:rPr lang="en-IN" dirty="0"/>
                  <a:t>Expected value gives:</a:t>
                </a:r>
              </a:p>
              <a:p>
                <a:r>
                  <a:rPr lang="en-IN" dirty="0"/>
                  <a:t>Mean vector</a:t>
                </a:r>
              </a:p>
              <a:p>
                <a:r>
                  <a:rPr lang="en-IN" dirty="0"/>
                  <a:t>Which is used in:</a:t>
                </a:r>
              </a:p>
              <a:p>
                <a:r>
                  <a:rPr lang="en-IN" dirty="0"/>
                  <a:t>Clustering</a:t>
                </a:r>
              </a:p>
              <a:p>
                <a:r>
                  <a:rPr lang="en-IN" dirty="0"/>
                  <a:t>Gaussian distribution</a:t>
                </a:r>
              </a:p>
              <a:p>
                <a:r>
                  <a:rPr lang="en-IN" dirty="0"/>
                  <a:t>Covariance matrix</a:t>
                </a:r>
              </a:p>
              <a:p>
                <a:r>
                  <a:rPr lang="en-IN" dirty="0"/>
                  <a:t>PCA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323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cannot say:</a:t>
            </a:r>
          </a:p>
          <a:p>
            <a:r>
              <a:rPr lang="en-US" dirty="0"/>
              <a:t>50 is weak</a:t>
            </a:r>
          </a:p>
          <a:p>
            <a:r>
              <a:rPr lang="en-US" dirty="0"/>
              <a:t>50,000 is strong</a:t>
            </a:r>
          </a:p>
          <a:p>
            <a:r>
              <a:rPr lang="en-US" dirty="0"/>
              <a:t>Because units are different.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412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Diagonal elements = Variance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(How much each variable spreads)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Off-diagonal elements = Covariance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(How two variables move together)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 is symmetric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(X₁,X₂) =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(X₂,X₁)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3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Range – Spread of Data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Range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Maximum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Minimum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b="1" dirty="0"/>
                  <a:t>👉 What it tells:</a:t>
                </a:r>
              </a:p>
              <a:p>
                <a:r>
                  <a:rPr lang="en-US" dirty="0"/>
                  <a:t>How wide the data is spread</a:t>
                </a:r>
              </a:p>
              <a:p>
                <a:r>
                  <a:rPr lang="en-US" dirty="0"/>
                  <a:t>The overall variation between smallest and largest value</a:t>
                </a:r>
              </a:p>
              <a:p>
                <a:r>
                  <a:rPr lang="en-US" b="1" dirty="0"/>
                  <a:t>💻 Example:</a:t>
                </a:r>
              </a:p>
              <a:p>
                <a:r>
                  <a:rPr lang="en-US" dirty="0"/>
                  <a:t>If CPU temperature varies from 40°C to 90°C,</a:t>
                </a:r>
              </a:p>
              <a:p>
                <a:r>
                  <a:rPr lang="en-US" dirty="0"/>
                  <a:t>Range = 50°C</a:t>
                </a:r>
              </a:p>
              <a:p>
                <a:r>
                  <a:rPr lang="en-US" dirty="0"/>
                  <a:t>✔ Large range → Data varies a lot</a:t>
                </a:r>
                <a:br>
                  <a:rPr lang="en-US" dirty="0"/>
                </a:br>
                <a:r>
                  <a:rPr lang="en-US" dirty="0"/>
                  <a:t>✔ Small range → Data values are close</a:t>
                </a:r>
              </a:p>
              <a:p>
                <a:r>
                  <a:rPr lang="en-IN" b="1" dirty="0"/>
                  <a:t>Mean – Central Location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Mean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Sum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all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values</m:t>
                          </m:r>
                        </m:num>
                        <m:den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b="1" dirty="0"/>
                  <a:t>👉 What it tells:</a:t>
                </a:r>
              </a:p>
              <a:p>
                <a:r>
                  <a:rPr lang="en-IN" dirty="0"/>
                  <a:t>The average value</a:t>
                </a:r>
              </a:p>
              <a:p>
                <a:r>
                  <a:rPr lang="en-IN" dirty="0"/>
                  <a:t>The “</a:t>
                </a:r>
                <a:r>
                  <a:rPr lang="en-IN" dirty="0" err="1"/>
                  <a:t>center</a:t>
                </a:r>
                <a:r>
                  <a:rPr lang="en-IN" dirty="0"/>
                  <a:t>” of the data</a:t>
                </a:r>
              </a:p>
              <a:p>
                <a:r>
                  <a:rPr lang="en-IN" b="1" dirty="0"/>
                  <a:t>💻 Example:</a:t>
                </a:r>
              </a:p>
              <a:p>
                <a:r>
                  <a:rPr lang="en-IN" dirty="0"/>
                  <a:t>If average network latency is 20 </a:t>
                </a:r>
                <a:r>
                  <a:rPr lang="en-IN" dirty="0" err="1"/>
                  <a:t>ms</a:t>
                </a:r>
                <a:r>
                  <a:rPr lang="en-IN" dirty="0"/>
                  <a:t>,</a:t>
                </a:r>
              </a:p>
              <a:p>
                <a:r>
                  <a:rPr lang="en-IN" dirty="0"/>
                  <a:t>✔ That is the typical system performance.</a:t>
                </a:r>
              </a:p>
              <a:p>
                <a:r>
                  <a:rPr lang="en-IN" dirty="0"/>
                  <a:t>But ❗ Mean is affected by extreme values.</a:t>
                </a:r>
              </a:p>
              <a:p>
                <a:r>
                  <a:rPr lang="en-US" b="1" dirty="0"/>
                  <a:t>Median – Middle Value</a:t>
                </a:r>
              </a:p>
              <a:p>
                <a:r>
                  <a:rPr lang="en-US" b="1" dirty="0"/>
                  <a:t>👉 What it tells:</a:t>
                </a:r>
              </a:p>
              <a:p>
                <a:r>
                  <a:rPr lang="en-US" dirty="0"/>
                  <a:t>The true center when data is skewed</a:t>
                </a:r>
              </a:p>
              <a:p>
                <a:r>
                  <a:rPr lang="en-US" dirty="0"/>
                  <a:t>Divides dataset into two equal parts</a:t>
                </a:r>
              </a:p>
              <a:p>
                <a:r>
                  <a:rPr lang="en-US" b="1" dirty="0"/>
                  <a:t>Mode – Most Frequent Value</a:t>
                </a:r>
              </a:p>
              <a:p>
                <a:r>
                  <a:rPr lang="en-US" b="1" dirty="0"/>
                  <a:t>👉 What it tells:</a:t>
                </a:r>
              </a:p>
              <a:p>
                <a:r>
                  <a:rPr lang="en-US" dirty="0"/>
                  <a:t>Most common value</a:t>
                </a:r>
              </a:p>
              <a:p>
                <a:r>
                  <a:rPr lang="en-US" dirty="0"/>
                  <a:t>Most common category (important in categorical data)</a:t>
                </a:r>
              </a:p>
              <a:p>
                <a:r>
                  <a:rPr lang="en-US" b="1" dirty="0"/>
                  <a:t>Variance &amp; Standard Deviation – Data Dispersion</a:t>
                </a:r>
              </a:p>
              <a:p>
                <a:r>
                  <a:rPr lang="en-US" dirty="0"/>
                  <a:t>Variance measures:</a:t>
                </a:r>
              </a:p>
              <a:p>
                <a:r>
                  <a:rPr lang="en-US" dirty="0"/>
                  <a:t>How far values are from the mean (on average)</a:t>
                </a:r>
              </a:p>
              <a:p>
                <a:r>
                  <a:rPr lang="en-US" dirty="0"/>
                  <a:t>Standard deviation is:</a:t>
                </a:r>
              </a:p>
              <a:p>
                <a:r>
                  <a:rPr lang="en-US" dirty="0"/>
                  <a:t>Square root of variance (easier to interpret)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b="1" dirty="0"/>
                  <a:t>ML Applications</a:t>
                </a:r>
              </a:p>
              <a:p>
                <a:r>
                  <a:rPr lang="en-IN" b="1" dirty="0"/>
                  <a:t>📌 1. Feature Scaling Decision</a:t>
                </a:r>
              </a:p>
              <a:p>
                <a:r>
                  <a:rPr lang="en-IN" dirty="0"/>
                  <a:t>If one feature has a very large range (e.g., salary: 10,000–1,000,000) and another has a small range (e.g., rating: 1–5), algorithms like:</a:t>
                </a:r>
              </a:p>
              <a:p>
                <a:r>
                  <a:rPr lang="en-IN" dirty="0"/>
                  <a:t>Linear Regression</a:t>
                </a:r>
              </a:p>
              <a:p>
                <a:r>
                  <a:rPr lang="en-IN" dirty="0"/>
                  <a:t>KNN</a:t>
                </a:r>
              </a:p>
              <a:p>
                <a:r>
                  <a:rPr lang="en-IN" dirty="0"/>
                  <a:t>SVM</a:t>
                </a:r>
              </a:p>
              <a:p>
                <a:r>
                  <a:rPr lang="en-IN" dirty="0"/>
                  <a:t>will be biased toward large-range features.</a:t>
                </a:r>
              </a:p>
              <a:p>
                <a:r>
                  <a:rPr lang="en-IN" dirty="0"/>
                  <a:t>👉 So we apply </a:t>
                </a:r>
                <a:r>
                  <a:rPr lang="en-IN" b="1" dirty="0"/>
                  <a:t>Min-Max Normalization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📌 2. Outlier Detection</a:t>
                </a:r>
              </a:p>
              <a:p>
                <a:r>
                  <a:rPr lang="en-IN" dirty="0"/>
                  <a:t>If range is extremely large → possible outliers exist.</a:t>
                </a:r>
              </a:p>
              <a:p>
                <a:r>
                  <a:rPr lang="en-IN" dirty="0"/>
                  <a:t>Example:</a:t>
                </a:r>
              </a:p>
              <a:p>
                <a:r>
                  <a:rPr lang="en-IN" dirty="0"/>
                  <a:t>Fraud detection dataset</a:t>
                </a:r>
              </a:p>
              <a:p>
                <a:r>
                  <a:rPr lang="en-IN" dirty="0"/>
                  <a:t>Sensor temperature readings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2️⃣ Mean (</a:t>
                </a:r>
                <a:r>
                  <a:rPr lang="el-GR" b="1" dirty="0"/>
                  <a:t>μ)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Central tendency (average).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Data </a:t>
                </a:r>
                <a:r>
                  <a:rPr lang="en-IN" b="1" dirty="0" err="1"/>
                  <a:t>Centering</a:t>
                </a:r>
                <a:r>
                  <a:rPr lang="en-IN" b="1" dirty="0"/>
                  <a:t> (Very Important in ML)</a:t>
                </a:r>
              </a:p>
              <a:p>
                <a:r>
                  <a:rPr lang="en-IN" dirty="0"/>
                  <a:t>Algorithms like:</a:t>
                </a:r>
              </a:p>
              <a:p>
                <a:r>
                  <a:rPr lang="en-IN" dirty="0"/>
                  <a:t>PCA</a:t>
                </a:r>
              </a:p>
              <a:p>
                <a:r>
                  <a:rPr lang="en-IN" dirty="0"/>
                  <a:t>Logistic Regression</a:t>
                </a:r>
              </a:p>
              <a:p>
                <a:r>
                  <a:rPr lang="en-IN" dirty="0"/>
                  <a:t>Neural Networks</a:t>
                </a:r>
              </a:p>
              <a:p>
                <a:r>
                  <a:rPr lang="en-IN" dirty="0"/>
                  <a:t>require </a:t>
                </a:r>
                <a:r>
                  <a:rPr lang="en-IN" b="1" dirty="0"/>
                  <a:t>mean-</a:t>
                </a:r>
                <a:r>
                  <a:rPr lang="en-IN" b="1" dirty="0" err="1"/>
                  <a:t>centered</a:t>
                </a:r>
                <a:r>
                  <a:rPr lang="en-IN" b="1" dirty="0"/>
                  <a:t> data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Formula used: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𝑐𝑒𝑛𝑡𝑒𝑟𝑒𝑑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𝑥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𝜇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📌 2. Missing Value Imputation</a:t>
                </a:r>
              </a:p>
              <a:p>
                <a:r>
                  <a:rPr lang="en-IN" dirty="0"/>
                  <a:t>If salary is missing: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𝑅𝑒𝑝𝑙𝑎𝑐𝑒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𝑚𝑖𝑠𝑠𝑖𝑛𝑔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𝑣𝑎𝑙𝑢𝑒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𝑀𝑒𝑎𝑛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𝑠𝑎𝑙𝑎𝑟𝑦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📌 3. Gradient Descent Optimization</a:t>
                </a:r>
              </a:p>
              <a:p>
                <a:r>
                  <a:rPr lang="en-IN" dirty="0"/>
                  <a:t>Loss functions are based on </a:t>
                </a:r>
                <a:r>
                  <a:rPr lang="en-IN" b="1" dirty="0"/>
                  <a:t>mean error</a:t>
                </a:r>
                <a:r>
                  <a:rPr lang="en-IN" dirty="0"/>
                  <a:t>: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Range – Spread of Data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"Range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"Maximum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"−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"Minimum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r>
                  <a:rPr lang="en-US" b="1" dirty="0"/>
                  <a:t>👉 What it tells:</a:t>
                </a:r>
              </a:p>
              <a:p>
                <a:r>
                  <a:rPr lang="en-US" dirty="0"/>
                  <a:t>How wide the data is spread</a:t>
                </a:r>
              </a:p>
              <a:p>
                <a:r>
                  <a:rPr lang="en-US" dirty="0"/>
                  <a:t>The overall variation between smallest and largest value</a:t>
                </a:r>
              </a:p>
              <a:p>
                <a:r>
                  <a:rPr lang="en-US" b="1" dirty="0"/>
                  <a:t>💻 Example:</a:t>
                </a:r>
              </a:p>
              <a:p>
                <a:r>
                  <a:rPr lang="en-US" dirty="0"/>
                  <a:t>If CPU temperature varies from 40°C to 90°C,</a:t>
                </a:r>
              </a:p>
              <a:p>
                <a:r>
                  <a:rPr lang="en-US" dirty="0"/>
                  <a:t>Range = 50°C</a:t>
                </a:r>
              </a:p>
              <a:p>
                <a:r>
                  <a:rPr lang="en-US" dirty="0"/>
                  <a:t>✔ Large range → Data varies a lot</a:t>
                </a:r>
                <a:br>
                  <a:rPr lang="en-US" dirty="0"/>
                </a:br>
                <a:r>
                  <a:rPr lang="en-US" dirty="0"/>
                  <a:t>✔ Small range → Data values are close</a:t>
                </a:r>
              </a:p>
              <a:p>
                <a:r>
                  <a:rPr lang="en-IN" b="1" dirty="0"/>
                  <a:t>Mean – Central Location</a:t>
                </a:r>
              </a:p>
              <a:p>
                <a:r>
                  <a:rPr lang="en-IN" b="0" i="0">
                    <a:latin typeface="Cambria Math" panose="02040503050406030204" pitchFamily="18" charset="0"/>
                  </a:rPr>
                  <a:t>"Mean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"="Sum of all values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/𝑁</a:t>
                </a:r>
                <a:endParaRPr lang="ar-AE" b="0" dirty="0"/>
              </a:p>
              <a:p>
                <a:r>
                  <a:rPr lang="en-IN" b="1" dirty="0"/>
                  <a:t>👉 What it tells:</a:t>
                </a:r>
              </a:p>
              <a:p>
                <a:r>
                  <a:rPr lang="en-IN" dirty="0"/>
                  <a:t>The average value</a:t>
                </a:r>
              </a:p>
              <a:p>
                <a:r>
                  <a:rPr lang="en-IN" dirty="0"/>
                  <a:t>The “</a:t>
                </a:r>
                <a:r>
                  <a:rPr lang="en-IN" dirty="0" err="1"/>
                  <a:t>center</a:t>
                </a:r>
                <a:r>
                  <a:rPr lang="en-IN" dirty="0"/>
                  <a:t>” of the data</a:t>
                </a:r>
              </a:p>
              <a:p>
                <a:r>
                  <a:rPr lang="en-IN" b="1" dirty="0"/>
                  <a:t>💻 Example:</a:t>
                </a:r>
              </a:p>
              <a:p>
                <a:r>
                  <a:rPr lang="en-IN" dirty="0"/>
                  <a:t>If average network latency is 20 </a:t>
                </a:r>
                <a:r>
                  <a:rPr lang="en-IN" dirty="0" err="1"/>
                  <a:t>ms</a:t>
                </a:r>
                <a:r>
                  <a:rPr lang="en-IN" dirty="0"/>
                  <a:t>,</a:t>
                </a:r>
              </a:p>
              <a:p>
                <a:r>
                  <a:rPr lang="en-IN" dirty="0"/>
                  <a:t>✔ That is the typical system performance.</a:t>
                </a:r>
              </a:p>
              <a:p>
                <a:r>
                  <a:rPr lang="en-IN" dirty="0"/>
                  <a:t>But ❗ Mean is affected by extreme values.</a:t>
                </a:r>
              </a:p>
              <a:p>
                <a:r>
                  <a:rPr lang="en-US" b="1" dirty="0"/>
                  <a:t>Median – Middle Value</a:t>
                </a:r>
              </a:p>
              <a:p>
                <a:r>
                  <a:rPr lang="en-US" b="1" dirty="0"/>
                  <a:t>👉 What it tells:</a:t>
                </a:r>
              </a:p>
              <a:p>
                <a:r>
                  <a:rPr lang="en-US" dirty="0"/>
                  <a:t>The true center when data is skewed</a:t>
                </a:r>
              </a:p>
              <a:p>
                <a:r>
                  <a:rPr lang="en-US" dirty="0"/>
                  <a:t>Divides dataset into two equal parts</a:t>
                </a:r>
              </a:p>
              <a:p>
                <a:r>
                  <a:rPr lang="en-US" b="1" dirty="0"/>
                  <a:t>Mode – Most Frequent Value</a:t>
                </a:r>
              </a:p>
              <a:p>
                <a:r>
                  <a:rPr lang="en-US" b="1" dirty="0"/>
                  <a:t>👉 What it tells:</a:t>
                </a:r>
              </a:p>
              <a:p>
                <a:r>
                  <a:rPr lang="en-US" dirty="0"/>
                  <a:t>Most common value</a:t>
                </a:r>
              </a:p>
              <a:p>
                <a:r>
                  <a:rPr lang="en-US" dirty="0"/>
                  <a:t>Most common category (important in categorical data)</a:t>
                </a:r>
              </a:p>
              <a:p>
                <a:r>
                  <a:rPr lang="en-US" b="1" dirty="0"/>
                  <a:t>Variance &amp; Standard Deviation – Data Dispersion</a:t>
                </a:r>
              </a:p>
              <a:p>
                <a:r>
                  <a:rPr lang="en-US" dirty="0"/>
                  <a:t>Variance measures:</a:t>
                </a:r>
              </a:p>
              <a:p>
                <a:r>
                  <a:rPr lang="en-US" dirty="0"/>
                  <a:t>How far values are from the mean (on average)</a:t>
                </a:r>
              </a:p>
              <a:p>
                <a:r>
                  <a:rPr lang="en-US" dirty="0"/>
                  <a:t>Standard deviation is:</a:t>
                </a:r>
              </a:p>
              <a:p>
                <a:r>
                  <a:rPr lang="en-US" dirty="0"/>
                  <a:t>Square root of variance (easier to interpret)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974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Variance and Standard Deviation:</a:t>
                </a:r>
                <a:r>
                  <a:rPr lang="en-US" dirty="0"/>
                  <a:t>It is a measure of dispersion of data values; measures how closely the values cluster around their arithmetic average value. A low variance means that the values stay near the </a:t>
                </a:r>
                <a:r>
                  <a:rPr lang="en-US" dirty="0" err="1"/>
                  <a:t>arithmatic</a:t>
                </a:r>
                <a:r>
                  <a:rPr lang="en-US" dirty="0"/>
                  <a:t> average; a high variance means the opposite. </a:t>
                </a:r>
              </a:p>
              <a:p>
                <a:endParaRPr lang="en-US" dirty="0"/>
              </a:p>
              <a:p>
                <a:r>
                  <a:rPr lang="en-IN" b="1" dirty="0"/>
                  <a:t>Median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Middle value (robust to outliers)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Robust Feature Engineering</a:t>
                </a:r>
              </a:p>
              <a:p>
                <a:r>
                  <a:rPr lang="en-IN" dirty="0"/>
                  <a:t>In skewed data like:</a:t>
                </a:r>
              </a:p>
              <a:p>
                <a:r>
                  <a:rPr lang="en-IN" dirty="0"/>
                  <a:t>House prices</a:t>
                </a:r>
              </a:p>
              <a:p>
                <a:r>
                  <a:rPr lang="en-IN" dirty="0"/>
                  <a:t>Income data</a:t>
                </a:r>
              </a:p>
              <a:p>
                <a:r>
                  <a:rPr lang="en-IN" dirty="0"/>
                  <a:t>E-commerce transaction amounts</a:t>
                </a:r>
              </a:p>
              <a:p>
                <a:r>
                  <a:rPr lang="en-IN" dirty="0"/>
                  <a:t>Median is preferred over mean.</a:t>
                </a:r>
              </a:p>
              <a:p>
                <a:r>
                  <a:rPr lang="en-IN" dirty="0"/>
                  <a:t>Example:</a:t>
                </a:r>
                <a:br>
                  <a:rPr lang="en-IN" dirty="0"/>
                </a:br>
                <a:r>
                  <a:rPr lang="en-IN" dirty="0"/>
                  <a:t>In house price prediction:</a:t>
                </a:r>
              </a:p>
              <a:p>
                <a:r>
                  <a:rPr lang="en-IN" dirty="0"/>
                  <a:t>Mean price may be affected by luxury villas</a:t>
                </a:r>
              </a:p>
              <a:p>
                <a:r>
                  <a:rPr lang="en-IN" dirty="0"/>
                  <a:t>Median gives realistic central value</a:t>
                </a:r>
              </a:p>
              <a:p>
                <a:r>
                  <a:rPr lang="en-IN" b="1" dirty="0"/>
                  <a:t>📌 2. Median Imputation</a:t>
                </a:r>
              </a:p>
              <a:p>
                <a:r>
                  <a:rPr lang="en-IN" dirty="0"/>
                  <a:t>Used when dataset contains extreme values.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4️⃣ Mode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Most frequent value.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Categorical Missing Value Imputation</a:t>
                </a:r>
              </a:p>
              <a:p>
                <a:r>
                  <a:rPr lang="en-IN" dirty="0"/>
                  <a:t>Example:</a:t>
                </a:r>
              </a:p>
              <a:p>
                <a:r>
                  <a:rPr lang="en-IN" dirty="0"/>
                  <a:t>Most common city</a:t>
                </a:r>
              </a:p>
              <a:p>
                <a:r>
                  <a:rPr lang="en-IN" dirty="0"/>
                  <a:t>Most common product category</a:t>
                </a:r>
              </a:p>
              <a:p>
                <a:r>
                  <a:rPr lang="en-IN" dirty="0"/>
                  <a:t>Replace missing category with </a:t>
                </a:r>
                <a:r>
                  <a:rPr lang="en-IN" b="1" dirty="0"/>
                  <a:t>mode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📌 2. Class Prediction in Classification</a:t>
                </a:r>
              </a:p>
              <a:p>
                <a:r>
                  <a:rPr lang="en-IN" dirty="0"/>
                  <a:t>In:</a:t>
                </a:r>
              </a:p>
              <a:p>
                <a:r>
                  <a:rPr lang="en-IN" dirty="0"/>
                  <a:t>K-Nearest </a:t>
                </a:r>
                <a:r>
                  <a:rPr lang="en-IN" dirty="0" err="1"/>
                  <a:t>Neighbors</a:t>
                </a:r>
                <a:endParaRPr lang="en-IN" dirty="0"/>
              </a:p>
              <a:p>
                <a:r>
                  <a:rPr lang="en-IN" dirty="0"/>
                  <a:t>Prediction 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𝑃𝑟𝑒𝑑𝑖𝑐𝑡𝑒𝑑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𝑐𝑙𝑎𝑠𝑠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𝑀𝑜𝑑𝑒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𝑜𝑓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𝑛𝑒𝑎𝑟𝑒𝑠𝑡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𝑛𝑒𝑖𝑔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h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𝑏𝑜𝑟𝑠</m:t>
                      </m:r>
                    </m:oMath>
                  </m:oMathPara>
                </a14:m>
                <a:endParaRPr lang="en-IN" b="0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5️⃣ Variance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Spread of data.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Feature Selection (Variance Threshold)</a:t>
                </a:r>
              </a:p>
              <a:p>
                <a:r>
                  <a:rPr lang="en-IN" dirty="0"/>
                  <a:t>If variance ≈ 0 → feature has almost same value → useless feature.</a:t>
                </a:r>
              </a:p>
              <a:p>
                <a:r>
                  <a:rPr lang="en-IN" dirty="0"/>
                  <a:t>Example:</a:t>
                </a:r>
                <a:br>
                  <a:rPr lang="en-IN" dirty="0"/>
                </a:br>
                <a:r>
                  <a:rPr lang="en-IN" dirty="0"/>
                  <a:t>If "Country = India" for all rows → variance = 0 → remove feature.</a:t>
                </a:r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Dimensionality reduction</a:t>
                </a:r>
              </a:p>
              <a:p>
                <a:r>
                  <a:rPr lang="en-IN" dirty="0"/>
                  <a:t>Preprocessing pipelines</a:t>
                </a:r>
              </a:p>
              <a:p>
                <a:r>
                  <a:rPr lang="en-IN" b="1" dirty="0"/>
                  <a:t>📌 2. Bias-Variance </a:t>
                </a:r>
                <a:r>
                  <a:rPr lang="en-IN" b="1" dirty="0" err="1"/>
                  <a:t>Tradeoff</a:t>
                </a:r>
                <a:endParaRPr lang="en-IN" b="1" dirty="0"/>
              </a:p>
              <a:p>
                <a:r>
                  <a:rPr lang="en-IN" dirty="0"/>
                  <a:t>In ML model evaluation:</a:t>
                </a:r>
              </a:p>
              <a:p>
                <a:r>
                  <a:rPr lang="en-IN" dirty="0"/>
                  <a:t>High variance → overfitting</a:t>
                </a:r>
              </a:p>
              <a:p>
                <a:r>
                  <a:rPr lang="en-IN" dirty="0"/>
                  <a:t>High bias → underfitting</a:t>
                </a:r>
              </a:p>
              <a:p>
                <a:r>
                  <a:rPr lang="en-IN" dirty="0"/>
                  <a:t>Very important theoretical concept.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6️⃣ Standard Deviation (</a:t>
                </a:r>
                <a:r>
                  <a:rPr lang="el-GR" b="1" dirty="0"/>
                  <a:t>σ)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Spread in original unit.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𝜎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𝑉𝑎𝑟𝑖𝑎𝑛𝑐𝑒</m:t>
                          </m:r>
                        </m:e>
                      </m:rad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Standardization (Z-score Scaling)</a:t>
                </a:r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Logistic Regression</a:t>
                </a:r>
              </a:p>
              <a:p>
                <a:r>
                  <a:rPr lang="en-IN" dirty="0"/>
                  <a:t>SVM</a:t>
                </a:r>
              </a:p>
              <a:p>
                <a:r>
                  <a:rPr lang="en-IN" dirty="0"/>
                  <a:t>PCA</a:t>
                </a:r>
              </a:p>
              <a:p>
                <a:r>
                  <a:rPr lang="en-IN" dirty="0"/>
                  <a:t>Neural Networks</a:t>
                </a:r>
              </a:p>
              <a:p>
                <a:r>
                  <a:rPr lang="en-IN" dirty="0"/>
                  <a:t>Formula: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𝑍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𝜇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📌 2. Anomaly Detection</a:t>
                </a:r>
              </a:p>
              <a:p>
                <a:r>
                  <a:rPr lang="en-IN" dirty="0"/>
                  <a:t>If value lies beyond: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±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3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𝜎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→ Potential anomaly</a:t>
                </a:r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Fraud detection</a:t>
                </a:r>
              </a:p>
              <a:p>
                <a:r>
                  <a:rPr lang="en-IN" dirty="0"/>
                  <a:t>Network intrusion detection</a:t>
                </a:r>
              </a:p>
              <a:p>
                <a:r>
                  <a:rPr lang="en-IN" dirty="0"/>
                  <a:t>Sensor monitoring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7️⃣ Covariance Matrix (Very Important in ML)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Relationship between multiple features.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Variance and Standard Deviation:</a:t>
                </a:r>
                <a:r>
                  <a:rPr lang="en-US" dirty="0"/>
                  <a:t>It is a measure of dispersion of data values; measures how closely the values cluster around their arithmetic average value. A low variance means that the values stay near the </a:t>
                </a:r>
                <a:r>
                  <a:rPr lang="en-US" dirty="0" err="1"/>
                  <a:t>arithmatic</a:t>
                </a:r>
                <a:r>
                  <a:rPr lang="en-US" dirty="0"/>
                  <a:t> average; a high variance means the opposite. </a:t>
                </a:r>
              </a:p>
              <a:p>
                <a:endParaRPr lang="en-US" dirty="0"/>
              </a:p>
              <a:p>
                <a:r>
                  <a:rPr lang="en-IN" b="1" dirty="0"/>
                  <a:t>Median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Middle value (robust to outliers)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Robust Feature Engineering</a:t>
                </a:r>
              </a:p>
              <a:p>
                <a:r>
                  <a:rPr lang="en-IN" dirty="0"/>
                  <a:t>In skewed data like:</a:t>
                </a:r>
              </a:p>
              <a:p>
                <a:r>
                  <a:rPr lang="en-IN" dirty="0"/>
                  <a:t>House prices</a:t>
                </a:r>
              </a:p>
              <a:p>
                <a:r>
                  <a:rPr lang="en-IN" dirty="0"/>
                  <a:t>Income data</a:t>
                </a:r>
              </a:p>
              <a:p>
                <a:r>
                  <a:rPr lang="en-IN" dirty="0"/>
                  <a:t>E-commerce transaction amounts</a:t>
                </a:r>
              </a:p>
              <a:p>
                <a:r>
                  <a:rPr lang="en-IN" dirty="0"/>
                  <a:t>Median is preferred over mean.</a:t>
                </a:r>
              </a:p>
              <a:p>
                <a:r>
                  <a:rPr lang="en-IN" dirty="0"/>
                  <a:t>Example:</a:t>
                </a:r>
                <a:br>
                  <a:rPr lang="en-IN" dirty="0"/>
                </a:br>
                <a:r>
                  <a:rPr lang="en-IN" dirty="0"/>
                  <a:t>In house price prediction:</a:t>
                </a:r>
              </a:p>
              <a:p>
                <a:r>
                  <a:rPr lang="en-IN" dirty="0"/>
                  <a:t>Mean price may be affected by luxury villas</a:t>
                </a:r>
              </a:p>
              <a:p>
                <a:r>
                  <a:rPr lang="en-IN" dirty="0"/>
                  <a:t>Median gives realistic central value</a:t>
                </a:r>
              </a:p>
              <a:p>
                <a:r>
                  <a:rPr lang="en-IN" b="1" dirty="0"/>
                  <a:t>📌 2. Median Imputation</a:t>
                </a:r>
              </a:p>
              <a:p>
                <a:r>
                  <a:rPr lang="en-IN" dirty="0"/>
                  <a:t>Used when dataset contains extreme values.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4️⃣ Mode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Most frequent value.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Categorical Missing Value Imputation</a:t>
                </a:r>
              </a:p>
              <a:p>
                <a:r>
                  <a:rPr lang="en-IN" dirty="0"/>
                  <a:t>Example:</a:t>
                </a:r>
              </a:p>
              <a:p>
                <a:r>
                  <a:rPr lang="en-IN" dirty="0"/>
                  <a:t>Most common city</a:t>
                </a:r>
              </a:p>
              <a:p>
                <a:r>
                  <a:rPr lang="en-IN" dirty="0"/>
                  <a:t>Most common product category</a:t>
                </a:r>
              </a:p>
              <a:p>
                <a:r>
                  <a:rPr lang="en-IN" dirty="0"/>
                  <a:t>Replace missing category with </a:t>
                </a:r>
                <a:r>
                  <a:rPr lang="en-IN" b="1" dirty="0"/>
                  <a:t>mode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📌 2. Class Prediction in Classification</a:t>
                </a:r>
              </a:p>
              <a:p>
                <a:r>
                  <a:rPr lang="en-IN" dirty="0"/>
                  <a:t>In:</a:t>
                </a:r>
              </a:p>
              <a:p>
                <a:r>
                  <a:rPr lang="en-IN" dirty="0"/>
                  <a:t>K-Nearest </a:t>
                </a:r>
                <a:r>
                  <a:rPr lang="en-IN" dirty="0" err="1"/>
                  <a:t>Neighbors</a:t>
                </a:r>
                <a:endParaRPr lang="en-IN" dirty="0"/>
              </a:p>
              <a:p>
                <a:r>
                  <a:rPr lang="en-IN" dirty="0"/>
                  <a:t>Prediction is: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𝑃𝑟𝑒𝑑𝑖𝑐𝑡𝑒𝑑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𝑐𝑙𝑎𝑠𝑠=𝑀𝑜𝑑𝑒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𝑜𝑓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𝑛𝑒𝑎𝑟𝑒𝑠𝑡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𝑛𝑒𝑖𝑔ℎ𝑏𝑜𝑟𝑠</a:t>
                </a:r>
                <a:endParaRPr lang="en-IN" b="0" dirty="0"/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5️⃣ Variance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Spread of data.</a:t>
                </a:r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Feature Selection (Variance Threshold)</a:t>
                </a:r>
              </a:p>
              <a:p>
                <a:r>
                  <a:rPr lang="en-IN" dirty="0"/>
                  <a:t>If variance ≈ 0 → feature has almost same value → useless feature.</a:t>
                </a:r>
              </a:p>
              <a:p>
                <a:r>
                  <a:rPr lang="en-IN" dirty="0"/>
                  <a:t>Example:</a:t>
                </a:r>
                <a:br>
                  <a:rPr lang="en-IN" dirty="0"/>
                </a:br>
                <a:r>
                  <a:rPr lang="en-IN" dirty="0"/>
                  <a:t>If "Country = India" for all rows → variance = 0 → remove feature.</a:t>
                </a:r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Dimensionality reduction</a:t>
                </a:r>
              </a:p>
              <a:p>
                <a:r>
                  <a:rPr lang="en-IN" dirty="0"/>
                  <a:t>Preprocessing pipelines</a:t>
                </a:r>
              </a:p>
              <a:p>
                <a:r>
                  <a:rPr lang="en-IN" b="1" dirty="0"/>
                  <a:t>📌 2. Bias-Variance </a:t>
                </a:r>
                <a:r>
                  <a:rPr lang="en-IN" b="1" dirty="0" err="1"/>
                  <a:t>Tradeoff</a:t>
                </a:r>
                <a:endParaRPr lang="en-IN" b="1" dirty="0"/>
              </a:p>
              <a:p>
                <a:r>
                  <a:rPr lang="en-IN" dirty="0"/>
                  <a:t>In ML model evaluation:</a:t>
                </a:r>
              </a:p>
              <a:p>
                <a:r>
                  <a:rPr lang="en-IN" dirty="0"/>
                  <a:t>High variance → overfitting</a:t>
                </a:r>
              </a:p>
              <a:p>
                <a:r>
                  <a:rPr lang="en-IN" dirty="0"/>
                  <a:t>High bias → underfitting</a:t>
                </a:r>
              </a:p>
              <a:p>
                <a:r>
                  <a:rPr lang="en-IN" dirty="0"/>
                  <a:t>Very important theoretical concept.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6️⃣ Standard Deviation (</a:t>
                </a:r>
                <a:r>
                  <a:rPr lang="el-GR" b="1" dirty="0"/>
                  <a:t>σ)</a:t>
                </a:r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Spread in original unit.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√𝑉𝑎𝑟𝑖𝑎𝑛𝑐𝑒</a:t>
                </a:r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✅ ML Applications</a:t>
                </a:r>
              </a:p>
              <a:p>
                <a:r>
                  <a:rPr lang="en-IN" b="1" dirty="0"/>
                  <a:t>📌 1. Standardization (Z-score Scaling)</a:t>
                </a:r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Logistic Regression</a:t>
                </a:r>
              </a:p>
              <a:p>
                <a:r>
                  <a:rPr lang="en-IN" dirty="0"/>
                  <a:t>SVM</a:t>
                </a:r>
              </a:p>
              <a:p>
                <a:r>
                  <a:rPr lang="en-IN" dirty="0"/>
                  <a:t>PCA</a:t>
                </a:r>
              </a:p>
              <a:p>
                <a:r>
                  <a:rPr lang="en-IN" dirty="0"/>
                  <a:t>Neural Networks</a:t>
                </a:r>
              </a:p>
              <a:p>
                <a:r>
                  <a:rPr lang="en-IN" dirty="0"/>
                  <a:t>Formula: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(𝑥−𝜇)/𝜎</a:t>
                </a:r>
                <a:endParaRPr lang="ar-AE" dirty="0"/>
              </a:p>
              <a:p>
                <a:r>
                  <a:rPr lang="en-IN" b="1" dirty="0"/>
                  <a:t>📌 2. Anomaly Detection</a:t>
                </a:r>
              </a:p>
              <a:p>
                <a:r>
                  <a:rPr lang="en-IN" dirty="0"/>
                  <a:t>If value lies beyond: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𝜇±3𝜎</a:t>
                </a:r>
                <a:endParaRPr lang="en-IN" dirty="0"/>
              </a:p>
              <a:p>
                <a:r>
                  <a:rPr lang="en-IN" dirty="0"/>
                  <a:t>→ Potential anomaly</a:t>
                </a:r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Fraud detection</a:t>
                </a:r>
              </a:p>
              <a:p>
                <a:r>
                  <a:rPr lang="en-IN" dirty="0"/>
                  <a:t>Network intrusion detection</a:t>
                </a:r>
              </a:p>
              <a:p>
                <a:r>
                  <a:rPr lang="en-IN" dirty="0"/>
                  <a:t>Sensor monitoring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7️⃣ Covariance Matrix (Very Important in ML)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🔹 What it Measures</a:t>
                </a:r>
              </a:p>
              <a:p>
                <a:r>
                  <a:rPr lang="en-IN" dirty="0"/>
                  <a:t>Relationship between multiple features.</a:t>
                </a: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47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 (Mean)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Average marks</a:t>
            </a:r>
          </a:p>
          <a:p>
            <a:pPr lvl="0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 (Standard Deviation)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Spread of marks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students lie near μ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few students lie far from μ</a:t>
            </a:r>
          </a:p>
          <a:p>
            <a:pPr lvl="0"/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histogram forms 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bell-shaped curve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students are clustered around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50–60 marks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few students scored:</a:t>
            </a:r>
          </a:p>
          <a:p>
            <a:pPr lvl="1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 20 marks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 90 marks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confirms the data approximately follows 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Distribution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414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exam marks depend on: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Study time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Sleep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IQ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 difficulty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Stress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combined → Final score ≈ Normal distribution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why ML models assume normality.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02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shape and spread of the distribution are completely determined by two parameters: the mean (μ), which locates the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center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distribution, and the standard deviation (σ), which measures the dispersion or spread of the data around the mean.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19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Important Interpretation (Empirical Rule)</a:t>
                </a:r>
              </a:p>
              <a:p>
                <a:r>
                  <a:rPr lang="en-IN" dirty="0"/>
                  <a:t>In a </a:t>
                </a:r>
                <a:r>
                  <a:rPr lang="en-IN" b="1" dirty="0"/>
                  <a:t>normal distribution</a:t>
                </a:r>
                <a:r>
                  <a:rPr lang="en-IN" dirty="0"/>
                  <a:t>:</a:t>
                </a:r>
              </a:p>
              <a:p>
                <a:r>
                  <a:rPr lang="en-IN" b="1" dirty="0"/>
                  <a:t>68% of data</a:t>
                </a:r>
                <a:r>
                  <a:rPr lang="en-IN" dirty="0"/>
                  <a:t> lies between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and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95% of data</a:t>
                </a:r>
                <a:r>
                  <a:rPr lang="en-IN" dirty="0"/>
                  <a:t> lies between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and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99.7% of data</a:t>
                </a:r>
                <a:r>
                  <a:rPr lang="en-IN" dirty="0"/>
                  <a:t> lies between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and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I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lang="en-IN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</m:oMath>
                  </m:oMathPara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b="1" dirty="0"/>
                  <a:t>Important Interpretation (Empirical Rule)</a:t>
                </a:r>
              </a:p>
              <a:p>
                <a:r>
                  <a:rPr lang="en-IN" dirty="0"/>
                  <a:t>In a </a:t>
                </a:r>
                <a:r>
                  <a:rPr lang="en-IN" b="1" dirty="0"/>
                  <a:t>normal distribution</a:t>
                </a:r>
                <a:r>
                  <a:rPr lang="en-IN" dirty="0"/>
                  <a:t>:</a:t>
                </a:r>
              </a:p>
              <a:p>
                <a:r>
                  <a:rPr lang="en-IN" b="1" dirty="0"/>
                  <a:t>68% of data</a:t>
                </a:r>
                <a:r>
                  <a:rPr lang="en-IN" dirty="0"/>
                  <a:t> lies between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𝜇−𝜎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"and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𝜇+𝜎</a:t>
                </a:r>
                <a:endParaRPr lang="en-IN" b="0" dirty="0"/>
              </a:p>
              <a:p>
                <a:r>
                  <a:rPr lang="en-IN" b="1" dirty="0"/>
                  <a:t>95% of data</a:t>
                </a:r>
                <a:r>
                  <a:rPr lang="en-IN" dirty="0"/>
                  <a:t> lies between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𝜇−2𝜎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"and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𝜇+2𝜎</a:t>
                </a:r>
                <a:endParaRPr lang="en-IN" b="0" dirty="0"/>
              </a:p>
              <a:p>
                <a:r>
                  <a:rPr lang="en-IN" b="1" dirty="0"/>
                  <a:t>99.7% of data</a:t>
                </a:r>
                <a:r>
                  <a:rPr lang="en-IN" dirty="0"/>
                  <a:t> lies between</a:t>
                </a:r>
              </a:p>
              <a:p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𝜇−3𝜎 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"and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𝜇+3𝜎</a:t>
                </a:r>
                <a:endParaRPr lang="en-IN" b="0" dirty="0"/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72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Life Example 1: Choosing Friends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you compare two students based on: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Attendance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values are close → they are similar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values are far → they are different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“closeness” is measured using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Distance Measures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4CD61-7041-4874-BE8A-9D9616481B11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7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13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4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9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85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22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224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7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39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2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9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8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882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344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878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07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275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14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B11AAF-0986-42B1-AA2D-C54184C9E56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7C281B-8091-4694-92CD-75B82992D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6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8F7F5-A9F1-2191-D151-1FBC0DF58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learning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69416-C1CE-30F4-1089-9437FBC13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Shrikrishna Anand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Narvekar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4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C5FA-F1E8-6888-3AB1-B3A4A660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6CE-0192-3C36-AF4B-E413C90FF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learn rules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 Inferential statistics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961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7EA-6993-A609-C05A-3E08F4AF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37CC-A788-401D-FBF8-C505CCFC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148046" cy="33189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saw the development of two branches in the 18th century-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Statistics(Believer):Uses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Belief + New 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reach a conclusion</a:t>
            </a:r>
            <a:r>
              <a:rPr lang="en-US" dirty="0"/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Statistics(Observer):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Current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deal with probability, but in different ways.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46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29A-B090-A71C-920A-708DB98C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learn rules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08D3-23D1-C239-D61C-A2BF444D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892552" cy="331893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Deductive (Top-Down):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 with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apply it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Logic: “All humans need water” →"John is human" → “John needs water”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Inductive (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Botttom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-up):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apply it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"Baby" Example: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Touching a hot stove + hot soup + hot iron = "Don't touch hot things!"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19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6042-D0C4-2FBA-7ABF-9855F0D9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vs. Inferential Statistics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D9C13B-95B6-7558-ACCC-1854C29A0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436250"/>
              </p:ext>
            </p:extLst>
          </p:nvPr>
        </p:nvGraphicFramePr>
        <p:xfrm>
          <a:off x="1107141" y="2423162"/>
          <a:ext cx="10174942" cy="3840480"/>
        </p:xfrm>
        <a:graphic>
          <a:graphicData uri="http://schemas.openxmlformats.org/drawingml/2006/table">
            <a:tbl>
              <a:tblPr/>
              <a:tblGrid>
                <a:gridCol w="3352210">
                  <a:extLst>
                    <a:ext uri="{9D8B030D-6E8A-4147-A177-3AD203B41FA5}">
                      <a16:colId xmlns:a16="http://schemas.microsoft.com/office/drawing/2014/main" val="3973877177"/>
                    </a:ext>
                  </a:extLst>
                </a:gridCol>
                <a:gridCol w="3588836">
                  <a:extLst>
                    <a:ext uri="{9D8B030D-6E8A-4147-A177-3AD203B41FA5}">
                      <a16:colId xmlns:a16="http://schemas.microsoft.com/office/drawing/2014/main" val="3183654905"/>
                    </a:ext>
                  </a:extLst>
                </a:gridCol>
                <a:gridCol w="3233896">
                  <a:extLst>
                    <a:ext uri="{9D8B030D-6E8A-4147-A177-3AD203B41FA5}">
                      <a16:colId xmlns:a16="http://schemas.microsoft.com/office/drawing/2014/main" val="3793650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85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Descriptive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the </a:t>
                      </a: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</a:t>
                      </a: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fitness app showing you walked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 steps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yesterday.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38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Inferential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the </a:t>
                      </a: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Future/Whole</a:t>
                      </a: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Asking </a:t>
                      </a: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 voters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their opinion to predict how </a:t>
                      </a: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million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will vote.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23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B2E0-A0F9-3760-845E-4C25BBF4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signals in the Mess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DAA8-C710-A519-1D13-2FB649BDF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"Noise"?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errors or irrelevant data that distract from the pattern.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friend’s voice (the data you want).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loud music and crowd shouting (the distraction).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acts like "Noise-Cancelling Headphones"—it filters out the music to hear the message.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095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AA92-2B9F-BB81-2157-3F8E577B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Explaining noise in terms of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B5E49B-EABE-F717-EF6D-855F8786A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684443"/>
              </p:ext>
            </p:extLst>
          </p:nvPr>
        </p:nvGraphicFramePr>
        <p:xfrm>
          <a:off x="1295402" y="2554343"/>
          <a:ext cx="3034554" cy="3474720"/>
        </p:xfrm>
        <a:graphic>
          <a:graphicData uri="http://schemas.openxmlformats.org/drawingml/2006/table">
            <a:tbl>
              <a:tblPr/>
              <a:tblGrid>
                <a:gridCol w="1517277">
                  <a:extLst>
                    <a:ext uri="{9D8B030D-6E8A-4147-A177-3AD203B41FA5}">
                      <a16:colId xmlns:a16="http://schemas.microsoft.com/office/drawing/2014/main" val="1045678438"/>
                    </a:ext>
                  </a:extLst>
                </a:gridCol>
                <a:gridCol w="1517277">
                  <a:extLst>
                    <a:ext uri="{9D8B030D-6E8A-4147-A177-3AD203B41FA5}">
                      <a16:colId xmlns:a16="http://schemas.microsoft.com/office/drawing/2014/main" val="3427650570"/>
                    </a:ext>
                  </a:extLst>
                </a:gridCol>
              </a:tblGrid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 Size (</a:t>
                      </a:r>
                      <a:r>
                        <a:rPr lang="en-I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sq.ft</a:t>
                      </a: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Price (₹ Lakhs)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247698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226279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489013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846391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52481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009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377575-2F44-1262-3A6A-3CFDD5254599}"/>
              </a:ext>
            </a:extLst>
          </p:cNvPr>
          <p:cNvSpPr txBox="1"/>
          <p:nvPr/>
        </p:nvSpPr>
        <p:spPr>
          <a:xfrm>
            <a:off x="4329956" y="2459548"/>
            <a:ext cx="6566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four rows show a clear pattern: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Bigger house → Higher price 📈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last row: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sq.ft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₹500 Lakhs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 is unusually high and may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entry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villa in different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mistake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abnormal value is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(Outlier)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59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27F9-4528-1005-E8A7-EBE82CC9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vs. Soft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C0461-75F4-1331-5100-708444DA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10148046" cy="354803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Computing (Analytical):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Following a strict, 100% exact recipe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+ B = C then C is always same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type 567×432, the computer uses a "hard" mathematical rule. There is no guesswork; the answer is either right or wrong.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modelling: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patterns to make a "best guess.“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thousands of examples, this is probably the answer.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Recommendations.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"hard" rule that says if you liked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Stranger Things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will definitely like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E190-FA5B-45D7-A5CB-7C3A9AD0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messy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45716-A2BE-AB9B-1D18-69B7B594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rarely perfect. We have to manage three main problems: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Irrelevant "jitter" or extra info that hides the truth.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Gaps where data wasn't recorded.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that contradicts itself.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100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D9FC145-6C9F-E2AA-ED90-4898671DAD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127600"/>
              </p:ext>
            </p:extLst>
          </p:nvPr>
        </p:nvGraphicFramePr>
        <p:xfrm>
          <a:off x="793376" y="726141"/>
          <a:ext cx="7180729" cy="5446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146">
                  <a:extLst>
                    <a:ext uri="{9D8B030D-6E8A-4147-A177-3AD203B41FA5}">
                      <a16:colId xmlns:a16="http://schemas.microsoft.com/office/drawing/2014/main" val="1687641680"/>
                    </a:ext>
                  </a:extLst>
                </a:gridCol>
                <a:gridCol w="1436146">
                  <a:extLst>
                    <a:ext uri="{9D8B030D-6E8A-4147-A177-3AD203B41FA5}">
                      <a16:colId xmlns:a16="http://schemas.microsoft.com/office/drawing/2014/main" val="3023937516"/>
                    </a:ext>
                  </a:extLst>
                </a:gridCol>
                <a:gridCol w="1704084">
                  <a:extLst>
                    <a:ext uri="{9D8B030D-6E8A-4147-A177-3AD203B41FA5}">
                      <a16:colId xmlns:a16="http://schemas.microsoft.com/office/drawing/2014/main" val="344894910"/>
                    </a:ext>
                  </a:extLst>
                </a:gridCol>
                <a:gridCol w="1462938">
                  <a:extLst>
                    <a:ext uri="{9D8B030D-6E8A-4147-A177-3AD203B41FA5}">
                      <a16:colId xmlns:a16="http://schemas.microsoft.com/office/drawing/2014/main" val="2672913618"/>
                    </a:ext>
                  </a:extLst>
                </a:gridCol>
                <a:gridCol w="1141415">
                  <a:extLst>
                    <a:ext uri="{9D8B030D-6E8A-4147-A177-3AD203B41FA5}">
                      <a16:colId xmlns:a16="http://schemas.microsoft.com/office/drawing/2014/main" val="2652320881"/>
                    </a:ext>
                  </a:extLst>
                </a:gridCol>
              </a:tblGrid>
              <a:tr h="1180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Experience (Years)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176219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921953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754993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150.0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295522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–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8815672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549"/>
                  </a:ext>
                </a:extLst>
              </a:tr>
              <a:tr h="710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981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26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3461-DE25-3B8C-468D-CE250E78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 &amp; Sample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88C5-E699-6422-1DB2-A1042CF2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10134599" cy="3669056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Sample Space (D):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"world" of all possible outcomes. In Machine Learning, your entire dataset (the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Matrix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your Sample Space.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you are analysing a deck of cards, the Sample Space is all 52 cards.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Points (x):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single "event" or a single row in your data. It is one specific instance from the Sample Space.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Drawing the 7 of Hearts is a "sample point." In a medical study, one single patient’s records would be a sample point</a:t>
            </a:r>
          </a:p>
        </p:txBody>
      </p:sp>
    </p:spTree>
    <p:extLst>
      <p:ext uri="{BB962C8B-B14F-4D97-AF65-F5344CB8AC3E}">
        <p14:creationId xmlns:p14="http://schemas.microsoft.com/office/powerpoint/2010/main" val="422072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CE22-E57D-438F-5781-6BBF7081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1BDC8-0134-5878-2EE2-E6ADAA1F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10027023" cy="365560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call the characteristics of our data "Random Variables" because we don't know the value until we actually look at a specific example.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your table (Attributes).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"House Hunting" Example: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you are looking for a house,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Bedrooms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Footage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838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692FB-0F05-AD52-567B-909CBC333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0119" y="612842"/>
                <a:ext cx="10340502" cy="5321030"/>
              </a:xfrm>
            </p:spPr>
            <p:txBody>
              <a:bodyPr/>
              <a:lstStyle/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“Zero Probability” Problem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there are infinite possible values: The probability of getting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exactly one specific value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ZERO.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asking: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probability of exactly 20 minutes?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ask: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probability that commute time is between 18 and 22 minutes?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continuous variables, we always find probability for a </a:t>
                </a:r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looking at a single point, we look at the probability of a value falling within a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I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C692FB-0F05-AD52-567B-909CBC333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0119" y="612842"/>
                <a:ext cx="10340502" cy="5321030"/>
              </a:xfrm>
              <a:blipFill>
                <a:blip r:embed="rId3"/>
                <a:stretch>
                  <a:fillRect l="-1061" t="-1720" r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A1EAD4-BD49-C4EE-85CD-E8D2B53CA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521" y="4506209"/>
            <a:ext cx="6712922" cy="16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88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9826-2104-35FB-8AA1-B7CE3E9E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PDF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EE19-CE07-F289-E979-8CA9077D8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96" y="2556931"/>
            <a:ext cx="4580105" cy="331893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 Function (PDF)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smooth curve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shows how values are distributed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is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curve</a:t>
            </a:r>
            <a:br>
              <a:rPr lang="en-US" dirty="0"/>
            </a:b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looks like a smooth wave (not spikes like PMF).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6.1: Probability Density Functions - Statistics LibreTexts">
            <a:extLst>
              <a:ext uri="{FF2B5EF4-FFF2-40B4-BE49-F238E27FC236}">
                <a16:creationId xmlns:a16="http://schemas.microsoft.com/office/drawing/2014/main" id="{B58F0F76-BF8F-5288-999B-2FABDD00D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4" y="3429000"/>
            <a:ext cx="696277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896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46AD-0248-A373-C321-D88B461F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calculate Probability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E785-7D56-3733-ED6A-2366B1797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950" y="2663936"/>
            <a:ext cx="9601196" cy="33189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probability between two values: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curve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those two points.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 we use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meaning: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= Area under curve between V₁ and V₂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14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212C-36E1-C31B-F2D1-3ABD081A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of PDF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C8D70-8337-F31F-748B-AB078251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1: Density must be zero or positive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p(x) ≥ 0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cannot have negative density.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2: Total area under curve must equal 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area under the curve = 1 (which means 100%)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total area ≠ 1 → it is not a valid PDF.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27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779C3-C04C-1ED7-9078-C288D0C38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41" y="739302"/>
            <a:ext cx="10544782" cy="542803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Small Interval Idea (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Δx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Concept)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take a very small range: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x₀ to x₀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Δx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Then,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≈ Density at that point × Width of range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Probability ≈ Height × Width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like area of a rectangle.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D80F8-C423-E91B-D8F0-F34045F3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73" y="4825323"/>
            <a:ext cx="8383973" cy="10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0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3AE6B-0CE5-733C-6F62-91891956D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672" y="797667"/>
            <a:ext cx="10466962" cy="540857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 perspective: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 data point of view: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 means: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frequently values occur in a very tiny interval.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total observations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ΔN = number of values in small interval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 = (Relative frequency) ÷ (Width of interval)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interval becomes extremely small → it becomes PDF.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1F316-E73A-99B1-9343-29B66147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528" y="3501956"/>
            <a:ext cx="3773720" cy="101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0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3D95-944A-25C5-5509-40D7FE27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Descriptive Measures of Probability Distributions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DEE8D-A3E2-8809-A11D-49E36EFB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important descriptive values of a random variable is the point around which distribution is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known as measure of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tendency.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(mean or average) value is the best measure for central tendency.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value is just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random situation.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75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B711E-AC10-E5C1-237B-3A3FD2A71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8485" y="535021"/>
                <a:ext cx="10603149" cy="58365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Dice Roll (Discrete Case)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you roll a fair dice.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Possible outcomes: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1, 2, 3, 4, 5, 6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has probability = 1/6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value: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ar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will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never actually get 3.5</a:t>
                </a:r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if you roll many times, the average will approach 3.5.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Discrete Data (Countable steps, like a dice roll):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use simple addition. You multiply each outcome by its probability and sum them up.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E [x]=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µ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P(x) is probability mass function</a:t>
                </a:r>
              </a:p>
              <a:p>
                <a:pPr marL="0" indent="0">
                  <a:buNone/>
                </a:pP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FB711E-AC10-E5C1-237B-3A3FD2A71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485" y="535021"/>
                <a:ext cx="10603149" cy="5836595"/>
              </a:xfrm>
              <a:blipFill>
                <a:blip r:embed="rId2"/>
                <a:stretch>
                  <a:fillRect l="-863" t="-1776" b="-3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357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CA71-959B-9F12-AE8F-2D817337C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848" y="573932"/>
                <a:ext cx="10758790" cy="57782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Rainfall (Continuous Case)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rainfall can be any value like: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12.2 mm, 12.25 mm, 12.251 mm…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values are continuous.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instead of adding, we use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concept is same: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Multiply each value by how likely it is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 everything together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gives the average rainfall.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Continuous Data (Smooth curves):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use calculus (integration). You multiply every possible value (x) by its likelihood (p(x)) and add them all up.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E [x]= µ=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p(x) is the probability density function.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1CA71-959B-9F12-AE8F-2D817337C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848" y="573932"/>
                <a:ext cx="10758790" cy="5778230"/>
              </a:xfrm>
              <a:blipFill>
                <a:blip r:embed="rId2"/>
                <a:stretch>
                  <a:fillRect l="-850" t="-17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294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1366-0D22-1A2E-90C9-7B9AE220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E8485-F300-D793-11E0-F200B6D0E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scientist is evaluating a simple "Recommender System" for a streaming app. The random variable  x represents the number of stars (1 to 4) a user is likely to give a specific genre based on historical data.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Questions: Verify that this is valid PMF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Calculate Expected Value E[x]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(Average Rating)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Find Variance and Standard deviations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F687EF-63EA-322E-985E-0E2775087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975324"/>
              </p:ext>
            </p:extLst>
          </p:nvPr>
        </p:nvGraphicFramePr>
        <p:xfrm>
          <a:off x="1742751" y="3854752"/>
          <a:ext cx="1737568" cy="197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784">
                  <a:extLst>
                    <a:ext uri="{9D8B030D-6E8A-4147-A177-3AD203B41FA5}">
                      <a16:colId xmlns:a16="http://schemas.microsoft.com/office/drawing/2014/main" val="573016539"/>
                    </a:ext>
                  </a:extLst>
                </a:gridCol>
                <a:gridCol w="868784">
                  <a:extLst>
                    <a:ext uri="{9D8B030D-6E8A-4147-A177-3AD203B41FA5}">
                      <a16:colId xmlns:a16="http://schemas.microsoft.com/office/drawing/2014/main" val="2491409624"/>
                    </a:ext>
                  </a:extLst>
                </a:gridCol>
              </a:tblGrid>
              <a:tr h="382008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P(x)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924980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03054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14236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02949"/>
                  </a:ext>
                </a:extLst>
              </a:tr>
              <a:tr h="43461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81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672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3233-3B08-E745-164D-3AF986C54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625151"/>
            <a:ext cx="10571584" cy="5617029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food delivery company tracks number of orders received per hour. The following data was collected: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probability mass function P(x).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that it is a valid PMF.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expected number of orders per hour.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variance and standard deviation.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B35087-7EFE-273F-C7CE-89A03BBE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840824"/>
              </p:ext>
            </p:extLst>
          </p:nvPr>
        </p:nvGraphicFramePr>
        <p:xfrm>
          <a:off x="7192345" y="1207481"/>
          <a:ext cx="3808448" cy="2628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4224">
                  <a:extLst>
                    <a:ext uri="{9D8B030D-6E8A-4147-A177-3AD203B41FA5}">
                      <a16:colId xmlns:a16="http://schemas.microsoft.com/office/drawing/2014/main" val="3593920453"/>
                    </a:ext>
                  </a:extLst>
                </a:gridCol>
                <a:gridCol w="1904224">
                  <a:extLst>
                    <a:ext uri="{9D8B030D-6E8A-4147-A177-3AD203B41FA5}">
                      <a16:colId xmlns:a16="http://schemas.microsoft.com/office/drawing/2014/main" val="836432354"/>
                    </a:ext>
                  </a:extLst>
                </a:gridCol>
              </a:tblGrid>
              <a:tr h="50084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 per hour (x)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80815926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5843575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6062243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303402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4730507"/>
                  </a:ext>
                </a:extLst>
              </a:tr>
              <a:tr h="25549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590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138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D196-EB5F-C68F-7397-647572B7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properties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D70B9F-99B0-8F82-4F28-D3F6428E8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2556931"/>
                <a:ext cx="10095689" cy="364931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Constants stay the same: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"average" of a constant number (like 5) is always 5. E [C] = C; C = constant 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you always get ₹500 salary bonus: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of 500 is 500.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Scaling: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you multiply all your data by 10, your average also multiplies by 10.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[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Cx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C E [x]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daily salary is ₹1000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company doubles it → ₹2000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average also doubles.</a:t>
                </a:r>
              </a:p>
              <a:p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D70B9F-99B0-8F82-4F28-D3F6428E8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2556931"/>
                <a:ext cx="10095689" cy="3649315"/>
              </a:xfrm>
              <a:blipFill>
                <a:blip r:embed="rId2"/>
                <a:stretch>
                  <a:fillRect l="-906" t="-3673" r="-1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491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ACB11-1628-2DAE-0DBA-52AAEF9B1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306" y="680935"/>
                <a:ext cx="10525328" cy="540857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Additivity: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average of a bunch of things added together is the same as adding their individual averages.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limLoc m:val="undOvr"/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Joint Variables: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dealing with two variables at once (like height and weight), you use their "joint" probability to find the average of their product.</a:t>
                </a: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there are two random variables x1 and x2 defined on a sample space, then</a:t>
                </a:r>
              </a:p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] =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subSup"/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IN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IN" sz="2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sz="2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I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  <m:sub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Do We Need Joint Probability?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now two things are happening together.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Height,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Height and weight are related.</a:t>
                </a:r>
                <a:b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must look at their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 behaviour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how they occur together</a:t>
                </a: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ACB11-1628-2DAE-0DBA-52AAEF9B1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306" y="680935"/>
                <a:ext cx="10525328" cy="5408579"/>
              </a:xfrm>
              <a:blipFill>
                <a:blip r:embed="rId3"/>
                <a:stretch>
                  <a:fillRect l="-869" t="-1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98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ACA42-DBD8-0B99-DF7C-1865A33C3C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7941" y="768485"/>
                <a:ext cx="10632332" cy="53793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Functions: 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you want the average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just plug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into the formula where x used to be.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[f(x)] = µ=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</a:p>
              <a:p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Vectors:</a:t>
                </a: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your data is a list of numbers (a vector) rather than a single value, the math works exactly the same way—you just do it for the whole list at once.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vector random variable x,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[x]= µ=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𝒙𝒑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discrete case,</a:t>
                </a: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E [x]=</a:t>
                </a:r>
                <a14:m>
                  <m:oMath xmlns:m="http://schemas.openxmlformats.org/officeDocument/2006/math">
                    <m:r>
                      <a:rPr lang="en-IN" sz="22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µ</m:t>
                    </m:r>
                    <m:r>
                      <a:rPr lang="en-IN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  <m:sup/>
                      <m:e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𝒙𝒑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 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ACA42-DBD8-0B99-DF7C-1865A33C3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941" y="768485"/>
                <a:ext cx="10632332" cy="5379395"/>
              </a:xfrm>
              <a:blipFill>
                <a:blip r:embed="rId3"/>
                <a:stretch>
                  <a:fillRect l="-1032" t="-793" r="-57" b="-26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727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9D1D-CCA4-9801-A48C-3B2C61A6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296F1-D784-CDFB-9089-616CBAB940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multi-specialty hospital has deployed a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Machine Learning-based patient triage system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ML model predicts patient severity and dynamically allocates doctors. After analysing historical data, the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science team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observes that the waiting time (in minutes) for patients follows a probability density function:</a:t>
                </a:r>
              </a:p>
              <a:p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200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for</m:t>
                    </m:r>
                    <m:r>
                      <m:rPr>
                        <m:nor/>
                      </m:rPr>
                      <a:rPr lang="en-IN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2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sz="2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Value of k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probability patient waits between 2 and 5 minutes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Expected waiting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296F1-D784-CDFB-9089-616CBAB94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3" t="-2936" r="-1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300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7CB0-7E46-E363-6AB6-379DAB91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A4444-9EB8-6728-2E20-58D250E8C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autonomous vehicle uses a machine learning–based distance estimation model to predict the distance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 meters) to nearby objects. The predicted distance follows a continuous probability density function: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for</m:t>
                    </m:r>
                    <m:r>
                      <m:rPr>
                        <m:nor/>
                      </m:rPr>
                      <a:rPr lang="en-IN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 the model output follows this distribution, compute the probability that an object is detected between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and 5 meters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 vehicle.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A4444-9EB8-6728-2E20-58D250E8C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224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F238-2AC0-7085-FB19-53C07F3C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72291-F7EA-A9E9-EAAF-7AB1CFDD9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value (mean) describes the central tendency of a random variable.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also need to measure the spread of values around the mean.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is desired to know the ‘spread’ of the random variable about the mean.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denoted as Var[X] or σ²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84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F6CD-A72E-4C13-51D1-3ABC4B7D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(Discrete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137C-07A5-27B5-AF88-198D4D7D5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Var[X] = σ² = E[(X - μ)²]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Summation Form: Var[X]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 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-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μ)²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P(x), x ∈ 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weighted squared deviations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mean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46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CE34C-D8D0-F445-B269-15A99267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Variance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4B8F-C534-99B9-3484-B9E3108DB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Var[X] = E[(X - E[X])²]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E[X² - 2X E[X] + (E[X])²]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linearity of expectation: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E[X²] - (E[X])²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Formula:      Var[X] = E[X²] - (E[X])²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form is often easier to compute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practical problems</a:t>
            </a:r>
          </a:p>
        </p:txBody>
      </p:sp>
    </p:spTree>
    <p:extLst>
      <p:ext uri="{BB962C8B-B14F-4D97-AF65-F5344CB8AC3E}">
        <p14:creationId xmlns:p14="http://schemas.microsoft.com/office/powerpoint/2010/main" val="1761056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4AD4-95F3-1874-C9CE-6037D676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5D938-EF52-B553-41B7-142C8AAD9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7313" y="2472956"/>
                <a:ext cx="6906207" cy="3498635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tells us: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two variables move together or in opposite directions?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E[(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)]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5D938-EF52-B553-41B7-142C8AAD9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313" y="2472956"/>
                <a:ext cx="6906207" cy="3498635"/>
              </a:xfrm>
              <a:blipFill>
                <a:blip r:embed="rId2"/>
                <a:stretch>
                  <a:fillRect l="-1589" t="-2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27F55-925C-4871-64E7-F412BCC5B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345184"/>
              </p:ext>
            </p:extLst>
          </p:nvPr>
        </p:nvGraphicFramePr>
        <p:xfrm>
          <a:off x="7623111" y="2554272"/>
          <a:ext cx="3741576" cy="3321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115">
                  <a:extLst>
                    <a:ext uri="{9D8B030D-6E8A-4147-A177-3AD203B41FA5}">
                      <a16:colId xmlns:a16="http://schemas.microsoft.com/office/drawing/2014/main" val="2891344366"/>
                    </a:ext>
                  </a:extLst>
                </a:gridCol>
                <a:gridCol w="2032461">
                  <a:extLst>
                    <a:ext uri="{9D8B030D-6E8A-4147-A177-3AD203B41FA5}">
                      <a16:colId xmlns:a16="http://schemas.microsoft.com/office/drawing/2014/main" val="106867616"/>
                    </a:ext>
                  </a:extLst>
                </a:gridCol>
              </a:tblGrid>
              <a:tr h="5144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Covariance Value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Meaning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7765558"/>
                  </a:ext>
                </a:extLst>
              </a:tr>
              <a:tr h="8203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 (+)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increase together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2770856"/>
                  </a:ext>
                </a:extLst>
              </a:tr>
              <a:tr h="8203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 (−)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increases, other decreases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4396636"/>
                  </a:ext>
                </a:extLst>
              </a:tr>
              <a:tr h="105613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(0)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linear relationship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862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543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0B39-916D-E394-2F3C-BA8560E6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covariance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AAFE4-3F34-93A8-6318-4CCED010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1: CPU Usage vs Temperature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CPU usage increases, temperature increases.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Covariance &gt; 0 (Positive)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FD813C-1BC6-371A-8050-2FB4F53A2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033421"/>
              </p:ext>
            </p:extLst>
          </p:nvPr>
        </p:nvGraphicFramePr>
        <p:xfrm>
          <a:off x="8116076" y="2556932"/>
          <a:ext cx="3192624" cy="2057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6312">
                  <a:extLst>
                    <a:ext uri="{9D8B030D-6E8A-4147-A177-3AD203B41FA5}">
                      <a16:colId xmlns:a16="http://schemas.microsoft.com/office/drawing/2014/main" val="1503350979"/>
                    </a:ext>
                  </a:extLst>
                </a:gridCol>
                <a:gridCol w="1596312">
                  <a:extLst>
                    <a:ext uri="{9D8B030D-6E8A-4147-A177-3AD203B41FA5}">
                      <a16:colId xmlns:a16="http://schemas.microsoft.com/office/drawing/2014/main" val="4218245744"/>
                    </a:ext>
                  </a:extLst>
                </a:gridCol>
              </a:tblGrid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Usage (%)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(°C)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2061210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6222861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6578904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2332201"/>
                  </a:ext>
                </a:extLst>
              </a:tr>
              <a:tr h="240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7841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088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C3CE-9FDF-06F2-A112-C2B1D40D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covariance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D7248-09DD-8B80-D211-BB8576DBD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Internet Speed vs Download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speed increases, download time decreases.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&lt; 0 (Negative)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alone is not enough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depends on the scale (units) of the variables.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means if we change the units, the covariance value changes — even though the relationship between variables is exactly the same.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39A357-F749-62B8-A0C2-69F86E4C2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463479"/>
              </p:ext>
            </p:extLst>
          </p:nvPr>
        </p:nvGraphicFramePr>
        <p:xfrm>
          <a:off x="8004110" y="2683205"/>
          <a:ext cx="2978020" cy="1716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9010">
                  <a:extLst>
                    <a:ext uri="{9D8B030D-6E8A-4147-A177-3AD203B41FA5}">
                      <a16:colId xmlns:a16="http://schemas.microsoft.com/office/drawing/2014/main" val="2110413995"/>
                    </a:ext>
                  </a:extLst>
                </a:gridCol>
                <a:gridCol w="1489010">
                  <a:extLst>
                    <a:ext uri="{9D8B030D-6E8A-4147-A177-3AD203B41FA5}">
                      <a16:colId xmlns:a16="http://schemas.microsoft.com/office/drawing/2014/main" val="2825642537"/>
                    </a:ext>
                  </a:extLst>
                </a:gridCol>
              </a:tblGrid>
              <a:tr h="2435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(Mbps)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 Time (min)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6690392"/>
                  </a:ext>
                </a:extLst>
              </a:tr>
              <a:tr h="2435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0682896"/>
                  </a:ext>
                </a:extLst>
              </a:tr>
              <a:tr h="2435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0681563"/>
                  </a:ext>
                </a:extLst>
              </a:tr>
              <a:tr h="16895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6369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746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EA46A8-864B-A2E5-11A7-D36E0F8AA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102" y="681135"/>
                <a:ext cx="4722069" cy="5374432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Small Scale Variables</a:t>
                </a: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are perfectly positively related.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might be something like: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EA46A8-864B-A2E5-11A7-D36E0F8AA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102" y="681135"/>
                <a:ext cx="4722069" cy="5374432"/>
              </a:xfrm>
              <a:blipFill>
                <a:blip r:embed="rId3"/>
                <a:stretch>
                  <a:fillRect l="-2323" t="-1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993F81-E018-487C-3BAE-86FBE1EA8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406546"/>
              </p:ext>
            </p:extLst>
          </p:nvPr>
        </p:nvGraphicFramePr>
        <p:xfrm>
          <a:off x="894959" y="1376162"/>
          <a:ext cx="4722069" cy="2194560"/>
        </p:xfrm>
        <a:graphic>
          <a:graphicData uri="http://schemas.openxmlformats.org/drawingml/2006/table">
            <a:tbl>
              <a:tblPr/>
              <a:tblGrid>
                <a:gridCol w="1574023">
                  <a:extLst>
                    <a:ext uri="{9D8B030D-6E8A-4147-A177-3AD203B41FA5}">
                      <a16:colId xmlns:a16="http://schemas.microsoft.com/office/drawing/2014/main" val="2067394416"/>
                    </a:ext>
                  </a:extLst>
                </a:gridCol>
                <a:gridCol w="1574023">
                  <a:extLst>
                    <a:ext uri="{9D8B030D-6E8A-4147-A177-3AD203B41FA5}">
                      <a16:colId xmlns:a16="http://schemas.microsoft.com/office/drawing/2014/main" val="2845586720"/>
                    </a:ext>
                  </a:extLst>
                </a:gridCol>
                <a:gridCol w="1574023">
                  <a:extLst>
                    <a:ext uri="{9D8B030D-6E8A-4147-A177-3AD203B41FA5}">
                      <a16:colId xmlns:a16="http://schemas.microsoft.com/office/drawing/2014/main" val="2669522476"/>
                    </a:ext>
                  </a:extLst>
                </a:gridCol>
              </a:tblGrid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Stipend (₹ thousands)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27279"/>
                  </a:ext>
                </a:extLst>
              </a:tr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06777"/>
                  </a:ext>
                </a:extLst>
              </a:tr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897366"/>
                  </a:ext>
                </a:extLst>
              </a:tr>
              <a:tr h="341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561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AABC6F-AA25-24BB-CD62-B7065B8A5C21}"/>
                  </a:ext>
                </a:extLst>
              </p:cNvPr>
              <p:cNvSpPr txBox="1"/>
              <p:nvPr/>
            </p:nvSpPr>
            <p:spPr>
              <a:xfrm>
                <a:off x="6096000" y="585903"/>
                <a:ext cx="5302898" cy="6309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Same Data, Bigger Units</a:t>
                </a: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the relationship is 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exactly the same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covariance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sepChr m:val=","/>
                          <m:ctrlPr>
                            <a:rPr lang="ar-A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ar-AE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ar-AE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Did Relationship Change?</a:t>
                </a: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units changed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covariance changed from 50 → 50,000</a:t>
                </a:r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means:</a:t>
                </a:r>
              </a:p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magnitude depends on scale.</a:t>
                </a:r>
              </a:p>
              <a:p>
                <a:endParaRPr 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AABC6F-AA25-24BB-CD62-B7065B8A5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85903"/>
                <a:ext cx="5302898" cy="6309420"/>
              </a:xfrm>
              <a:prstGeom prst="rect">
                <a:avLst/>
              </a:prstGeom>
              <a:blipFill>
                <a:blip r:embed="rId4"/>
                <a:stretch>
                  <a:fillRect l="-1724" t="-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8E38B6-C4D9-7A75-FC9E-EC40A72DA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42247"/>
              </p:ext>
            </p:extLst>
          </p:nvPr>
        </p:nvGraphicFramePr>
        <p:xfrm>
          <a:off x="6277169" y="1224299"/>
          <a:ext cx="5019872" cy="2042160"/>
        </p:xfrm>
        <a:graphic>
          <a:graphicData uri="http://schemas.openxmlformats.org/drawingml/2006/table">
            <a:tbl>
              <a:tblPr/>
              <a:tblGrid>
                <a:gridCol w="1673291">
                  <a:extLst>
                    <a:ext uri="{9D8B030D-6E8A-4147-A177-3AD203B41FA5}">
                      <a16:colId xmlns:a16="http://schemas.microsoft.com/office/drawing/2014/main" val="3810204569"/>
                    </a:ext>
                  </a:extLst>
                </a:gridCol>
                <a:gridCol w="1673581">
                  <a:extLst>
                    <a:ext uri="{9D8B030D-6E8A-4147-A177-3AD203B41FA5}">
                      <a16:colId xmlns:a16="http://schemas.microsoft.com/office/drawing/2014/main" val="844414662"/>
                    </a:ext>
                  </a:extLst>
                </a:gridCol>
                <a:gridCol w="1673000">
                  <a:extLst>
                    <a:ext uri="{9D8B030D-6E8A-4147-A177-3AD203B41FA5}">
                      <a16:colId xmlns:a16="http://schemas.microsoft.com/office/drawing/2014/main" val="3242866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Salary (₹)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72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4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31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728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EB5C9-B2BF-6C33-8E86-4177B8F31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3434" y="849430"/>
                <a:ext cx="10162590" cy="5271452"/>
              </a:xfrm>
            </p:spPr>
            <p:txBody>
              <a:bodyPr>
                <a:normAutofit/>
              </a:bodyPr>
              <a:lstStyle/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Their covariance numbers will look very different and hard to compare.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use…</a:t>
                </a:r>
              </a:p>
              <a:p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Coefficient (ρ)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Cov</m:t>
                        </m:r>
                        <m: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[</m:t>
                        </m:r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called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Pearson’s Correlation Coefficient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is normalized covariance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always lies between: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−1≤ρ≤1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EB5C9-B2BF-6C33-8E86-4177B8F31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3434" y="849430"/>
                <a:ext cx="10162590" cy="5271452"/>
              </a:xfrm>
              <a:blipFill>
                <a:blip r:embed="rId2"/>
                <a:stretch>
                  <a:fillRect l="-1080" t="-12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F8098-F455-4AAF-25AC-CB37089D0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031194"/>
              </p:ext>
            </p:extLst>
          </p:nvPr>
        </p:nvGraphicFramePr>
        <p:xfrm>
          <a:off x="7388290" y="2972453"/>
          <a:ext cx="3957734" cy="265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867">
                  <a:extLst>
                    <a:ext uri="{9D8B030D-6E8A-4147-A177-3AD203B41FA5}">
                      <a16:colId xmlns:a16="http://schemas.microsoft.com/office/drawing/2014/main" val="2993094839"/>
                    </a:ext>
                  </a:extLst>
                </a:gridCol>
                <a:gridCol w="1978867">
                  <a:extLst>
                    <a:ext uri="{9D8B030D-6E8A-4147-A177-3AD203B41FA5}">
                      <a16:colId xmlns:a16="http://schemas.microsoft.com/office/drawing/2014/main" val="3710565977"/>
                    </a:ext>
                  </a:extLst>
                </a:gridCol>
              </a:tblGrid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ρ             Value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6778813"/>
                  </a:ext>
                </a:extLst>
              </a:tr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Perfect positive relationship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5002482"/>
                  </a:ext>
                </a:extLst>
              </a:tr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Perfect negative relationship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4269338"/>
                  </a:ext>
                </a:extLst>
              </a:tr>
              <a:tr h="26925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linear relation</a:t>
                      </a:r>
                      <a:endParaRPr lang="en-IN" sz="2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430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163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D9F1-B609-28C2-B90A-17AF411F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02915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6F5E9-1973-B613-AE08-A1E20D5E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90" y="1829501"/>
            <a:ext cx="5870218" cy="441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05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1304-C7C9-F29C-1B28-0394F85F6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C1339-BDA3-2D96-AF9A-2D720EB02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here comes the important conceptual point.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is SAMPLE data: Then We Divide by N-1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population data then we divide by 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610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E4C55-FD4B-7CB7-0B0E-849463CB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490" y="849429"/>
            <a:ext cx="10349203" cy="5299443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 – When We Have Multiple Features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we don’t have just 2 variables.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may have: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hours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we want to know: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every feature relates to every other feature?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where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058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DE821-BD52-6075-C654-7F031ADB6C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7078" y="718457"/>
                <a:ext cx="9963536" cy="498946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Matrix is: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table that shows covariance between every pair of variables.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 Example (Feature Relationship)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we have 3 features: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X₁ = RAM usage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X₂ = CPU usage</a:t>
                </a:r>
              </a:p>
              <a:p>
                <a:pPr lvl="0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X₃ = Power consumption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Covariance Matrix looks like: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  <m:m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DE821-BD52-6075-C654-7F031ADB6C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7078" y="718457"/>
                <a:ext cx="9963536" cy="4989460"/>
              </a:xfrm>
              <a:blipFill>
                <a:blip r:embed="rId3"/>
                <a:stretch>
                  <a:fillRect l="-918" t="-2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038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49E9-FDCF-3E85-7F8B-C0F5DFEF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70DD-FD44-113A-92F1-E3328F236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server monitoring system recorded CPU usage (%) and CPU temperature (°C) over 5 hours. The dataset represents the entire population for that period.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(X,Y)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Pearson correlation coefficient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CBC71C-34DB-662D-CFCB-6BEEBB778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234953"/>
              </p:ext>
            </p:extLst>
          </p:nvPr>
        </p:nvGraphicFramePr>
        <p:xfrm>
          <a:off x="6624735" y="3476708"/>
          <a:ext cx="4730620" cy="2399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0421">
                  <a:extLst>
                    <a:ext uri="{9D8B030D-6E8A-4147-A177-3AD203B41FA5}">
                      <a16:colId xmlns:a16="http://schemas.microsoft.com/office/drawing/2014/main" val="208177871"/>
                    </a:ext>
                  </a:extLst>
                </a:gridCol>
                <a:gridCol w="1945801">
                  <a:extLst>
                    <a:ext uri="{9D8B030D-6E8A-4147-A177-3AD203B41FA5}">
                      <a16:colId xmlns:a16="http://schemas.microsoft.com/office/drawing/2014/main" val="856705415"/>
                    </a:ext>
                  </a:extLst>
                </a:gridCol>
                <a:gridCol w="1874398">
                  <a:extLst>
                    <a:ext uri="{9D8B030D-6E8A-4147-A177-3AD203B41FA5}">
                      <a16:colId xmlns:a16="http://schemas.microsoft.com/office/drawing/2014/main" val="3707637144"/>
                    </a:ext>
                  </a:extLst>
                </a:gridCol>
              </a:tblGrid>
              <a:tr h="24040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Usage (X)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(Y)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3575158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2145823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3166512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989675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1158214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22860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I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9282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358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A1DA2-8D2D-41BB-5D9D-4DDCCF62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532" y="802776"/>
            <a:ext cx="10554476" cy="5178146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network engineer recorded internet speed (Mbps) and download time (minutes). Out of many possible connections available in the city he randomly selected 5 connections as a sample and recorded their speed and corresponding download time.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Covariance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Pearson correlation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33537F-73D7-8D5E-8ACB-94034ADE8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021637"/>
              </p:ext>
            </p:extLst>
          </p:nvPr>
        </p:nvGraphicFramePr>
        <p:xfrm>
          <a:off x="7052388" y="2485775"/>
          <a:ext cx="4069702" cy="20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4851">
                  <a:extLst>
                    <a:ext uri="{9D8B030D-6E8A-4147-A177-3AD203B41FA5}">
                      <a16:colId xmlns:a16="http://schemas.microsoft.com/office/drawing/2014/main" val="2540924487"/>
                    </a:ext>
                  </a:extLst>
                </a:gridCol>
                <a:gridCol w="2034851">
                  <a:extLst>
                    <a:ext uri="{9D8B030D-6E8A-4147-A177-3AD203B41FA5}">
                      <a16:colId xmlns:a16="http://schemas.microsoft.com/office/drawing/2014/main" val="3049413440"/>
                    </a:ext>
                  </a:extLst>
                </a:gridCol>
              </a:tblGrid>
              <a:tr h="25750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(X)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(Y)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0953956"/>
                  </a:ext>
                </a:extLst>
              </a:tr>
              <a:tr h="25750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3920358"/>
                  </a:ext>
                </a:extLst>
              </a:tr>
              <a:tr h="25750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3808781"/>
                  </a:ext>
                </a:extLst>
              </a:tr>
              <a:tr h="25750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8844149"/>
                  </a:ext>
                </a:extLst>
              </a:tr>
              <a:tr h="25750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6126705"/>
                  </a:ext>
                </a:extLst>
              </a:tr>
              <a:tr h="257508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3028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36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BC0C-1420-0E72-55F3-DBDEE04F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Descriptive Measures from Data Sample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DBB4F-FA0B-5625-F3B2-E0F324CA2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difference between the smallest and the largest observation in the sample.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arithmetic average value, that is, the sum of all the values divided by the number of values.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median value divides the observations into two groups of equal size—one possessing values smaller than the median and another one possessing values bigger than the median.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value that occurs most often, is called the mode of data sample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936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94A1-AC34-0C86-9440-F2178E53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36" y="699796"/>
            <a:ext cx="10215462" cy="517607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and Standard Deviation: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a given observation and the arithmetic average of the sample is called its deviation.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variance is defined as the arithmetic average of the squares of the deviations.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square root of the variance and is commonly employed in measuring dispersion.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26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4CEC8-41DE-2F21-6C8A-B5EB6202A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65" y="718457"/>
            <a:ext cx="4478695" cy="5421085"/>
          </a:xfrm>
        </p:spPr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 software company is facing customer complaints about: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application response time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server overheating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system performance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team collects data from 10 days.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record: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Server Response Time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 (%)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System Failures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DC805-575A-BBCF-6DE4-C47DF55A2F6B}"/>
              </a:ext>
            </a:extLst>
          </p:cNvPr>
          <p:cNvSpPr txBox="1"/>
          <p:nvPr/>
        </p:nvSpPr>
        <p:spPr>
          <a:xfrm>
            <a:off x="4749283" y="4616351"/>
            <a:ext cx="3629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A – Descriptive Measures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mean response time, Median response time, mode of failures, range and standard deviation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skewness analysis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5F3060-8A0F-3C71-8023-8B4E8BCFA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37643"/>
              </p:ext>
            </p:extLst>
          </p:nvPr>
        </p:nvGraphicFramePr>
        <p:xfrm>
          <a:off x="5503506" y="509990"/>
          <a:ext cx="5606144" cy="4106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536">
                  <a:extLst>
                    <a:ext uri="{9D8B030D-6E8A-4147-A177-3AD203B41FA5}">
                      <a16:colId xmlns:a16="http://schemas.microsoft.com/office/drawing/2014/main" val="1529285024"/>
                    </a:ext>
                  </a:extLst>
                </a:gridCol>
                <a:gridCol w="1401536">
                  <a:extLst>
                    <a:ext uri="{9D8B030D-6E8A-4147-A177-3AD203B41FA5}">
                      <a16:colId xmlns:a16="http://schemas.microsoft.com/office/drawing/2014/main" val="3997451521"/>
                    </a:ext>
                  </a:extLst>
                </a:gridCol>
                <a:gridCol w="1401536">
                  <a:extLst>
                    <a:ext uri="{9D8B030D-6E8A-4147-A177-3AD203B41FA5}">
                      <a16:colId xmlns:a16="http://schemas.microsoft.com/office/drawing/2014/main" val="1508803447"/>
                    </a:ext>
                  </a:extLst>
                </a:gridCol>
                <a:gridCol w="1401536">
                  <a:extLst>
                    <a:ext uri="{9D8B030D-6E8A-4147-A177-3AD203B41FA5}">
                      <a16:colId xmlns:a16="http://schemas.microsoft.com/office/drawing/2014/main" val="3031883169"/>
                    </a:ext>
                  </a:extLst>
                </a:gridCol>
              </a:tblGrid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 (ms)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Usage (%)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2153670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6219383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8250685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955780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33239984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7120211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1592895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6132399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2364982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794316"/>
                  </a:ext>
                </a:extLst>
              </a:tr>
              <a:tr h="2243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4113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680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AE92-E57A-DB42-AEF2-AA0802C5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96520C6-03A2-A479-7A70-6AFC96BCDE3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95400" y="2557463"/>
            <a:ext cx="9601200" cy="331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B – Relationship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covariance between: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CPU Usage and Response Time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Pearson’s correlation coefficient between: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 and Response Time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result.</a:t>
            </a:r>
          </a:p>
          <a:p>
            <a:r>
              <a:rPr lang="en-IN" b="1" dirty="0"/>
              <a:t> </a:t>
            </a:r>
            <a:endParaRPr lang="en-IN" dirty="0"/>
          </a:p>
          <a:p>
            <a:r>
              <a:rPr lang="en-IN" b="1" dirty="0"/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030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E0BF-7B29-F9F6-1E33-52D6D7A4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BED2-54D5-4731-0933-C4E625280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747" y="2556932"/>
            <a:ext cx="5318449" cy="3318936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conduct a test for 200 students.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students score around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50–60 marks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students score very low (10–20)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students score very high (90–100)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draw a graph, it forms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bell-shaped curve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called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03B45-C93C-CB05-27A8-E4D762593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01" y="2394954"/>
            <a:ext cx="5075890" cy="380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95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F4F8-664D-B7D1-D2A3-6B64B3CD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curve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25CE-6686-42EB-4577-FA9F1D24C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424264" cy="3200056"/>
          </a:xfrm>
        </p:spPr>
        <p:txBody>
          <a:bodyPr/>
          <a:lstStyle/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(bars) → Actual student marks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curve →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curve (KDE – Kernel Density Estimation)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curve clearly forms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 shape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C23206-B2AB-E31C-73AE-FB1FDC7D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173" y="2366746"/>
            <a:ext cx="5254884" cy="391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77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4269-571A-F2BB-F6A6-393BEA60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of shapes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F545-593D-95A5-1A80-39B309000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of shape are tools that can be used to describe the shape of the distribution of data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Skewness is when distribution is asymmetrical or lacks symmetry.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+mj-cs"/>
              </a:rPr>
              <a:t>When we work with statistical problem, we must decide whether to use the mean, the median or the mode as a measure of central tendency. Symmetrical distributions that contain only one mode always have the same value for the mean, median and the mode. In that context, the choice is easy.</a:t>
            </a:r>
          </a:p>
          <a:p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9522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C4CDD4-A00D-96E6-22A2-792E7EDF1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078" y="2487282"/>
            <a:ext cx="7993380" cy="321564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0EB94D-7C67-3D53-E3CC-14019A5053FA}"/>
              </a:ext>
            </a:extLst>
          </p:cNvPr>
          <p:cNvSpPr txBox="1"/>
          <p:nvPr/>
        </p:nvSpPr>
        <p:spPr>
          <a:xfrm>
            <a:off x="1110342" y="702178"/>
            <a:ext cx="476794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ea typeface="+mj-ea"/>
                <a:cs typeface="+mj-cs"/>
              </a:rPr>
              <a:t>When the distributions are positively skewed or negatively skewed, the median is often the best measure of location because it is always  between the mean and the mode</a:t>
            </a: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98B50-EBC6-FF99-97AD-B6F00FAD265C}"/>
              </a:ext>
            </a:extLst>
          </p:cNvPr>
          <p:cNvSpPr txBox="1"/>
          <p:nvPr/>
        </p:nvSpPr>
        <p:spPr>
          <a:xfrm>
            <a:off x="6428792" y="664129"/>
            <a:ext cx="43573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ea typeface="+mj-ea"/>
                <a:cs typeface="+mj-cs"/>
              </a:rPr>
              <a:t>The median is not as highly influenced by the frequency of occurrence of a single value as is the mode nor it is affected by extreme values as is the mean.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8562804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6DD0-FB25-3010-CD62-0D35B439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normal distribution in ML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B598-4CD8-3ECB-8B36-B884CC909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Normal distribution is important in ML?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take: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small random effects</a:t>
            </a:r>
          </a:p>
          <a:p>
            <a:pPr lvl="0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them together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becomes approximately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931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73DD-1B41-6828-C2F0-C1E874DE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Definition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ED62-40A4-A6E7-8D59-A36DE8FD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also known as the Gaussian distribution, is a continuous probability distribution that is symmetrical about its mean and characterized by a bell-shaped curve. 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a distribution in which most observations cluster around the central value (mean, μ), and the probabilities for values further away from the mean decrease equally in both directions. 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normal distribution, the majority of data points lie close to the mean, and fewer observations occur as we move farther away from it, creating a symmetric, bell-shaped curve.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288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53C798-A40A-3BA0-33DC-E215450BA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7530" y="746793"/>
                <a:ext cx="10367865" cy="5402080"/>
              </a:xfrm>
            </p:spPr>
            <p:txBody>
              <a:bodyPr>
                <a:normAutofit/>
              </a:bodyPr>
              <a:lstStyle/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Formula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b="1" i="1">
                            <a:latin typeface="Cambria Math" panose="02040503050406030204" pitchFamily="18" charset="0"/>
                          </a:rPr>
                          <m:t>𝛔</m:t>
                        </m:r>
                        <m:rad>
                          <m:radPr>
                            <m:degHide m:val="on"/>
                            <m:ctrlPr>
                              <a:rPr lang="en-IN" sz="2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200" b="1" i="1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</m:rad>
                      </m:den>
                    </m:f>
                    <m:r>
                      <a:rPr lang="en-IN" sz="220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I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2200" i="1">
                                    <a:latin typeface="Cambria Math" panose="02040503050406030204" pitchFamily="18" charset="0"/>
                                  </a:rPr>
                                  <m:t>−µ</m:t>
                                </m:r>
                              </m:num>
                              <m:den>
                                <m:r>
                                  <a:rPr lang="en-IN" sz="2200" b="1" i="1">
                                    <a:latin typeface="Cambria Math" panose="02040503050406030204" pitchFamily="18" charset="0"/>
                                  </a:rPr>
                                  <m:t>𝛔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 = Mean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= Standard Deviation</a:t>
                </a:r>
              </a:p>
              <a:p>
                <a:pPr lvl="0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Data value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conventional description of normal density is a bell-shaped curve, totally controlled by the numerical values of the two parameters, the mean μ and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I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distribution is symmetrical about the mean; the peak occurring at x = μ, and the width of the bell is proportional to the standard deviation </a:t>
                </a:r>
                <a14:m>
                  <m:oMath xmlns:m="http://schemas.openxmlformats.org/officeDocument/2006/math">
                    <m:r>
                      <a:rPr lang="en-IN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I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53C798-A40A-3BA0-33DC-E215450BA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530" y="746793"/>
                <a:ext cx="10367865" cy="5402080"/>
              </a:xfrm>
              <a:blipFill>
                <a:blip r:embed="rId2"/>
                <a:stretch>
                  <a:fillRect l="-882" t="-1354" r="-9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8911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28C20C-02C2-31AB-59B2-36FAB73C9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0150" y="696211"/>
            <a:ext cx="4467225" cy="3257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0AAEA3-9D26-18B1-1FF7-08C0D419FBC3}"/>
                  </a:ext>
                </a:extLst>
              </p:cNvPr>
              <p:cNvSpPr txBox="1"/>
              <p:nvPr/>
            </p:nvSpPr>
            <p:spPr>
              <a:xfrm>
                <a:off x="764624" y="696212"/>
                <a:ext cx="6195526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X-axis labels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normal distribution graph represent positions measured relative to 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(μ)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units of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 (σ)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 (Mu) — Mean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(average)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dataset.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of the normal distribution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curve is perfectly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symmetric around μ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 − σ (One Standard Deviation Below Mean)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point is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standard deviation below the mean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represents values slightly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 than the average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 + σ (One Standard Deviation Above Mean)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point is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standard deviation above the mean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Represents values slightly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than the average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/>
                  <a:t>4.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μ + 2σ (Two Standard Deviations Above Mean)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point is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standard deviations above the mean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values are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much higher than average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0AAEA3-9D26-18B1-1FF7-08C0D419F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24" y="696212"/>
                <a:ext cx="6195526" cy="5878532"/>
              </a:xfrm>
              <a:prstGeom prst="rect">
                <a:avLst/>
              </a:prstGeom>
              <a:blipFill>
                <a:blip r:embed="rId4"/>
                <a:stretch>
                  <a:fillRect l="-983" t="-518" r="-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939BBC6-1496-46CE-ABFB-C80156A31137}"/>
              </a:ext>
            </a:extLst>
          </p:cNvPr>
          <p:cNvSpPr txBox="1"/>
          <p:nvPr/>
        </p:nvSpPr>
        <p:spPr>
          <a:xfrm>
            <a:off x="7590408" y="4323424"/>
            <a:ext cx="37552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labels help 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data (Z-score normalization)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146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E2A06-469E-1D6F-D608-3A873D1A6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27" y="692621"/>
            <a:ext cx="10307714" cy="5459604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have multiple variables: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Marks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Hours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%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use: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 = Mean vector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= Covariance matrix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7A03A-ACDA-F4A6-23FF-7AE4C3D42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18" y="2938231"/>
            <a:ext cx="6490964" cy="134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66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1DC2-9FE8-D747-AB82-415040EC0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Similarity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03672-A19C-1394-26FA-30AC8777B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755" y="2556932"/>
            <a:ext cx="5067692" cy="3318936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works by answering one basic question: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"How similar are two data points?"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two items are similar → group them together</a:t>
            </a:r>
            <a:b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very different → keep them separate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3C350-D6D7-EAE5-B9E6-69F96C1AD6A1}"/>
              </a:ext>
            </a:extLst>
          </p:cNvPr>
          <p:cNvSpPr txBox="1"/>
          <p:nvPr/>
        </p:nvSpPr>
        <p:spPr>
          <a:xfrm>
            <a:off x="6133707" y="2556932"/>
            <a:ext cx="509911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Need Distance Measures?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do not understand: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“Close”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“Similar”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“Almost same”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only understand numbers.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convert similarity into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distance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distance → More similar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distance → Less similar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69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91BD-EA28-3A4D-B073-964BD88E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90ABB0-0964-825D-DBFE-886B43424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5567" y="2399645"/>
                <a:ext cx="6331670" cy="3476223"/>
              </a:xfrm>
            </p:spPr>
            <p:txBody>
              <a:bodyPr>
                <a:normAutofit fontScale="25000" lnSpcReduction="20000"/>
              </a:bodyPr>
              <a:lstStyle/>
              <a:p>
                <a:r>
                  <a:rPr lang="en-IN" sz="8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straight-line distance.</a:t>
                </a:r>
              </a:p>
              <a:p>
                <a14:m>
                  <m:oMath xmlns:m="http://schemas.openxmlformats.org/officeDocument/2006/math">
                    <m:r>
                      <a:rPr lang="en-IN" sz="8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8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8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en-IN" sz="8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8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8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+(</m:t>
                            </m:r>
                            <m:sSub>
                              <m:sSubPr>
                                <m:ctrlP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8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8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endParaRPr lang="en-IN" sz="8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8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Life Example:</a:t>
                </a:r>
                <a:endParaRPr lang="en-IN" sz="8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8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two houses on a map.</a:t>
                </a:r>
              </a:p>
              <a:p>
                <a:pPr marL="0" indent="0">
                  <a:buNone/>
                </a:pPr>
                <a:r>
                  <a:rPr lang="en-IN" sz="8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in:</a:t>
                </a:r>
              </a:p>
              <a:p>
                <a:pPr lvl="0"/>
                <a:r>
                  <a:rPr lang="en-IN" sz="8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K-Means</a:t>
                </a:r>
              </a:p>
              <a:p>
                <a:pPr lvl="0"/>
                <a:r>
                  <a:rPr lang="en-IN" sz="8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KNN</a:t>
                </a:r>
              </a:p>
              <a:p>
                <a:pPr lvl="0"/>
                <a:r>
                  <a:rPr lang="en-IN" sz="8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similarity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90ABB0-0964-825D-DBFE-886B43424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5567" y="2399645"/>
                <a:ext cx="6331670" cy="3476223"/>
              </a:xfrm>
              <a:blipFill>
                <a:blip r:embed="rId2"/>
                <a:stretch>
                  <a:fillRect l="-1444" t="-4035" b="-1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ABD772B-79CE-8836-C9B1-B795425191E3}"/>
              </a:ext>
            </a:extLst>
          </p:cNvPr>
          <p:cNvSpPr txBox="1"/>
          <p:nvPr/>
        </p:nvSpPr>
        <p:spPr>
          <a:xfrm>
            <a:off x="7022969" y="2690336"/>
            <a:ext cx="43080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outliers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problem (marks in 100 vs income in lakhs)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0134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330E-9A2B-1178-8AC9-4F0CFB8D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Manhattan distance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C741D-CDBE-4239-748F-CAD735270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straight line, it moves along grid lines.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IN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IN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2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en-I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Life Example: In a city like Mumbai, you cannot go diagonally.</a:t>
                </a:r>
                <a:b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follow roads (left-right, up-down).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when: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Grid-based systems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Urban planning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Sparse data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C741D-CDBE-4239-748F-CAD735270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3" t="-2569" b="-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3863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0942-4DDA-8C30-21BC-5503C19B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Minkowski Distance (General Form)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686166-8EDF-9D2A-4BC1-41E2B73A1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generalized distance: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r>
                              <a:rPr lang="en-I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If:</a:t>
                </a:r>
              </a:p>
              <a:p>
                <a:pPr marL="457200" lvl="1" indent="0">
                  <a:buNone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1 → Manhattan</a:t>
                </a:r>
              </a:p>
              <a:p>
                <a:pPr marL="457200" lvl="1" indent="0">
                  <a:buNone/>
                </a:pPr>
                <a:r>
                  <a:rPr lang="en-I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2 → Euclidean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Euclidean and Manhattan are special cases of Minkowski.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686166-8EDF-9D2A-4BC1-41E2B73A1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330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1451</TotalTime>
  <Words>5916</Words>
  <Application>Microsoft Office PowerPoint</Application>
  <PresentationFormat>Widescreen</PresentationFormat>
  <Paragraphs>911</Paragraphs>
  <Slides>59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Cambria Math</vt:lpstr>
      <vt:lpstr>Garamond</vt:lpstr>
      <vt:lpstr>Times New Roman</vt:lpstr>
      <vt:lpstr>Wingdings</vt:lpstr>
      <vt:lpstr>Organic</vt:lpstr>
      <vt:lpstr>Statistical learning</vt:lpstr>
      <vt:lpstr>Content</vt:lpstr>
      <vt:lpstr>Introduction </vt:lpstr>
      <vt:lpstr>How we learn rules</vt:lpstr>
      <vt:lpstr>Descriptive vs. Inferential Statistics</vt:lpstr>
      <vt:lpstr>Finding signals in the Mess</vt:lpstr>
      <vt:lpstr>Explaining noise in terms of data</vt:lpstr>
      <vt:lpstr>Hard vs. Soft Modelling</vt:lpstr>
      <vt:lpstr>Dealing with messy data</vt:lpstr>
      <vt:lpstr>PowerPoint Presentation</vt:lpstr>
      <vt:lpstr>Sample Space &amp; Sample Points</vt:lpstr>
      <vt:lpstr>Random Variables</vt:lpstr>
      <vt:lpstr>PowerPoint Presentation</vt:lpstr>
      <vt:lpstr>What is PDF</vt:lpstr>
      <vt:lpstr>How do we calculate Probability</vt:lpstr>
      <vt:lpstr>Rules of PDF</vt:lpstr>
      <vt:lpstr>PowerPoint Presentation</vt:lpstr>
      <vt:lpstr>PowerPoint Presentation</vt:lpstr>
      <vt:lpstr>Descriptive Measures of Probability Distributions </vt:lpstr>
      <vt:lpstr>PowerPoint Presentation</vt:lpstr>
      <vt:lpstr>PowerPoint Presentation</vt:lpstr>
      <vt:lpstr>Numerical</vt:lpstr>
      <vt:lpstr>PowerPoint Presentation</vt:lpstr>
      <vt:lpstr>Important properties</vt:lpstr>
      <vt:lpstr>PowerPoint Presentation</vt:lpstr>
      <vt:lpstr>PowerPoint Presentation</vt:lpstr>
      <vt:lpstr>Numerical</vt:lpstr>
      <vt:lpstr>Numerical</vt:lpstr>
      <vt:lpstr>Variance</vt:lpstr>
      <vt:lpstr>Variance (Discrete Case)</vt:lpstr>
      <vt:lpstr>Derivation of Variance Formula</vt:lpstr>
      <vt:lpstr>Covariance</vt:lpstr>
      <vt:lpstr>Positive covariance </vt:lpstr>
      <vt:lpstr>Negative covariance</vt:lpstr>
      <vt:lpstr>PowerPoint Presentation</vt:lpstr>
      <vt:lpstr>PowerPoint Presentation</vt:lpstr>
      <vt:lpstr>Strong positive correlation</vt:lpstr>
      <vt:lpstr>PowerPoint Presentation</vt:lpstr>
      <vt:lpstr>PowerPoint Presentation</vt:lpstr>
      <vt:lpstr>PowerPoint Presentation</vt:lpstr>
      <vt:lpstr>Numerical </vt:lpstr>
      <vt:lpstr>PowerPoint Presentation</vt:lpstr>
      <vt:lpstr>Descriptive Measures from Data Sample</vt:lpstr>
      <vt:lpstr>PowerPoint Presentation</vt:lpstr>
      <vt:lpstr>PowerPoint Presentation</vt:lpstr>
      <vt:lpstr>PowerPoint Presentation</vt:lpstr>
      <vt:lpstr>Normal Distribution</vt:lpstr>
      <vt:lpstr>Smooth curve</vt:lpstr>
      <vt:lpstr>Measures of shapes</vt:lpstr>
      <vt:lpstr>PowerPoint Presentation</vt:lpstr>
      <vt:lpstr>Importance of normal distribution in ML</vt:lpstr>
      <vt:lpstr>Formal Definition </vt:lpstr>
      <vt:lpstr>PowerPoint Presentation</vt:lpstr>
      <vt:lpstr>PowerPoint Presentation</vt:lpstr>
      <vt:lpstr>PowerPoint Presentation</vt:lpstr>
      <vt:lpstr>Data Similarity </vt:lpstr>
      <vt:lpstr>Euclidean distance</vt:lpstr>
      <vt:lpstr>Manhattan distance</vt:lpstr>
      <vt:lpstr>Minkowski Distance (General Form)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Shrikrishna Narvekar</cp:lastModifiedBy>
  <cp:revision>20</cp:revision>
  <dcterms:created xsi:type="dcterms:W3CDTF">2026-02-21T11:28:52Z</dcterms:created>
  <dcterms:modified xsi:type="dcterms:W3CDTF">2026-03-04T10:27:22Z</dcterms:modified>
</cp:coreProperties>
</file>