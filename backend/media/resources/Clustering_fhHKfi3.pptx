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2"/>
  </p:notesMasterIdLst>
  <p:sldIdLst>
    <p:sldId id="256" r:id="rId2"/>
    <p:sldId id="257" r:id="rId3"/>
    <p:sldId id="264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758" autoAdjust="0"/>
  </p:normalViewPr>
  <p:slideViewPr>
    <p:cSldViewPr snapToGrid="0">
      <p:cViewPr varScale="1">
        <p:scale>
          <a:sx n="81" d="100"/>
          <a:sy n="81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D944D4-4D90-4719-8470-C365907A2E0A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BE1D16-777C-4467-B907-722B2DAF30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1100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Cluster 1 (Top Right)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Contains: Green apples + Red apples </a:t>
            </a:r>
          </a:p>
          <a:p>
            <a:pPr lvl="1"/>
            <a:r>
              <a:rPr lang="en-IN" dirty="0"/>
              <a:t>👉 Grouped because they are the </a:t>
            </a:r>
            <a:r>
              <a:rPr lang="en-IN" b="1" dirty="0"/>
              <a:t>same type of fruit (apples)</a:t>
            </a:r>
            <a:r>
              <a:rPr lang="en-IN" dirty="0"/>
              <a:t> </a:t>
            </a:r>
          </a:p>
          <a:p>
            <a:r>
              <a:rPr lang="en-IN" b="1" dirty="0"/>
              <a:t>Cluster 2 (Bottom Left)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Contains: Red grapes + Green grapes </a:t>
            </a:r>
          </a:p>
          <a:p>
            <a:pPr lvl="1"/>
            <a:r>
              <a:rPr lang="en-IN" dirty="0"/>
              <a:t>👉 Grouped based on </a:t>
            </a:r>
            <a:r>
              <a:rPr lang="en-IN" b="1" dirty="0"/>
              <a:t>same fruit type (grapes)</a:t>
            </a:r>
            <a:r>
              <a:rPr lang="en-IN" dirty="0"/>
              <a:t> despite </a:t>
            </a:r>
            <a:r>
              <a:rPr lang="en-IN" dirty="0" err="1"/>
              <a:t>color</a:t>
            </a:r>
            <a:r>
              <a:rPr lang="en-IN" dirty="0"/>
              <a:t> difference </a:t>
            </a:r>
          </a:p>
          <a:p>
            <a:r>
              <a:rPr lang="en-IN" b="1" dirty="0"/>
              <a:t>Cluster 3 (Bottom </a:t>
            </a:r>
            <a:r>
              <a:rPr lang="en-IN" b="1" dirty="0" err="1"/>
              <a:t>Center</a:t>
            </a:r>
            <a:r>
              <a:rPr lang="en-IN" b="1" dirty="0"/>
              <a:t>)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Contains: Strawberries + Lemons </a:t>
            </a:r>
          </a:p>
          <a:p>
            <a:pPr lvl="1"/>
            <a:r>
              <a:rPr lang="en-IN" dirty="0"/>
              <a:t>👉 Likely grouped due to </a:t>
            </a:r>
            <a:r>
              <a:rPr lang="en-IN" b="1" dirty="0"/>
              <a:t>small size and similar texture/category (soft/small fruits)</a:t>
            </a:r>
            <a:r>
              <a:rPr lang="en-IN" dirty="0"/>
              <a:t> </a:t>
            </a:r>
          </a:p>
          <a:p>
            <a:r>
              <a:rPr lang="en-IN" b="1" dirty="0"/>
              <a:t>Cluster 4 (Bottom Right - Large Cluster)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Contains: Banana, Mango, Custard apple, Peach, etc. </a:t>
            </a:r>
          </a:p>
          <a:p>
            <a:pPr lvl="1"/>
            <a:r>
              <a:rPr lang="en-IN" dirty="0"/>
              <a:t>👉 Grouped as </a:t>
            </a:r>
            <a:r>
              <a:rPr lang="en-IN" b="1" dirty="0"/>
              <a:t>larger tropical fruits / similar shape or usage</a:t>
            </a:r>
            <a:r>
              <a:rPr lang="en-IN" dirty="0"/>
              <a:t> 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E1D16-777C-4467-B907-722B2DAF30A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17407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“What is the average performance?”</a:t>
                </a:r>
              </a:p>
              <a:p>
                <a:r>
                  <a:rPr lang="en-IN" b="1" dirty="0"/>
                  <a:t>Mean Marks: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b="0"/>
                        <m:t>Mean</m:t>
                      </m:r>
                      <m:r>
                        <a:rPr lang="en-IN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ar-AE" sz="1200" b="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50</m:t>
                          </m:r>
                          <m:r>
                            <a:rPr lang="ar-AE" sz="1200" b="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a:rPr lang="ar-AE" sz="1200" b="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55</m:t>
                          </m:r>
                          <m:r>
                            <a:rPr lang="ar-AE" sz="1200" b="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a:rPr lang="ar-AE" sz="1200" b="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65</m:t>
                          </m:r>
                          <m:r>
                            <a:rPr lang="ar-AE" sz="1200" b="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a:rPr lang="ar-AE" sz="1200" b="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80</m:t>
                          </m:r>
                          <m:r>
                            <a:rPr lang="ar-AE" sz="1200" b="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a:rPr lang="ar-AE" sz="1200" b="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85</m:t>
                          </m:r>
                          <m:r>
                            <a:rPr lang="ar-AE" sz="1200" b="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a:rPr lang="ar-AE" sz="1200" b="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40</m:t>
                          </m:r>
                          <m:r>
                            <a:rPr lang="ar-AE" sz="1200" b="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a:rPr lang="ar-AE" sz="1200" b="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70</m:t>
                          </m:r>
                          <m:r>
                            <a:rPr lang="ar-AE" sz="1200" b="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a:rPr lang="ar-AE" sz="1200" b="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90</m:t>
                          </m:r>
                        </m:num>
                        <m:den>
                          <m:r>
                            <a:rPr lang="ar-AE" sz="1200" b="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8</m:t>
                          </m:r>
                        </m:den>
                      </m:f>
                      <m:r>
                        <a:rPr lang="ar-AE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ar-AE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66</m:t>
                      </m:r>
                      <m:r>
                        <a:rPr lang="ar-AE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.</m:t>
                      </m:r>
                      <m:r>
                        <a:rPr lang="ar-AE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875</m:t>
                      </m:r>
                    </m:oMath>
                  </m:oMathPara>
                </a14:m>
                <a:endParaRPr lang="ar-AE" b="0" dirty="0"/>
              </a:p>
              <a:p>
                <a:r>
                  <a:rPr lang="en-IN" dirty="0"/>
                  <a:t>👉 </a:t>
                </a:r>
                <a:r>
                  <a:rPr lang="en-IN" b="1" dirty="0"/>
                  <a:t>Result:</a:t>
                </a:r>
                <a:r>
                  <a:rPr lang="en-IN" dirty="0"/>
                  <a:t> Average marks ≈ </a:t>
                </a:r>
                <a:r>
                  <a:rPr lang="en-IN" b="1" dirty="0"/>
                  <a:t>67</a:t>
                </a:r>
                <a:endParaRPr lang="en-IN" dirty="0"/>
              </a:p>
              <a:p>
                <a:r>
                  <a:rPr lang="en-US" b="1" dirty="0"/>
                  <a:t>Insight:</a:t>
                </a:r>
              </a:p>
              <a:p>
                <a:r>
                  <a:rPr lang="en-US" dirty="0"/>
                  <a:t>Most students score around </a:t>
                </a:r>
                <a:r>
                  <a:rPr lang="en-US" b="1" dirty="0"/>
                  <a:t>65–70</a:t>
                </a:r>
                <a:r>
                  <a:rPr lang="en-US" dirty="0"/>
                  <a:t> </a:t>
                </a:r>
              </a:p>
              <a:p>
                <a:r>
                  <a:rPr lang="en-US" dirty="0"/>
                  <a:t>Data is fairly balanced </a:t>
                </a:r>
              </a:p>
              <a:p>
                <a:endParaRPr lang="en-IN" dirty="0"/>
              </a:p>
              <a:p>
                <a:r>
                  <a:rPr lang="en-US" b="1" dirty="0"/>
                  <a:t>Range: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/>
                        <m:t>Range</m:t>
                      </m:r>
                      <m:r>
                        <a:rPr lang="en-US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en-US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90</m:t>
                      </m:r>
                      <m:r>
                        <a:rPr lang="en-US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r>
                        <a:rPr lang="en-US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40</m:t>
                      </m:r>
                      <m:r>
                        <a:rPr lang="en-US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en-US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50</m:t>
                      </m:r>
                    </m:oMath>
                  </m:oMathPara>
                </a14:m>
                <a:endParaRPr lang="en-US" b="0" dirty="0"/>
              </a:p>
              <a:p>
                <a:r>
                  <a:rPr lang="en-US" dirty="0"/>
                  <a:t>👉 </a:t>
                </a:r>
                <a:r>
                  <a:rPr lang="en-US" b="1" dirty="0"/>
                  <a:t>Result:</a:t>
                </a:r>
                <a:r>
                  <a:rPr lang="en-US" dirty="0"/>
                  <a:t> Marks vary widely (40 to 90)</a:t>
                </a:r>
              </a:p>
              <a:p>
                <a:r>
                  <a:rPr lang="en-US" b="1" dirty="0"/>
                  <a:t>Insight:</a:t>
                </a:r>
              </a:p>
              <a:p>
                <a:r>
                  <a:rPr lang="en-US" dirty="0"/>
                  <a:t>Some students perform very low, some very high </a:t>
                </a:r>
              </a:p>
              <a:p>
                <a:r>
                  <a:rPr lang="en-US" dirty="0"/>
                  <a:t>Possible variation in effort or ability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“What is the average performance?”</a:t>
                </a:r>
              </a:p>
              <a:p>
                <a:r>
                  <a:rPr lang="en-IN" b="1" dirty="0"/>
                  <a:t>Mean Marks:</a:t>
                </a:r>
              </a:p>
              <a:p>
                <a:r>
                  <a:rPr lang="en-IN" b="0" i="0">
                    <a:latin typeface="Cambria Math" panose="02040503050406030204" pitchFamily="18" charset="0"/>
                  </a:rPr>
                  <a:t>"Mean</a:t>
                </a:r>
                <a:r>
                  <a:rPr lang="en-I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"=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(50+55+65+80+85+40+70+90)/8=66.875</a:t>
                </a:r>
                <a:endParaRPr lang="ar-AE" b="0" dirty="0"/>
              </a:p>
              <a:p>
                <a:r>
                  <a:rPr lang="en-IN" dirty="0"/>
                  <a:t>👉 </a:t>
                </a:r>
                <a:r>
                  <a:rPr lang="en-IN" b="1" dirty="0"/>
                  <a:t>Result:</a:t>
                </a:r>
                <a:r>
                  <a:rPr lang="en-IN" dirty="0"/>
                  <a:t> Average marks ≈ </a:t>
                </a:r>
                <a:r>
                  <a:rPr lang="en-IN" b="1" dirty="0"/>
                  <a:t>67</a:t>
                </a:r>
                <a:endParaRPr lang="en-IN" dirty="0"/>
              </a:p>
              <a:p>
                <a:r>
                  <a:rPr lang="en-US" b="1" dirty="0"/>
                  <a:t>Insight:</a:t>
                </a:r>
              </a:p>
              <a:p>
                <a:r>
                  <a:rPr lang="en-US" dirty="0"/>
                  <a:t>Most students score around </a:t>
                </a:r>
                <a:r>
                  <a:rPr lang="en-US" b="1" dirty="0"/>
                  <a:t>65–70</a:t>
                </a:r>
                <a:r>
                  <a:rPr lang="en-US" dirty="0"/>
                  <a:t> </a:t>
                </a:r>
              </a:p>
              <a:p>
                <a:r>
                  <a:rPr lang="en-US" dirty="0"/>
                  <a:t>Data is fairly balanced </a:t>
                </a:r>
              </a:p>
              <a:p>
                <a:endParaRPr lang="en-IN" dirty="0"/>
              </a:p>
              <a:p>
                <a:r>
                  <a:rPr lang="en-US" b="1" dirty="0"/>
                  <a:t>Range:</a:t>
                </a:r>
              </a:p>
              <a:p>
                <a:r>
                  <a:rPr lang="en-US" b="0" i="0">
                    <a:latin typeface="Cambria Math" panose="02040503050406030204" pitchFamily="18" charset="0"/>
                  </a:rPr>
                  <a:t>"Range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"=90−40=50</a:t>
                </a:r>
                <a:endParaRPr lang="en-US" b="0" dirty="0"/>
              </a:p>
              <a:p>
                <a:r>
                  <a:rPr lang="en-US" dirty="0"/>
                  <a:t>👉 </a:t>
                </a:r>
                <a:r>
                  <a:rPr lang="en-US" b="1" dirty="0"/>
                  <a:t>Result:</a:t>
                </a:r>
                <a:r>
                  <a:rPr lang="en-US" dirty="0"/>
                  <a:t> Marks vary widely (40 to 90)</a:t>
                </a:r>
              </a:p>
              <a:p>
                <a:r>
                  <a:rPr lang="en-US" b="1" dirty="0"/>
                  <a:t>Insight:</a:t>
                </a:r>
              </a:p>
              <a:p>
                <a:r>
                  <a:rPr lang="en-US" dirty="0"/>
                  <a:t>Some students perform very low, some very high </a:t>
                </a:r>
              </a:p>
              <a:p>
                <a:r>
                  <a:rPr lang="en-US" dirty="0"/>
                  <a:t>Possible variation in effort or ability</a:t>
                </a:r>
              </a:p>
              <a:p>
                <a:endParaRPr lang="en-IN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E1D16-777C-4467-B907-722B2DAF30AF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03384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Resulting Clusters</a:t>
            </a:r>
          </a:p>
          <a:p>
            <a:r>
              <a:rPr lang="en-US" dirty="0"/>
              <a:t>Cluster 1:</a:t>
            </a:r>
          </a:p>
          <a:p>
            <a:r>
              <a:rPr lang="en-US" dirty="0"/>
              <a:t>A, B → Low income, high spending </a:t>
            </a:r>
          </a:p>
          <a:p>
            <a:r>
              <a:rPr lang="en-US" dirty="0"/>
              <a:t>Cluster 2:</a:t>
            </a:r>
          </a:p>
          <a:p>
            <a:r>
              <a:rPr lang="en-US" dirty="0"/>
              <a:t>C, D → High income, low spending 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E1D16-777C-4467-B907-722B2DAF30AF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93195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Strict separation</a:t>
            </a:r>
            <a:br>
              <a:rPr lang="en-US" dirty="0"/>
            </a:br>
            <a:r>
              <a:rPr lang="en-US" dirty="0"/>
              <a:t>👉 Used in algorithms like:</a:t>
            </a:r>
          </a:p>
          <a:p>
            <a:r>
              <a:rPr lang="en-US" dirty="0"/>
              <a:t>K-Means 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E1D16-777C-4467-B907-722B2DAF30AF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30176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Soft boundaries</a:t>
            </a:r>
            <a:br>
              <a:rPr lang="en-US" dirty="0"/>
            </a:br>
            <a:r>
              <a:rPr lang="en-US" dirty="0"/>
              <a:t>👉 Used in:</a:t>
            </a:r>
          </a:p>
          <a:p>
            <a:r>
              <a:rPr lang="en-US" dirty="0"/>
              <a:t>Fuzzy C-Means 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E1D16-777C-4467-B907-722B2DAF30AF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0858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Uncertainty handled mathematically</a:t>
            </a:r>
            <a:br>
              <a:rPr lang="en-US" dirty="0"/>
            </a:br>
            <a:r>
              <a:rPr lang="en-US" dirty="0"/>
              <a:t>👉 Used in:</a:t>
            </a:r>
          </a:p>
          <a:p>
            <a:r>
              <a:rPr lang="en-US" dirty="0"/>
              <a:t>Gaussian Mixture Models (GMM)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E1D16-777C-4467-B907-722B2DAF30AF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3354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Multi-level clustering</a:t>
            </a:r>
            <a:br>
              <a:rPr lang="en-US" dirty="0"/>
            </a:br>
            <a:r>
              <a:rPr lang="en-US" dirty="0"/>
              <a:t>👉 Two approaches:</a:t>
            </a:r>
          </a:p>
          <a:p>
            <a:r>
              <a:rPr lang="en-US" dirty="0"/>
              <a:t>Agglomerative (bottom-up) </a:t>
            </a:r>
          </a:p>
          <a:p>
            <a:r>
              <a:rPr lang="en-US" dirty="0"/>
              <a:t>Divisive (top-down) 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E1D16-777C-4467-B907-722B2DAF30AF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24176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calculates:</a:t>
            </a:r>
            <a:br>
              <a:rPr lang="en-US" dirty="0"/>
            </a:br>
            <a:r>
              <a:rPr lang="en-US" dirty="0"/>
              <a:t>➡ Distance of each point from its cluster center</a:t>
            </a:r>
          </a:p>
          <a:p>
            <a:r>
              <a:rPr lang="en-IN" b="1" dirty="0"/>
              <a:t>Example</a:t>
            </a:r>
          </a:p>
          <a:p>
            <a:r>
              <a:rPr lang="en-IN" dirty="0"/>
              <a:t>Cluster </a:t>
            </a:r>
            <a:r>
              <a:rPr lang="en-IN" dirty="0" err="1"/>
              <a:t>center</a:t>
            </a:r>
            <a:r>
              <a:rPr lang="en-IN" dirty="0"/>
              <a:t> = (3,3)</a:t>
            </a:r>
          </a:p>
          <a:p>
            <a:r>
              <a:rPr lang="en-IN" dirty="0"/>
              <a:t>Points:</a:t>
            </a:r>
            <a:br>
              <a:rPr lang="en-IN" dirty="0"/>
            </a:br>
            <a:r>
              <a:rPr lang="en-IN" dirty="0"/>
              <a:t>(2,3), (3,4)</a:t>
            </a:r>
          </a:p>
          <a:p>
            <a:r>
              <a:rPr lang="en-IN" dirty="0"/>
              <a:t>Distances:</a:t>
            </a:r>
          </a:p>
          <a:p>
            <a:r>
              <a:rPr lang="en-IN" dirty="0"/>
              <a:t>(2,3) → distance = 1 → square = 1 </a:t>
            </a:r>
          </a:p>
          <a:p>
            <a:r>
              <a:rPr lang="en-IN" dirty="0"/>
              <a:t>(3,4) → distance = 1 → square = 1 </a:t>
            </a:r>
          </a:p>
          <a:p>
            <a:r>
              <a:rPr lang="en-IN" dirty="0"/>
              <a:t>👉 SSE = 1 + 1 = </a:t>
            </a:r>
            <a:r>
              <a:rPr lang="en-IN" b="1" dirty="0"/>
              <a:t>2</a:t>
            </a:r>
            <a:endParaRPr lang="en-IN" dirty="0"/>
          </a:p>
          <a:p>
            <a:br>
              <a:rPr lang="en-US" dirty="0"/>
            </a:br>
            <a:r>
              <a:rPr lang="en-US" dirty="0"/>
              <a:t>➡ Then squares and sums them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E1D16-777C-4467-B907-722B2DAF30AF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3154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2519E2E0-85C0-4EDD-9B4C-B7386C42E3A7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518B9CD1-5466-417E-806E-82145C43925F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205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9E2E0-85C0-4EDD-9B4C-B7386C42E3A7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B9CD1-5466-417E-806E-82145C4392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9018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9E2E0-85C0-4EDD-9B4C-B7386C42E3A7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B9CD1-5466-417E-806E-82145C43925F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937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9E2E0-85C0-4EDD-9B4C-B7386C42E3A7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B9CD1-5466-417E-806E-82145C4392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1810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9E2E0-85C0-4EDD-9B4C-B7386C42E3A7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B9CD1-5466-417E-806E-82145C43925F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4056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9E2E0-85C0-4EDD-9B4C-B7386C42E3A7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B9CD1-5466-417E-806E-82145C43925F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4546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9E2E0-85C0-4EDD-9B4C-B7386C42E3A7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B9CD1-5466-417E-806E-82145C4392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8952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9E2E0-85C0-4EDD-9B4C-B7386C42E3A7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B9CD1-5466-417E-806E-82145C43925F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6453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9E2E0-85C0-4EDD-9B4C-B7386C42E3A7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B9CD1-5466-417E-806E-82145C4392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525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9E2E0-85C0-4EDD-9B4C-B7386C42E3A7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B9CD1-5466-417E-806E-82145C4392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9234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9E2E0-85C0-4EDD-9B4C-B7386C42E3A7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B9CD1-5466-417E-806E-82145C43925F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622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9E2E0-85C0-4EDD-9B4C-B7386C42E3A7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B9CD1-5466-417E-806E-82145C43925F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34021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9E2E0-85C0-4EDD-9B4C-B7386C42E3A7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B9CD1-5466-417E-806E-82145C4392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13882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9E2E0-85C0-4EDD-9B4C-B7386C42E3A7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B9CD1-5466-417E-806E-82145C43925F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0093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9E2E0-85C0-4EDD-9B4C-B7386C42E3A7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B9CD1-5466-417E-806E-82145C43925F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52598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9E2E0-85C0-4EDD-9B4C-B7386C42E3A7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B9CD1-5466-417E-806E-82145C43925F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36146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9E2E0-85C0-4EDD-9B4C-B7386C42E3A7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B9CD1-5466-417E-806E-82145C43925F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2136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519E2E0-85C0-4EDD-9B4C-B7386C42E3A7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18B9CD1-5466-417E-806E-82145C4392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4962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826E8-001E-F6DB-7D70-0590CD225F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7DDC54-23EA-513B-ED2D-01702A84C7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9284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E86B-CF38-666E-54EF-3188D6B72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1196" cy="1303867"/>
          </a:xfrm>
        </p:spPr>
        <p:txBody>
          <a:bodyPr/>
          <a:lstStyle/>
          <a:p>
            <a:r>
              <a:rPr lang="en-US" b="1" dirty="0"/>
              <a:t>What is clustering?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A7E56-402C-A788-8FB6-0BA78ED9F3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 analysis groups data objects based only on information found in the data that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describes the objects and their relationships.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that the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objects within a group be similar (or related)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one another and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 from (or unrelated to) the objects in other groups.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greater the similarity (or homogeneity) within a group and the greater the difference between groups, the better or more distinct the clustering. 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064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820D4-5E61-AF49-850E-B02FE94D4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225" y="765111"/>
            <a:ext cx="10683550" cy="5458408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Because a cluster is a collection of data objects that are similar to one another within the cluster and dissimilar to objects in other clusters, a cluster of data objects can be treated as an implicit class.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this sense, clustering is sometimes called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automatic classification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This is a distinct advantage of cluster analysis.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Clustering is also called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segmentation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some applications because clustering partitions large data sets into groups according to their similarity.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Clustering can also be used for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outlier detection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where outliers are values that are “far away” from any cluster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9065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2C48EBE-756A-9393-7580-73276B17A6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402" y="537716"/>
            <a:ext cx="10502349" cy="5782568"/>
          </a:xfrm>
        </p:spPr>
      </p:pic>
    </p:spTree>
    <p:extLst>
      <p:ext uri="{BB962C8B-B14F-4D97-AF65-F5344CB8AC3E}">
        <p14:creationId xmlns:p14="http://schemas.microsoft.com/office/powerpoint/2010/main" val="1317836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A0C30CA-59BD-2EA4-9629-AE49BA9E88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887" y="298579"/>
            <a:ext cx="11499319" cy="6260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342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A1D6E-06BF-7B7B-01B8-A35111E56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characteristics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CE6BC-F93E-BCC3-FD93-D7E2907E2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2556931"/>
            <a:ext cx="10013300" cy="3554619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predefined labels (unlike classification/regression)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Based on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similarity or distance measures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type of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learning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Helps in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discovering hidden patterns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data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Similarity is Measured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features/attributes of data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Commonly uses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measures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(e.g., Euclidean distance) </a:t>
            </a:r>
          </a:p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9081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68EC1-E148-33FC-FAAB-4944818F5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clustering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E6DB3-BFEF-9C74-FCE4-98DB0BFE6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556932"/>
            <a:ext cx="10013301" cy="375056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Data exploration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Helps analyze and understand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complex datasets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Image compression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Groups similar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colors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reduces storage space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Document Clustering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Groups documents into categories like: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Politics 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Sports 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Entertainment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1580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67D67-1C99-5C07-4EE9-0281E1888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415" y="709126"/>
            <a:ext cx="10590245" cy="557037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Bioinformatics</a:t>
            </a:r>
          </a:p>
          <a:p>
            <a:r>
              <a:rPr lang="en-IN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Identifies </a:t>
            </a:r>
            <a:r>
              <a:rPr lang="en-IN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patterns in protein sequences</a:t>
            </a:r>
            <a:r>
              <a:rPr lang="en-IN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IN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Customer Segmentation</a:t>
            </a:r>
          </a:p>
          <a:p>
            <a:r>
              <a:rPr lang="en-IN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Groups customers based on: </a:t>
            </a:r>
          </a:p>
          <a:p>
            <a:pPr lvl="1"/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Demographics </a:t>
            </a:r>
          </a:p>
          <a:p>
            <a:pPr lvl="1"/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Purchase </a:t>
            </a:r>
            <a:r>
              <a:rPr lang="en-IN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IN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Customer Relationship Management (CRM)</a:t>
            </a:r>
          </a:p>
          <a:p>
            <a:r>
              <a:rPr lang="en-IN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Helps businesses design </a:t>
            </a:r>
            <a:r>
              <a:rPr lang="en-IN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targeted strategies for each segment</a:t>
            </a:r>
            <a:r>
              <a:rPr lang="en-IN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IN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Outlier Detection (Anomaly Detection)</a:t>
            </a:r>
          </a:p>
          <a:p>
            <a:r>
              <a:rPr lang="en-IN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Identifies unusual data points: </a:t>
            </a:r>
          </a:p>
          <a:p>
            <a:pPr lvl="1"/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Fraud detection (credit cards) </a:t>
            </a:r>
          </a:p>
          <a:p>
            <a:pPr lvl="1"/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Medical anomalies (</a:t>
            </a:r>
            <a:r>
              <a:rPr lang="en-IN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tumors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lvl="1"/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errors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3094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F06C0-BD4E-6011-CFED-E6ECB3460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the data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C13E6-476F-2D49-7510-C82E91402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1"/>
            <a:ext cx="5077407" cy="3395999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Engineering means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preparing raw data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 that machine learning algorithms can work properly.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Real-world data is: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Incomplete (missing values)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Noisy (errors, incorrect entries)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Inconsistent (different formats)</a:t>
            </a:r>
          </a:p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35CB17-FFB1-9109-AB6F-BD912E8AC482}"/>
              </a:ext>
            </a:extLst>
          </p:cNvPr>
          <p:cNvSpPr txBox="1"/>
          <p:nvPr/>
        </p:nvSpPr>
        <p:spPr>
          <a:xfrm>
            <a:off x="6372808" y="2649893"/>
            <a:ext cx="478660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we directly apply ML algorithms to the raw data then we will get: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Wrong predictions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model performance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1466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4CC01-D160-ECCD-3D9F-ED22303C8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854" y="797387"/>
            <a:ext cx="4226766" cy="1463040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Raw Dataset 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2FDB8D3-1DEC-001F-F196-9BF5702FC0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644142"/>
              </p:ext>
            </p:extLst>
          </p:nvPr>
        </p:nvGraphicFramePr>
        <p:xfrm>
          <a:off x="819540" y="2612572"/>
          <a:ext cx="3687147" cy="1828800"/>
        </p:xfrm>
        <a:graphic>
          <a:graphicData uri="http://schemas.openxmlformats.org/drawingml/2006/table">
            <a:tbl>
              <a:tblPr/>
              <a:tblGrid>
                <a:gridCol w="1494453">
                  <a:extLst>
                    <a:ext uri="{9D8B030D-6E8A-4147-A177-3AD203B41FA5}">
                      <a16:colId xmlns:a16="http://schemas.microsoft.com/office/drawing/2014/main" val="4141034585"/>
                    </a:ext>
                  </a:extLst>
                </a:gridCol>
                <a:gridCol w="963645">
                  <a:extLst>
                    <a:ext uri="{9D8B030D-6E8A-4147-A177-3AD203B41FA5}">
                      <a16:colId xmlns:a16="http://schemas.microsoft.com/office/drawing/2014/main" val="483285657"/>
                    </a:ext>
                  </a:extLst>
                </a:gridCol>
                <a:gridCol w="1229049">
                  <a:extLst>
                    <a:ext uri="{9D8B030D-6E8A-4147-A177-3AD203B41FA5}">
                      <a16:colId xmlns:a16="http://schemas.microsoft.com/office/drawing/2014/main" val="20787324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Income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49874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15816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52352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6874824"/>
                  </a:ext>
                </a:extLst>
              </a:tr>
            </a:tbl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2E6FA97A-52A1-F785-A7A1-37542D58E7AF}"/>
              </a:ext>
            </a:extLst>
          </p:cNvPr>
          <p:cNvSpPr txBox="1">
            <a:spLocks/>
          </p:cNvSpPr>
          <p:nvPr/>
        </p:nvSpPr>
        <p:spPr>
          <a:xfrm>
            <a:off x="6739814" y="996959"/>
            <a:ext cx="4226766" cy="119936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Engineering data  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2ABD86-E6A6-14FB-75A0-1E53897EE234}"/>
              </a:ext>
            </a:extLst>
          </p:cNvPr>
          <p:cNvSpPr txBox="1"/>
          <p:nvPr/>
        </p:nvSpPr>
        <p:spPr>
          <a:xfrm>
            <a:off x="1015483" y="4793517"/>
            <a:ext cx="40137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 (Age = ?)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Incorrect value (Age = 200)</a:t>
            </a:r>
          </a:p>
          <a:p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A383638-5374-D3CF-C603-268D33ECE4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4358699"/>
              </p:ext>
            </p:extLst>
          </p:nvPr>
        </p:nvGraphicFramePr>
        <p:xfrm>
          <a:off x="6634066" y="2506203"/>
          <a:ext cx="4226766" cy="1828800"/>
        </p:xfrm>
        <a:graphic>
          <a:graphicData uri="http://schemas.openxmlformats.org/drawingml/2006/table">
            <a:tbl>
              <a:tblPr/>
              <a:tblGrid>
                <a:gridCol w="1483567">
                  <a:extLst>
                    <a:ext uri="{9D8B030D-6E8A-4147-A177-3AD203B41FA5}">
                      <a16:colId xmlns:a16="http://schemas.microsoft.com/office/drawing/2014/main" val="2374459118"/>
                    </a:ext>
                  </a:extLst>
                </a:gridCol>
                <a:gridCol w="1334277">
                  <a:extLst>
                    <a:ext uri="{9D8B030D-6E8A-4147-A177-3AD203B41FA5}">
                      <a16:colId xmlns:a16="http://schemas.microsoft.com/office/drawing/2014/main" val="2590343973"/>
                    </a:ext>
                  </a:extLst>
                </a:gridCol>
                <a:gridCol w="1408922">
                  <a:extLst>
                    <a:ext uri="{9D8B030D-6E8A-4147-A177-3AD203B41FA5}">
                      <a16:colId xmlns:a16="http://schemas.microsoft.com/office/drawing/2014/main" val="20666699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Income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05157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2919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88302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65347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4B092DC-7EBF-B196-6064-C8A7BB562482}"/>
              </a:ext>
            </a:extLst>
          </p:cNvPr>
          <p:cNvSpPr txBox="1"/>
          <p:nvPr/>
        </p:nvSpPr>
        <p:spPr>
          <a:xfrm>
            <a:off x="6531429" y="4861248"/>
            <a:ext cx="457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Clean and usable data</a:t>
            </a:r>
          </a:p>
        </p:txBody>
      </p:sp>
    </p:spTree>
    <p:extLst>
      <p:ext uri="{BB962C8B-B14F-4D97-AF65-F5344CB8AC3E}">
        <p14:creationId xmlns:p14="http://schemas.microsoft.com/office/powerpoint/2010/main" val="9257950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068FC-7AAA-D9AD-B803-D5AF13AF6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learning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08B14-BA49-A782-A5F1-F51308D7D1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class (Yes/No)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Numeric value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grouping similar data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Association: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relationship between variables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data preparation is important?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world data comes from multiple sources &amp; poor quality data leads to wrong prediction so we need data preparation</a:t>
            </a:r>
          </a:p>
        </p:txBody>
      </p:sp>
    </p:spTree>
    <p:extLst>
      <p:ext uri="{BB962C8B-B14F-4D97-AF65-F5344CB8AC3E}">
        <p14:creationId xmlns:p14="http://schemas.microsoft.com/office/powerpoint/2010/main" val="14113693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AE532-5613-EB1D-3E9C-0A3473DBA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56AFC-194A-7075-DA1E-936E0F0401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Exploring data is an opportunity to learn about what is in the data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is simply: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“Looking at your data before applying any machine learning model.”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you answer questions like: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does the data look like?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there errors or missing values?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features are important?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there patterns or relationships?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98149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FA6DB-D7E1-3C67-6D25-AFF61BBC0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823512"/>
            <a:ext cx="9601196" cy="1303867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dataset : Dataset of students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9C8CC06-A9F6-E87C-8D7B-918B177E9E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6329803"/>
              </p:ext>
            </p:extLst>
          </p:nvPr>
        </p:nvGraphicFramePr>
        <p:xfrm>
          <a:off x="5848740" y="2570479"/>
          <a:ext cx="5842517" cy="3566160"/>
        </p:xfrm>
        <a:graphic>
          <a:graphicData uri="http://schemas.openxmlformats.org/drawingml/2006/table">
            <a:tbl>
              <a:tblPr/>
              <a:tblGrid>
                <a:gridCol w="962509">
                  <a:extLst>
                    <a:ext uri="{9D8B030D-6E8A-4147-A177-3AD203B41FA5}">
                      <a16:colId xmlns:a16="http://schemas.microsoft.com/office/drawing/2014/main" val="1091778034"/>
                    </a:ext>
                  </a:extLst>
                </a:gridCol>
                <a:gridCol w="1758807">
                  <a:extLst>
                    <a:ext uri="{9D8B030D-6E8A-4147-A177-3AD203B41FA5}">
                      <a16:colId xmlns:a16="http://schemas.microsoft.com/office/drawing/2014/main" val="3779715260"/>
                    </a:ext>
                  </a:extLst>
                </a:gridCol>
                <a:gridCol w="1792674">
                  <a:extLst>
                    <a:ext uri="{9D8B030D-6E8A-4147-A177-3AD203B41FA5}">
                      <a16:colId xmlns:a16="http://schemas.microsoft.com/office/drawing/2014/main" val="951435442"/>
                    </a:ext>
                  </a:extLst>
                </a:gridCol>
                <a:gridCol w="1328527">
                  <a:extLst>
                    <a:ext uri="{9D8B030D-6E8A-4147-A177-3AD203B41FA5}">
                      <a16:colId xmlns:a16="http://schemas.microsoft.com/office/drawing/2014/main" val="4981843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Hours_Studied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Attendance (%)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42430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58374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54473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7454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36600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06204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77372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4390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914107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4B9CC99-F78A-DD7E-AD9D-B5585F82A393}"/>
              </a:ext>
            </a:extLst>
          </p:cNvPr>
          <p:cNvSpPr txBox="1"/>
          <p:nvPr/>
        </p:nvSpPr>
        <p:spPr>
          <a:xfrm>
            <a:off x="1017036" y="2570478"/>
            <a:ext cx="483170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By step EDA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of Central Tendency (Mean, Median)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“What is the average performance?”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Mean of marks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Dispersion (Spread of Data)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“Are values close or very spread out?”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Range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09190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5C4DE-01BF-9FA0-3E51-107F6D289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425" y="669302"/>
            <a:ext cx="4769962" cy="529786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outliers 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 if any value is too extreme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Lowest = 40 (Student F) 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Highest = 90 (Student H) 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extreme →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strong outliers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Analysis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“Do variables move together?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Hours studies increases marks also increases 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C20659-CD94-0B22-3DB4-22BFCB2429B0}"/>
              </a:ext>
            </a:extLst>
          </p:cNvPr>
          <p:cNvSpPr txBox="1"/>
          <p:nvPr/>
        </p:nvSpPr>
        <p:spPr>
          <a:xfrm>
            <a:off x="5964025" y="669302"/>
            <a:ext cx="5517822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(Understanding Patterns)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 Plot (Concept)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we plot: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X-axis → Hours Studied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Y-axis → Marks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You would see: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Points forming an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upward trend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linear relationship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Discover Patterns (Most Important Part)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EDA, we found: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with: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&gt;6 hours study → Marks &gt;70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&lt;3 hours study → Marks &lt;60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 discovered!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6387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BF3CD-AE6C-6721-CF8D-77C1CDB69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Analysis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37B8AD-3C24-5C3F-1EE3-0C8B0985AF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23269" y="2632172"/>
                <a:ext cx="5690653" cy="3155885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Grouping data such that: 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Same cluster → similar 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Different clusters → dissimilar </a:t>
                </a:r>
              </a:p>
              <a:p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dataset </a:t>
                </a:r>
              </a:p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Distance measure</a:t>
                </a: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IN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IN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</m:rad>
                  </m:oMath>
                </a14:m>
                <a:endPara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Smaller distance → more similar</a:t>
                </a:r>
              </a:p>
              <a:p>
                <a:endPara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37B8AD-3C24-5C3F-1EE3-0C8B0985AF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3269" y="2632172"/>
                <a:ext cx="5690653" cy="3155885"/>
              </a:xfrm>
              <a:blipFill>
                <a:blip r:embed="rId3"/>
                <a:stretch>
                  <a:fillRect l="-1606" t="-444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1CAA9FD-281F-4DD7-D024-10EC92B8FA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869941"/>
              </p:ext>
            </p:extLst>
          </p:nvPr>
        </p:nvGraphicFramePr>
        <p:xfrm>
          <a:off x="7051254" y="3664409"/>
          <a:ext cx="4317477" cy="1981200"/>
        </p:xfrm>
        <a:graphic>
          <a:graphicData uri="http://schemas.openxmlformats.org/drawingml/2006/table">
            <a:tbl>
              <a:tblPr/>
              <a:tblGrid>
                <a:gridCol w="1300894">
                  <a:extLst>
                    <a:ext uri="{9D8B030D-6E8A-4147-A177-3AD203B41FA5}">
                      <a16:colId xmlns:a16="http://schemas.microsoft.com/office/drawing/2014/main" val="3776017390"/>
                    </a:ext>
                  </a:extLst>
                </a:gridCol>
                <a:gridCol w="1023651">
                  <a:extLst>
                    <a:ext uri="{9D8B030D-6E8A-4147-A177-3AD203B41FA5}">
                      <a16:colId xmlns:a16="http://schemas.microsoft.com/office/drawing/2014/main" val="2816739238"/>
                    </a:ext>
                  </a:extLst>
                </a:gridCol>
                <a:gridCol w="1992932">
                  <a:extLst>
                    <a:ext uri="{9D8B030D-6E8A-4147-A177-3AD203B41FA5}">
                      <a16:colId xmlns:a16="http://schemas.microsoft.com/office/drawing/2014/main" val="22580256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Income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Spending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0089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2430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5332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33894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36609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25986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2B552-2DC0-BC20-A220-A51963D0B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Representing cluster results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052FA9-C585-28E5-FA35-D079AA04B5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95401" y="2556931"/>
                <a:ext cx="10082752" cy="3664759"/>
              </a:xfrm>
            </p:spPr>
            <p:txBody>
              <a:bodyPr>
                <a:normAutofit fontScale="85000" lnSpcReduction="20000"/>
              </a:bodyPr>
              <a:lstStyle/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Exclusive clusters(Hard Clustering)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Each data point belong to one cluster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 overlap between clusters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the image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(1)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(2)</m:t>
                        </m:r>
                      </m:sup>
                    </m:sSup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,… are divided by clear</a:t>
                </a:r>
              </a:p>
              <a:p>
                <a:pPr marL="0" indent="0">
                  <a:buNone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Boundary lines</a:t>
                </a:r>
              </a:p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Each region = one cluster</a:t>
                </a:r>
              </a:p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Students grouped as: </a:t>
                </a:r>
              </a:p>
              <a:p>
                <a:pPr lvl="1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Pass OR Fail (not both)</a:t>
                </a:r>
              </a:p>
              <a:p>
                <a:endParaRPr lang="en-I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052FA9-C585-28E5-FA35-D079AA04B5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95401" y="2556931"/>
                <a:ext cx="10082752" cy="3664759"/>
              </a:xfrm>
              <a:blipFill>
                <a:blip r:embed="rId3"/>
                <a:stretch>
                  <a:fillRect l="-907" t="-36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3BEFBAD3-AD62-DE6C-A20B-AFC95F9C8F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7656" y="2556932"/>
            <a:ext cx="2938941" cy="2686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2051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5A60A-4841-BF87-E25B-265C281F0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705" y="763571"/>
            <a:ext cx="10576874" cy="5326144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Overlapping clusters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data point can belong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clusters at the same 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oval shapes overlap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 points lie in intersection areas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person can be: 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Tech-savvy AND Creative 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strictly one category</a:t>
            </a:r>
          </a:p>
          <a:p>
            <a:pPr>
              <a:buFont typeface="Arial" panose="020B0604020202020204" pitchFamily="34" charset="0"/>
              <a:buChar char="•"/>
            </a:pP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360785-182F-003C-D242-5250B07E44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2776" y="1904214"/>
            <a:ext cx="3618519" cy="390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5337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34505-CCAB-F6BE-A8F7-7A6F86F17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0556" y="723507"/>
            <a:ext cx="10510887" cy="541098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Probabilistic clusters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point has a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probability of belonging to each cluster.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3D graph shows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peaks (hills)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peak = one cluster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Height = probability density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data point may belong: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70% to Cluster A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30% to Cluster B</a:t>
            </a:r>
          </a:p>
          <a:p>
            <a:pPr>
              <a:buFont typeface="Arial" panose="020B0604020202020204" pitchFamily="34" charset="0"/>
              <a:buChar char="•"/>
            </a:pP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DA8A4C-07A4-43A9-7718-4994832128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912" y="2468962"/>
            <a:ext cx="5394291" cy="3111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8267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887BF7-4B8B-DA95-5A1F-06B6D4F6FD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7584" y="754144"/>
                <a:ext cx="10199013" cy="5121724"/>
              </a:xfrm>
            </p:spPr>
            <p:txBody>
              <a:bodyPr/>
              <a:lstStyle/>
              <a:p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Clusters are formed in a </a:t>
                </a:r>
                <a:r>
                  <a:rPr lang="en-US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tree-like structure (dendrogram).</a:t>
                </a:r>
              </a:p>
              <a:p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Individual points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(1)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(11)</m:t>
                        </m:r>
                      </m:sup>
                    </m:sSup>
                  </m:oMath>
                </a14:m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Gradually merge in cluster step by step</a:t>
                </a:r>
              </a:p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Top: one  big cluster</a:t>
                </a:r>
              </a:p>
              <a:p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Grouping:</a:t>
                </a:r>
              </a:p>
              <a:p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Students → Classes → Departments → College</a:t>
                </a:r>
              </a:p>
              <a:p>
                <a:r>
                  <a:rPr lang="en-US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Multi-level clustering</a:t>
                </a:r>
                <a:b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Two approaches:</a:t>
                </a:r>
              </a:p>
              <a:p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Agglomerative (bottom-up) </a:t>
                </a:r>
              </a:p>
              <a:p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Divisive (top-down) </a:t>
                </a:r>
              </a:p>
              <a:p>
                <a:endParaRPr lang="en-I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887BF7-4B8B-DA95-5A1F-06B6D4F6FD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7584" y="754144"/>
                <a:ext cx="10199013" cy="5121724"/>
              </a:xfrm>
              <a:blipFill>
                <a:blip r:embed="rId3"/>
                <a:stretch>
                  <a:fillRect l="-1076" t="-17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2FD45A8-016A-51D4-42E2-0D881772DF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2898" y="1387098"/>
            <a:ext cx="4653699" cy="179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7140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51C49-45CF-D578-AA2E-9CB59CFBC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Measuring cluster quality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0C0B3-8765-B454-B421-CE7463436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 applying a clustering algorithm (like K-Means), we must ask: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“Are these clusters actually good?”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evaluate this using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 Validity Measures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main criteria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Compactness(Intra- cluster similarity)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Separation(Inter-cluster distance)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42989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4DE39-091E-8641-39BD-AB737C75B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424" y="622170"/>
            <a:ext cx="10539168" cy="5665508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Compactness (Intra-cluster similarity)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Points inside a cluster should be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 to each other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📊 Example Dataset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1: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(2,3), (3,4), (2,4)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2: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(8,9), (9,10), (10,9)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👉 Observation: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Points in each cluster are very close →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compactness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❌ Bad Example: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(2,3), (10,15), (25,30)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👉 Points are far →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compactness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Idea (Variance)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variance = better cluster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24737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4ADB1-10B7-64C0-280D-56010AB805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7138" y="553824"/>
            <a:ext cx="10617724" cy="5564172"/>
          </a:xfrm>
        </p:spPr>
        <p:txBody>
          <a:bodyPr>
            <a:normAutofit fontScale="92500" lnSpcReduction="10000"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Separation (Inter-cluster distance)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👉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Idea: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Clusters should be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 from each other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📊 Example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1 center: (3,3)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2 center: (9,9)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👉 Distance is large →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separation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❌ Bad Case: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centers: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(3,3) and (4,4)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👉 Very close →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separation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Good clustering means: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✔ High compactness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✔ High separation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24802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6D801-D914-0628-FBA8-E3E61E846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 of Squared Error (SSE)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A11B8E-AEA8-F846-9156-3DF865B706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is the </a:t>
                </a:r>
                <a:r>
                  <a:rPr lang="en-US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most common measure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used in clustering.</a:t>
                </a:r>
              </a:p>
              <a:p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sum of squared errors is defined by</a:t>
                </a:r>
              </a:p>
              <a:p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IN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sup>
                      <m:e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en-IN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9"/>
                              </m:rP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𝟄</m:t>
                            </m:r>
                            <m:sSub>
                              <m:sSubPr>
                                <m:ctrlP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</m:sub>
                            </m:sSub>
                          </m:sub>
                          <m:sup/>
                          <m:e>
                            <m:sSup>
                              <m:sSupPr>
                                <m:ctrlPr>
                                  <a:rPr lang="en-IN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[</m:t>
                                </m:r>
                                <m:sSub>
                                  <m:sSubPr>
                                    <m:ctrlPr>
                                      <a:rPr lang="en-US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−</m:t>
                                </m:r>
                                <m:sSub>
                                  <m:sSubPr>
                                    <m:ctrlPr>
                                      <a:rPr lang="en-US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|</m:t>
                                </m:r>
                              </m:e>
                              <m:sup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nary>
                  </m:oMath>
                </a14:m>
                <a:endParaRPr lang="en-I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data point</a:t>
                </a:r>
              </a:p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centroid of cluster</a:t>
                </a:r>
              </a:p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                K= number of clusters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A11B8E-AEA8-F846-9156-3DF865B706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44" t="-25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64289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3CBF5-9F80-E96E-D718-6DD197D7C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Optimal Number of Clusters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507D7-A28D-A437-ABDC-8E12639D8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don’t know how many clusters (K) to choose.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 K=4 → improvement slows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Choose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 = 4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(Elbow Method)</a:t>
            </a: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58D227F-9296-6225-BEEE-EAD4C088E6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5318583"/>
              </p:ext>
            </p:extLst>
          </p:nvPr>
        </p:nvGraphicFramePr>
        <p:xfrm>
          <a:off x="9081940" y="2990916"/>
          <a:ext cx="1985128" cy="1981200"/>
        </p:xfrm>
        <a:graphic>
          <a:graphicData uri="http://schemas.openxmlformats.org/drawingml/2006/table">
            <a:tbl>
              <a:tblPr/>
              <a:tblGrid>
                <a:gridCol w="891619">
                  <a:extLst>
                    <a:ext uri="{9D8B030D-6E8A-4147-A177-3AD203B41FA5}">
                      <a16:colId xmlns:a16="http://schemas.microsoft.com/office/drawing/2014/main" val="341712620"/>
                    </a:ext>
                  </a:extLst>
                </a:gridCol>
                <a:gridCol w="1093509">
                  <a:extLst>
                    <a:ext uri="{9D8B030D-6E8A-4147-A177-3AD203B41FA5}">
                      <a16:colId xmlns:a16="http://schemas.microsoft.com/office/drawing/2014/main" val="1930091407"/>
                    </a:ext>
                  </a:extLst>
                </a:gridCol>
              </a:tblGrid>
              <a:tr h="3576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0623627"/>
                  </a:ext>
                </a:extLst>
              </a:tr>
              <a:tr h="3576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7597105"/>
                  </a:ext>
                </a:extLst>
              </a:tr>
              <a:tr h="3576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6435610"/>
                  </a:ext>
                </a:extLst>
              </a:tr>
              <a:tr h="3576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3584242"/>
                  </a:ext>
                </a:extLst>
              </a:tr>
              <a:tr h="3576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28658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67211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AEB7F-3041-8252-FEF7-AF4DF983B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Interpretability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64AEF-D82D-9759-C565-B8AD172AD8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460583" cy="487926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 forming clusters, we must understand them.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49750A-C223-95F3-9F5B-48845DF9D057}"/>
              </a:ext>
            </a:extLst>
          </p:cNvPr>
          <p:cNvSpPr txBox="1"/>
          <p:nvPr/>
        </p:nvSpPr>
        <p:spPr>
          <a:xfrm>
            <a:off x="933255" y="3044858"/>
            <a:ext cx="291288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Summary Statistics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A: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 Age = 25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 Income = 20K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B: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 Age = 45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 Income = 80K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046079-C3A7-F996-3238-2690E6D5C205}"/>
              </a:ext>
            </a:extLst>
          </p:cNvPr>
          <p:cNvSpPr txBox="1"/>
          <p:nvPr/>
        </p:nvSpPr>
        <p:spPr>
          <a:xfrm>
            <a:off x="4223208" y="3176832"/>
            <a:ext cx="378014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Check Meaningfulness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👉 Are clusters logical?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 → Young vs Experienced customers 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Assign Labels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👉 Label clusters: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A → “Students”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B → “Professionals”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06475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F86F2-D25A-298D-B4C8-A73FB1C2A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Stability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A0829-6A2C-7C45-2A49-FA126D6DB5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we slightly change data, do clusters change drastically?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A → (2,3), (3,4)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adding (2.1,3.2):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Still same cluster →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❌ Unstable Case: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change → completely different clusters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👉 Bad clustering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81109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FEB57-FCB9-4060-3409-6569406A0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clustering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4F22F-D480-10E1-A836-CA12114FB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1"/>
            <a:ext cx="4417242" cy="3598771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Data Summarization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Instead of 1000 points → represent using 5 clusters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Outlier Detection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 near (2,3)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point at (50,60)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an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outlier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D8377C-CC72-DB4C-75A3-7802E4E88E30}"/>
              </a:ext>
            </a:extLst>
          </p:cNvPr>
          <p:cNvSpPr txBox="1"/>
          <p:nvPr/>
        </p:nvSpPr>
        <p:spPr>
          <a:xfrm>
            <a:off x="5986021" y="2667786"/>
            <a:ext cx="5279010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Faster Processing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full dataset → use cluster centers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time in ML models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Nearest Neighbor Optimization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👉 Only check nearby clusters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👉 Avoid unnecessary comparisons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55934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61E79-8D8D-AEF3-E58C-3FA0B5756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Transformation techniques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023F9-00EC-E729-D26C-B9E5CB53C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3125770" cy="331893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 Data Cleansing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 errors in data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🔍 Problems: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records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 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9C674DB-5F0C-F271-493F-F1AF5B4F37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803227"/>
              </p:ext>
            </p:extLst>
          </p:nvPr>
        </p:nvGraphicFramePr>
        <p:xfrm>
          <a:off x="4798242" y="2677946"/>
          <a:ext cx="4496588" cy="1188720"/>
        </p:xfrm>
        <a:graphic>
          <a:graphicData uri="http://schemas.openxmlformats.org/drawingml/2006/table">
            <a:tbl>
              <a:tblPr/>
              <a:tblGrid>
                <a:gridCol w="2248294">
                  <a:extLst>
                    <a:ext uri="{9D8B030D-6E8A-4147-A177-3AD203B41FA5}">
                      <a16:colId xmlns:a16="http://schemas.microsoft.com/office/drawing/2014/main" val="3812979840"/>
                    </a:ext>
                  </a:extLst>
                </a:gridCol>
                <a:gridCol w="2248294">
                  <a:extLst>
                    <a:ext uri="{9D8B030D-6E8A-4147-A177-3AD203B41FA5}">
                      <a16:colId xmlns:a16="http://schemas.microsoft.com/office/drawing/2014/main" val="14606250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Income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65408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188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702437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6247E82-7527-6FDD-84E7-F1B1BB43FAD2}"/>
              </a:ext>
            </a:extLst>
          </p:cNvPr>
          <p:cNvSpPr txBox="1"/>
          <p:nvPr/>
        </p:nvSpPr>
        <p:spPr>
          <a:xfrm>
            <a:off x="4421171" y="4035198"/>
            <a:ext cx="61934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 with mean (e.g., 30)</a:t>
            </a:r>
          </a:p>
        </p:txBody>
      </p:sp>
    </p:spTree>
    <p:extLst>
      <p:ext uri="{BB962C8B-B14F-4D97-AF65-F5344CB8AC3E}">
        <p14:creationId xmlns:p14="http://schemas.microsoft.com/office/powerpoint/2010/main" val="7057866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0A03F-749E-2845-FA85-4D8DE45B9A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6119" y="650450"/>
            <a:ext cx="10576875" cy="546754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Derived Attributes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new features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✔ New Feature:</a:t>
            </a: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Savings = 20000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Convert numbers → categories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✔ Convert to: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Young (20–30)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Middle (30–50)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 algorithms work only with categories so in that case we need to do discretization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69762FB-B71E-4566-E430-2C0B7A62A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9464065"/>
              </p:ext>
            </p:extLst>
          </p:nvPr>
        </p:nvGraphicFramePr>
        <p:xfrm>
          <a:off x="8488050" y="1017622"/>
          <a:ext cx="2277360" cy="886592"/>
        </p:xfrm>
        <a:graphic>
          <a:graphicData uri="http://schemas.openxmlformats.org/drawingml/2006/table">
            <a:tbl>
              <a:tblPr/>
              <a:tblGrid>
                <a:gridCol w="1056430">
                  <a:extLst>
                    <a:ext uri="{9D8B030D-6E8A-4147-A177-3AD203B41FA5}">
                      <a16:colId xmlns:a16="http://schemas.microsoft.com/office/drawing/2014/main" val="2637027269"/>
                    </a:ext>
                  </a:extLst>
                </a:gridCol>
                <a:gridCol w="1220930">
                  <a:extLst>
                    <a:ext uri="{9D8B030D-6E8A-4147-A177-3AD203B41FA5}">
                      <a16:colId xmlns:a16="http://schemas.microsoft.com/office/drawing/2014/main" val="2192694726"/>
                    </a:ext>
                  </a:extLst>
                </a:gridCol>
              </a:tblGrid>
              <a:tr h="443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Income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Expenses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5620463"/>
                  </a:ext>
                </a:extLst>
              </a:tr>
              <a:tr h="443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095376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C6892C3-4934-BE4A-D050-4C586514B9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5275750"/>
              </p:ext>
            </p:extLst>
          </p:nvPr>
        </p:nvGraphicFramePr>
        <p:xfrm>
          <a:off x="10275607" y="2535339"/>
          <a:ext cx="750217" cy="1188720"/>
        </p:xfrm>
        <a:graphic>
          <a:graphicData uri="http://schemas.openxmlformats.org/drawingml/2006/table">
            <a:tbl>
              <a:tblPr/>
              <a:tblGrid>
                <a:gridCol w="750217">
                  <a:extLst>
                    <a:ext uri="{9D8B030D-6E8A-4147-A177-3AD203B41FA5}">
                      <a16:colId xmlns:a16="http://schemas.microsoft.com/office/drawing/2014/main" val="2034089872"/>
                    </a:ext>
                  </a:extLst>
                </a:gridCol>
              </a:tblGrid>
              <a:tr h="1348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0351949"/>
                  </a:ext>
                </a:extLst>
              </a:tr>
              <a:tr h="1348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2683172"/>
                  </a:ext>
                </a:extLst>
              </a:tr>
              <a:tr h="1348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75003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65930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4B24F-080F-645B-6E66-E21B9EFD04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254" y="754143"/>
            <a:ext cx="10331777" cy="5420413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Attributes reduction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 and DOB gives same info so remove DOB so remove DOB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Example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(End-to-End)</a:t>
            </a:r>
          </a:p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1: Cleaning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Replace missing Age 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2: Transformation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Income → Low/Medium/High 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3: Clustering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👉 Result: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 1 → High spenders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 2 → Low spenders</a:t>
            </a:r>
          </a:p>
          <a:p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0E3C5EE-AD8D-34B4-A552-0FBED4E700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1122655"/>
              </p:ext>
            </p:extLst>
          </p:nvPr>
        </p:nvGraphicFramePr>
        <p:xfrm>
          <a:off x="7626285" y="2518842"/>
          <a:ext cx="3563332" cy="1188720"/>
        </p:xfrm>
        <a:graphic>
          <a:graphicData uri="http://schemas.openxmlformats.org/drawingml/2006/table">
            <a:tbl>
              <a:tblPr/>
              <a:tblGrid>
                <a:gridCol w="473098">
                  <a:extLst>
                    <a:ext uri="{9D8B030D-6E8A-4147-A177-3AD203B41FA5}">
                      <a16:colId xmlns:a16="http://schemas.microsoft.com/office/drawing/2014/main" val="226459894"/>
                    </a:ext>
                  </a:extLst>
                </a:gridCol>
                <a:gridCol w="624086">
                  <a:extLst>
                    <a:ext uri="{9D8B030D-6E8A-4147-A177-3AD203B41FA5}">
                      <a16:colId xmlns:a16="http://schemas.microsoft.com/office/drawing/2014/main" val="91314965"/>
                    </a:ext>
                  </a:extLst>
                </a:gridCol>
                <a:gridCol w="1147513">
                  <a:extLst>
                    <a:ext uri="{9D8B030D-6E8A-4147-A177-3AD203B41FA5}">
                      <a16:colId xmlns:a16="http://schemas.microsoft.com/office/drawing/2014/main" val="1058922305"/>
                    </a:ext>
                  </a:extLst>
                </a:gridCol>
                <a:gridCol w="1318635">
                  <a:extLst>
                    <a:ext uri="{9D8B030D-6E8A-4147-A177-3AD203B41FA5}">
                      <a16:colId xmlns:a16="http://schemas.microsoft.com/office/drawing/2014/main" val="15409200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Income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Spending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14687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4812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16961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17748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496</TotalTime>
  <Words>1982</Words>
  <Application>Microsoft Office PowerPoint</Application>
  <PresentationFormat>Widescreen</PresentationFormat>
  <Paragraphs>425</Paragraphs>
  <Slides>30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Calibri</vt:lpstr>
      <vt:lpstr>Cambria Math</vt:lpstr>
      <vt:lpstr>Garamond</vt:lpstr>
      <vt:lpstr>Times New Roman</vt:lpstr>
      <vt:lpstr>Wingdings</vt:lpstr>
      <vt:lpstr>Organic</vt:lpstr>
      <vt:lpstr>Clustering </vt:lpstr>
      <vt:lpstr>What is clustering?</vt:lpstr>
      <vt:lpstr>PowerPoint Presentation</vt:lpstr>
      <vt:lpstr>PowerPoint Presentation</vt:lpstr>
      <vt:lpstr>PowerPoint Presentation</vt:lpstr>
      <vt:lpstr>Key characteristics </vt:lpstr>
      <vt:lpstr>Applications of clustering </vt:lpstr>
      <vt:lpstr>PowerPoint Presentation</vt:lpstr>
      <vt:lpstr>Engineering the data </vt:lpstr>
      <vt:lpstr>Example: Raw Dataset </vt:lpstr>
      <vt:lpstr>Types of learning </vt:lpstr>
      <vt:lpstr>Exploratory data analysis </vt:lpstr>
      <vt:lpstr>Example dataset : Dataset of students</vt:lpstr>
      <vt:lpstr>PowerPoint Presentation</vt:lpstr>
      <vt:lpstr>Cluster Analysis </vt:lpstr>
      <vt:lpstr>Representing cluster results</vt:lpstr>
      <vt:lpstr>PowerPoint Presentation</vt:lpstr>
      <vt:lpstr>PowerPoint Presentation</vt:lpstr>
      <vt:lpstr>PowerPoint Presentation</vt:lpstr>
      <vt:lpstr>Measuring cluster quality </vt:lpstr>
      <vt:lpstr>PowerPoint Presentation</vt:lpstr>
      <vt:lpstr>PowerPoint Presentation</vt:lpstr>
      <vt:lpstr>Sum of Squared Error (SSE)</vt:lpstr>
      <vt:lpstr>Finding Optimal Number of Clusters</vt:lpstr>
      <vt:lpstr>Cluster Interpretability</vt:lpstr>
      <vt:lpstr>Cluster Stability</vt:lpstr>
      <vt:lpstr>Applications of clustering</vt:lpstr>
      <vt:lpstr>Data Transformation techniques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Shrikrishna Narvekar</dc:creator>
  <cp:lastModifiedBy>Shrikrishna Narvekar</cp:lastModifiedBy>
  <cp:revision>9</cp:revision>
  <dcterms:created xsi:type="dcterms:W3CDTF">2026-04-08T05:37:10Z</dcterms:created>
  <dcterms:modified xsi:type="dcterms:W3CDTF">2026-04-11T10:48:06Z</dcterms:modified>
</cp:coreProperties>
</file>