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6DFAB382-4F14-49F2-BF1D-D77EBBDCC8D9}"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9777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spTree>
    <p:extLst>
      <p:ext uri="{BB962C8B-B14F-4D97-AF65-F5344CB8AC3E}">
        <p14:creationId xmlns:p14="http://schemas.microsoft.com/office/powerpoint/2010/main" val="3127780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375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D1598D-5181-47D0-A284-91BA2F7389E1}" type="datetimeFigureOut">
              <a:rPr lang="en-IN" smtClean="0"/>
              <a:t>05-05-2026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FAB382-4F14-49F2-BF1D-D77EBBDCC8D9}" type="slidenum">
              <a:rPr lang="en-IN" smtClean="0"/>
              <a:t>‹#›</a:t>
            </a:fld>
            <a:endParaRPr lang="en-IN"/>
          </a:p>
        </p:txBody>
      </p:sp>
    </p:spTree>
    <p:extLst>
      <p:ext uri="{BB962C8B-B14F-4D97-AF65-F5344CB8AC3E}">
        <p14:creationId xmlns:p14="http://schemas.microsoft.com/office/powerpoint/2010/main" val="1862727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D1598D-5181-47D0-A284-91BA2F7389E1}" type="datetimeFigureOut">
              <a:rPr lang="en-IN" smtClean="0"/>
              <a:t>05-05-2026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FAB382-4F14-49F2-BF1D-D77EBBDCC8D9}"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4206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D1598D-5181-47D0-A284-91BA2F7389E1}" type="datetimeFigureOut">
              <a:rPr lang="en-IN" smtClean="0"/>
              <a:t>05-05-2026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FAB382-4F14-49F2-BF1D-D77EBBDCC8D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0299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1598D-5181-47D0-A284-91BA2F7389E1}" type="datetimeFigureOut">
              <a:rPr lang="en-IN" smtClean="0"/>
              <a:t>05-05-2026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FAB382-4F14-49F2-BF1D-D77EBBDCC8D9}" type="slidenum">
              <a:rPr lang="en-IN" smtClean="0"/>
              <a:t>‹#›</a:t>
            </a:fld>
            <a:endParaRPr lang="en-IN"/>
          </a:p>
        </p:txBody>
      </p:sp>
    </p:spTree>
    <p:extLst>
      <p:ext uri="{BB962C8B-B14F-4D97-AF65-F5344CB8AC3E}">
        <p14:creationId xmlns:p14="http://schemas.microsoft.com/office/powerpoint/2010/main" val="1086919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D1598D-5181-47D0-A284-91BA2F7389E1}" type="datetimeFigureOut">
              <a:rPr lang="en-IN" smtClean="0"/>
              <a:t>05-05-2026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FAB382-4F14-49F2-BF1D-D77EBBDCC8D9}"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4665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D1598D-5181-47D0-A284-91BA2F7389E1}" type="datetimeFigureOut">
              <a:rPr lang="en-IN" smtClean="0"/>
              <a:t>05-05-2026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FAB382-4F14-49F2-BF1D-D77EBBDCC8D9}" type="slidenum">
              <a:rPr lang="en-IN" smtClean="0"/>
              <a:t>‹#›</a:t>
            </a:fld>
            <a:endParaRPr lang="en-IN"/>
          </a:p>
        </p:txBody>
      </p:sp>
    </p:spTree>
    <p:extLst>
      <p:ext uri="{BB962C8B-B14F-4D97-AF65-F5344CB8AC3E}">
        <p14:creationId xmlns:p14="http://schemas.microsoft.com/office/powerpoint/2010/main" val="3861327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D1598D-5181-47D0-A284-91BA2F7389E1}" type="datetimeFigureOut">
              <a:rPr lang="en-IN" smtClean="0"/>
              <a:t>05-05-2026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FAB382-4F14-49F2-BF1D-D77EBBDCC8D9}" type="slidenum">
              <a:rPr lang="en-IN" smtClean="0"/>
              <a:t>‹#›</a:t>
            </a:fld>
            <a:endParaRPr lang="en-IN"/>
          </a:p>
        </p:txBody>
      </p:sp>
    </p:spTree>
    <p:extLst>
      <p:ext uri="{BB962C8B-B14F-4D97-AF65-F5344CB8AC3E}">
        <p14:creationId xmlns:p14="http://schemas.microsoft.com/office/powerpoint/2010/main" val="3654810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4420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2077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spTree>
    <p:extLst>
      <p:ext uri="{BB962C8B-B14F-4D97-AF65-F5344CB8AC3E}">
        <p14:creationId xmlns:p14="http://schemas.microsoft.com/office/powerpoint/2010/main" val="19709357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0905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6422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818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D1598D-5181-47D0-A284-91BA2F7389E1}" type="datetimeFigureOut">
              <a:rPr lang="en-IN" smtClean="0"/>
              <a:t>05-05-2026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FAB382-4F14-49F2-BF1D-D77EBBDCC8D9}"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047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6D1598D-5181-47D0-A284-91BA2F7389E1}" type="datetimeFigureOut">
              <a:rPr lang="en-IN" smtClean="0"/>
              <a:t>05-05-2026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FAB382-4F14-49F2-BF1D-D77EBBDCC8D9}" type="slidenum">
              <a:rPr lang="en-IN" smtClean="0"/>
              <a:t>‹#›</a:t>
            </a:fld>
            <a:endParaRPr lang="en-IN"/>
          </a:p>
        </p:txBody>
      </p:sp>
    </p:spTree>
    <p:extLst>
      <p:ext uri="{BB962C8B-B14F-4D97-AF65-F5344CB8AC3E}">
        <p14:creationId xmlns:p14="http://schemas.microsoft.com/office/powerpoint/2010/main" val="5700553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machine-learning/k-means-clustering-introduc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8C0-1E49-8F5A-A47A-E470F3C3FDA0}"/>
              </a:ext>
            </a:extLst>
          </p:cNvPr>
          <p:cNvSpPr>
            <a:spLocks noGrp="1"/>
          </p:cNvSpPr>
          <p:nvPr>
            <p:ph type="ctrTitle"/>
          </p:nvPr>
        </p:nvSpPr>
        <p:spPr/>
        <p:txBody>
          <a:bodyPr/>
          <a:lstStyle/>
          <a:p>
            <a:r>
              <a:rPr lang="en-US" b="1" dirty="0">
                <a:latin typeface="Times New Roman" panose="02020603050405020304" pitchFamily="18" charset="0"/>
                <a:cs typeface="Times New Roman" panose="02020603050405020304" pitchFamily="18" charset="0"/>
              </a:rPr>
              <a:t>Spectral clustering </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CB27F6A-C5B2-EE9F-25D5-D365F79F5BE5}"/>
              </a:ext>
            </a:extLst>
          </p:cNvPr>
          <p:cNvSpPr>
            <a:spLocks noGrp="1"/>
          </p:cNvSpPr>
          <p:nvPr>
            <p:ph type="subTitle" idx="1"/>
          </p:nvPr>
        </p:nvSpPr>
        <p:spPr>
          <a:xfrm>
            <a:off x="2692398" y="3657596"/>
            <a:ext cx="6936794" cy="1614199"/>
          </a:xfrm>
        </p:spPr>
        <p:txBody>
          <a:bodyPr>
            <a:normAutofit/>
          </a:bodyPr>
          <a:lstStyle/>
          <a:p>
            <a:r>
              <a:rPr lang="en-US" sz="1800" dirty="0">
                <a:latin typeface="Times New Roman" panose="02020603050405020304" pitchFamily="18" charset="0"/>
                <a:cs typeface="Times New Roman" panose="02020603050405020304" pitchFamily="18" charset="0"/>
              </a:rPr>
              <a:t>Mr. Shrikrishna Anand Narvekar</a:t>
            </a:r>
          </a:p>
          <a:p>
            <a:r>
              <a:rPr lang="en-US" sz="1800" dirty="0">
                <a:latin typeface="Times New Roman" panose="02020603050405020304" pitchFamily="18" charset="0"/>
                <a:cs typeface="Times New Roman" panose="02020603050405020304" pitchFamily="18" charset="0"/>
              </a:rPr>
              <a:t>Assistant Professor </a:t>
            </a:r>
          </a:p>
          <a:p>
            <a:r>
              <a:rPr lang="en-US" sz="1800" dirty="0">
                <a:latin typeface="Times New Roman" panose="02020603050405020304" pitchFamily="18" charset="0"/>
                <a:cs typeface="Times New Roman" panose="02020603050405020304" pitchFamily="18" charset="0"/>
              </a:rPr>
              <a:t>Department of Computer Engineering </a:t>
            </a:r>
          </a:p>
          <a:p>
            <a:r>
              <a:rPr lang="en-US" sz="1800" dirty="0">
                <a:latin typeface="Times New Roman" panose="02020603050405020304" pitchFamily="18" charset="0"/>
                <a:cs typeface="Times New Roman" panose="02020603050405020304" pitchFamily="18" charset="0"/>
              </a:rPr>
              <a:t>Agnel Institute of Engineering and Management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970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8A776-0CD9-F38B-D25E-2E84EC2A7A3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spectral clustering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5FACAF-6540-05C8-FC6D-7366437737D1}"/>
              </a:ext>
            </a:extLst>
          </p:cNvPr>
          <p:cNvSpPr>
            <a:spLocks noGrp="1"/>
          </p:cNvSpPr>
          <p:nvPr>
            <p:ph idx="1"/>
          </p:nvPr>
        </p:nvSpPr>
        <p:spPr/>
        <p:txBody>
          <a:bodyPr>
            <a:normAutofit lnSpcReduction="10000"/>
          </a:bodyPr>
          <a:lstStyle/>
          <a:p>
            <a:r>
              <a:rPr lang="en-IN" dirty="0">
                <a:solidFill>
                  <a:schemeClr val="tx1"/>
                </a:solidFill>
                <a:latin typeface="Times New Roman" panose="02020603050405020304" pitchFamily="18" charset="0"/>
                <a:cs typeface="Times New Roman" panose="02020603050405020304" pitchFamily="18" charset="0"/>
              </a:rPr>
              <a:t>Spectral Clustering is an unsupervised learning technique used to group data points based on their similarity. </a:t>
            </a:r>
          </a:p>
          <a:p>
            <a:r>
              <a:rPr lang="en-IN" dirty="0">
                <a:solidFill>
                  <a:schemeClr val="tx1"/>
                </a:solidFill>
                <a:latin typeface="Times New Roman" panose="02020603050405020304" pitchFamily="18" charset="0"/>
                <a:cs typeface="Times New Roman" panose="02020603050405020304" pitchFamily="18" charset="0"/>
              </a:rPr>
              <a:t>It uses concepts from graph theory and linear algebra to transform data into a space where clustering becomes easier.</a:t>
            </a:r>
          </a:p>
          <a:p>
            <a:pPr lvl="0"/>
            <a:r>
              <a:rPr lang="en-IN" dirty="0">
                <a:solidFill>
                  <a:schemeClr val="tx1"/>
                </a:solidFill>
                <a:latin typeface="Times New Roman" panose="02020603050405020304" pitchFamily="18" charset="0"/>
                <a:cs typeface="Times New Roman" panose="02020603050405020304" pitchFamily="18" charset="0"/>
              </a:rPr>
              <a:t>Works well for non-linear and complex shapes</a:t>
            </a:r>
          </a:p>
          <a:p>
            <a:pPr lvl="0"/>
            <a:r>
              <a:rPr lang="en-IN" dirty="0">
                <a:solidFill>
                  <a:schemeClr val="tx1"/>
                </a:solidFill>
                <a:latin typeface="Times New Roman" panose="02020603050405020304" pitchFamily="18" charset="0"/>
                <a:cs typeface="Times New Roman" panose="02020603050405020304" pitchFamily="18" charset="0"/>
              </a:rPr>
              <a:t>Uses concepts from linear algebra (eigenvalues &amp; eigenvectors)</a:t>
            </a:r>
          </a:p>
          <a:p>
            <a:pPr lvl="0"/>
            <a:r>
              <a:rPr lang="en-IN" dirty="0">
                <a:solidFill>
                  <a:schemeClr val="tx1"/>
                </a:solidFill>
                <a:latin typeface="Times New Roman" panose="02020603050405020304" pitchFamily="18" charset="0"/>
                <a:cs typeface="Times New Roman" panose="02020603050405020304" pitchFamily="18" charset="0"/>
              </a:rPr>
              <a:t>Converts data into a graph structure (nodes and edges)</a:t>
            </a: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45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3C1F4-5CCA-F662-57DC-8339FBA11C86}"/>
              </a:ext>
            </a:extLst>
          </p:cNvPr>
          <p:cNvSpPr>
            <a:spLocks noGrp="1"/>
          </p:cNvSpPr>
          <p:nvPr>
            <p:ph type="title"/>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Types of Spectral Clustering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019570-527A-E14D-3E38-3E08EA6E65EC}"/>
              </a:ext>
            </a:extLst>
          </p:cNvPr>
          <p:cNvSpPr>
            <a:spLocks noGrp="1"/>
          </p:cNvSpPr>
          <p:nvPr>
            <p:ph idx="1"/>
          </p:nvPr>
        </p:nvSpPr>
        <p:spPr/>
        <p:txBody>
          <a:bodyPr>
            <a:normAutofit lnSpcReduction="10000"/>
          </a:bodyPr>
          <a:lstStyle/>
          <a:p>
            <a:pPr lvl="0"/>
            <a:r>
              <a:rPr lang="en-IN" b="1" dirty="0">
                <a:solidFill>
                  <a:schemeClr val="tx1"/>
                </a:solidFill>
                <a:latin typeface="Times New Roman" panose="02020603050405020304" pitchFamily="18" charset="0"/>
                <a:cs typeface="Times New Roman" panose="02020603050405020304" pitchFamily="18" charset="0"/>
              </a:rPr>
              <a:t>Unnormalized Spectral Clustering: </a:t>
            </a:r>
            <a:r>
              <a:rPr lang="en-IN" dirty="0">
                <a:solidFill>
                  <a:schemeClr val="tx1"/>
                </a:solidFill>
                <a:latin typeface="Times New Roman" panose="02020603050405020304" pitchFamily="18" charset="0"/>
                <a:cs typeface="Times New Roman" panose="02020603050405020304" pitchFamily="18" charset="0"/>
              </a:rPr>
              <a:t>Uses the similarity values directly to group data points without any adjustment but it may not perform well when the data is uneven.</a:t>
            </a:r>
          </a:p>
          <a:p>
            <a:pPr lvl="0"/>
            <a:r>
              <a:rPr lang="en-IN" b="1" dirty="0">
                <a:solidFill>
                  <a:schemeClr val="tx1"/>
                </a:solidFill>
                <a:latin typeface="Times New Roman" panose="02020603050405020304" pitchFamily="18" charset="0"/>
                <a:cs typeface="Times New Roman" panose="02020603050405020304" pitchFamily="18" charset="0"/>
              </a:rPr>
              <a:t>Normalized Spectral Clustering: </a:t>
            </a:r>
            <a:r>
              <a:rPr lang="en-IN" dirty="0">
                <a:solidFill>
                  <a:schemeClr val="tx1"/>
                </a:solidFill>
                <a:latin typeface="Times New Roman" panose="02020603050405020304" pitchFamily="18" charset="0"/>
                <a:cs typeface="Times New Roman" panose="02020603050405020304" pitchFamily="18" charset="0"/>
              </a:rPr>
              <a:t>Adjusts the similarity values before clustering, which helps in getting better and more balanced clusters in most real-world datasets.</a:t>
            </a:r>
          </a:p>
          <a:p>
            <a:pPr lvl="0"/>
            <a:r>
              <a:rPr lang="en-IN" b="1" dirty="0">
                <a:solidFill>
                  <a:schemeClr val="tx1"/>
                </a:solidFill>
                <a:latin typeface="Times New Roman" panose="02020603050405020304" pitchFamily="18" charset="0"/>
                <a:cs typeface="Times New Roman" panose="02020603050405020304" pitchFamily="18" charset="0"/>
              </a:rPr>
              <a:t>Random Walk Spectral Clustering:</a:t>
            </a:r>
            <a:r>
              <a:rPr lang="en-IN" dirty="0">
                <a:solidFill>
                  <a:schemeClr val="tx1"/>
                </a:solidFill>
                <a:latin typeface="Times New Roman" panose="02020603050405020304" pitchFamily="18" charset="0"/>
                <a:cs typeface="Times New Roman" panose="02020603050405020304" pitchFamily="18" charset="0"/>
              </a:rPr>
              <a:t> Groups data points based on how strongly they are connected to each other in the graph.</a:t>
            </a:r>
          </a:p>
          <a:p>
            <a:endParaRPr lang="en-IN" dirty="0"/>
          </a:p>
        </p:txBody>
      </p:sp>
    </p:spTree>
    <p:extLst>
      <p:ext uri="{BB962C8B-B14F-4D97-AF65-F5344CB8AC3E}">
        <p14:creationId xmlns:p14="http://schemas.microsoft.com/office/powerpoint/2010/main" val="344050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2D31D-1743-28B6-8418-19403CC6335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 concept</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51E943-6FBF-EC9F-E2F8-95ECEFD90A0A}"/>
                  </a:ext>
                </a:extLst>
              </p:cNvPr>
              <p:cNvSpPr>
                <a:spLocks noGrp="1"/>
              </p:cNvSpPr>
              <p:nvPr>
                <p:ph idx="1"/>
              </p:nvPr>
            </p:nvSpPr>
            <p:spPr/>
            <p:txBody>
              <a:bodyPr>
                <a:normAutofit fontScale="92500" lnSpcReduction="20000"/>
              </a:bodyPr>
              <a:lstStyle/>
              <a:p>
                <a:r>
                  <a:rPr lang="en-IN" b="1" dirty="0">
                    <a:solidFill>
                      <a:schemeClr val="tx1"/>
                    </a:solidFill>
                    <a:latin typeface="Times New Roman" panose="02020603050405020304" pitchFamily="18" charset="0"/>
                    <a:cs typeface="Times New Roman" panose="02020603050405020304" pitchFamily="18" charset="0"/>
                  </a:rPr>
                  <a:t>1. Similarity Matrix (W)</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The matrix which represents how similar two data points are. It measures the relationship between every pair of points based on distance.</a:t>
                </a:r>
              </a:p>
              <a:p>
                <a:r>
                  <a:rPr lang="en-IN" b="1" dirty="0">
                    <a:solidFill>
                      <a:schemeClr val="tx1"/>
                    </a:solidFill>
                    <a:latin typeface="Times New Roman" panose="02020603050405020304" pitchFamily="18" charset="0"/>
                    <a:cs typeface="Times New Roman" panose="02020603050405020304" pitchFamily="18" charset="0"/>
                  </a:rPr>
                  <a:t>Basic Idea</a:t>
                </a:r>
                <a:endParaRPr lang="en-IN" dirty="0">
                  <a:solidFill>
                    <a:schemeClr val="tx1"/>
                  </a:solidFill>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We have data points: </a:t>
                </a:r>
                <a14:m>
                  <m:oMath xmlns:m="http://schemas.openxmlformats.org/officeDocument/2006/math">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𝑥</m:t>
                        </m:r>
                      </m:e>
                      <m:sup>
                        <m:r>
                          <a:rPr lang="en-IN" i="1">
                            <a:solidFill>
                              <a:schemeClr val="tx1"/>
                            </a:solidFill>
                            <a:latin typeface="Cambria Math" panose="02040503050406030204" pitchFamily="18" charset="0"/>
                          </a:rPr>
                          <m:t>(1)</m:t>
                        </m:r>
                      </m:sup>
                    </m:sSup>
                  </m:oMath>
                </a14:m>
                <a:r>
                  <a:rPr lang="en-IN"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𝑥</m:t>
                        </m:r>
                      </m:e>
                      <m:sup>
                        <m:r>
                          <a:rPr lang="en-IN" i="1">
                            <a:solidFill>
                              <a:schemeClr val="tx1"/>
                            </a:solidFill>
                            <a:latin typeface="Cambria Math" panose="02040503050406030204" pitchFamily="18" charset="0"/>
                          </a:rPr>
                          <m:t>(2)</m:t>
                        </m:r>
                      </m:sup>
                    </m:sSup>
                  </m:oMath>
                </a14:m>
                <a:r>
                  <a:rPr lang="en-IN"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𝑥</m:t>
                        </m:r>
                      </m:e>
                      <m:sup>
                        <m:r>
                          <a:rPr lang="en-IN" i="1">
                            <a:solidFill>
                              <a:schemeClr val="tx1"/>
                            </a:solidFill>
                            <a:latin typeface="Cambria Math" panose="02040503050406030204" pitchFamily="18" charset="0"/>
                          </a:rPr>
                          <m:t>(</m:t>
                        </m:r>
                        <m:r>
                          <a:rPr lang="en-IN" i="1">
                            <a:solidFill>
                              <a:schemeClr val="tx1"/>
                            </a:solidFill>
                            <a:latin typeface="Cambria Math" panose="02040503050406030204" pitchFamily="18" charset="0"/>
                          </a:rPr>
                          <m:t>𝑁</m:t>
                        </m:r>
                        <m:r>
                          <a:rPr lang="en-IN" i="1">
                            <a:solidFill>
                              <a:schemeClr val="tx1"/>
                            </a:solidFill>
                            <a:latin typeface="Cambria Math" panose="02040503050406030204" pitchFamily="18" charset="0"/>
                          </a:rPr>
                          <m:t>)</m:t>
                        </m:r>
                      </m:sup>
                    </m:sSup>
                  </m:oMath>
                </a14:m>
                <a:endParaRPr lang="en-IN" dirty="0">
                  <a:solidFill>
                    <a:schemeClr val="tx1"/>
                  </a:solidFill>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Goal: Divide them into groups such that: </a:t>
                </a:r>
              </a:p>
              <a:p>
                <a:pPr lvl="1"/>
                <a:r>
                  <a:rPr lang="en-IN" sz="2400" dirty="0">
                    <a:solidFill>
                      <a:schemeClr val="tx1"/>
                    </a:solidFill>
                    <a:latin typeface="Times New Roman" panose="02020603050405020304" pitchFamily="18" charset="0"/>
                    <a:cs typeface="Times New Roman" panose="02020603050405020304" pitchFamily="18" charset="0"/>
                  </a:rPr>
                  <a:t>Points in the </a:t>
                </a:r>
                <a:r>
                  <a:rPr lang="en-IN" sz="2400" b="1" dirty="0">
                    <a:solidFill>
                      <a:schemeClr val="tx1"/>
                    </a:solidFill>
                    <a:latin typeface="Times New Roman" panose="02020603050405020304" pitchFamily="18" charset="0"/>
                    <a:cs typeface="Times New Roman" panose="02020603050405020304" pitchFamily="18" charset="0"/>
                  </a:rPr>
                  <a:t>same group are similar</a:t>
                </a:r>
                <a:r>
                  <a:rPr lang="en-IN" sz="2400" dirty="0">
                    <a:solidFill>
                      <a:schemeClr val="tx1"/>
                    </a:solidFill>
                    <a:latin typeface="Times New Roman" panose="02020603050405020304" pitchFamily="18" charset="0"/>
                    <a:cs typeface="Times New Roman" panose="02020603050405020304" pitchFamily="18" charset="0"/>
                  </a:rPr>
                  <a:t> </a:t>
                </a:r>
              </a:p>
              <a:p>
                <a:pPr lvl="1"/>
                <a:r>
                  <a:rPr lang="en-IN" sz="2400" dirty="0">
                    <a:solidFill>
                      <a:schemeClr val="tx1"/>
                    </a:solidFill>
                    <a:latin typeface="Times New Roman" panose="02020603050405020304" pitchFamily="18" charset="0"/>
                    <a:cs typeface="Times New Roman" panose="02020603050405020304" pitchFamily="18" charset="0"/>
                  </a:rPr>
                  <a:t>Points in </a:t>
                </a:r>
                <a:r>
                  <a:rPr lang="en-IN" sz="2400" b="1" dirty="0">
                    <a:solidFill>
                      <a:schemeClr val="tx1"/>
                    </a:solidFill>
                    <a:latin typeface="Times New Roman" panose="02020603050405020304" pitchFamily="18" charset="0"/>
                    <a:cs typeface="Times New Roman" panose="02020603050405020304" pitchFamily="18" charset="0"/>
                  </a:rPr>
                  <a:t>different groups are dissimilar</a:t>
                </a:r>
                <a:endParaRPr lang="en-IN" sz="2400" dirty="0">
                  <a:solidFill>
                    <a:schemeClr val="tx1"/>
                  </a:solidFill>
                  <a:latin typeface="Times New Roman" panose="02020603050405020304" pitchFamily="18" charset="0"/>
                  <a:cs typeface="Times New Roman" panose="02020603050405020304" pitchFamily="18" charset="0"/>
                </a:endParaRPr>
              </a:p>
              <a:p>
                <a:endParaRPr lang="en-IN" dirty="0"/>
              </a:p>
            </p:txBody>
          </p:sp>
        </mc:Choice>
        <mc:Fallback>
          <p:sp>
            <p:nvSpPr>
              <p:cNvPr id="3" name="Content Placeholder 2">
                <a:extLst>
                  <a:ext uri="{FF2B5EF4-FFF2-40B4-BE49-F238E27FC236}">
                    <a16:creationId xmlns:a16="http://schemas.microsoft.com/office/drawing/2014/main" id="{6751E943-6FBF-EC9F-E2F8-95ECEFD90A0A}"/>
                  </a:ext>
                </a:extLst>
              </p:cNvPr>
              <p:cNvSpPr>
                <a:spLocks noGrp="1" noRot="1" noChangeAspect="1" noMove="1" noResize="1" noEditPoints="1" noAdjustHandles="1" noChangeArrowheads="1" noChangeShapeType="1" noTextEdit="1"/>
              </p:cNvSpPr>
              <p:nvPr>
                <p:ph idx="1"/>
              </p:nvPr>
            </p:nvSpPr>
            <p:spPr>
              <a:blipFill>
                <a:blip r:embed="rId2"/>
                <a:stretch>
                  <a:fillRect l="-953" t="-4037"/>
                </a:stretch>
              </a:blipFill>
            </p:spPr>
            <p:txBody>
              <a:bodyPr/>
              <a:lstStyle/>
              <a:p>
                <a:r>
                  <a:rPr lang="en-IN">
                    <a:noFill/>
                  </a:rPr>
                  <a:t> </a:t>
                </a:r>
              </a:p>
            </p:txBody>
          </p:sp>
        </mc:Fallback>
      </mc:AlternateContent>
    </p:spTree>
    <p:extLst>
      <p:ext uri="{BB962C8B-B14F-4D97-AF65-F5344CB8AC3E}">
        <p14:creationId xmlns:p14="http://schemas.microsoft.com/office/powerpoint/2010/main" val="50555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13ED856-E5B3-FEB6-EC84-EDD6248EEB0E}"/>
                  </a:ext>
                </a:extLst>
              </p:cNvPr>
              <p:cNvSpPr>
                <a:spLocks noGrp="1"/>
              </p:cNvSpPr>
              <p:nvPr>
                <p:ph idx="1"/>
              </p:nvPr>
            </p:nvSpPr>
            <p:spPr>
              <a:xfrm>
                <a:off x="811763" y="606491"/>
                <a:ext cx="10478278" cy="5551714"/>
              </a:xfrm>
            </p:spPr>
            <p:txBody>
              <a:bodyPr>
                <a:normAutofit/>
              </a:bodyPr>
              <a:lstStyle/>
              <a:p>
                <a:r>
                  <a:rPr lang="en-IN" b="1" dirty="0">
                    <a:latin typeface="Times New Roman" panose="02020603050405020304" pitchFamily="18" charset="0"/>
                    <a:cs typeface="Times New Roman" panose="02020603050405020304" pitchFamily="18" charset="0"/>
                  </a:rPr>
                  <a:t>Step 1: Convert Data into a Graph</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Each data point → becomes a </a:t>
                </a:r>
                <a:r>
                  <a:rPr lang="en-IN" b="1" dirty="0">
                    <a:latin typeface="Times New Roman" panose="02020603050405020304" pitchFamily="18" charset="0"/>
                    <a:cs typeface="Times New Roman" panose="02020603050405020304" pitchFamily="18" charset="0"/>
                  </a:rPr>
                  <a:t>node (vertex)</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Connect nodes using </a:t>
                </a:r>
                <a:r>
                  <a:rPr lang="en-IN" b="1" dirty="0">
                    <a:latin typeface="Times New Roman" panose="02020603050405020304" pitchFamily="18" charset="0"/>
                    <a:cs typeface="Times New Roman" panose="02020603050405020304" pitchFamily="18" charset="0"/>
                  </a:rPr>
                  <a:t>edges based on similarity</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This forms a </a:t>
                </a:r>
                <a:r>
                  <a:rPr lang="en-IN" b="1" dirty="0">
                    <a:latin typeface="Times New Roman" panose="02020603050405020304" pitchFamily="18" charset="0"/>
                    <a:cs typeface="Times New Roman" panose="02020603050405020304" pitchFamily="18" charset="0"/>
                  </a:rPr>
                  <a:t>Similarity Graph (G)</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Step 2: Affinity (Similarity) Matrix W</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This matrix tells how similar two points are.</a:t>
                </a:r>
              </a:p>
              <a:p>
                <a14:m>
                  <m:oMath xmlns:m="http://schemas.openxmlformats.org/officeDocument/2006/math">
                    <m:sSub>
                      <m:sSubPr>
                        <m:ctrlPr>
                          <a:rPr lang="en-IN" i="1"/>
                        </m:ctrlPr>
                      </m:sSubPr>
                      <m:e>
                        <m:r>
                          <a:rPr lang="en-IN" i="1"/>
                          <m:t>𝑊</m:t>
                        </m:r>
                      </m:e>
                      <m:sub>
                        <m:r>
                          <a:rPr lang="en-IN" i="1"/>
                          <m:t>𝑖𝑙</m:t>
                        </m:r>
                      </m:sub>
                    </m:sSub>
                  </m:oMath>
                </a14:m>
                <a:r>
                  <a:rPr lang="en-IN" dirty="0">
                    <a:latin typeface="Times New Roman" panose="02020603050405020304" pitchFamily="18" charset="0"/>
                    <a:cs typeface="Times New Roman" panose="02020603050405020304" pitchFamily="18" charset="0"/>
                  </a:rPr>
                  <a:t>=exp(</a:t>
                </a:r>
                <a14:m>
                  <m:oMath xmlns:m="http://schemas.openxmlformats.org/officeDocument/2006/math">
                    <m:r>
                      <a:rPr lang="en-IN" i="1"/>
                      <m:t>−</m:t>
                    </m:r>
                    <m:f>
                      <m:fPr>
                        <m:ctrlPr>
                          <a:rPr lang="en-IN" i="1"/>
                        </m:ctrlPr>
                      </m:fPr>
                      <m:num>
                        <m:sSup>
                          <m:sSupPr>
                            <m:ctrlPr>
                              <a:rPr lang="en-IN" i="1"/>
                            </m:ctrlPr>
                          </m:sSupPr>
                          <m:e>
                            <m:r>
                              <a:rPr lang="en-IN" i="1"/>
                              <m:t>|</m:t>
                            </m:r>
                            <m:d>
                              <m:dPr>
                                <m:begChr m:val="|"/>
                                <m:endChr m:val="|"/>
                                <m:ctrlPr>
                                  <a:rPr lang="en-IN" i="1"/>
                                </m:ctrlPr>
                              </m:dPr>
                              <m:e>
                                <m:sSup>
                                  <m:sSupPr>
                                    <m:ctrlPr>
                                      <a:rPr lang="en-IN" i="1"/>
                                    </m:ctrlPr>
                                  </m:sSupPr>
                                  <m:e>
                                    <m:r>
                                      <a:rPr lang="en-IN" i="1"/>
                                      <m:t>𝑥</m:t>
                                    </m:r>
                                  </m:e>
                                  <m:sup>
                                    <m:r>
                                      <a:rPr lang="en-IN" i="1"/>
                                      <m:t>𝑖</m:t>
                                    </m:r>
                                  </m:sup>
                                </m:sSup>
                                <m:r>
                                  <a:rPr lang="en-IN" i="1"/>
                                  <m:t>−</m:t>
                                </m:r>
                                <m:sSup>
                                  <m:sSupPr>
                                    <m:ctrlPr>
                                      <a:rPr lang="en-IN" i="1"/>
                                    </m:ctrlPr>
                                  </m:sSupPr>
                                  <m:e>
                                    <m:r>
                                      <a:rPr lang="en-IN" i="1"/>
                                      <m:t>𝑥</m:t>
                                    </m:r>
                                  </m:e>
                                  <m:sup>
                                    <m:r>
                                      <a:rPr lang="en-IN" i="1"/>
                                      <m:t>𝑙</m:t>
                                    </m:r>
                                  </m:sup>
                                </m:sSup>
                              </m:e>
                            </m:d>
                            <m:r>
                              <a:rPr lang="en-IN" i="1"/>
                              <m:t>|</m:t>
                            </m:r>
                          </m:e>
                          <m:sup>
                            <m:r>
                              <a:rPr lang="en-IN" i="1"/>
                              <m:t>2</m:t>
                            </m:r>
                          </m:sup>
                        </m:sSup>
                      </m:num>
                      <m:den>
                        <m:sSup>
                          <m:sSupPr>
                            <m:ctrlPr>
                              <a:rPr lang="en-IN" i="1"/>
                            </m:ctrlPr>
                          </m:sSupPr>
                          <m:e>
                            <m:r>
                              <a:rPr lang="en-IN" i="1"/>
                              <m:t>2</m:t>
                            </m:r>
                            <m:r>
                              <a:rPr lang="en-IN" i="1"/>
                              <m:t>𝜎</m:t>
                            </m:r>
                          </m:e>
                          <m:sup>
                            <m:r>
                              <a:rPr lang="en-IN" i="1"/>
                              <m:t>2</m:t>
                            </m:r>
                          </m:sup>
                        </m:sSup>
                      </m:den>
                    </m:f>
                  </m:oMath>
                </a14:m>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If points are </a:t>
                </a:r>
                <a:r>
                  <a:rPr lang="en-IN" b="1" dirty="0">
                    <a:latin typeface="Times New Roman" panose="02020603050405020304" pitchFamily="18" charset="0"/>
                    <a:cs typeface="Times New Roman" panose="02020603050405020304" pitchFamily="18" charset="0"/>
                  </a:rPr>
                  <a:t>close → value ≈ 1</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If points are </a:t>
                </a:r>
                <a:r>
                  <a:rPr lang="en-IN" b="1" dirty="0">
                    <a:latin typeface="Times New Roman" panose="02020603050405020304" pitchFamily="18" charset="0"/>
                    <a:cs typeface="Times New Roman" panose="02020603050405020304" pitchFamily="18" charset="0"/>
                  </a:rPr>
                  <a:t>far → value ≈ 0</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 [</a:t>
                </a:r>
                <a14:m>
                  <m:oMath xmlns:m="http://schemas.openxmlformats.org/officeDocument/2006/math">
                    <m:sSub>
                      <m:sSubPr>
                        <m:ctrlPr>
                          <a:rPr lang="en-IN" i="1"/>
                        </m:ctrlPr>
                      </m:sSubPr>
                      <m:e>
                        <m:r>
                          <a:rPr lang="en-IN" i="1"/>
                          <m:t>𝑊</m:t>
                        </m:r>
                      </m:e>
                      <m:sub>
                        <m:r>
                          <a:rPr lang="en-IN" i="1"/>
                          <m:t>𝑖𝑙</m:t>
                        </m:r>
                      </m:sub>
                    </m:sSub>
                  </m:oMath>
                </a14:m>
                <a:r>
                  <a:rPr lang="en-IN" dirty="0">
                    <a:latin typeface="Times New Roman" panose="02020603050405020304" pitchFamily="18" charset="0"/>
                    <a:cs typeface="Times New Roman" panose="02020603050405020304" pitchFamily="18" charset="0"/>
                  </a:rPr>
                  <a:t>]</a:t>
                </a:r>
              </a:p>
              <a:p>
                <a:endParaRPr lang="en-IN" dirty="0"/>
              </a:p>
            </p:txBody>
          </p:sp>
        </mc:Choice>
        <mc:Fallback>
          <p:sp>
            <p:nvSpPr>
              <p:cNvPr id="3" name="Content Placeholder 2">
                <a:extLst>
                  <a:ext uri="{FF2B5EF4-FFF2-40B4-BE49-F238E27FC236}">
                    <a16:creationId xmlns:a16="http://schemas.microsoft.com/office/drawing/2014/main" id="{013ED856-E5B3-FEB6-EC84-EDD6248EEB0E}"/>
                  </a:ext>
                </a:extLst>
              </p:cNvPr>
              <p:cNvSpPr>
                <a:spLocks noGrp="1" noRot="1" noChangeAspect="1" noMove="1" noResize="1" noEditPoints="1" noAdjustHandles="1" noChangeArrowheads="1" noChangeShapeType="1" noTextEdit="1"/>
              </p:cNvSpPr>
              <p:nvPr>
                <p:ph idx="1"/>
              </p:nvPr>
            </p:nvSpPr>
            <p:spPr>
              <a:xfrm>
                <a:off x="811763" y="606491"/>
                <a:ext cx="10478278" cy="5551714"/>
              </a:xfrm>
              <a:blipFill>
                <a:blip r:embed="rId2"/>
                <a:stretch>
                  <a:fillRect l="-1047" t="-1537"/>
                </a:stretch>
              </a:blipFill>
            </p:spPr>
            <p:txBody>
              <a:bodyPr/>
              <a:lstStyle/>
              <a:p>
                <a:r>
                  <a:rPr lang="en-IN">
                    <a:noFill/>
                  </a:rPr>
                  <a:t> </a:t>
                </a:r>
              </a:p>
            </p:txBody>
          </p:sp>
        </mc:Fallback>
      </mc:AlternateContent>
    </p:spTree>
    <p:extLst>
      <p:ext uri="{BB962C8B-B14F-4D97-AF65-F5344CB8AC3E}">
        <p14:creationId xmlns:p14="http://schemas.microsoft.com/office/powerpoint/2010/main" val="46615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F3D9EA-FDD8-D548-24D2-9274297DC19E}"/>
                  </a:ext>
                </a:extLst>
              </p:cNvPr>
              <p:cNvSpPr>
                <a:spLocks noGrp="1"/>
              </p:cNvSpPr>
              <p:nvPr>
                <p:ph idx="1"/>
              </p:nvPr>
            </p:nvSpPr>
            <p:spPr>
              <a:xfrm>
                <a:off x="718457" y="569167"/>
                <a:ext cx="10178140" cy="5306701"/>
              </a:xfrm>
            </p:spPr>
            <p:txBody>
              <a:bodyPr>
                <a:normAutofit/>
              </a:bodyPr>
              <a:lstStyle/>
              <a:p>
                <a:r>
                  <a:rPr lang="en-IN" b="1" dirty="0">
                    <a:latin typeface="Times New Roman" panose="02020603050405020304" pitchFamily="18" charset="0"/>
                    <a:cs typeface="Times New Roman" panose="02020603050405020304" pitchFamily="18" charset="0"/>
                  </a:rPr>
                  <a:t>Step 3: Degree Matrix D</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Diagonal matrix </a:t>
                </a:r>
              </a:p>
              <a:p>
                <a:pPr lvl="0"/>
                <a:r>
                  <a:rPr lang="en-IN" dirty="0">
                    <a:latin typeface="Times New Roman" panose="02020603050405020304" pitchFamily="18" charset="0"/>
                    <a:cs typeface="Times New Roman" panose="02020603050405020304" pitchFamily="18" charset="0"/>
                  </a:rPr>
                  <a:t>Each value = sum of similarities of that point</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𝑑</m:t>
                        </m:r>
                      </m:e>
                      <m:sub>
                        <m:r>
                          <a:rPr lang="en-IN" i="1">
                            <a:latin typeface="Cambria Math" panose="02040503050406030204" pitchFamily="18" charset="0"/>
                          </a:rPr>
                          <m:t>𝑖</m:t>
                        </m:r>
                      </m:sub>
                    </m:sSub>
                  </m:oMath>
                </a14:m>
                <a:r>
                  <a:rPr lang="en-IN" dirty="0">
                    <a:latin typeface="Times New Roman" panose="02020603050405020304" pitchFamily="18" charset="0"/>
                    <a:cs typeface="Times New Roman" panose="02020603050405020304" pitchFamily="18" charset="0"/>
                  </a:rPr>
                  <a:t>=</a:t>
                </a:r>
                <a14:m>
                  <m:oMath xmlns:m="http://schemas.openxmlformats.org/officeDocument/2006/math">
                    <m:nary>
                      <m:naryPr>
                        <m:chr m:val="∑"/>
                        <m:limLoc m:val="undOvr"/>
                        <m:subHide m:val="on"/>
                        <m:supHide m:val="on"/>
                        <m:ctrlPr>
                          <a:rPr lang="en-IN" i="1">
                            <a:latin typeface="Cambria Math" panose="02040503050406030204" pitchFamily="18" charset="0"/>
                          </a:rPr>
                        </m:ctrlPr>
                      </m:naryPr>
                      <m:sub/>
                      <m:sup/>
                      <m:e>
                        <m:sSub>
                          <m:sSubPr>
                            <m:ctrlPr>
                              <a:rPr lang="en-IN" i="1">
                                <a:latin typeface="Cambria Math" panose="02040503050406030204" pitchFamily="18" charset="0"/>
                              </a:rPr>
                            </m:ctrlPr>
                          </m:sSubPr>
                          <m:e>
                            <m:r>
                              <a:rPr lang="en-IN" i="1">
                                <a:latin typeface="Cambria Math" panose="02040503050406030204" pitchFamily="18" charset="0"/>
                              </a:rPr>
                              <m:t>𝑊</m:t>
                            </m:r>
                          </m:e>
                          <m:sub>
                            <m:r>
                              <a:rPr lang="en-IN" i="1">
                                <a:latin typeface="Cambria Math" panose="02040503050406030204" pitchFamily="18" charset="0"/>
                              </a:rPr>
                              <m:t>𝑖𝑙</m:t>
                            </m:r>
                          </m:sub>
                        </m:sSub>
                      </m:e>
                    </m:nary>
                  </m:oMath>
                </a14:m>
                <a:endParaRPr lang="en-IN" dirty="0">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Step 4:</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Graph Laplacian (L)</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This matrix identifies the structure of the graph. It is obtained by subtracting the similarity matrix from the degree matrix.</a:t>
                </a:r>
              </a:p>
              <a:p>
                <a:r>
                  <a:rPr lang="en-IN" dirty="0">
                    <a:solidFill>
                      <a:schemeClr val="tx1"/>
                    </a:solidFill>
                    <a:latin typeface="Times New Roman" panose="02020603050405020304" pitchFamily="18" charset="0"/>
                    <a:cs typeface="Times New Roman" panose="02020603050405020304" pitchFamily="18" charset="0"/>
                  </a:rPr>
                  <a:t>L=D−W</a:t>
                </a:r>
              </a:p>
              <a:p>
                <a:pPr lvl="0"/>
                <a:r>
                  <a:rPr lang="en-IN" dirty="0">
                    <a:solidFill>
                      <a:schemeClr val="tx1"/>
                    </a:solidFill>
                    <a:latin typeface="Times New Roman" panose="02020603050405020304" pitchFamily="18" charset="0"/>
                    <a:cs typeface="Times New Roman" panose="02020603050405020304" pitchFamily="18" charset="0"/>
                  </a:rPr>
                  <a:t>Core matrix in Spectral Clustering</a:t>
                </a:r>
              </a:p>
              <a:p>
                <a:pPr lvl="0"/>
                <a:r>
                  <a:rPr lang="en-IN" dirty="0">
                    <a:solidFill>
                      <a:schemeClr val="tx1"/>
                    </a:solidFill>
                    <a:latin typeface="Times New Roman" panose="02020603050405020304" pitchFamily="18" charset="0"/>
                    <a:cs typeface="Times New Roman" panose="02020603050405020304" pitchFamily="18" charset="0"/>
                  </a:rPr>
                  <a:t>Helps identify connected groups</a:t>
                </a:r>
              </a:p>
              <a:p>
                <a:endParaRPr lang="en-IN" dirty="0"/>
              </a:p>
            </p:txBody>
          </p:sp>
        </mc:Choice>
        <mc:Fallback>
          <p:sp>
            <p:nvSpPr>
              <p:cNvPr id="3" name="Content Placeholder 2">
                <a:extLst>
                  <a:ext uri="{FF2B5EF4-FFF2-40B4-BE49-F238E27FC236}">
                    <a16:creationId xmlns:a16="http://schemas.microsoft.com/office/drawing/2014/main" id="{B9F3D9EA-FDD8-D548-24D2-9274297DC19E}"/>
                  </a:ext>
                </a:extLst>
              </p:cNvPr>
              <p:cNvSpPr>
                <a:spLocks noGrp="1" noRot="1" noChangeAspect="1" noMove="1" noResize="1" noEditPoints="1" noAdjustHandles="1" noChangeArrowheads="1" noChangeShapeType="1" noTextEdit="1"/>
              </p:cNvSpPr>
              <p:nvPr>
                <p:ph idx="1"/>
              </p:nvPr>
            </p:nvSpPr>
            <p:spPr>
              <a:xfrm>
                <a:off x="718457" y="569167"/>
                <a:ext cx="10178140" cy="5306701"/>
              </a:xfrm>
              <a:blipFill>
                <a:blip r:embed="rId2"/>
                <a:stretch>
                  <a:fillRect l="-1078" t="-1607"/>
                </a:stretch>
              </a:blipFill>
            </p:spPr>
            <p:txBody>
              <a:bodyPr/>
              <a:lstStyle/>
              <a:p>
                <a:r>
                  <a:rPr lang="en-IN">
                    <a:noFill/>
                  </a:rPr>
                  <a:t> </a:t>
                </a:r>
              </a:p>
            </p:txBody>
          </p:sp>
        </mc:Fallback>
      </mc:AlternateContent>
    </p:spTree>
    <p:extLst>
      <p:ext uri="{BB962C8B-B14F-4D97-AF65-F5344CB8AC3E}">
        <p14:creationId xmlns:p14="http://schemas.microsoft.com/office/powerpoint/2010/main" val="2162529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11F2E1-54E1-B0F0-2A37-46FC880502B3}"/>
              </a:ext>
            </a:extLst>
          </p:cNvPr>
          <p:cNvSpPr>
            <a:spLocks noGrp="1"/>
          </p:cNvSpPr>
          <p:nvPr>
            <p:ph idx="1"/>
          </p:nvPr>
        </p:nvSpPr>
        <p:spPr>
          <a:xfrm>
            <a:off x="709127" y="643812"/>
            <a:ext cx="10187470" cy="5232056"/>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Step 5:</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Eigenvalues &amp; Eigenvectors</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These are mathematical tools used to extract important patterns from the data. They help transform the data into a new space where clusters become clearer.</a:t>
            </a:r>
          </a:p>
          <a:p>
            <a:pPr lvl="0"/>
            <a:r>
              <a:rPr lang="en-IN" dirty="0">
                <a:solidFill>
                  <a:schemeClr val="tx1"/>
                </a:solidFill>
                <a:latin typeface="Times New Roman" panose="02020603050405020304" pitchFamily="18" charset="0"/>
                <a:cs typeface="Times New Roman" panose="02020603050405020304" pitchFamily="18" charset="0"/>
              </a:rPr>
              <a:t>Used for dimensionality reduction</a:t>
            </a:r>
          </a:p>
          <a:p>
            <a:pPr lvl="0"/>
            <a:r>
              <a:rPr lang="en-IN" dirty="0">
                <a:solidFill>
                  <a:schemeClr val="tx1"/>
                </a:solidFill>
                <a:latin typeface="Times New Roman" panose="02020603050405020304" pitchFamily="18" charset="0"/>
                <a:cs typeface="Times New Roman" panose="02020603050405020304" pitchFamily="18" charset="0"/>
              </a:rPr>
              <a:t>Makes clusters easier to separate</a:t>
            </a:r>
          </a:p>
          <a:p>
            <a:r>
              <a:rPr lang="en-IN" dirty="0">
                <a:solidFill>
                  <a:schemeClr val="tx1"/>
                </a:solidFill>
                <a:latin typeface="Times New Roman" panose="02020603050405020304" pitchFamily="18" charset="0"/>
                <a:cs typeface="Times New Roman" panose="02020603050405020304" pitchFamily="18" charset="0"/>
              </a:rPr>
              <a:t>Here, data is transformed into a new lower-dimensional space where points from same cluster move closer.</a:t>
            </a:r>
          </a:p>
          <a:p>
            <a:r>
              <a:rPr lang="en-IN" dirty="0">
                <a:solidFill>
                  <a:schemeClr val="tx1"/>
                </a:solidFill>
                <a:latin typeface="Times New Roman" panose="02020603050405020304" pitchFamily="18" charset="0"/>
                <a:cs typeface="Times New Roman" panose="02020603050405020304" pitchFamily="18" charset="0"/>
              </a:rPr>
              <a:t> </a:t>
            </a:r>
          </a:p>
          <a:p>
            <a:r>
              <a:rPr lang="en-IN" dirty="0">
                <a:solidFill>
                  <a:schemeClr val="tx1"/>
                </a:solidFill>
                <a:latin typeface="Times New Roman" panose="02020603050405020304" pitchFamily="18" charset="0"/>
                <a:cs typeface="Times New Roman" panose="02020603050405020304" pitchFamily="18" charset="0"/>
              </a:rPr>
              <a:t>Step 6: We apply </a:t>
            </a:r>
            <a:r>
              <a:rPr lang="en-IN" u="sng"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K - Means algorithm</a:t>
            </a:r>
            <a:r>
              <a:rPr lang="en-IN" dirty="0">
                <a:solidFill>
                  <a:schemeClr val="tx1"/>
                </a:solidFill>
                <a:latin typeface="Times New Roman" panose="02020603050405020304" pitchFamily="18" charset="0"/>
                <a:cs typeface="Times New Roman" panose="02020603050405020304" pitchFamily="18" charset="0"/>
              </a:rPr>
              <a:t> where clusters become easy to detect.</a:t>
            </a:r>
          </a:p>
          <a:p>
            <a:endParaRPr lang="en-IN" dirty="0"/>
          </a:p>
        </p:txBody>
      </p:sp>
    </p:spTree>
    <p:extLst>
      <p:ext uri="{BB962C8B-B14F-4D97-AF65-F5344CB8AC3E}">
        <p14:creationId xmlns:p14="http://schemas.microsoft.com/office/powerpoint/2010/main" val="4222494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1FA70-0341-6CD0-A3AB-498E5C4F3F4A}"/>
              </a:ext>
            </a:extLst>
          </p:cNvPr>
          <p:cNvSpPr>
            <a:spLocks noGrp="1"/>
          </p:cNvSpPr>
          <p:nvPr>
            <p:ph idx="1"/>
          </p:nvPr>
        </p:nvSpPr>
        <p:spPr>
          <a:xfrm>
            <a:off x="989045" y="849086"/>
            <a:ext cx="9907552" cy="5026782"/>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A Simple Example: The Two Moons</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This is the classic case where Spectral Clustering shines.</a:t>
            </a:r>
          </a:p>
          <a:p>
            <a:r>
              <a:rPr lang="en-IN" b="1" dirty="0">
                <a:solidFill>
                  <a:schemeClr val="tx1"/>
                </a:solidFill>
                <a:latin typeface="Times New Roman" panose="02020603050405020304" pitchFamily="18" charset="0"/>
                <a:cs typeface="Times New Roman" panose="02020603050405020304" pitchFamily="18" charset="0"/>
              </a:rPr>
              <a:t>1. The Original Data:</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Imagine two intertwined crescent moon shapes.</a:t>
            </a:r>
          </a:p>
          <a:p>
            <a:r>
              <a:rPr lang="en-IN" b="1" dirty="0">
                <a:solidFill>
                  <a:schemeClr val="tx1"/>
                </a:solidFill>
                <a:latin typeface="Times New Roman" panose="02020603050405020304" pitchFamily="18" charset="0"/>
                <a:cs typeface="Times New Roman" panose="02020603050405020304" pitchFamily="18" charset="0"/>
              </a:rPr>
              <a:t>2. Why K-Means Fails:</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K-Means will try to find two “</a:t>
            </a:r>
            <a:r>
              <a:rPr lang="en-IN" dirty="0" err="1">
                <a:solidFill>
                  <a:schemeClr val="tx1"/>
                </a:solidFill>
                <a:latin typeface="Times New Roman" panose="02020603050405020304" pitchFamily="18" charset="0"/>
                <a:cs typeface="Times New Roman" panose="02020603050405020304" pitchFamily="18" charset="0"/>
              </a:rPr>
              <a:t>center</a:t>
            </a:r>
            <a:r>
              <a:rPr lang="en-IN" dirty="0">
                <a:solidFill>
                  <a:schemeClr val="tx1"/>
                </a:solidFill>
                <a:latin typeface="Times New Roman" panose="02020603050405020304" pitchFamily="18" charset="0"/>
                <a:cs typeface="Times New Roman" panose="02020603050405020304" pitchFamily="18" charset="0"/>
              </a:rPr>
              <a:t> points.” It will likely split each moon in half and group the closest halves together, completely failing to identify the two distinct moons.</a:t>
            </a:r>
          </a:p>
          <a:p>
            <a:endParaRPr lang="en-IN" dirty="0"/>
          </a:p>
        </p:txBody>
      </p:sp>
    </p:spTree>
    <p:extLst>
      <p:ext uri="{BB962C8B-B14F-4D97-AF65-F5344CB8AC3E}">
        <p14:creationId xmlns:p14="http://schemas.microsoft.com/office/powerpoint/2010/main" val="137624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17E08-5B76-08F8-A2E7-A102000E9C40}"/>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 How Spectral Clustering Succeeds</a:t>
            </a:r>
            <a:br>
              <a:rPr lang="en-IN" dirty="0"/>
            </a:br>
            <a:endParaRPr lang="en-IN" dirty="0"/>
          </a:p>
        </p:txBody>
      </p:sp>
      <p:sp>
        <p:nvSpPr>
          <p:cNvPr id="3" name="Content Placeholder 2">
            <a:extLst>
              <a:ext uri="{FF2B5EF4-FFF2-40B4-BE49-F238E27FC236}">
                <a16:creationId xmlns:a16="http://schemas.microsoft.com/office/drawing/2014/main" id="{68201D93-7A8B-7C45-7A1C-8A9471DAF4AE}"/>
              </a:ext>
            </a:extLst>
          </p:cNvPr>
          <p:cNvSpPr>
            <a:spLocks noGrp="1"/>
          </p:cNvSpPr>
          <p:nvPr>
            <p:ph idx="1"/>
          </p:nvPr>
        </p:nvSpPr>
        <p:spPr>
          <a:xfrm>
            <a:off x="842865" y="2341982"/>
            <a:ext cx="10506269" cy="3808964"/>
          </a:xfrm>
        </p:spPr>
        <p:txBody>
          <a:bodyPr>
            <a:noAutofit/>
          </a:bodyPr>
          <a:lstStyle/>
          <a:p>
            <a:pPr lvl="0"/>
            <a:r>
              <a:rPr lang="en-IN" sz="2200" b="1" dirty="0">
                <a:latin typeface="Times New Roman" panose="02020603050405020304" pitchFamily="18" charset="0"/>
                <a:cs typeface="Times New Roman" panose="02020603050405020304" pitchFamily="18" charset="0"/>
              </a:rPr>
              <a:t>Step 1 (Graph):</a:t>
            </a:r>
            <a:r>
              <a:rPr lang="en-IN" sz="2200" dirty="0">
                <a:latin typeface="Times New Roman" panose="02020603050405020304" pitchFamily="18" charset="0"/>
                <a:cs typeface="Times New Roman" panose="02020603050405020304" pitchFamily="18" charset="0"/>
              </a:rPr>
              <a:t> It builds a graph where points within the same moon have strong connections, but there are almost no connections between the two moons.</a:t>
            </a:r>
          </a:p>
          <a:p>
            <a:pPr lvl="0"/>
            <a:r>
              <a:rPr lang="en-IN" sz="2200" b="1" dirty="0">
                <a:latin typeface="Times New Roman" panose="02020603050405020304" pitchFamily="18" charset="0"/>
                <a:cs typeface="Times New Roman" panose="02020603050405020304" pitchFamily="18" charset="0"/>
              </a:rPr>
              <a:t>Step 2–3 (Laplacian &amp; Eigenvectors):</a:t>
            </a:r>
            <a:r>
              <a:rPr lang="en-IN" sz="2200" dirty="0">
                <a:latin typeface="Times New Roman" panose="02020603050405020304" pitchFamily="18" charset="0"/>
                <a:cs typeface="Times New Roman" panose="02020603050405020304" pitchFamily="18" charset="0"/>
              </a:rPr>
              <a:t> It computes the eigenvectors. The most important eigenvector (called the Fiedler vector) will assign positive values to all points in one moon and negative values to all points in the other moon.</a:t>
            </a:r>
          </a:p>
          <a:p>
            <a:pPr lvl="0"/>
            <a:r>
              <a:rPr lang="en-IN" sz="2200" b="1" dirty="0">
                <a:latin typeface="Times New Roman" panose="02020603050405020304" pitchFamily="18" charset="0"/>
                <a:cs typeface="Times New Roman" panose="02020603050405020304" pitchFamily="18" charset="0"/>
              </a:rPr>
              <a:t>Step 4 (Embedding):</a:t>
            </a:r>
            <a:r>
              <a:rPr lang="en-IN" sz="2200" dirty="0">
                <a:latin typeface="Times New Roman" panose="02020603050405020304" pitchFamily="18" charset="0"/>
                <a:cs typeface="Times New Roman" panose="02020603050405020304" pitchFamily="18" charset="0"/>
              </a:rPr>
              <a:t> It creates a new 1D representation of the data. All points from the first moon are now clustered around a positive number, and all points from the second moon are clustered around a negative number. They are now perfectly separated.</a:t>
            </a:r>
          </a:p>
          <a:p>
            <a:pPr lvl="0"/>
            <a:r>
              <a:rPr lang="en-IN" sz="2200" b="1" dirty="0">
                <a:latin typeface="Times New Roman" panose="02020603050405020304" pitchFamily="18" charset="0"/>
                <a:cs typeface="Times New Roman" panose="02020603050405020304" pitchFamily="18" charset="0"/>
              </a:rPr>
              <a:t>Step 5 (K-Means):</a:t>
            </a:r>
            <a:r>
              <a:rPr lang="en-IN" sz="2200" dirty="0">
                <a:latin typeface="Times New Roman" panose="02020603050405020304" pitchFamily="18" charset="0"/>
                <a:cs typeface="Times New Roman" panose="02020603050405020304" pitchFamily="18" charset="0"/>
              </a:rPr>
              <a:t> Running K-Means on this new 1D data is trivial. It will find the two clusters perfectly.</a:t>
            </a:r>
          </a:p>
        </p:txBody>
      </p:sp>
    </p:spTree>
    <p:extLst>
      <p:ext uri="{BB962C8B-B14F-4D97-AF65-F5344CB8AC3E}">
        <p14:creationId xmlns:p14="http://schemas.microsoft.com/office/powerpoint/2010/main" val="1283049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15244A-4B5A-4F24-AE97-07F8AB1228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94750" y="1025013"/>
            <a:ext cx="9592117" cy="4592016"/>
          </a:xfrm>
          <a:prstGeom prst="rect">
            <a:avLst/>
          </a:prstGeom>
          <a:noFill/>
          <a:ln>
            <a:noFill/>
          </a:ln>
        </p:spPr>
      </p:pic>
    </p:spTree>
    <p:extLst>
      <p:ext uri="{BB962C8B-B14F-4D97-AF65-F5344CB8AC3E}">
        <p14:creationId xmlns:p14="http://schemas.microsoft.com/office/powerpoint/2010/main" val="10918884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10</TotalTime>
  <Words>677</Words>
  <Application>Microsoft Office PowerPoint</Application>
  <PresentationFormat>Widescreen</PresentationFormat>
  <Paragraphs>58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 Math</vt:lpstr>
      <vt:lpstr>Garamond</vt:lpstr>
      <vt:lpstr>Times New Roman</vt:lpstr>
      <vt:lpstr>Organic</vt:lpstr>
      <vt:lpstr>Spectral clustering </vt:lpstr>
      <vt:lpstr>What is spectral clustering</vt:lpstr>
      <vt:lpstr>Types of Spectral Clustering</vt:lpstr>
      <vt:lpstr>Key concept</vt:lpstr>
      <vt:lpstr>PowerPoint Presentation</vt:lpstr>
      <vt:lpstr>PowerPoint Presentation</vt:lpstr>
      <vt:lpstr>PowerPoint Presentation</vt:lpstr>
      <vt:lpstr>PowerPoint Presentation</vt:lpstr>
      <vt:lpstr> How Spectral Clustering Succeeds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1</cp:revision>
  <dcterms:created xsi:type="dcterms:W3CDTF">2026-05-05T04:25:16Z</dcterms:created>
  <dcterms:modified xsi:type="dcterms:W3CDTF">2026-05-05T04:35:44Z</dcterms:modified>
</cp:coreProperties>
</file>