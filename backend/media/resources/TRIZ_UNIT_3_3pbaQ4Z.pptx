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7" r:id="rId2"/>
    <p:sldId id="279" r:id="rId3"/>
    <p:sldId id="280" r:id="rId4"/>
    <p:sldId id="281" r:id="rId5"/>
    <p:sldId id="260" r:id="rId6"/>
    <p:sldId id="291" r:id="rId7"/>
    <p:sldId id="282" r:id="rId8"/>
    <p:sldId id="290" r:id="rId9"/>
    <p:sldId id="289" r:id="rId10"/>
    <p:sldId id="292" r:id="rId11"/>
    <p:sldId id="293" r:id="rId12"/>
    <p:sldId id="294" r:id="rId13"/>
    <p:sldId id="295" r:id="rId14"/>
    <p:sldId id="297" r:id="rId15"/>
    <p:sldId id="298" r:id="rId16"/>
    <p:sldId id="296" r:id="rId17"/>
    <p:sldId id="299" r:id="rId18"/>
    <p:sldId id="303" r:id="rId19"/>
    <p:sldId id="322" r:id="rId20"/>
    <p:sldId id="304" r:id="rId21"/>
    <p:sldId id="306" r:id="rId22"/>
    <p:sldId id="312" r:id="rId23"/>
    <p:sldId id="305" r:id="rId24"/>
    <p:sldId id="307" r:id="rId25"/>
    <p:sldId id="308" r:id="rId26"/>
    <p:sldId id="309" r:id="rId27"/>
    <p:sldId id="314" r:id="rId28"/>
    <p:sldId id="315" r:id="rId29"/>
    <p:sldId id="316" r:id="rId30"/>
    <p:sldId id="317" r:id="rId31"/>
    <p:sldId id="318" r:id="rId32"/>
    <p:sldId id="326" r:id="rId33"/>
    <p:sldId id="324" r:id="rId34"/>
    <p:sldId id="325" r:id="rId35"/>
    <p:sldId id="338" r:id="rId36"/>
    <p:sldId id="327" r:id="rId37"/>
    <p:sldId id="328" r:id="rId38"/>
    <p:sldId id="329" r:id="rId39"/>
    <p:sldId id="330" r:id="rId40"/>
    <p:sldId id="331" r:id="rId41"/>
    <p:sldId id="332" r:id="rId42"/>
    <p:sldId id="333" r:id="rId43"/>
    <p:sldId id="334" r:id="rId44"/>
    <p:sldId id="335" r:id="rId45"/>
    <p:sldId id="336" r:id="rId46"/>
    <p:sldId id="337" r:id="rId47"/>
    <p:sldId id="343" r:id="rId48"/>
    <p:sldId id="339" r:id="rId49"/>
    <p:sldId id="340" r:id="rId50"/>
    <p:sldId id="352" r:id="rId51"/>
    <p:sldId id="353" r:id="rId52"/>
    <p:sldId id="341" r:id="rId53"/>
    <p:sldId id="351" r:id="rId54"/>
    <p:sldId id="342" r:id="rId55"/>
    <p:sldId id="344" r:id="rId56"/>
    <p:sldId id="354" r:id="rId57"/>
    <p:sldId id="345" r:id="rId58"/>
    <p:sldId id="362" r:id="rId59"/>
    <p:sldId id="346" r:id="rId60"/>
    <p:sldId id="363" r:id="rId61"/>
    <p:sldId id="347" r:id="rId62"/>
    <p:sldId id="348" r:id="rId63"/>
    <p:sldId id="368" r:id="rId64"/>
    <p:sldId id="349" r:id="rId65"/>
    <p:sldId id="350" r:id="rId66"/>
    <p:sldId id="369" r:id="rId67"/>
    <p:sldId id="355" r:id="rId68"/>
    <p:sldId id="356" r:id="rId69"/>
    <p:sldId id="357" r:id="rId70"/>
    <p:sldId id="358" r:id="rId71"/>
    <p:sldId id="359" r:id="rId72"/>
    <p:sldId id="360" r:id="rId73"/>
    <p:sldId id="361" r:id="rId74"/>
    <p:sldId id="370" r:id="rId75"/>
    <p:sldId id="371" r:id="rId76"/>
    <p:sldId id="364" r:id="rId77"/>
    <p:sldId id="365" r:id="rId78"/>
    <p:sldId id="366" r:id="rId79"/>
    <p:sldId id="367" r:id="rId80"/>
    <p:sldId id="372" r:id="rId81"/>
    <p:sldId id="373" r:id="rId82"/>
    <p:sldId id="374" r:id="rId83"/>
    <p:sldId id="375" r:id="rId84"/>
    <p:sldId id="376" r:id="rId85"/>
    <p:sldId id="377" r:id="rId86"/>
    <p:sldId id="387" r:id="rId87"/>
    <p:sldId id="388" r:id="rId88"/>
    <p:sldId id="378" r:id="rId89"/>
    <p:sldId id="379" r:id="rId90"/>
    <p:sldId id="380" r:id="rId91"/>
    <p:sldId id="381" r:id="rId92"/>
    <p:sldId id="382" r:id="rId93"/>
    <p:sldId id="383" r:id="rId94"/>
    <p:sldId id="384" r:id="rId95"/>
    <p:sldId id="386" r:id="rId96"/>
    <p:sldId id="389" r:id="rId97"/>
    <p:sldId id="385" r:id="rId98"/>
    <p:sldId id="391" r:id="rId99"/>
    <p:sldId id="392" r:id="rId100"/>
    <p:sldId id="390"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916A41-B20E-44B0-945E-179A00F501ED}" v="309" dt="2024-10-07T10:18:59.6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6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y selvaraj" userId="4d49fad086e24264" providerId="LiveId" clId="{EF916A41-B20E-44B0-945E-179A00F501ED}"/>
    <pc:docChg chg="undo custSel addSld modSld sldOrd">
      <pc:chgData name="jessy selvaraj" userId="4d49fad086e24264" providerId="LiveId" clId="{EF916A41-B20E-44B0-945E-179A00F501ED}" dt="2024-10-23T07:05:33.060" v="2091" actId="1036"/>
      <pc:docMkLst>
        <pc:docMk/>
      </pc:docMkLst>
      <pc:sldChg chg="modSp mod">
        <pc:chgData name="jessy selvaraj" userId="4d49fad086e24264" providerId="LiveId" clId="{EF916A41-B20E-44B0-945E-179A00F501ED}" dt="2024-09-20T07:00:55.172" v="218" actId="20577"/>
        <pc:sldMkLst>
          <pc:docMk/>
          <pc:sldMk cId="40485188" sldId="345"/>
        </pc:sldMkLst>
        <pc:spChg chg="mod">
          <ac:chgData name="jessy selvaraj" userId="4d49fad086e24264" providerId="LiveId" clId="{EF916A41-B20E-44B0-945E-179A00F501ED}" dt="2024-09-20T07:00:55.172" v="218" actId="20577"/>
          <ac:spMkLst>
            <pc:docMk/>
            <pc:sldMk cId="40485188" sldId="345"/>
            <ac:spMk id="3" creationId="{607E5D0A-C745-AB51-D431-01C209FDDBDC}"/>
          </ac:spMkLst>
        </pc:spChg>
      </pc:sldChg>
      <pc:sldChg chg="modSp mod">
        <pc:chgData name="jessy selvaraj" userId="4d49fad086e24264" providerId="LiveId" clId="{EF916A41-B20E-44B0-945E-179A00F501ED}" dt="2024-09-20T07:01:14.886" v="220" actId="20577"/>
        <pc:sldMkLst>
          <pc:docMk/>
          <pc:sldMk cId="2197743169" sldId="346"/>
        </pc:sldMkLst>
        <pc:spChg chg="mod">
          <ac:chgData name="jessy selvaraj" userId="4d49fad086e24264" providerId="LiveId" clId="{EF916A41-B20E-44B0-945E-179A00F501ED}" dt="2024-09-20T07:01:14.886" v="220" actId="20577"/>
          <ac:spMkLst>
            <pc:docMk/>
            <pc:sldMk cId="2197743169" sldId="346"/>
            <ac:spMk id="3" creationId="{C97C9891-60CF-CE7A-2DFC-0BC70657EEB3}"/>
          </ac:spMkLst>
        </pc:spChg>
      </pc:sldChg>
      <pc:sldChg chg="modSp mod">
        <pc:chgData name="jessy selvaraj" userId="4d49fad086e24264" providerId="LiveId" clId="{EF916A41-B20E-44B0-945E-179A00F501ED}" dt="2024-09-20T07:01:29.860" v="222" actId="20577"/>
        <pc:sldMkLst>
          <pc:docMk/>
          <pc:sldMk cId="932439293" sldId="347"/>
        </pc:sldMkLst>
        <pc:spChg chg="mod">
          <ac:chgData name="jessy selvaraj" userId="4d49fad086e24264" providerId="LiveId" clId="{EF916A41-B20E-44B0-945E-179A00F501ED}" dt="2024-09-20T07:01:29.860" v="222" actId="20577"/>
          <ac:spMkLst>
            <pc:docMk/>
            <pc:sldMk cId="932439293" sldId="347"/>
            <ac:spMk id="3" creationId="{7D1853EC-B3DF-E590-E7ED-EF825825E9FE}"/>
          </ac:spMkLst>
        </pc:spChg>
      </pc:sldChg>
      <pc:sldChg chg="modSp mod">
        <pc:chgData name="jessy selvaraj" userId="4d49fad086e24264" providerId="LiveId" clId="{EF916A41-B20E-44B0-945E-179A00F501ED}" dt="2024-09-20T07:01:41.321" v="225" actId="20577"/>
        <pc:sldMkLst>
          <pc:docMk/>
          <pc:sldMk cId="1411590659" sldId="348"/>
        </pc:sldMkLst>
        <pc:spChg chg="mod">
          <ac:chgData name="jessy selvaraj" userId="4d49fad086e24264" providerId="LiveId" clId="{EF916A41-B20E-44B0-945E-179A00F501ED}" dt="2024-09-20T07:01:41.321" v="225" actId="20577"/>
          <ac:spMkLst>
            <pc:docMk/>
            <pc:sldMk cId="1411590659" sldId="348"/>
            <ac:spMk id="3" creationId="{F4BC24B9-BA35-4381-54EA-15E6324D4CA7}"/>
          </ac:spMkLst>
        </pc:spChg>
      </pc:sldChg>
      <pc:sldChg chg="modSp mod">
        <pc:chgData name="jessy selvaraj" userId="4d49fad086e24264" providerId="LiveId" clId="{EF916A41-B20E-44B0-945E-179A00F501ED}" dt="2024-09-20T07:01:52.918" v="228" actId="20577"/>
        <pc:sldMkLst>
          <pc:docMk/>
          <pc:sldMk cId="3290505489" sldId="349"/>
        </pc:sldMkLst>
        <pc:spChg chg="mod">
          <ac:chgData name="jessy selvaraj" userId="4d49fad086e24264" providerId="LiveId" clId="{EF916A41-B20E-44B0-945E-179A00F501ED}" dt="2024-09-20T07:01:52.918" v="228" actId="20577"/>
          <ac:spMkLst>
            <pc:docMk/>
            <pc:sldMk cId="3290505489" sldId="349"/>
            <ac:spMk id="8" creationId="{0EC5C044-CC1D-5835-65DD-1ABF8278514F}"/>
          </ac:spMkLst>
        </pc:spChg>
      </pc:sldChg>
      <pc:sldChg chg="modSp mod">
        <pc:chgData name="jessy selvaraj" userId="4d49fad086e24264" providerId="LiveId" clId="{EF916A41-B20E-44B0-945E-179A00F501ED}" dt="2024-09-20T07:02:03.074" v="231" actId="20577"/>
        <pc:sldMkLst>
          <pc:docMk/>
          <pc:sldMk cId="4278172757" sldId="350"/>
        </pc:sldMkLst>
        <pc:spChg chg="mod">
          <ac:chgData name="jessy selvaraj" userId="4d49fad086e24264" providerId="LiveId" clId="{EF916A41-B20E-44B0-945E-179A00F501ED}" dt="2024-09-20T07:02:03.074" v="231" actId="20577"/>
          <ac:spMkLst>
            <pc:docMk/>
            <pc:sldMk cId="4278172757" sldId="350"/>
            <ac:spMk id="10" creationId="{35D1439B-DD0E-E086-3179-0713F560E6B8}"/>
          </ac:spMkLst>
        </pc:spChg>
      </pc:sldChg>
      <pc:sldChg chg="modSp mod">
        <pc:chgData name="jessy selvaraj" userId="4d49fad086e24264" providerId="LiveId" clId="{EF916A41-B20E-44B0-945E-179A00F501ED}" dt="2024-09-20T07:02:13.847" v="234" actId="20577"/>
        <pc:sldMkLst>
          <pc:docMk/>
          <pc:sldMk cId="3115909729" sldId="355"/>
        </pc:sldMkLst>
        <pc:spChg chg="mod">
          <ac:chgData name="jessy selvaraj" userId="4d49fad086e24264" providerId="LiveId" clId="{EF916A41-B20E-44B0-945E-179A00F501ED}" dt="2024-09-20T07:02:13.847" v="234" actId="20577"/>
          <ac:spMkLst>
            <pc:docMk/>
            <pc:sldMk cId="3115909729" sldId="355"/>
            <ac:spMk id="3" creationId="{13B0B70F-BBB1-E701-760C-4B17623D62D3}"/>
          </ac:spMkLst>
        </pc:spChg>
      </pc:sldChg>
      <pc:sldChg chg="modSp mod">
        <pc:chgData name="jessy selvaraj" userId="4d49fad086e24264" providerId="LiveId" clId="{EF916A41-B20E-44B0-945E-179A00F501ED}" dt="2024-09-23T05:56:34.132" v="718" actId="20577"/>
        <pc:sldMkLst>
          <pc:docMk/>
          <pc:sldMk cId="1498904740" sldId="357"/>
        </pc:sldMkLst>
        <pc:spChg chg="mod">
          <ac:chgData name="jessy selvaraj" userId="4d49fad086e24264" providerId="LiveId" clId="{EF916A41-B20E-44B0-945E-179A00F501ED}" dt="2024-09-20T07:02:23.244" v="237" actId="20577"/>
          <ac:spMkLst>
            <pc:docMk/>
            <pc:sldMk cId="1498904740" sldId="357"/>
            <ac:spMk id="3" creationId="{4390934D-C865-8261-616D-A90C75EDD87F}"/>
          </ac:spMkLst>
        </pc:spChg>
        <pc:spChg chg="mod">
          <ac:chgData name="jessy selvaraj" userId="4d49fad086e24264" providerId="LiveId" clId="{EF916A41-B20E-44B0-945E-179A00F501ED}" dt="2024-09-23T05:56:34.132" v="718" actId="20577"/>
          <ac:spMkLst>
            <pc:docMk/>
            <pc:sldMk cId="1498904740" sldId="357"/>
            <ac:spMk id="7" creationId="{97D65A58-1251-3EC7-C74A-10468F6BEFCC}"/>
          </ac:spMkLst>
        </pc:spChg>
      </pc:sldChg>
      <pc:sldChg chg="modSp mod">
        <pc:chgData name="jessy selvaraj" userId="4d49fad086e24264" providerId="LiveId" clId="{EF916A41-B20E-44B0-945E-179A00F501ED}" dt="2024-09-20T07:05:32.154" v="241" actId="20577"/>
        <pc:sldMkLst>
          <pc:docMk/>
          <pc:sldMk cId="4231272622" sldId="358"/>
        </pc:sldMkLst>
        <pc:spChg chg="mod">
          <ac:chgData name="jessy selvaraj" userId="4d49fad086e24264" providerId="LiveId" clId="{EF916A41-B20E-44B0-945E-179A00F501ED}" dt="2024-09-20T07:05:32.154" v="241" actId="20577"/>
          <ac:spMkLst>
            <pc:docMk/>
            <pc:sldMk cId="4231272622" sldId="358"/>
            <ac:spMk id="3" creationId="{4A2EBEDA-0324-63DB-2A16-D9600A38D01D}"/>
          </ac:spMkLst>
        </pc:spChg>
      </pc:sldChg>
      <pc:sldChg chg="modSp mod">
        <pc:chgData name="jessy selvaraj" userId="4d49fad086e24264" providerId="LiveId" clId="{EF916A41-B20E-44B0-945E-179A00F501ED}" dt="2024-09-30T05:06:44.930" v="1714" actId="20577"/>
        <pc:sldMkLst>
          <pc:docMk/>
          <pc:sldMk cId="3345785629" sldId="360"/>
        </pc:sldMkLst>
        <pc:spChg chg="mod">
          <ac:chgData name="jessy selvaraj" userId="4d49fad086e24264" providerId="LiveId" clId="{EF916A41-B20E-44B0-945E-179A00F501ED}" dt="2024-09-30T05:06:44.930" v="1714" actId="20577"/>
          <ac:spMkLst>
            <pc:docMk/>
            <pc:sldMk cId="3345785629" sldId="360"/>
            <ac:spMk id="3" creationId="{92BBCA58-6A8D-8EA3-CB67-2116B306A1B5}"/>
          </ac:spMkLst>
        </pc:spChg>
      </pc:sldChg>
      <pc:sldChg chg="addSp modSp mod">
        <pc:chgData name="jessy selvaraj" userId="4d49fad086e24264" providerId="LiveId" clId="{EF916A41-B20E-44B0-945E-179A00F501ED}" dt="2024-09-30T05:23:02.128" v="1716" actId="20577"/>
        <pc:sldMkLst>
          <pc:docMk/>
          <pc:sldMk cId="476355838" sldId="364"/>
        </pc:sldMkLst>
        <pc:spChg chg="mod">
          <ac:chgData name="jessy selvaraj" userId="4d49fad086e24264" providerId="LiveId" clId="{EF916A41-B20E-44B0-945E-179A00F501ED}" dt="2024-09-30T05:23:02.128" v="1716" actId="20577"/>
          <ac:spMkLst>
            <pc:docMk/>
            <pc:sldMk cId="476355838" sldId="364"/>
            <ac:spMk id="3" creationId="{43D16D69-EEAA-39AD-B30A-F3C310C3A684}"/>
          </ac:spMkLst>
        </pc:spChg>
        <pc:spChg chg="mod">
          <ac:chgData name="jessy selvaraj" userId="4d49fad086e24264" providerId="LiveId" clId="{EF916A41-B20E-44B0-945E-179A00F501ED}" dt="2024-09-23T10:28:53.864" v="1062" actId="14100"/>
          <ac:spMkLst>
            <pc:docMk/>
            <pc:sldMk cId="476355838" sldId="364"/>
            <ac:spMk id="5" creationId="{E30BECE3-DC71-3307-D47F-701F9B7BE4E6}"/>
          </ac:spMkLst>
        </pc:spChg>
        <pc:picChg chg="add mod">
          <ac:chgData name="jessy selvaraj" userId="4d49fad086e24264" providerId="LiveId" clId="{EF916A41-B20E-44B0-945E-179A00F501ED}" dt="2024-09-23T10:29:03.295" v="1064" actId="1076"/>
          <ac:picMkLst>
            <pc:docMk/>
            <pc:sldMk cId="476355838" sldId="364"/>
            <ac:picMk id="2" creationId="{FA795A9E-CE07-2376-843D-94E425904BA0}"/>
          </ac:picMkLst>
        </pc:picChg>
      </pc:sldChg>
      <pc:sldChg chg="modSp mod">
        <pc:chgData name="jessy selvaraj" userId="4d49fad086e24264" providerId="LiveId" clId="{EF916A41-B20E-44B0-945E-179A00F501ED}" dt="2024-09-23T10:32:04.606" v="1082" actId="20577"/>
        <pc:sldMkLst>
          <pc:docMk/>
          <pc:sldMk cId="128158376" sldId="365"/>
        </pc:sldMkLst>
        <pc:spChg chg="mod">
          <ac:chgData name="jessy selvaraj" userId="4d49fad086e24264" providerId="LiveId" clId="{EF916A41-B20E-44B0-945E-179A00F501ED}" dt="2024-09-23T10:32:04.606" v="1082" actId="20577"/>
          <ac:spMkLst>
            <pc:docMk/>
            <pc:sldMk cId="128158376" sldId="365"/>
            <ac:spMk id="2" creationId="{685858A9-C916-0953-06AA-28194CCF7C54}"/>
          </ac:spMkLst>
        </pc:spChg>
        <pc:picChg chg="mod">
          <ac:chgData name="jessy selvaraj" userId="4d49fad086e24264" providerId="LiveId" clId="{EF916A41-B20E-44B0-945E-179A00F501ED}" dt="2024-09-23T04:44:43.382" v="360" actId="1076"/>
          <ac:picMkLst>
            <pc:docMk/>
            <pc:sldMk cId="128158376" sldId="365"/>
            <ac:picMk id="4098" creationId="{AAB52EB8-FF38-B143-A739-F887C839BCE4}"/>
          </ac:picMkLst>
        </pc:picChg>
      </pc:sldChg>
      <pc:sldChg chg="addSp modSp mod">
        <pc:chgData name="jessy selvaraj" userId="4d49fad086e24264" providerId="LiveId" clId="{EF916A41-B20E-44B0-945E-179A00F501ED}" dt="2024-09-30T05:28:57.623" v="1722" actId="20577"/>
        <pc:sldMkLst>
          <pc:docMk/>
          <pc:sldMk cId="580351654" sldId="366"/>
        </pc:sldMkLst>
        <pc:spChg chg="mod">
          <ac:chgData name="jessy selvaraj" userId="4d49fad086e24264" providerId="LiveId" clId="{EF916A41-B20E-44B0-945E-179A00F501ED}" dt="2024-09-30T05:28:57.623" v="1722" actId="20577"/>
          <ac:spMkLst>
            <pc:docMk/>
            <pc:sldMk cId="580351654" sldId="366"/>
            <ac:spMk id="3" creationId="{26A38FF1-46D5-EE45-717B-EB1797E50E0B}"/>
          </ac:spMkLst>
        </pc:spChg>
        <pc:spChg chg="add mod">
          <ac:chgData name="jessy selvaraj" userId="4d49fad086e24264" providerId="LiveId" clId="{EF916A41-B20E-44B0-945E-179A00F501ED}" dt="2024-09-23T10:37:47.999" v="1099" actId="207"/>
          <ac:spMkLst>
            <pc:docMk/>
            <pc:sldMk cId="580351654" sldId="366"/>
            <ac:spMk id="4" creationId="{46EC6039-0EDA-B155-2BDD-21E89A3D53A8}"/>
          </ac:spMkLst>
        </pc:spChg>
        <pc:spChg chg="add mod">
          <ac:chgData name="jessy selvaraj" userId="4d49fad086e24264" providerId="LiveId" clId="{EF916A41-B20E-44B0-945E-179A00F501ED}" dt="2024-09-23T10:39:14.557" v="1104" actId="1036"/>
          <ac:spMkLst>
            <pc:docMk/>
            <pc:sldMk cId="580351654" sldId="366"/>
            <ac:spMk id="6" creationId="{C35EBAAB-7A5B-1A50-1F0E-C7782470B9D1}"/>
          </ac:spMkLst>
        </pc:spChg>
        <pc:picChg chg="add mod">
          <ac:chgData name="jessy selvaraj" userId="4d49fad086e24264" providerId="LiveId" clId="{EF916A41-B20E-44B0-945E-179A00F501ED}" dt="2024-09-23T10:38:45.276" v="1101" actId="1036"/>
          <ac:picMkLst>
            <pc:docMk/>
            <pc:sldMk cId="580351654" sldId="366"/>
            <ac:picMk id="1026" creationId="{2A46E107-A054-C1D9-4D9F-6FF1D09691FB}"/>
          </ac:picMkLst>
        </pc:picChg>
        <pc:picChg chg="add mod">
          <ac:chgData name="jessy selvaraj" userId="4d49fad086e24264" providerId="LiveId" clId="{EF916A41-B20E-44B0-945E-179A00F501ED}" dt="2024-09-23T10:36:52.370" v="1088" actId="1076"/>
          <ac:picMkLst>
            <pc:docMk/>
            <pc:sldMk cId="580351654" sldId="366"/>
            <ac:picMk id="4098" creationId="{675A2DB8-820A-ABB2-7010-64ED49EEE0D2}"/>
          </ac:picMkLst>
        </pc:picChg>
        <pc:picChg chg="add mod">
          <ac:chgData name="jessy selvaraj" userId="4d49fad086e24264" providerId="LiveId" clId="{EF916A41-B20E-44B0-945E-179A00F501ED}" dt="2024-09-23T10:37:25.158" v="1098" actId="14100"/>
          <ac:picMkLst>
            <pc:docMk/>
            <pc:sldMk cId="580351654" sldId="366"/>
            <ac:picMk id="4100" creationId="{7ACB21BD-3A28-8C6E-858A-DB216FF737F1}"/>
          </ac:picMkLst>
        </pc:picChg>
      </pc:sldChg>
      <pc:sldChg chg="addSp modSp mod">
        <pc:chgData name="jessy selvaraj" userId="4d49fad086e24264" providerId="LiveId" clId="{EF916A41-B20E-44B0-945E-179A00F501ED}" dt="2024-10-09T06:06:48.507" v="2056" actId="207"/>
        <pc:sldMkLst>
          <pc:docMk/>
          <pc:sldMk cId="456749500" sldId="367"/>
        </pc:sldMkLst>
        <pc:spChg chg="mod">
          <ac:chgData name="jessy selvaraj" userId="4d49fad086e24264" providerId="LiveId" clId="{EF916A41-B20E-44B0-945E-179A00F501ED}" dt="2024-10-09T06:06:48.507" v="2056" actId="207"/>
          <ac:spMkLst>
            <pc:docMk/>
            <pc:sldMk cId="456749500" sldId="367"/>
            <ac:spMk id="3" creationId="{1C885D31-FDA3-FB45-DCD9-554C3CCE6CE6}"/>
          </ac:spMkLst>
        </pc:spChg>
        <pc:picChg chg="add mod">
          <ac:chgData name="jessy selvaraj" userId="4d49fad086e24264" providerId="LiveId" clId="{EF916A41-B20E-44B0-945E-179A00F501ED}" dt="2024-09-23T11:18:20.129" v="1117" actId="14100"/>
          <ac:picMkLst>
            <pc:docMk/>
            <pc:sldMk cId="456749500" sldId="367"/>
            <ac:picMk id="2050" creationId="{0196336E-41DA-15F7-39C6-023FB9CDE07D}"/>
          </ac:picMkLst>
        </pc:picChg>
        <pc:picChg chg="add mod">
          <ac:chgData name="jessy selvaraj" userId="4d49fad086e24264" providerId="LiveId" clId="{EF916A41-B20E-44B0-945E-179A00F501ED}" dt="2024-09-23T11:11:46.152" v="1116" actId="1076"/>
          <ac:picMkLst>
            <pc:docMk/>
            <pc:sldMk cId="456749500" sldId="367"/>
            <ac:picMk id="2052" creationId="{875E9F61-F754-5E79-AE95-15D700861763}"/>
          </ac:picMkLst>
        </pc:picChg>
      </pc:sldChg>
      <pc:sldChg chg="addSp delSp modSp new mod">
        <pc:chgData name="jessy selvaraj" userId="4d49fad086e24264" providerId="LiveId" clId="{EF916A41-B20E-44B0-945E-179A00F501ED}" dt="2024-09-23T04:12:19.744" v="325" actId="20577"/>
        <pc:sldMkLst>
          <pc:docMk/>
          <pc:sldMk cId="1794529986" sldId="370"/>
        </pc:sldMkLst>
        <pc:spChg chg="add mod">
          <ac:chgData name="jessy selvaraj" userId="4d49fad086e24264" providerId="LiveId" clId="{EF916A41-B20E-44B0-945E-179A00F501ED}" dt="2024-09-19T09:04:02.500" v="117" actId="1076"/>
          <ac:spMkLst>
            <pc:docMk/>
            <pc:sldMk cId="1794529986" sldId="370"/>
            <ac:spMk id="2" creationId="{CE8A19E6-73D2-402A-EDA2-6C76A0B9B722}"/>
          </ac:spMkLst>
        </pc:spChg>
        <pc:spChg chg="add mod">
          <ac:chgData name="jessy selvaraj" userId="4d49fad086e24264" providerId="LiveId" clId="{EF916A41-B20E-44B0-945E-179A00F501ED}" dt="2024-09-23T04:12:19.744" v="325" actId="20577"/>
          <ac:spMkLst>
            <pc:docMk/>
            <pc:sldMk cId="1794529986" sldId="370"/>
            <ac:spMk id="3" creationId="{6B241131-A8F2-B332-EFD6-59087E320BD2}"/>
          </ac:spMkLst>
        </pc:spChg>
        <pc:spChg chg="add del mod">
          <ac:chgData name="jessy selvaraj" userId="4d49fad086e24264" providerId="LiveId" clId="{EF916A41-B20E-44B0-945E-179A00F501ED}" dt="2024-09-19T09:03:53.121" v="116" actId="478"/>
          <ac:spMkLst>
            <pc:docMk/>
            <pc:sldMk cId="1794529986" sldId="370"/>
            <ac:spMk id="5" creationId="{51813862-A9ED-6CAD-80AA-2B422D21A7F6}"/>
          </ac:spMkLst>
        </pc:spChg>
        <pc:spChg chg="add mod">
          <ac:chgData name="jessy selvaraj" userId="4d49fad086e24264" providerId="LiveId" clId="{EF916A41-B20E-44B0-945E-179A00F501ED}" dt="2024-09-19T03:47:44.404" v="51"/>
          <ac:spMkLst>
            <pc:docMk/>
            <pc:sldMk cId="1794529986" sldId="370"/>
            <ac:spMk id="8" creationId="{8C4BF3AE-CD21-BF7B-8D84-56B4D5162114}"/>
          </ac:spMkLst>
        </pc:spChg>
        <pc:spChg chg="add mod">
          <ac:chgData name="jessy selvaraj" userId="4d49fad086e24264" providerId="LiveId" clId="{EF916A41-B20E-44B0-945E-179A00F501ED}" dt="2024-09-19T03:48:24.859" v="56" actId="255"/>
          <ac:spMkLst>
            <pc:docMk/>
            <pc:sldMk cId="1794529986" sldId="370"/>
            <ac:spMk id="10" creationId="{DFF97D02-0E61-A7EF-586C-688278038054}"/>
          </ac:spMkLst>
        </pc:spChg>
        <pc:spChg chg="add del mod">
          <ac:chgData name="jessy selvaraj" userId="4d49fad086e24264" providerId="LiveId" clId="{EF916A41-B20E-44B0-945E-179A00F501ED}" dt="2024-09-19T08:32:20.957" v="72" actId="21"/>
          <ac:spMkLst>
            <pc:docMk/>
            <pc:sldMk cId="1794529986" sldId="370"/>
            <ac:spMk id="12" creationId="{86555DE9-80CB-C002-CDDB-C09949BEA299}"/>
          </ac:spMkLst>
        </pc:spChg>
        <pc:grpChg chg="add mod">
          <ac:chgData name="jessy selvaraj" userId="4d49fad086e24264" providerId="LiveId" clId="{EF916A41-B20E-44B0-945E-179A00F501ED}" dt="2024-09-19T09:04:09.560" v="119" actId="1076"/>
          <ac:grpSpMkLst>
            <pc:docMk/>
            <pc:sldMk cId="1794529986" sldId="370"/>
            <ac:grpSpMk id="6" creationId="{A22FC8AE-9C4F-17D9-4667-D4080AD54ABD}"/>
          </ac:grpSpMkLst>
        </pc:grpChg>
        <pc:picChg chg="add mod">
          <ac:chgData name="jessy selvaraj" userId="4d49fad086e24264" providerId="LiveId" clId="{EF916A41-B20E-44B0-945E-179A00F501ED}" dt="2024-09-19T09:09:45.883" v="133" actId="1076"/>
          <ac:picMkLst>
            <pc:docMk/>
            <pc:sldMk cId="1794529986" sldId="370"/>
            <ac:picMk id="4" creationId="{29E32D59-1C2B-3544-1D25-16CABCEE9FA4}"/>
          </ac:picMkLst>
        </pc:picChg>
        <pc:picChg chg="add mod">
          <ac:chgData name="jessy selvaraj" userId="4d49fad086e24264" providerId="LiveId" clId="{EF916A41-B20E-44B0-945E-179A00F501ED}" dt="2024-09-19T03:47:44.404" v="51"/>
          <ac:picMkLst>
            <pc:docMk/>
            <pc:sldMk cId="1794529986" sldId="370"/>
            <ac:picMk id="7" creationId="{0E08E14F-8698-3BC6-0FC0-8199A902FE97}"/>
          </ac:picMkLst>
        </pc:picChg>
        <pc:picChg chg="add del mod">
          <ac:chgData name="jessy selvaraj" userId="4d49fad086e24264" providerId="LiveId" clId="{EF916A41-B20E-44B0-945E-179A00F501ED}" dt="2024-09-19T09:04:04.854" v="118" actId="478"/>
          <ac:picMkLst>
            <pc:docMk/>
            <pc:sldMk cId="1794529986" sldId="370"/>
            <ac:picMk id="1026" creationId="{1B85155E-BB6A-EED6-BB2B-0F5A001F617E}"/>
          </ac:picMkLst>
        </pc:picChg>
        <pc:picChg chg="add del mod">
          <ac:chgData name="jessy selvaraj" userId="4d49fad086e24264" providerId="LiveId" clId="{EF916A41-B20E-44B0-945E-179A00F501ED}" dt="2024-09-19T09:09:18.682" v="127" actId="21"/>
          <ac:picMkLst>
            <pc:docMk/>
            <pc:sldMk cId="1794529986" sldId="370"/>
            <ac:picMk id="2050" creationId="{D398C921-BAC3-6529-7938-A36B02350F52}"/>
          </ac:picMkLst>
        </pc:picChg>
      </pc:sldChg>
      <pc:sldChg chg="addSp delSp modSp new mod">
        <pc:chgData name="jessy selvaraj" userId="4d49fad086e24264" providerId="LiveId" clId="{EF916A41-B20E-44B0-945E-179A00F501ED}" dt="2024-09-23T10:12:18.362" v="1058" actId="20577"/>
        <pc:sldMkLst>
          <pc:docMk/>
          <pc:sldMk cId="2833866673" sldId="371"/>
        </pc:sldMkLst>
        <pc:spChg chg="add del mod">
          <ac:chgData name="jessy selvaraj" userId="4d49fad086e24264" providerId="LiveId" clId="{EF916A41-B20E-44B0-945E-179A00F501ED}" dt="2024-09-19T08:32:30.729" v="74" actId="21"/>
          <ac:spMkLst>
            <pc:docMk/>
            <pc:sldMk cId="2833866673" sldId="371"/>
            <ac:spMk id="3" creationId="{CE8A19E6-73D2-402A-EDA2-6C76A0B9B722}"/>
          </ac:spMkLst>
        </pc:spChg>
        <pc:spChg chg="add mod">
          <ac:chgData name="jessy selvaraj" userId="4d49fad086e24264" providerId="LiveId" clId="{EF916A41-B20E-44B0-945E-179A00F501ED}" dt="2024-09-19T09:03:34.336" v="115" actId="1076"/>
          <ac:spMkLst>
            <pc:docMk/>
            <pc:sldMk cId="2833866673" sldId="371"/>
            <ac:spMk id="5" creationId="{586CCD62-C15B-5684-E42C-E254C00BBC51}"/>
          </ac:spMkLst>
        </pc:spChg>
        <pc:spChg chg="add mod">
          <ac:chgData name="jessy selvaraj" userId="4d49fad086e24264" providerId="LiveId" clId="{EF916A41-B20E-44B0-945E-179A00F501ED}" dt="2024-09-23T10:12:18.362" v="1058" actId="20577"/>
          <ac:spMkLst>
            <pc:docMk/>
            <pc:sldMk cId="2833866673" sldId="371"/>
            <ac:spMk id="12" creationId="{86555DE9-80CB-C002-CDDB-C09949BEA299}"/>
          </ac:spMkLst>
        </pc:spChg>
        <pc:picChg chg="add mod">
          <ac:chgData name="jessy selvaraj" userId="4d49fad086e24264" providerId="LiveId" clId="{EF916A41-B20E-44B0-945E-179A00F501ED}" dt="2024-09-19T09:02:30.684" v="96" actId="14100"/>
          <ac:picMkLst>
            <pc:docMk/>
            <pc:sldMk cId="2833866673" sldId="371"/>
            <ac:picMk id="4" creationId="{D2A12994-796F-1157-8447-1ED09356C4D3}"/>
          </ac:picMkLst>
        </pc:picChg>
        <pc:picChg chg="add del mod">
          <ac:chgData name="jessy selvaraj" userId="4d49fad086e24264" providerId="LiveId" clId="{EF916A41-B20E-44B0-945E-179A00F501ED}" dt="2024-09-19T09:09:09.891" v="125" actId="21"/>
          <ac:picMkLst>
            <pc:docMk/>
            <pc:sldMk cId="2833866673" sldId="371"/>
            <ac:picMk id="1026" creationId="{29E32D59-1C2B-3544-1D25-16CABCEE9FA4}"/>
          </ac:picMkLst>
        </pc:picChg>
        <pc:picChg chg="add mod">
          <ac:chgData name="jessy selvaraj" userId="4d49fad086e24264" providerId="LiveId" clId="{EF916A41-B20E-44B0-945E-179A00F501ED}" dt="2024-09-23T04:29:20.750" v="332" actId="1076"/>
          <ac:picMkLst>
            <pc:docMk/>
            <pc:sldMk cId="2833866673" sldId="371"/>
            <ac:picMk id="1026" creationId="{AF20C241-D198-37C1-527B-08FB126831FF}"/>
          </ac:picMkLst>
        </pc:picChg>
        <pc:picChg chg="add del mod">
          <ac:chgData name="jessy selvaraj" userId="4d49fad086e24264" providerId="LiveId" clId="{EF916A41-B20E-44B0-945E-179A00F501ED}" dt="2024-09-23T04:28:22.354" v="326" actId="478"/>
          <ac:picMkLst>
            <pc:docMk/>
            <pc:sldMk cId="2833866673" sldId="371"/>
            <ac:picMk id="2050" creationId="{D398C921-BAC3-6529-7938-A36B02350F52}"/>
          </ac:picMkLst>
        </pc:picChg>
      </pc:sldChg>
      <pc:sldChg chg="addSp modSp new mod">
        <pc:chgData name="jessy selvaraj" userId="4d49fad086e24264" providerId="LiveId" clId="{EF916A41-B20E-44B0-945E-179A00F501ED}" dt="2024-09-30T05:29:07.159" v="1724" actId="20577"/>
        <pc:sldMkLst>
          <pc:docMk/>
          <pc:sldMk cId="2847170571" sldId="372"/>
        </pc:sldMkLst>
        <pc:spChg chg="add mod">
          <ac:chgData name="jessy selvaraj" userId="4d49fad086e24264" providerId="LiveId" clId="{EF916A41-B20E-44B0-945E-179A00F501ED}" dt="2024-09-30T05:29:07.159" v="1724" actId="20577"/>
          <ac:spMkLst>
            <pc:docMk/>
            <pc:sldMk cId="2847170571" sldId="372"/>
            <ac:spMk id="3" creationId="{BF1DE75A-EE6B-C3AE-33AF-4B44A8A205A2}"/>
          </ac:spMkLst>
        </pc:spChg>
        <pc:spChg chg="add mod">
          <ac:chgData name="jessy selvaraj" userId="4d49fad086e24264" providerId="LiveId" clId="{EF916A41-B20E-44B0-945E-179A00F501ED}" dt="2024-09-20T08:11:43.732" v="297" actId="1076"/>
          <ac:spMkLst>
            <pc:docMk/>
            <pc:sldMk cId="2847170571" sldId="372"/>
            <ac:spMk id="5" creationId="{E64BFBB8-3D59-622A-1262-E2EA2640D3F9}"/>
          </ac:spMkLst>
        </pc:spChg>
        <pc:spChg chg="add mod">
          <ac:chgData name="jessy selvaraj" userId="4d49fad086e24264" providerId="LiveId" clId="{EF916A41-B20E-44B0-945E-179A00F501ED}" dt="2024-09-20T08:12:51.055" v="302" actId="2710"/>
          <ac:spMkLst>
            <pc:docMk/>
            <pc:sldMk cId="2847170571" sldId="372"/>
            <ac:spMk id="7" creationId="{01D8F5E2-267F-8BC5-660D-A968C1D54DAC}"/>
          </ac:spMkLst>
        </pc:spChg>
        <pc:picChg chg="add mod">
          <ac:chgData name="jessy selvaraj" userId="4d49fad086e24264" providerId="LiveId" clId="{EF916A41-B20E-44B0-945E-179A00F501ED}" dt="2024-09-23T05:37:50.715" v="708" actId="1076"/>
          <ac:picMkLst>
            <pc:docMk/>
            <pc:sldMk cId="2847170571" sldId="372"/>
            <ac:picMk id="3074" creationId="{9F4251F1-25B0-89A7-41DF-54DF72EF59D9}"/>
          </ac:picMkLst>
        </pc:picChg>
      </pc:sldChg>
      <pc:sldChg chg="addSp modSp new mod">
        <pc:chgData name="jessy selvaraj" userId="4d49fad086e24264" providerId="LiveId" clId="{EF916A41-B20E-44B0-945E-179A00F501ED}" dt="2024-09-23T05:44:46.248" v="712" actId="1076"/>
        <pc:sldMkLst>
          <pc:docMk/>
          <pc:sldMk cId="236196891" sldId="373"/>
        </pc:sldMkLst>
        <pc:spChg chg="add mod">
          <ac:chgData name="jessy selvaraj" userId="4d49fad086e24264" providerId="LiveId" clId="{EF916A41-B20E-44B0-945E-179A00F501ED}" dt="2024-09-20T08:15:06.754" v="313" actId="2710"/>
          <ac:spMkLst>
            <pc:docMk/>
            <pc:sldMk cId="236196891" sldId="373"/>
            <ac:spMk id="3" creationId="{C29AB1EE-522E-D257-C1EF-842608C72D59}"/>
          </ac:spMkLst>
        </pc:spChg>
        <pc:picChg chg="add mod">
          <ac:chgData name="jessy selvaraj" userId="4d49fad086e24264" providerId="LiveId" clId="{EF916A41-B20E-44B0-945E-179A00F501ED}" dt="2024-09-23T05:44:46.248" v="712" actId="1076"/>
          <ac:picMkLst>
            <pc:docMk/>
            <pc:sldMk cId="236196891" sldId="373"/>
            <ac:picMk id="4098" creationId="{E6014B5A-9DEC-7FDA-EE90-C0D769959E57}"/>
          </ac:picMkLst>
        </pc:picChg>
      </pc:sldChg>
      <pc:sldChg chg="addSp modSp new mod">
        <pc:chgData name="jessy selvaraj" userId="4d49fad086e24264" providerId="LiveId" clId="{EF916A41-B20E-44B0-945E-179A00F501ED}" dt="2024-09-30T10:39:02.786" v="1904" actId="20577"/>
        <pc:sldMkLst>
          <pc:docMk/>
          <pc:sldMk cId="3002990393" sldId="374"/>
        </pc:sldMkLst>
        <pc:spChg chg="add mod">
          <ac:chgData name="jessy selvaraj" userId="4d49fad086e24264" providerId="LiveId" clId="{EF916A41-B20E-44B0-945E-179A00F501ED}" dt="2024-09-30T05:29:15.483" v="1726" actId="20577"/>
          <ac:spMkLst>
            <pc:docMk/>
            <pc:sldMk cId="3002990393" sldId="374"/>
            <ac:spMk id="3" creationId="{4F007AD0-3048-2A82-BA23-308A4EA1EC70}"/>
          </ac:spMkLst>
        </pc:spChg>
        <pc:spChg chg="add mod">
          <ac:chgData name="jessy selvaraj" userId="4d49fad086e24264" providerId="LiveId" clId="{EF916A41-B20E-44B0-945E-179A00F501ED}" dt="2024-09-23T05:18:21.657" v="683" actId="1076"/>
          <ac:spMkLst>
            <pc:docMk/>
            <pc:sldMk cId="3002990393" sldId="374"/>
            <ac:spMk id="5" creationId="{BDC3D427-5C93-154D-CFCD-242B79DF7B62}"/>
          </ac:spMkLst>
        </pc:spChg>
        <pc:spChg chg="add mod">
          <ac:chgData name="jessy selvaraj" userId="4d49fad086e24264" providerId="LiveId" clId="{EF916A41-B20E-44B0-945E-179A00F501ED}" dt="2024-09-30T10:39:02.786" v="1904" actId="20577"/>
          <ac:spMkLst>
            <pc:docMk/>
            <pc:sldMk cId="3002990393" sldId="374"/>
            <ac:spMk id="8" creationId="{638ACE9F-5175-B210-CD98-B99F20874DD0}"/>
          </ac:spMkLst>
        </pc:spChg>
        <pc:picChg chg="add mod">
          <ac:chgData name="jessy selvaraj" userId="4d49fad086e24264" providerId="LiveId" clId="{EF916A41-B20E-44B0-945E-179A00F501ED}" dt="2024-09-23T05:05:31.591" v="409" actId="1076"/>
          <ac:picMkLst>
            <pc:docMk/>
            <pc:sldMk cId="3002990393" sldId="374"/>
            <ac:picMk id="6" creationId="{51453F77-03FE-C3AE-EA1A-D207DF4D52D9}"/>
          </ac:picMkLst>
        </pc:picChg>
      </pc:sldChg>
      <pc:sldChg chg="addSp modSp new mod">
        <pc:chgData name="jessy selvaraj" userId="4d49fad086e24264" providerId="LiveId" clId="{EF916A41-B20E-44B0-945E-179A00F501ED}" dt="2024-09-23T05:26:38.154" v="695" actId="1076"/>
        <pc:sldMkLst>
          <pc:docMk/>
          <pc:sldMk cId="3579280890" sldId="375"/>
        </pc:sldMkLst>
        <pc:spChg chg="add mod">
          <ac:chgData name="jessy selvaraj" userId="4d49fad086e24264" providerId="LiveId" clId="{EF916A41-B20E-44B0-945E-179A00F501ED}" dt="2024-09-23T05:09:04.860" v="476" actId="20577"/>
          <ac:spMkLst>
            <pc:docMk/>
            <pc:sldMk cId="3579280890" sldId="375"/>
            <ac:spMk id="3" creationId="{85921793-17C7-1DFD-319F-FAFE20402D67}"/>
          </ac:spMkLst>
        </pc:spChg>
        <pc:picChg chg="add mod">
          <ac:chgData name="jessy selvaraj" userId="4d49fad086e24264" providerId="LiveId" clId="{EF916A41-B20E-44B0-945E-179A00F501ED}" dt="2024-09-23T05:23:50.064" v="689" actId="14100"/>
          <ac:picMkLst>
            <pc:docMk/>
            <pc:sldMk cId="3579280890" sldId="375"/>
            <ac:picMk id="2050" creationId="{05490254-766C-3233-547D-74B9FD072C9A}"/>
          </ac:picMkLst>
        </pc:picChg>
        <pc:picChg chg="add mod">
          <ac:chgData name="jessy selvaraj" userId="4d49fad086e24264" providerId="LiveId" clId="{EF916A41-B20E-44B0-945E-179A00F501ED}" dt="2024-09-23T05:23:43.728" v="688" actId="1076"/>
          <ac:picMkLst>
            <pc:docMk/>
            <pc:sldMk cId="3579280890" sldId="375"/>
            <ac:picMk id="2052" creationId="{E777A70B-35CD-B7FA-12B1-1D498A81FAD7}"/>
          </ac:picMkLst>
        </pc:picChg>
        <pc:picChg chg="add mod">
          <ac:chgData name="jessy selvaraj" userId="4d49fad086e24264" providerId="LiveId" clId="{EF916A41-B20E-44B0-945E-179A00F501ED}" dt="2024-09-23T05:26:38.154" v="695" actId="1076"/>
          <ac:picMkLst>
            <pc:docMk/>
            <pc:sldMk cId="3579280890" sldId="375"/>
            <ac:picMk id="2054" creationId="{4A9D2D48-3419-9E56-AF43-22B76CB061FF}"/>
          </ac:picMkLst>
        </pc:picChg>
      </pc:sldChg>
      <pc:sldChg chg="addSp delSp modSp new mod">
        <pc:chgData name="jessy selvaraj" userId="4d49fad086e24264" providerId="LiveId" clId="{EF916A41-B20E-44B0-945E-179A00F501ED}" dt="2024-09-30T05:29:26.553" v="1728" actId="20577"/>
        <pc:sldMkLst>
          <pc:docMk/>
          <pc:sldMk cId="3522707369" sldId="376"/>
        </pc:sldMkLst>
        <pc:spChg chg="add mod">
          <ac:chgData name="jessy selvaraj" userId="4d49fad086e24264" providerId="LiveId" clId="{EF916A41-B20E-44B0-945E-179A00F501ED}" dt="2024-09-30T05:29:26.553" v="1728" actId="20577"/>
          <ac:spMkLst>
            <pc:docMk/>
            <pc:sldMk cId="3522707369" sldId="376"/>
            <ac:spMk id="3" creationId="{718CEB26-32B9-1C52-205D-1B4262E4D591}"/>
          </ac:spMkLst>
        </pc:spChg>
        <pc:spChg chg="add del mod">
          <ac:chgData name="jessy selvaraj" userId="4d49fad086e24264" providerId="LiveId" clId="{EF916A41-B20E-44B0-945E-179A00F501ED}" dt="2024-09-23T06:59:50.878" v="779" actId="478"/>
          <ac:spMkLst>
            <pc:docMk/>
            <pc:sldMk cId="3522707369" sldId="376"/>
            <ac:spMk id="5" creationId="{0F56F3A8-A22B-AC4D-DD71-7757A00D48C5}"/>
          </ac:spMkLst>
        </pc:spChg>
        <pc:spChg chg="add mod">
          <ac:chgData name="jessy selvaraj" userId="4d49fad086e24264" providerId="LiveId" clId="{EF916A41-B20E-44B0-945E-179A00F501ED}" dt="2024-09-23T09:38:01.326" v="962"/>
          <ac:spMkLst>
            <pc:docMk/>
            <pc:sldMk cId="3522707369" sldId="376"/>
            <ac:spMk id="5" creationId="{94D09393-320B-DD5C-1D06-9246191BB693}"/>
          </ac:spMkLst>
        </pc:spChg>
        <pc:spChg chg="add mod">
          <ac:chgData name="jessy selvaraj" userId="4d49fad086e24264" providerId="LiveId" clId="{EF916A41-B20E-44B0-945E-179A00F501ED}" dt="2024-09-23T09:42:01.179" v="978" actId="1076"/>
          <ac:spMkLst>
            <pc:docMk/>
            <pc:sldMk cId="3522707369" sldId="376"/>
            <ac:spMk id="7" creationId="{E19EF479-9E12-AC29-67C3-3C59990FA3CD}"/>
          </ac:spMkLst>
        </pc:spChg>
        <pc:spChg chg="add mod">
          <ac:chgData name="jessy selvaraj" userId="4d49fad086e24264" providerId="LiveId" clId="{EF916A41-B20E-44B0-945E-179A00F501ED}" dt="2024-09-23T09:39:08.646" v="972" actId="20577"/>
          <ac:spMkLst>
            <pc:docMk/>
            <pc:sldMk cId="3522707369" sldId="376"/>
            <ac:spMk id="8" creationId="{04D0C5CB-20C8-D317-4182-8B17A5CF5041}"/>
          </ac:spMkLst>
        </pc:spChg>
        <pc:grpChg chg="add mod">
          <ac:chgData name="jessy selvaraj" userId="4d49fad086e24264" providerId="LiveId" clId="{EF916A41-B20E-44B0-945E-179A00F501ED}" dt="2024-09-23T09:38:06.078" v="963" actId="1076"/>
          <ac:grpSpMkLst>
            <pc:docMk/>
            <pc:sldMk cId="3522707369" sldId="376"/>
            <ac:grpSpMk id="2" creationId="{03FE6029-ADC5-9394-A2FE-683FF8FB44EC}"/>
          </ac:grpSpMkLst>
        </pc:grpChg>
        <pc:picChg chg="add mod">
          <ac:chgData name="jessy selvaraj" userId="4d49fad086e24264" providerId="LiveId" clId="{EF916A41-B20E-44B0-945E-179A00F501ED}" dt="2024-09-23T09:38:01.326" v="962"/>
          <ac:picMkLst>
            <pc:docMk/>
            <pc:sldMk cId="3522707369" sldId="376"/>
            <ac:picMk id="4" creationId="{DC865327-F41F-8424-FE67-5522E26DF848}"/>
          </ac:picMkLst>
        </pc:picChg>
        <pc:picChg chg="add mod">
          <ac:chgData name="jessy selvaraj" userId="4d49fad086e24264" providerId="LiveId" clId="{EF916A41-B20E-44B0-945E-179A00F501ED}" dt="2024-09-23T09:37:01.937" v="961" actId="1076"/>
          <ac:picMkLst>
            <pc:docMk/>
            <pc:sldMk cId="3522707369" sldId="376"/>
            <ac:picMk id="1026" creationId="{E9C266D2-F556-CE00-9713-23619BE7B56F}"/>
          </ac:picMkLst>
        </pc:picChg>
      </pc:sldChg>
      <pc:sldChg chg="addSp modSp new mod">
        <pc:chgData name="jessy selvaraj" userId="4d49fad086e24264" providerId="LiveId" clId="{EF916A41-B20E-44B0-945E-179A00F501ED}" dt="2024-10-07T03:22:15.485" v="1915" actId="207"/>
        <pc:sldMkLst>
          <pc:docMk/>
          <pc:sldMk cId="1768166484" sldId="377"/>
        </pc:sldMkLst>
        <pc:spChg chg="add mod">
          <ac:chgData name="jessy selvaraj" userId="4d49fad086e24264" providerId="LiveId" clId="{EF916A41-B20E-44B0-945E-179A00F501ED}" dt="2024-10-07T03:22:15.485" v="1915" actId="207"/>
          <ac:spMkLst>
            <pc:docMk/>
            <pc:sldMk cId="1768166484" sldId="377"/>
            <ac:spMk id="3" creationId="{972F53FC-59A7-4523-C191-0F871E28925E}"/>
          </ac:spMkLst>
        </pc:spChg>
        <pc:spChg chg="add mod">
          <ac:chgData name="jessy selvaraj" userId="4d49fad086e24264" providerId="LiveId" clId="{EF916A41-B20E-44B0-945E-179A00F501ED}" dt="2024-09-23T09:42:58.727" v="1045" actId="20577"/>
          <ac:spMkLst>
            <pc:docMk/>
            <pc:sldMk cId="1768166484" sldId="377"/>
            <ac:spMk id="4" creationId="{7F68FB8B-5248-5F38-1053-BE92FB2B21A9}"/>
          </ac:spMkLst>
        </pc:spChg>
        <pc:spChg chg="add mod">
          <ac:chgData name="jessy selvaraj" userId="4d49fad086e24264" providerId="LiveId" clId="{EF916A41-B20E-44B0-945E-179A00F501ED}" dt="2024-09-23T09:43:25.057" v="1046" actId="20577"/>
          <ac:spMkLst>
            <pc:docMk/>
            <pc:sldMk cId="1768166484" sldId="377"/>
            <ac:spMk id="5" creationId="{54D35A63-6985-046A-A61D-5CEEDFDA6AF0}"/>
          </ac:spMkLst>
        </pc:spChg>
        <pc:picChg chg="add mod">
          <ac:chgData name="jessy selvaraj" userId="4d49fad086e24264" providerId="LiveId" clId="{EF916A41-B20E-44B0-945E-179A00F501ED}" dt="2024-09-23T09:53:45.695" v="1051" actId="1076"/>
          <ac:picMkLst>
            <pc:docMk/>
            <pc:sldMk cId="1768166484" sldId="377"/>
            <ac:picMk id="2050" creationId="{B93AFECF-9EE2-C3A2-F8E3-E0F22A436D49}"/>
          </ac:picMkLst>
        </pc:picChg>
        <pc:picChg chg="add mod">
          <ac:chgData name="jessy selvaraj" userId="4d49fad086e24264" providerId="LiveId" clId="{EF916A41-B20E-44B0-945E-179A00F501ED}" dt="2024-09-23T09:57:22.418" v="1056" actId="1076"/>
          <ac:picMkLst>
            <pc:docMk/>
            <pc:sldMk cId="1768166484" sldId="377"/>
            <ac:picMk id="2052" creationId="{FA8A17D6-CC57-616D-EF38-559AE1DDF0D7}"/>
          </ac:picMkLst>
        </pc:picChg>
      </pc:sldChg>
      <pc:sldChg chg="addSp modSp new mod">
        <pc:chgData name="jessy selvaraj" userId="4d49fad086e24264" providerId="LiveId" clId="{EF916A41-B20E-44B0-945E-179A00F501ED}" dt="2024-09-30T11:19:04.208" v="1909" actId="21"/>
        <pc:sldMkLst>
          <pc:docMk/>
          <pc:sldMk cId="1713014063" sldId="378"/>
        </pc:sldMkLst>
        <pc:spChg chg="add mod">
          <ac:chgData name="jessy selvaraj" userId="4d49fad086e24264" providerId="LiveId" clId="{EF916A41-B20E-44B0-945E-179A00F501ED}" dt="2024-09-30T05:29:34.429" v="1730" actId="20577"/>
          <ac:spMkLst>
            <pc:docMk/>
            <pc:sldMk cId="1713014063" sldId="378"/>
            <ac:spMk id="3" creationId="{D2F49334-DA83-235D-79CE-5A357F15070B}"/>
          </ac:spMkLst>
        </pc:spChg>
        <pc:spChg chg="add mod">
          <ac:chgData name="jessy selvaraj" userId="4d49fad086e24264" providerId="LiveId" clId="{EF916A41-B20E-44B0-945E-179A00F501ED}" dt="2024-09-30T11:17:23.997" v="1905" actId="207"/>
          <ac:spMkLst>
            <pc:docMk/>
            <pc:sldMk cId="1713014063" sldId="378"/>
            <ac:spMk id="5" creationId="{AC6BCE05-EC97-FECD-5763-1441B72E666B}"/>
          </ac:spMkLst>
        </pc:spChg>
        <pc:spChg chg="add mod">
          <ac:chgData name="jessy selvaraj" userId="4d49fad086e24264" providerId="LiveId" clId="{EF916A41-B20E-44B0-945E-179A00F501ED}" dt="2024-09-30T11:19:04.208" v="1909" actId="21"/>
          <ac:spMkLst>
            <pc:docMk/>
            <pc:sldMk cId="1713014063" sldId="378"/>
            <ac:spMk id="7" creationId="{596A60EA-6FE4-E3CD-40FD-6FFD8FE33A15}"/>
          </ac:spMkLst>
        </pc:spChg>
        <pc:spChg chg="add mod">
          <ac:chgData name="jessy selvaraj" userId="4d49fad086e24264" providerId="LiveId" clId="{EF916A41-B20E-44B0-945E-179A00F501ED}" dt="2024-09-26T06:20:05.177" v="1160"/>
          <ac:spMkLst>
            <pc:docMk/>
            <pc:sldMk cId="1713014063" sldId="378"/>
            <ac:spMk id="10" creationId="{AAB649F8-AD86-B6F6-B619-100F4329164A}"/>
          </ac:spMkLst>
        </pc:spChg>
        <pc:spChg chg="add mod">
          <ac:chgData name="jessy selvaraj" userId="4d49fad086e24264" providerId="LiveId" clId="{EF916A41-B20E-44B0-945E-179A00F501ED}" dt="2024-09-26T06:20:58.970" v="1187" actId="20577"/>
          <ac:spMkLst>
            <pc:docMk/>
            <pc:sldMk cId="1713014063" sldId="378"/>
            <ac:spMk id="12" creationId="{F0953B30-1AD6-63F8-16D1-EF37F50855C4}"/>
          </ac:spMkLst>
        </pc:spChg>
        <pc:grpChg chg="add mod">
          <ac:chgData name="jessy selvaraj" userId="4d49fad086e24264" providerId="LiveId" clId="{EF916A41-B20E-44B0-945E-179A00F501ED}" dt="2024-09-26T06:20:08.911" v="1161" actId="1076"/>
          <ac:grpSpMkLst>
            <pc:docMk/>
            <pc:sldMk cId="1713014063" sldId="378"/>
            <ac:grpSpMk id="8" creationId="{7A62EDC6-7FE5-609C-931C-87AA13B23AB5}"/>
          </ac:grpSpMkLst>
        </pc:grpChg>
        <pc:picChg chg="add mod">
          <ac:chgData name="jessy selvaraj" userId="4d49fad086e24264" providerId="LiveId" clId="{EF916A41-B20E-44B0-945E-179A00F501ED}" dt="2024-09-26T06:20:05.177" v="1160"/>
          <ac:picMkLst>
            <pc:docMk/>
            <pc:sldMk cId="1713014063" sldId="378"/>
            <ac:picMk id="9" creationId="{A7625E49-C6DE-05C7-E7C1-EB126C743397}"/>
          </ac:picMkLst>
        </pc:picChg>
        <pc:picChg chg="add mod">
          <ac:chgData name="jessy selvaraj" userId="4d49fad086e24264" providerId="LiveId" clId="{EF916A41-B20E-44B0-945E-179A00F501ED}" dt="2024-09-30T11:18:37.376" v="1908" actId="1036"/>
          <ac:picMkLst>
            <pc:docMk/>
            <pc:sldMk cId="1713014063" sldId="378"/>
            <ac:picMk id="1026" creationId="{EC6AB2CB-CB24-E8BE-C8BE-A9E09EBC29BC}"/>
          </ac:picMkLst>
        </pc:picChg>
      </pc:sldChg>
      <pc:sldChg chg="addSp modSp new mod ord">
        <pc:chgData name="jessy selvaraj" userId="4d49fad086e24264" providerId="LiveId" clId="{EF916A41-B20E-44B0-945E-179A00F501ED}" dt="2024-09-30T11:19:56.389" v="1913" actId="1076"/>
        <pc:sldMkLst>
          <pc:docMk/>
          <pc:sldMk cId="4113275398" sldId="379"/>
        </pc:sldMkLst>
        <pc:spChg chg="add mod">
          <ac:chgData name="jessy selvaraj" userId="4d49fad086e24264" providerId="LiveId" clId="{EF916A41-B20E-44B0-945E-179A00F501ED}" dt="2024-09-30T11:19:50.442" v="1912" actId="20577"/>
          <ac:spMkLst>
            <pc:docMk/>
            <pc:sldMk cId="4113275398" sldId="379"/>
            <ac:spMk id="3" creationId="{97786A76-D1D0-5A02-4182-068D23DE2755}"/>
          </ac:spMkLst>
        </pc:spChg>
        <pc:spChg chg="add mod">
          <ac:chgData name="jessy selvaraj" userId="4d49fad086e24264" providerId="LiveId" clId="{EF916A41-B20E-44B0-945E-179A00F501ED}" dt="2024-09-30T11:19:56.389" v="1913" actId="1076"/>
          <ac:spMkLst>
            <pc:docMk/>
            <pc:sldMk cId="4113275398" sldId="379"/>
            <ac:spMk id="5" creationId="{AEF4A232-5EB6-9094-7E29-C2D4CA48CC52}"/>
          </ac:spMkLst>
        </pc:spChg>
        <pc:picChg chg="add mod">
          <ac:chgData name="jessy selvaraj" userId="4d49fad086e24264" providerId="LiveId" clId="{EF916A41-B20E-44B0-945E-179A00F501ED}" dt="2024-09-28T04:35:06.806" v="1490" actId="14100"/>
          <ac:picMkLst>
            <pc:docMk/>
            <pc:sldMk cId="4113275398" sldId="379"/>
            <ac:picMk id="2050" creationId="{9B50BB38-9204-143F-B746-39F3262245EA}"/>
          </ac:picMkLst>
        </pc:picChg>
        <pc:picChg chg="add mod">
          <ac:chgData name="jessy selvaraj" userId="4d49fad086e24264" providerId="LiveId" clId="{EF916A41-B20E-44B0-945E-179A00F501ED}" dt="2024-09-28T04:35:10.235" v="1491" actId="14100"/>
          <ac:picMkLst>
            <pc:docMk/>
            <pc:sldMk cId="4113275398" sldId="379"/>
            <ac:picMk id="2052" creationId="{90DA7C9B-CCA1-9E22-FA2A-DD53A2362EB8}"/>
          </ac:picMkLst>
        </pc:picChg>
      </pc:sldChg>
      <pc:sldChg chg="addSp modSp new mod ord">
        <pc:chgData name="jessy selvaraj" userId="4d49fad086e24264" providerId="LiveId" clId="{EF916A41-B20E-44B0-945E-179A00F501ED}" dt="2024-09-30T05:29:43.840" v="1734" actId="20577"/>
        <pc:sldMkLst>
          <pc:docMk/>
          <pc:sldMk cId="1244297711" sldId="380"/>
        </pc:sldMkLst>
        <pc:spChg chg="add mod">
          <ac:chgData name="jessy selvaraj" userId="4d49fad086e24264" providerId="LiveId" clId="{EF916A41-B20E-44B0-945E-179A00F501ED}" dt="2024-09-30T05:29:43.840" v="1734" actId="20577"/>
          <ac:spMkLst>
            <pc:docMk/>
            <pc:sldMk cId="1244297711" sldId="380"/>
            <ac:spMk id="3" creationId="{3EBFC99F-31A9-0512-9B3E-F4AA57FE0711}"/>
          </ac:spMkLst>
        </pc:spChg>
        <pc:spChg chg="add mod">
          <ac:chgData name="jessy selvaraj" userId="4d49fad086e24264" providerId="LiveId" clId="{EF916A41-B20E-44B0-945E-179A00F501ED}" dt="2024-09-26T06:27:09.342" v="1241"/>
          <ac:spMkLst>
            <pc:docMk/>
            <pc:sldMk cId="1244297711" sldId="380"/>
            <ac:spMk id="6" creationId="{6957AE8A-8219-A339-713B-CDAE86A0ED8F}"/>
          </ac:spMkLst>
        </pc:spChg>
        <pc:spChg chg="add mod">
          <ac:chgData name="jessy selvaraj" userId="4d49fad086e24264" providerId="LiveId" clId="{EF916A41-B20E-44B0-945E-179A00F501ED}" dt="2024-09-26T06:27:48.687" v="1247" actId="255"/>
          <ac:spMkLst>
            <pc:docMk/>
            <pc:sldMk cId="1244297711" sldId="380"/>
            <ac:spMk id="8" creationId="{8F9B31C6-1254-6C91-7CA9-5960BF10865A}"/>
          </ac:spMkLst>
        </pc:spChg>
        <pc:spChg chg="add mod">
          <ac:chgData name="jessy selvaraj" userId="4d49fad086e24264" providerId="LiveId" clId="{EF916A41-B20E-44B0-945E-179A00F501ED}" dt="2024-09-26T06:31:55.401" v="1259" actId="1076"/>
          <ac:spMkLst>
            <pc:docMk/>
            <pc:sldMk cId="1244297711" sldId="380"/>
            <ac:spMk id="10" creationId="{A77A614D-9099-CA6E-8923-A9D4DB85875C}"/>
          </ac:spMkLst>
        </pc:spChg>
        <pc:spChg chg="add mod">
          <ac:chgData name="jessy selvaraj" userId="4d49fad086e24264" providerId="LiveId" clId="{EF916A41-B20E-44B0-945E-179A00F501ED}" dt="2024-09-28T04:39:40.710" v="1492" actId="207"/>
          <ac:spMkLst>
            <pc:docMk/>
            <pc:sldMk cId="1244297711" sldId="380"/>
            <ac:spMk id="12" creationId="{BC0850A7-2F7E-5071-0E16-1853A7802822}"/>
          </ac:spMkLst>
        </pc:spChg>
        <pc:grpChg chg="add mod">
          <ac:chgData name="jessy selvaraj" userId="4d49fad086e24264" providerId="LiveId" clId="{EF916A41-B20E-44B0-945E-179A00F501ED}" dt="2024-09-26T06:27:17.409" v="1243" actId="1076"/>
          <ac:grpSpMkLst>
            <pc:docMk/>
            <pc:sldMk cId="1244297711" sldId="380"/>
            <ac:grpSpMk id="4" creationId="{4C0B52E2-A144-6C5B-5EAC-4D036E7170A0}"/>
          </ac:grpSpMkLst>
        </pc:grpChg>
        <pc:picChg chg="add mod">
          <ac:chgData name="jessy selvaraj" userId="4d49fad086e24264" providerId="LiveId" clId="{EF916A41-B20E-44B0-945E-179A00F501ED}" dt="2024-09-26T06:27:09.342" v="1241"/>
          <ac:picMkLst>
            <pc:docMk/>
            <pc:sldMk cId="1244297711" sldId="380"/>
            <ac:picMk id="5" creationId="{76078123-8122-7A26-313A-4900C17C2395}"/>
          </ac:picMkLst>
        </pc:picChg>
        <pc:picChg chg="add mod">
          <ac:chgData name="jessy selvaraj" userId="4d49fad086e24264" providerId="LiveId" clId="{EF916A41-B20E-44B0-945E-179A00F501ED}" dt="2024-09-28T08:27:59.324" v="1517" actId="1076"/>
          <ac:picMkLst>
            <pc:docMk/>
            <pc:sldMk cId="1244297711" sldId="380"/>
            <ac:picMk id="1026" creationId="{93846DAF-28CD-7E2C-6F9D-A50E4D1DDBCD}"/>
          </ac:picMkLst>
        </pc:picChg>
      </pc:sldChg>
      <pc:sldChg chg="addSp modSp new mod">
        <pc:chgData name="jessy selvaraj" userId="4d49fad086e24264" providerId="LiveId" clId="{EF916A41-B20E-44B0-945E-179A00F501ED}" dt="2024-10-23T07:05:33.060" v="2091" actId="1036"/>
        <pc:sldMkLst>
          <pc:docMk/>
          <pc:sldMk cId="2974088597" sldId="381"/>
        </pc:sldMkLst>
        <pc:spChg chg="add mod">
          <ac:chgData name="jessy selvaraj" userId="4d49fad086e24264" providerId="LiveId" clId="{EF916A41-B20E-44B0-945E-179A00F501ED}" dt="2024-10-23T07:05:33.060" v="2091" actId="1036"/>
          <ac:spMkLst>
            <pc:docMk/>
            <pc:sldMk cId="2974088597" sldId="381"/>
            <ac:spMk id="3" creationId="{110CEB55-B6E4-A0A1-5842-15B8F15D3926}"/>
          </ac:spMkLst>
        </pc:spChg>
        <pc:spChg chg="add mod">
          <ac:chgData name="jessy selvaraj" userId="4d49fad086e24264" providerId="LiveId" clId="{EF916A41-B20E-44B0-945E-179A00F501ED}" dt="2024-10-09T07:40:49.560" v="2060" actId="207"/>
          <ac:spMkLst>
            <pc:docMk/>
            <pc:sldMk cId="2974088597" sldId="381"/>
            <ac:spMk id="4" creationId="{FDEABB9F-F0FF-09B6-B528-FDA0B771EABC}"/>
          </ac:spMkLst>
        </pc:spChg>
        <pc:picChg chg="add mod">
          <ac:chgData name="jessy selvaraj" userId="4d49fad086e24264" providerId="LiveId" clId="{EF916A41-B20E-44B0-945E-179A00F501ED}" dt="2024-09-28T08:31:09.467" v="1524" actId="14100"/>
          <ac:picMkLst>
            <pc:docMk/>
            <pc:sldMk cId="2974088597" sldId="381"/>
            <ac:picMk id="2050" creationId="{041E7D5C-58D6-84C2-226F-7E7E6EBB7A21}"/>
          </ac:picMkLst>
        </pc:picChg>
        <pc:picChg chg="add mod">
          <ac:chgData name="jessy selvaraj" userId="4d49fad086e24264" providerId="LiveId" clId="{EF916A41-B20E-44B0-945E-179A00F501ED}" dt="2024-09-28T08:40:32.851" v="1532" actId="14100"/>
          <ac:picMkLst>
            <pc:docMk/>
            <pc:sldMk cId="2974088597" sldId="381"/>
            <ac:picMk id="2052" creationId="{D27DC55C-4D50-ADE3-0348-FE8CF0C8DF6C}"/>
          </ac:picMkLst>
        </pc:picChg>
      </pc:sldChg>
      <pc:sldChg chg="addSp delSp modSp new mod">
        <pc:chgData name="jessy selvaraj" userId="4d49fad086e24264" providerId="LiveId" clId="{EF916A41-B20E-44B0-945E-179A00F501ED}" dt="2024-10-23T05:57:01.511" v="2063" actId="207"/>
        <pc:sldMkLst>
          <pc:docMk/>
          <pc:sldMk cId="3615213447" sldId="382"/>
        </pc:sldMkLst>
        <pc:spChg chg="add mod">
          <ac:chgData name="jessy selvaraj" userId="4d49fad086e24264" providerId="LiveId" clId="{EF916A41-B20E-44B0-945E-179A00F501ED}" dt="2024-09-27T09:26:34.118" v="1303" actId="1076"/>
          <ac:spMkLst>
            <pc:docMk/>
            <pc:sldMk cId="3615213447" sldId="382"/>
            <ac:spMk id="3" creationId="{59D56D5C-A057-D7A9-CC9F-E143F885F94B}"/>
          </ac:spMkLst>
        </pc:spChg>
        <pc:spChg chg="add del mod">
          <ac:chgData name="jessy selvaraj" userId="4d49fad086e24264" providerId="LiveId" clId="{EF916A41-B20E-44B0-945E-179A00F501ED}" dt="2024-09-27T09:24:48.589" v="1287" actId="22"/>
          <ac:spMkLst>
            <pc:docMk/>
            <pc:sldMk cId="3615213447" sldId="382"/>
            <ac:spMk id="5" creationId="{CBEAB527-D67E-1634-6FE8-C6A391FC9669}"/>
          </ac:spMkLst>
        </pc:spChg>
        <pc:spChg chg="add mod">
          <ac:chgData name="jessy selvaraj" userId="4d49fad086e24264" providerId="LiveId" clId="{EF916A41-B20E-44B0-945E-179A00F501ED}" dt="2024-10-23T05:57:01.511" v="2063" actId="207"/>
          <ac:spMkLst>
            <pc:docMk/>
            <pc:sldMk cId="3615213447" sldId="382"/>
            <ac:spMk id="7" creationId="{E42AD636-D39E-2BF8-554C-1D8FF46897EB}"/>
          </ac:spMkLst>
        </pc:spChg>
        <pc:picChg chg="add mod">
          <ac:chgData name="jessy selvaraj" userId="4d49fad086e24264" providerId="LiveId" clId="{EF916A41-B20E-44B0-945E-179A00F501ED}" dt="2024-09-28T08:48:57.136" v="1541" actId="1076"/>
          <ac:picMkLst>
            <pc:docMk/>
            <pc:sldMk cId="3615213447" sldId="382"/>
            <ac:picMk id="3074" creationId="{1D75A62A-395E-56E2-0EFA-53C3221C426E}"/>
          </ac:picMkLst>
        </pc:picChg>
      </pc:sldChg>
      <pc:sldChg chg="addSp modSp new mod">
        <pc:chgData name="jessy selvaraj" userId="4d49fad086e24264" providerId="LiveId" clId="{EF916A41-B20E-44B0-945E-179A00F501ED}" dt="2024-09-30T05:29:53.722" v="1736" actId="20577"/>
        <pc:sldMkLst>
          <pc:docMk/>
          <pc:sldMk cId="1915479948" sldId="383"/>
        </pc:sldMkLst>
        <pc:spChg chg="add mod">
          <ac:chgData name="jessy selvaraj" userId="4d49fad086e24264" providerId="LiveId" clId="{EF916A41-B20E-44B0-945E-179A00F501ED}" dt="2024-09-30T05:29:53.722" v="1736" actId="20577"/>
          <ac:spMkLst>
            <pc:docMk/>
            <pc:sldMk cId="1915479948" sldId="383"/>
            <ac:spMk id="3" creationId="{4979EF3D-B1F8-D7FB-07F3-2238472E7B22}"/>
          </ac:spMkLst>
        </pc:spChg>
        <pc:spChg chg="add mod">
          <ac:chgData name="jessy selvaraj" userId="4d49fad086e24264" providerId="LiveId" clId="{EF916A41-B20E-44B0-945E-179A00F501ED}" dt="2024-09-27T10:12:36.228" v="1313" actId="12"/>
          <ac:spMkLst>
            <pc:docMk/>
            <pc:sldMk cId="1915479948" sldId="383"/>
            <ac:spMk id="5" creationId="{CDFFFB93-1069-4890-6D77-7EB8D8C45420}"/>
          </ac:spMkLst>
        </pc:spChg>
        <pc:picChg chg="add mod">
          <ac:chgData name="jessy selvaraj" userId="4d49fad086e24264" providerId="LiveId" clId="{EF916A41-B20E-44B0-945E-179A00F501ED}" dt="2024-09-28T09:42:10.014" v="1551" actId="1076"/>
          <ac:picMkLst>
            <pc:docMk/>
            <pc:sldMk cId="1915479948" sldId="383"/>
            <ac:picMk id="1026" creationId="{1BFD0890-B3BA-BA1C-A4A8-0BEBFC7C4741}"/>
          </ac:picMkLst>
        </pc:picChg>
        <pc:picChg chg="add mod">
          <ac:chgData name="jessy selvaraj" userId="4d49fad086e24264" providerId="LiveId" clId="{EF916A41-B20E-44B0-945E-179A00F501ED}" dt="2024-09-28T09:40:41.076" v="1545" actId="1076"/>
          <ac:picMkLst>
            <pc:docMk/>
            <pc:sldMk cId="1915479948" sldId="383"/>
            <ac:picMk id="4098" creationId="{99A10A42-29F4-DCD5-4042-96812127075F}"/>
          </ac:picMkLst>
        </pc:picChg>
        <pc:picChg chg="add mod">
          <ac:chgData name="jessy selvaraj" userId="4d49fad086e24264" providerId="LiveId" clId="{EF916A41-B20E-44B0-945E-179A00F501ED}" dt="2024-09-28T09:41:12.850" v="1548" actId="1076"/>
          <ac:picMkLst>
            <pc:docMk/>
            <pc:sldMk cId="1915479948" sldId="383"/>
            <ac:picMk id="4100" creationId="{B5E7E868-BCA0-A2B0-5CC1-C9784D0D08BA}"/>
          </ac:picMkLst>
        </pc:picChg>
      </pc:sldChg>
      <pc:sldChg chg="addSp modSp new mod">
        <pc:chgData name="jessy selvaraj" userId="4d49fad086e24264" providerId="LiveId" clId="{EF916A41-B20E-44B0-945E-179A00F501ED}" dt="2024-10-23T06:01:06.913" v="2088" actId="20577"/>
        <pc:sldMkLst>
          <pc:docMk/>
          <pc:sldMk cId="3630786609" sldId="384"/>
        </pc:sldMkLst>
        <pc:spChg chg="add mod">
          <ac:chgData name="jessy selvaraj" userId="4d49fad086e24264" providerId="LiveId" clId="{EF916A41-B20E-44B0-945E-179A00F501ED}" dt="2024-10-23T05:59:46.460" v="2064" actId="6549"/>
          <ac:spMkLst>
            <pc:docMk/>
            <pc:sldMk cId="3630786609" sldId="384"/>
            <ac:spMk id="3" creationId="{FCD75CE3-F9CE-49F1-0E4C-4DFCF09A2FBD}"/>
          </ac:spMkLst>
        </pc:spChg>
        <pc:spChg chg="add mod">
          <ac:chgData name="jessy selvaraj" userId="4d49fad086e24264" providerId="LiveId" clId="{EF916A41-B20E-44B0-945E-179A00F501ED}" dt="2024-09-27T11:01:48.872" v="1369" actId="1076"/>
          <ac:spMkLst>
            <pc:docMk/>
            <pc:sldMk cId="3630786609" sldId="384"/>
            <ac:spMk id="5" creationId="{9F48947B-78F1-C8D9-7F98-297FD0DF38D2}"/>
          </ac:spMkLst>
        </pc:spChg>
        <pc:spChg chg="add mod">
          <ac:chgData name="jessy selvaraj" userId="4d49fad086e24264" providerId="LiveId" clId="{EF916A41-B20E-44B0-945E-179A00F501ED}" dt="2024-10-23T06:01:06.913" v="2088" actId="20577"/>
          <ac:spMkLst>
            <pc:docMk/>
            <pc:sldMk cId="3630786609" sldId="384"/>
            <ac:spMk id="7" creationId="{4BAA91B2-7D05-D6C7-AF12-FA4BB1A13E4A}"/>
          </ac:spMkLst>
        </pc:spChg>
        <pc:picChg chg="add mod">
          <ac:chgData name="jessy selvaraj" userId="4d49fad086e24264" providerId="LiveId" clId="{EF916A41-B20E-44B0-945E-179A00F501ED}" dt="2024-09-28T09:48:39.185" v="1558" actId="14100"/>
          <ac:picMkLst>
            <pc:docMk/>
            <pc:sldMk cId="3630786609" sldId="384"/>
            <ac:picMk id="5122" creationId="{0E57EB37-D7B9-DF4E-8235-BD474CEE207D}"/>
          </ac:picMkLst>
        </pc:picChg>
        <pc:picChg chg="add mod">
          <ac:chgData name="jessy selvaraj" userId="4d49fad086e24264" providerId="LiveId" clId="{EF916A41-B20E-44B0-945E-179A00F501ED}" dt="2024-09-28T09:48:42.211" v="1559" actId="1076"/>
          <ac:picMkLst>
            <pc:docMk/>
            <pc:sldMk cId="3630786609" sldId="384"/>
            <ac:picMk id="5124" creationId="{FF417A4C-1A96-66AF-767C-8EF0479BE232}"/>
          </ac:picMkLst>
        </pc:picChg>
        <pc:picChg chg="add mod">
          <ac:chgData name="jessy selvaraj" userId="4d49fad086e24264" providerId="LiveId" clId="{EF916A41-B20E-44B0-945E-179A00F501ED}" dt="2024-09-28T09:52:15.329" v="1566" actId="14100"/>
          <ac:picMkLst>
            <pc:docMk/>
            <pc:sldMk cId="3630786609" sldId="384"/>
            <ac:picMk id="5126" creationId="{7592A381-D4FC-F1C7-6195-B99115BE8003}"/>
          </ac:picMkLst>
        </pc:picChg>
      </pc:sldChg>
      <pc:sldChg chg="addSp modSp new mod">
        <pc:chgData name="jessy selvaraj" userId="4d49fad086e24264" providerId="LiveId" clId="{EF916A41-B20E-44B0-945E-179A00F501ED}" dt="2024-09-30T05:30:05.879" v="1740" actId="20577"/>
        <pc:sldMkLst>
          <pc:docMk/>
          <pc:sldMk cId="823611008" sldId="385"/>
        </pc:sldMkLst>
        <pc:spChg chg="add mod">
          <ac:chgData name="jessy selvaraj" userId="4d49fad086e24264" providerId="LiveId" clId="{EF916A41-B20E-44B0-945E-179A00F501ED}" dt="2024-09-30T05:30:05.879" v="1740" actId="20577"/>
          <ac:spMkLst>
            <pc:docMk/>
            <pc:sldMk cId="823611008" sldId="385"/>
            <ac:spMk id="3" creationId="{DB0364A3-E630-7190-86C2-F6FC323F32B3}"/>
          </ac:spMkLst>
        </pc:spChg>
        <pc:spChg chg="add mod">
          <ac:chgData name="jessy selvaraj" userId="4d49fad086e24264" providerId="LiveId" clId="{EF916A41-B20E-44B0-945E-179A00F501ED}" dt="2024-09-27T11:24:37.432" v="1434" actId="14100"/>
          <ac:spMkLst>
            <pc:docMk/>
            <pc:sldMk cId="823611008" sldId="385"/>
            <ac:spMk id="5" creationId="{1342B65B-0BC0-714D-CC12-39DD35A0F404}"/>
          </ac:spMkLst>
        </pc:spChg>
        <pc:spChg chg="add mod">
          <ac:chgData name="jessy selvaraj" userId="4d49fad086e24264" providerId="LiveId" clId="{EF916A41-B20E-44B0-945E-179A00F501ED}" dt="2024-09-27T11:24:54.013" v="1437" actId="20577"/>
          <ac:spMkLst>
            <pc:docMk/>
            <pc:sldMk cId="823611008" sldId="385"/>
            <ac:spMk id="7" creationId="{7E0AB2DB-FE44-3F8D-25FC-DFBF6EA19111}"/>
          </ac:spMkLst>
        </pc:spChg>
        <pc:picChg chg="add mod">
          <ac:chgData name="jessy selvaraj" userId="4d49fad086e24264" providerId="LiveId" clId="{EF916A41-B20E-44B0-945E-179A00F501ED}" dt="2024-09-28T10:02:21.513" v="1573" actId="1076"/>
          <ac:picMkLst>
            <pc:docMk/>
            <pc:sldMk cId="823611008" sldId="385"/>
            <ac:picMk id="6146" creationId="{DC30CA80-6E58-086E-D026-5510975DF612}"/>
          </ac:picMkLst>
        </pc:picChg>
      </pc:sldChg>
      <pc:sldChg chg="addSp modSp new mod ord">
        <pc:chgData name="jessy selvaraj" userId="4d49fad086e24264" providerId="LiveId" clId="{EF916A41-B20E-44B0-945E-179A00F501ED}" dt="2024-10-23T06:03:14.140" v="2090" actId="1036"/>
        <pc:sldMkLst>
          <pc:docMk/>
          <pc:sldMk cId="2819375054" sldId="386"/>
        </pc:sldMkLst>
        <pc:spChg chg="add mod">
          <ac:chgData name="jessy selvaraj" userId="4d49fad086e24264" providerId="LiveId" clId="{EF916A41-B20E-44B0-945E-179A00F501ED}" dt="2024-10-23T06:02:15.075" v="2089" actId="207"/>
          <ac:spMkLst>
            <pc:docMk/>
            <pc:sldMk cId="2819375054" sldId="386"/>
            <ac:spMk id="3" creationId="{4D61B8AB-6508-8A14-DCCC-AB44B76CB4D2}"/>
          </ac:spMkLst>
        </pc:spChg>
        <pc:spChg chg="add mod">
          <ac:chgData name="jessy selvaraj" userId="4d49fad086e24264" providerId="LiveId" clId="{EF916A41-B20E-44B0-945E-179A00F501ED}" dt="2024-09-30T05:45:06.346" v="1769"/>
          <ac:spMkLst>
            <pc:docMk/>
            <pc:sldMk cId="2819375054" sldId="386"/>
            <ac:spMk id="6" creationId="{488F3BE5-DBD9-B67C-9DED-059A215A6113}"/>
          </ac:spMkLst>
        </pc:spChg>
        <pc:spChg chg="add mod">
          <ac:chgData name="jessy selvaraj" userId="4d49fad086e24264" providerId="LiveId" clId="{EF916A41-B20E-44B0-945E-179A00F501ED}" dt="2024-10-23T06:03:14.140" v="2090" actId="1036"/>
          <ac:spMkLst>
            <pc:docMk/>
            <pc:sldMk cId="2819375054" sldId="386"/>
            <ac:spMk id="8" creationId="{B9C5FBF4-AFF0-06E4-77B3-904C02E90DA5}"/>
          </ac:spMkLst>
        </pc:spChg>
        <pc:spChg chg="add mod">
          <ac:chgData name="jessy selvaraj" userId="4d49fad086e24264" providerId="LiveId" clId="{EF916A41-B20E-44B0-945E-179A00F501ED}" dt="2024-09-30T06:05:56.889" v="1840" actId="1076"/>
          <ac:spMkLst>
            <pc:docMk/>
            <pc:sldMk cId="2819375054" sldId="386"/>
            <ac:spMk id="10" creationId="{632F826D-9B44-7059-76CF-07AD77A25EAF}"/>
          </ac:spMkLst>
        </pc:spChg>
        <pc:grpChg chg="add mod">
          <ac:chgData name="jessy selvaraj" userId="4d49fad086e24264" providerId="LiveId" clId="{EF916A41-B20E-44B0-945E-179A00F501ED}" dt="2024-09-30T05:45:35.996" v="1775" actId="14100"/>
          <ac:grpSpMkLst>
            <pc:docMk/>
            <pc:sldMk cId="2819375054" sldId="386"/>
            <ac:grpSpMk id="4" creationId="{48224F8A-C471-670C-3F13-2BC97FF17277}"/>
          </ac:grpSpMkLst>
        </pc:grpChg>
        <pc:picChg chg="add mod">
          <ac:chgData name="jessy selvaraj" userId="4d49fad086e24264" providerId="LiveId" clId="{EF916A41-B20E-44B0-945E-179A00F501ED}" dt="2024-09-30T05:45:06.346" v="1769"/>
          <ac:picMkLst>
            <pc:docMk/>
            <pc:sldMk cId="2819375054" sldId="386"/>
            <ac:picMk id="5" creationId="{A54A0C6A-98A5-2757-7D85-231AF3DADE7A}"/>
          </ac:picMkLst>
        </pc:picChg>
        <pc:picChg chg="add mod">
          <ac:chgData name="jessy selvaraj" userId="4d49fad086e24264" providerId="LiveId" clId="{EF916A41-B20E-44B0-945E-179A00F501ED}" dt="2024-09-30T06:09:03.023" v="1847" actId="1076"/>
          <ac:picMkLst>
            <pc:docMk/>
            <pc:sldMk cId="2819375054" sldId="386"/>
            <ac:picMk id="3074" creationId="{AEF9785B-2681-50C2-214B-64D6424BD571}"/>
          </ac:picMkLst>
        </pc:picChg>
      </pc:sldChg>
      <pc:sldChg chg="addSp delSp modSp new mod ord">
        <pc:chgData name="jessy selvaraj" userId="4d49fad086e24264" providerId="LiveId" clId="{EF916A41-B20E-44B0-945E-179A00F501ED}" dt="2024-10-09T07:28:48.130" v="2058" actId="20577"/>
        <pc:sldMkLst>
          <pc:docMk/>
          <pc:sldMk cId="3490520066" sldId="387"/>
        </pc:sldMkLst>
        <pc:spChg chg="add mod">
          <ac:chgData name="jessy selvaraj" userId="4d49fad086e24264" providerId="LiveId" clId="{EF916A41-B20E-44B0-945E-179A00F501ED}" dt="2024-10-09T07:28:48.130" v="2058" actId="20577"/>
          <ac:spMkLst>
            <pc:docMk/>
            <pc:sldMk cId="3490520066" sldId="387"/>
            <ac:spMk id="3" creationId="{BE58CAA4-F866-3B4A-2F0D-ED31D44313D9}"/>
          </ac:spMkLst>
        </pc:spChg>
        <pc:spChg chg="add mod">
          <ac:chgData name="jessy selvaraj" userId="4d49fad086e24264" providerId="LiveId" clId="{EF916A41-B20E-44B0-945E-179A00F501ED}" dt="2024-09-30T06:24:32.676" v="1894" actId="20577"/>
          <ac:spMkLst>
            <pc:docMk/>
            <pc:sldMk cId="3490520066" sldId="387"/>
            <ac:spMk id="5" creationId="{783108C2-45CD-5D5B-FBE6-4E5F139AAF5B}"/>
          </ac:spMkLst>
        </pc:spChg>
        <pc:spChg chg="add del mod">
          <ac:chgData name="jessy selvaraj" userId="4d49fad086e24264" providerId="LiveId" clId="{EF916A41-B20E-44B0-945E-179A00F501ED}" dt="2024-09-30T04:08:54.079" v="1647" actId="21"/>
          <ac:spMkLst>
            <pc:docMk/>
            <pc:sldMk cId="3490520066" sldId="387"/>
            <ac:spMk id="7" creationId="{EE88C9E7-965B-B6D9-3038-86D357C1410C}"/>
          </ac:spMkLst>
        </pc:spChg>
        <pc:spChg chg="add mod">
          <ac:chgData name="jessy selvaraj" userId="4d49fad086e24264" providerId="LiveId" clId="{EF916A41-B20E-44B0-945E-179A00F501ED}" dt="2024-09-30T04:27:04.146" v="1694"/>
          <ac:spMkLst>
            <pc:docMk/>
            <pc:sldMk cId="3490520066" sldId="387"/>
            <ac:spMk id="10" creationId="{1EB210DD-EC54-D541-1684-A9545342C7E4}"/>
          </ac:spMkLst>
        </pc:spChg>
        <pc:spChg chg="add mod">
          <ac:chgData name="jessy selvaraj" userId="4d49fad086e24264" providerId="LiveId" clId="{EF916A41-B20E-44B0-945E-179A00F501ED}" dt="2024-09-30T04:43:23.710" v="1710" actId="1076"/>
          <ac:spMkLst>
            <pc:docMk/>
            <pc:sldMk cId="3490520066" sldId="387"/>
            <ac:spMk id="12" creationId="{85DDD36B-04FC-37B3-2A3F-36AB07B9AAA7}"/>
          </ac:spMkLst>
        </pc:spChg>
        <pc:grpChg chg="add mod">
          <ac:chgData name="jessy selvaraj" userId="4d49fad086e24264" providerId="LiveId" clId="{EF916A41-B20E-44B0-945E-179A00F501ED}" dt="2024-09-30T04:43:26.573" v="1711" actId="1076"/>
          <ac:grpSpMkLst>
            <pc:docMk/>
            <pc:sldMk cId="3490520066" sldId="387"/>
            <ac:grpSpMk id="8" creationId="{7CD6A9C9-9A2A-12EF-3A65-88E5FE6BD796}"/>
          </ac:grpSpMkLst>
        </pc:grpChg>
        <pc:picChg chg="add mod">
          <ac:chgData name="jessy selvaraj" userId="4d49fad086e24264" providerId="LiveId" clId="{EF916A41-B20E-44B0-945E-179A00F501ED}" dt="2024-09-30T04:27:04.146" v="1694"/>
          <ac:picMkLst>
            <pc:docMk/>
            <pc:sldMk cId="3490520066" sldId="387"/>
            <ac:picMk id="9" creationId="{E85ADDBC-484A-6222-9455-98E3293D3751}"/>
          </ac:picMkLst>
        </pc:picChg>
      </pc:sldChg>
      <pc:sldChg chg="addSp modSp new mod ord">
        <pc:chgData name="jessy selvaraj" userId="4d49fad086e24264" providerId="LiveId" clId="{EF916A41-B20E-44B0-945E-179A00F501ED}" dt="2024-10-09T07:30:00.971" v="2059" actId="207"/>
        <pc:sldMkLst>
          <pc:docMk/>
          <pc:sldMk cId="2168564517" sldId="388"/>
        </pc:sldMkLst>
        <pc:spChg chg="add mod">
          <ac:chgData name="jessy selvaraj" userId="4d49fad086e24264" providerId="LiveId" clId="{EF916A41-B20E-44B0-945E-179A00F501ED}" dt="2024-09-30T10:22:37.446" v="1895" actId="207"/>
          <ac:spMkLst>
            <pc:docMk/>
            <pc:sldMk cId="2168564517" sldId="388"/>
            <ac:spMk id="3" creationId="{C889EF30-999D-F5EA-38C3-B2522405DE08}"/>
          </ac:spMkLst>
        </pc:spChg>
        <pc:spChg chg="add mod">
          <ac:chgData name="jessy selvaraj" userId="4d49fad086e24264" providerId="LiveId" clId="{EF916A41-B20E-44B0-945E-179A00F501ED}" dt="2024-10-09T07:30:00.971" v="2059" actId="207"/>
          <ac:spMkLst>
            <pc:docMk/>
            <pc:sldMk cId="2168564517" sldId="388"/>
            <ac:spMk id="7" creationId="{EE88C9E7-965B-B6D9-3038-86D357C1410C}"/>
          </ac:spMkLst>
        </pc:spChg>
        <pc:picChg chg="add mod">
          <ac:chgData name="jessy selvaraj" userId="4d49fad086e24264" providerId="LiveId" clId="{EF916A41-B20E-44B0-945E-179A00F501ED}" dt="2024-09-30T04:36:51.473" v="1706" actId="1076"/>
          <ac:picMkLst>
            <pc:docMk/>
            <pc:sldMk cId="2168564517" sldId="388"/>
            <ac:picMk id="1026" creationId="{C8D28FAB-B80A-BC95-8E98-B1CE117CABF0}"/>
          </ac:picMkLst>
        </pc:picChg>
      </pc:sldChg>
      <pc:sldChg chg="addSp modSp new mod">
        <pc:chgData name="jessy selvaraj" userId="4d49fad086e24264" providerId="LiveId" clId="{EF916A41-B20E-44B0-945E-179A00F501ED}" dt="2024-09-30T06:12:58.129" v="1849" actId="1076"/>
        <pc:sldMkLst>
          <pc:docMk/>
          <pc:sldMk cId="2941167984" sldId="389"/>
        </pc:sldMkLst>
        <pc:spChg chg="add mod">
          <ac:chgData name="jessy selvaraj" userId="4d49fad086e24264" providerId="LiveId" clId="{EF916A41-B20E-44B0-945E-179A00F501ED}" dt="2024-09-30T06:00:17.391" v="1836" actId="123"/>
          <ac:spMkLst>
            <pc:docMk/>
            <pc:sldMk cId="2941167984" sldId="389"/>
            <ac:spMk id="3" creationId="{7682F45B-F91B-B14A-D052-0FB2D84D0DA6}"/>
          </ac:spMkLst>
        </pc:spChg>
        <pc:spChg chg="add">
          <ac:chgData name="jessy selvaraj" userId="4d49fad086e24264" providerId="LiveId" clId="{EF916A41-B20E-44B0-945E-179A00F501ED}" dt="2024-09-30T05:57:48.159" v="1812"/>
          <ac:spMkLst>
            <pc:docMk/>
            <pc:sldMk cId="2941167984" sldId="389"/>
            <ac:spMk id="4" creationId="{1A08374F-79EA-868A-FD08-88D0F5D50EDB}"/>
          </ac:spMkLst>
        </pc:spChg>
        <pc:spChg chg="add mod">
          <ac:chgData name="jessy selvaraj" userId="4d49fad086e24264" providerId="LiveId" clId="{EF916A41-B20E-44B0-945E-179A00F501ED}" dt="2024-09-30T06:00:29.288" v="1837" actId="20577"/>
          <ac:spMkLst>
            <pc:docMk/>
            <pc:sldMk cId="2941167984" sldId="389"/>
            <ac:spMk id="5" creationId="{676D376B-91F8-D8A5-C976-B151001F434B}"/>
          </ac:spMkLst>
        </pc:spChg>
        <pc:picChg chg="add mod">
          <ac:chgData name="jessy selvaraj" userId="4d49fad086e24264" providerId="LiveId" clId="{EF916A41-B20E-44B0-945E-179A00F501ED}" dt="2024-09-30T06:12:58.129" v="1849" actId="1076"/>
          <ac:picMkLst>
            <pc:docMk/>
            <pc:sldMk cId="2941167984" sldId="389"/>
            <ac:picMk id="2052" creationId="{391A3771-E1E8-33E2-C1F5-F5CCEBDF17BB}"/>
          </ac:picMkLst>
        </pc:picChg>
      </pc:sldChg>
      <pc:sldChg chg="addSp modSp new">
        <pc:chgData name="jessy selvaraj" userId="4d49fad086e24264" providerId="LiveId" clId="{EF916A41-B20E-44B0-945E-179A00F501ED}" dt="2024-10-07T06:23:47.918" v="1921" actId="1076"/>
        <pc:sldMkLst>
          <pc:docMk/>
          <pc:sldMk cId="3447527773" sldId="390"/>
        </pc:sldMkLst>
        <pc:picChg chg="add mod">
          <ac:chgData name="jessy selvaraj" userId="4d49fad086e24264" providerId="LiveId" clId="{EF916A41-B20E-44B0-945E-179A00F501ED}" dt="2024-10-07T06:23:47.918" v="1921" actId="1076"/>
          <ac:picMkLst>
            <pc:docMk/>
            <pc:sldMk cId="3447527773" sldId="390"/>
            <ac:picMk id="1026" creationId="{91D56C53-B113-ABD5-E8A7-BB57453C37B6}"/>
          </ac:picMkLst>
        </pc:picChg>
      </pc:sldChg>
      <pc:sldChg chg="addSp modSp new mod">
        <pc:chgData name="jessy selvaraj" userId="4d49fad086e24264" providerId="LiveId" clId="{EF916A41-B20E-44B0-945E-179A00F501ED}" dt="2024-10-07T10:15:35.418" v="2042" actId="14100"/>
        <pc:sldMkLst>
          <pc:docMk/>
          <pc:sldMk cId="2199288643" sldId="391"/>
        </pc:sldMkLst>
        <pc:spChg chg="add mod">
          <ac:chgData name="jessy selvaraj" userId="4d49fad086e24264" providerId="LiveId" clId="{EF916A41-B20E-44B0-945E-179A00F501ED}" dt="2024-10-07T09:59:52.889" v="1990" actId="20577"/>
          <ac:spMkLst>
            <pc:docMk/>
            <pc:sldMk cId="2199288643" sldId="391"/>
            <ac:spMk id="3" creationId="{FF7F04A7-5F90-0F10-2866-B3DE192D3540}"/>
          </ac:spMkLst>
        </pc:spChg>
        <pc:spChg chg="add mod">
          <ac:chgData name="jessy selvaraj" userId="4d49fad086e24264" providerId="LiveId" clId="{EF916A41-B20E-44B0-945E-179A00F501ED}" dt="2024-10-07T10:01:14.877" v="2001" actId="1076"/>
          <ac:spMkLst>
            <pc:docMk/>
            <pc:sldMk cId="2199288643" sldId="391"/>
            <ac:spMk id="5" creationId="{11B2EA21-04CB-A62D-986D-398DC017FC75}"/>
          </ac:spMkLst>
        </pc:spChg>
        <pc:picChg chg="add mod">
          <ac:chgData name="jessy selvaraj" userId="4d49fad086e24264" providerId="LiveId" clId="{EF916A41-B20E-44B0-945E-179A00F501ED}" dt="2024-10-07T10:15:35.418" v="2042" actId="14100"/>
          <ac:picMkLst>
            <pc:docMk/>
            <pc:sldMk cId="2199288643" sldId="391"/>
            <ac:picMk id="1026" creationId="{F7B0972E-1D9D-D8CA-D238-797290DFFA16}"/>
          </ac:picMkLst>
        </pc:picChg>
        <pc:picChg chg="add mod">
          <ac:chgData name="jessy selvaraj" userId="4d49fad086e24264" providerId="LiveId" clId="{EF916A41-B20E-44B0-945E-179A00F501ED}" dt="2024-10-07T10:15:27.120" v="2040" actId="1076"/>
          <ac:picMkLst>
            <pc:docMk/>
            <pc:sldMk cId="2199288643" sldId="391"/>
            <ac:picMk id="1028" creationId="{BFD50570-D838-4278-AB08-11004C412082}"/>
          </ac:picMkLst>
        </pc:picChg>
      </pc:sldChg>
      <pc:sldChg chg="addSp delSp modSp new mod">
        <pc:chgData name="jessy selvaraj" userId="4d49fad086e24264" providerId="LiveId" clId="{EF916A41-B20E-44B0-945E-179A00F501ED}" dt="2024-10-07T10:18:59.610" v="2055" actId="1076"/>
        <pc:sldMkLst>
          <pc:docMk/>
          <pc:sldMk cId="429957191" sldId="392"/>
        </pc:sldMkLst>
        <pc:spChg chg="add del mod">
          <ac:chgData name="jessy selvaraj" userId="4d49fad086e24264" providerId="LiveId" clId="{EF916A41-B20E-44B0-945E-179A00F501ED}" dt="2024-10-07T10:02:17.140" v="2006" actId="22"/>
          <ac:spMkLst>
            <pc:docMk/>
            <pc:sldMk cId="429957191" sldId="392"/>
            <ac:spMk id="3" creationId="{C27C619F-6397-EBEE-9AC3-B06761683D17}"/>
          </ac:spMkLst>
        </pc:spChg>
        <pc:spChg chg="add mod">
          <ac:chgData name="jessy selvaraj" userId="4d49fad086e24264" providerId="LiveId" clId="{EF916A41-B20E-44B0-945E-179A00F501ED}" dt="2024-10-07T10:04:49.582" v="2024" actId="12"/>
          <ac:spMkLst>
            <pc:docMk/>
            <pc:sldMk cId="429957191" sldId="392"/>
            <ac:spMk id="5" creationId="{7D43E8C9-AF74-6DA7-723F-C9035743DE04}"/>
          </ac:spMkLst>
        </pc:spChg>
        <pc:picChg chg="add del mod">
          <ac:chgData name="jessy selvaraj" userId="4d49fad086e24264" providerId="LiveId" clId="{EF916A41-B20E-44B0-945E-179A00F501ED}" dt="2024-10-07T10:18:44.476" v="2049" actId="478"/>
          <ac:picMkLst>
            <pc:docMk/>
            <pc:sldMk cId="429957191" sldId="392"/>
            <ac:picMk id="2050" creationId="{376F6931-8F49-EED5-3A8C-2B0D51A8C222}"/>
          </ac:picMkLst>
        </pc:picChg>
        <pc:picChg chg="add mod">
          <ac:chgData name="jessy selvaraj" userId="4d49fad086e24264" providerId="LiveId" clId="{EF916A41-B20E-44B0-945E-179A00F501ED}" dt="2024-10-07T10:18:59.610" v="2055" actId="1076"/>
          <ac:picMkLst>
            <pc:docMk/>
            <pc:sldMk cId="429957191" sldId="392"/>
            <ac:picMk id="2052" creationId="{039195C2-63C4-70FF-ABD2-75FF0B3C6998}"/>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08:49:21.764"/>
    </inkml:context>
    <inkml:brush xml:id="br0">
      <inkml:brushProperty name="width" value="0.035" units="cm"/>
      <inkml:brushProperty name="height" value="0.035" units="cm"/>
      <inkml:brushProperty name="color" value="#FFFFFF"/>
    </inkml:brush>
  </inkml:definitions>
  <inkml:trace contextRef="#ctx0" brushRef="#br0">0 0 24575,'5'0'0,"6"0"0,1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08:49:59.907"/>
    </inkml:context>
    <inkml:brush xml:id="br0">
      <inkml:brushProperty name="width" value="0.35" units="cm"/>
      <inkml:brushProperty name="height" value="0.35" units="cm"/>
      <inkml:brushProperty name="color" value="#FFFFFF"/>
    </inkml:brush>
  </inkml:definitions>
  <inkml:trace contextRef="#ctx0" brushRef="#br0">192 325 24575,'-2'0'0,"0"0"0,0 0 0,0 1 0,0-1 0,0 1 0,0-1 0,0 1 0,0 0 0,0 0 0,0 0 0,0 0 0,0 0 0,0 0 0,1 0 0,-1 1 0,0-1 0,1 1 0,-1-1 0,1 1 0,0-1 0,0 1 0,-1 0 0,0 3 0,-3 5 0,1 0 0,0 1 0,-5 17 0,-4 13 0,0-12 0,2 1 0,1 1 0,1-1 0,-6 45 0,13-67 0,-1-1 0,1 0 0,-1 0 0,0-1 0,0 1 0,-8 11 0,7-14 0,1 1 0,0 0 0,0 0 0,1 0 0,-1 1 0,1-1 0,0 1 0,1-1 0,-1 1 0,1 0 0,0 7 0,0-12 0,1-1 0,0 0 0,0 0 0,0 0 0,0 0 0,0 0 0,0 0 0,0 0 0,0 1 0,0-1 0,0 0 0,0 0 0,0 0 0,-1 0 0,1 0 0,0 0 0,0 1 0,0-1 0,0 0 0,0 0 0,0 0 0,0 0 0,0 0 0,0 0 0,0 1 0,0-1 0,1 0 0,-1 0 0,0 0 0,0 0 0,0 0 0,0 1 0,0-1 0,0 0 0,0 0 0,0 0 0,0 0 0,0 0 0,0 0 0,0 0 0,1 0 0,-1 1 0,0-1 0,0 0 0,0 0 0,0 0 0,0 0 0,0 0 0,1 0 0,-1 0 0,0 0 0,0 0 0,0 0 0,0 0 0,0 0 0,0 0 0,1 0 0,-1 0 0,0 0 0,0 0 0,0 0 0,1 0 0,5-11 0,5-18 0,-5 11 0,1 1 0,1 1 0,0-1 0,1 1 0,21-27 0,-20 31 0,-2 0 0,1 0 0,-1-1 0,-1 0 0,-1 0 0,0-1 0,0 1 0,-1-2 0,-1 1 0,2-15 0,-3-28 0,-5-64 0,-1 65 0,6-63 0,-2 110 0,0 0 0,0 1 0,1-1 0,0 1 0,0 0 0,1 0 0,1 0 0,-1 0 0,1 0 0,7-10 0,-11 17 0,1 1 0,-1 0 0,0 0 0,0-1 0,0 1 0,0 0 0,1 0 0,-1 0 0,0-1 0,0 1 0,1 0 0,-1 0 0,0 0 0,0 0 0,1 0 0,-1-1 0,0 1 0,0 0 0,1 0 0,-1 0 0,0 0 0,0 0 0,1 0 0,-1 0 0,0 0 0,1 0 0,-1 0 0,0 0 0,0 0 0,1 0 0,-1 0 0,0 1 0,1-1 0,-1 0 0,0 0 0,0 0 0,1 0 0,-1 1 0,6 11 0,-2 18 0,-4-30 0,-1 185 0,2 21 0,0-201 0,0 0 0,0 0 0,0 0 0,1-1 0,-1 1 0,1 0 0,1-1 0,-1 1 0,1-1 0,4 7 0,-6-10 0,0 0 0,0 0 0,-1 0 0,1 0 0,0 0 0,0-1 0,0 1 0,0 0 0,0-1 0,0 1 0,0 0 0,0-1 0,0 1 0,0-1 0,0 0 0,1 1 0,-1-1 0,0 0 0,0 0 0,0 1 0,0-1 0,1 0 0,-1 0 0,0 0 0,0-1 0,0 1 0,1 0 0,-1 0 0,0-1 0,0 1 0,0 0 0,0-1 0,0 1 0,0-1 0,0 0 0,0 1 0,0-1 0,0 0 0,0 0 0,0 1 0,0-1 0,0 0 0,-1 0 0,1 0 0,0 0 0,-1 0 0,1 0 0,0-2 0,30-47 0,-19 29 0,1 0 0,22-27 0,-31 44 0,0 0 0,0-1 0,0 2 0,0-1 0,1 0 0,-1 1 0,1 0 0,0 0 0,0 0 0,0 1 0,0 0 0,1 0 0,-1 0 0,1 0 0,8-1 0,-9 4 5,0-1 0,0 1 0,0 0 0,-1 0 0,1 0 0,0 1 0,-1-1 0,0 1 0,1 0 0,-1 1 0,7 4 0,10 4-1430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08:50:01.98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08:50:06.27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08:50:10.806"/>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2T08:50:14.005"/>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94D005-2705-45D7-96B2-27DD6875AD7E}" type="datetimeFigureOut">
              <a:rPr lang="en-IN" smtClean="0"/>
              <a:t>23-10-2024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A76A17-0B8E-4976-A419-E5CA1E2F57CD}" type="slidenum">
              <a:rPr lang="en-IN" smtClean="0"/>
              <a:t>‹#›</a:t>
            </a:fld>
            <a:endParaRPr lang="en-IN"/>
          </a:p>
        </p:txBody>
      </p:sp>
    </p:spTree>
    <p:extLst>
      <p:ext uri="{BB962C8B-B14F-4D97-AF65-F5344CB8AC3E}">
        <p14:creationId xmlns:p14="http://schemas.microsoft.com/office/powerpoint/2010/main" val="753106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A76A17-0B8E-4976-A419-E5CA1E2F57CD}" type="slidenum">
              <a:rPr lang="en-IN" smtClean="0"/>
              <a:t>38</a:t>
            </a:fld>
            <a:endParaRPr lang="en-IN"/>
          </a:p>
        </p:txBody>
      </p:sp>
    </p:spTree>
    <p:extLst>
      <p:ext uri="{BB962C8B-B14F-4D97-AF65-F5344CB8AC3E}">
        <p14:creationId xmlns:p14="http://schemas.microsoft.com/office/powerpoint/2010/main" val="2098675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51429-91E1-A75F-AC96-233CBBA533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A456E89-A4F5-6543-3BD8-0F94ABD9F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F2CF76-8BD5-73FB-830D-FDE96CC221AB}"/>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5" name="Footer Placeholder 4">
            <a:extLst>
              <a:ext uri="{FF2B5EF4-FFF2-40B4-BE49-F238E27FC236}">
                <a16:creationId xmlns:a16="http://schemas.microsoft.com/office/drawing/2014/main" id="{E67D6F24-8B2B-1BFD-A82F-B25E4F10C1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1EE43C-25AD-A66D-308E-F2B8E9E11184}"/>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1830352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7A1A5-157D-E716-4E0E-A1C809C62E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AE8010-4423-0FAC-D9EC-338462FC63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880C4B-6980-CAE3-71D0-D78D805F4C95}"/>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5" name="Footer Placeholder 4">
            <a:extLst>
              <a:ext uri="{FF2B5EF4-FFF2-40B4-BE49-F238E27FC236}">
                <a16:creationId xmlns:a16="http://schemas.microsoft.com/office/drawing/2014/main" id="{F241E772-CB03-7B11-DCBB-7677AF4FD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98DC66-D74A-6051-98AA-3F8CFD540B72}"/>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3740046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7FEC8-8C5B-1924-3BE7-590238AEC4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4BC25E-1DDB-E316-FF15-B4DF41773F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0E092-5FBE-5B46-4C85-76198AAAA03E}"/>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5" name="Footer Placeholder 4">
            <a:extLst>
              <a:ext uri="{FF2B5EF4-FFF2-40B4-BE49-F238E27FC236}">
                <a16:creationId xmlns:a16="http://schemas.microsoft.com/office/drawing/2014/main" id="{C4DA23C4-EA57-A682-DA68-3F7859F7D2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606B81-CC17-EE81-66D3-148456F474A6}"/>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308565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33E9-691F-4D6D-8ED4-7F836DDF51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B4F87A-D92D-9726-3EBD-917DF0FA43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B51092-FB2B-DC16-B2FD-E716F08C9C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8C5FDA-22CF-2DE8-C410-BE35DE2F5A86}"/>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6" name="Footer Placeholder 5">
            <a:extLst>
              <a:ext uri="{FF2B5EF4-FFF2-40B4-BE49-F238E27FC236}">
                <a16:creationId xmlns:a16="http://schemas.microsoft.com/office/drawing/2014/main" id="{D8F08626-18D8-0DD6-7FD2-145F2366A1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4C5AAD-2EDF-EB56-38F3-96544019EF7D}"/>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3754907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7A6BB-68A7-9DD8-9132-55764D18A4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B0EE50-999B-AA1D-9E53-81AA03880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7528-DF95-023E-E781-BEE821EBD7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6331CA-B5D4-FDF9-CA6C-EB5E0669E2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615DB2-260F-0E54-F0E2-036839E191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C898B2E-6B10-E51B-7C4F-5095B7A37BC1}"/>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8" name="Footer Placeholder 7">
            <a:extLst>
              <a:ext uri="{FF2B5EF4-FFF2-40B4-BE49-F238E27FC236}">
                <a16:creationId xmlns:a16="http://schemas.microsoft.com/office/drawing/2014/main" id="{F2FE5990-85E8-1706-D0DF-465A744933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C4C765-1F32-2719-8628-3DEB6CBF257E}"/>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2888811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9133-CE88-D870-2C90-EEAE7CF243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829D31-072E-7E9D-57CF-31DDF2FA9798}"/>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4" name="Footer Placeholder 3">
            <a:extLst>
              <a:ext uri="{FF2B5EF4-FFF2-40B4-BE49-F238E27FC236}">
                <a16:creationId xmlns:a16="http://schemas.microsoft.com/office/drawing/2014/main" id="{A3DE4E32-632E-484D-D07C-48D8B4A270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9ABE78-A483-1F80-F058-A4EFD763C4E8}"/>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320322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65E30A-BB79-FFD5-229B-5AB3FFFD29E3}"/>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3" name="Footer Placeholder 2">
            <a:extLst>
              <a:ext uri="{FF2B5EF4-FFF2-40B4-BE49-F238E27FC236}">
                <a16:creationId xmlns:a16="http://schemas.microsoft.com/office/drawing/2014/main" id="{1FD495F9-2B1B-21FD-349C-A78034CBEA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3458A5-C634-920A-DDB2-552C0632A974}"/>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397719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D6CF2-55DD-AA73-53AD-8085B0B753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C98382-CA5C-745D-F1D6-17DEF22D3D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6FBF5E-0982-0DE8-5DC2-AC4BB762AE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82B0C-81F4-4C9C-E256-C7C33E5EB005}"/>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6" name="Footer Placeholder 5">
            <a:extLst>
              <a:ext uri="{FF2B5EF4-FFF2-40B4-BE49-F238E27FC236}">
                <a16:creationId xmlns:a16="http://schemas.microsoft.com/office/drawing/2014/main" id="{1084B2E8-6A17-A827-7608-C5D3CB150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467EA1-522D-D004-3272-280CD4978CF4}"/>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1706644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4831-129C-8B2C-68E9-8CD9C0DA4C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A02FA6-F3D8-D951-EE16-7BAD54F6AF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D505B1-93D9-9045-D4B3-47788FE44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3A18-3B11-E315-DC0B-BA1B38B500F5}"/>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6" name="Footer Placeholder 5">
            <a:extLst>
              <a:ext uri="{FF2B5EF4-FFF2-40B4-BE49-F238E27FC236}">
                <a16:creationId xmlns:a16="http://schemas.microsoft.com/office/drawing/2014/main" id="{A0C9E1FE-09DF-D27F-13E3-FAE3D0AF8A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F8CE5D-14AA-E351-9EA0-81D686FB2E07}"/>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498914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B513F-CCCD-4125-61C1-5D19EDD66A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92D418-0A77-7CB2-6CA0-1579FE80E9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ADFCD6-0DFC-B836-7393-30355381C594}"/>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5" name="Footer Placeholder 4">
            <a:extLst>
              <a:ext uri="{FF2B5EF4-FFF2-40B4-BE49-F238E27FC236}">
                <a16:creationId xmlns:a16="http://schemas.microsoft.com/office/drawing/2014/main" id="{5AE6F01E-4ABA-6C83-2717-85C2442C50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F6531F-4B9E-49F7-F06A-32082D31E864}"/>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3741864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98C9BC-E8F0-3BCE-01FF-E3145F7815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437F7F-6EA0-C8B3-FD54-28C6089197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595538-FCAA-7BC9-80AA-2E04AE0DA133}"/>
              </a:ext>
            </a:extLst>
          </p:cNvPr>
          <p:cNvSpPr>
            <a:spLocks noGrp="1"/>
          </p:cNvSpPr>
          <p:nvPr>
            <p:ph type="dt" sz="half" idx="10"/>
          </p:nvPr>
        </p:nvSpPr>
        <p:spPr/>
        <p:txBody>
          <a:bodyPr/>
          <a:lstStyle/>
          <a:p>
            <a:fld id="{B07B6E64-5AD6-4B49-9969-47AD6B267D83}" type="datetimeFigureOut">
              <a:rPr lang="en-IN" smtClean="0"/>
              <a:t>23-10-2024</a:t>
            </a:fld>
            <a:endParaRPr lang="en-IN"/>
          </a:p>
        </p:txBody>
      </p:sp>
      <p:sp>
        <p:nvSpPr>
          <p:cNvPr id="5" name="Footer Placeholder 4">
            <a:extLst>
              <a:ext uri="{FF2B5EF4-FFF2-40B4-BE49-F238E27FC236}">
                <a16:creationId xmlns:a16="http://schemas.microsoft.com/office/drawing/2014/main" id="{0DE374FA-9684-30D1-10A4-AB47BE3EA6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58861-437E-8485-2D32-FF265B9E7920}"/>
              </a:ext>
            </a:extLst>
          </p:cNvPr>
          <p:cNvSpPr>
            <a:spLocks noGrp="1"/>
          </p:cNvSpPr>
          <p:nvPr>
            <p:ph type="sldNum" sz="quarter" idx="12"/>
          </p:nvPr>
        </p:nvSpPr>
        <p:spPr/>
        <p:txBody>
          <a:bodyPr/>
          <a:lstStyle/>
          <a:p>
            <a:fld id="{B9B8B942-1969-400D-ABD7-0B65B97E4829}" type="slidenum">
              <a:rPr lang="en-IN" smtClean="0"/>
              <a:t>‹#›</a:t>
            </a:fld>
            <a:endParaRPr lang="en-IN"/>
          </a:p>
        </p:txBody>
      </p:sp>
    </p:spTree>
    <p:extLst>
      <p:ext uri="{BB962C8B-B14F-4D97-AF65-F5344CB8AC3E}">
        <p14:creationId xmlns:p14="http://schemas.microsoft.com/office/powerpoint/2010/main" val="3050165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792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663841-7A15-AF0C-1974-37A5D3BD34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BB2E45-909C-83DB-1762-E185EA1A01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CCA353-EEA9-E78D-99F9-5FDBAA4DF6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7B6E64-5AD6-4B49-9969-47AD6B267D83}" type="datetimeFigureOut">
              <a:rPr lang="en-IN" smtClean="0"/>
              <a:t>23-10-2024</a:t>
            </a:fld>
            <a:endParaRPr lang="en-IN"/>
          </a:p>
        </p:txBody>
      </p:sp>
      <p:sp>
        <p:nvSpPr>
          <p:cNvPr id="5" name="Footer Placeholder 4">
            <a:extLst>
              <a:ext uri="{FF2B5EF4-FFF2-40B4-BE49-F238E27FC236}">
                <a16:creationId xmlns:a16="http://schemas.microsoft.com/office/drawing/2014/main" id="{DDEEAAFD-B8B6-71AA-7C2D-0B815EC31B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1732CA2-FBEC-2DEC-F375-FEF6101596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8B942-1969-400D-ABD7-0B65B97E4829}" type="slidenum">
              <a:rPr lang="en-IN" smtClean="0"/>
              <a:t>‹#›</a:t>
            </a:fld>
            <a:endParaRPr lang="en-IN"/>
          </a:p>
        </p:txBody>
      </p:sp>
    </p:spTree>
    <p:extLst>
      <p:ext uri="{BB962C8B-B14F-4D97-AF65-F5344CB8AC3E}">
        <p14:creationId xmlns:p14="http://schemas.microsoft.com/office/powerpoint/2010/main" val="3468511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20.png"/><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customXml" Target="../ink/ink3.xml"/><Relationship Id="rId11" Type="http://schemas.openxmlformats.org/officeDocument/2006/relationships/customXml" Target="../ink/ink6.xml"/><Relationship Id="rId5" Type="http://schemas.openxmlformats.org/officeDocument/2006/relationships/image" Target="../media/image17.png"/><Relationship Id="rId10" Type="http://schemas.openxmlformats.org/officeDocument/2006/relationships/image" Target="../media/image19.png"/><Relationship Id="rId4" Type="http://schemas.openxmlformats.org/officeDocument/2006/relationships/customXml" Target="../ink/ink2.xml"/><Relationship Id="rId9" Type="http://schemas.openxmlformats.org/officeDocument/2006/relationships/customXml" Target="../ink/ink5.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7.xml"/><Relationship Id="rId4" Type="http://schemas.openxmlformats.org/officeDocument/2006/relationships/image" Target="../media/image43.jpeg"/></Relationships>
</file>

<file path=ppt/slides/_rels/slide5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7.xml"/><Relationship Id="rId5" Type="http://schemas.openxmlformats.org/officeDocument/2006/relationships/image" Target="../media/image49.jpeg"/><Relationship Id="rId4" Type="http://schemas.openxmlformats.org/officeDocument/2006/relationships/image" Target="../media/image48.jpeg"/></Relationships>
</file>

<file path=ppt/slides/_rels/slide5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7.xml"/><Relationship Id="rId4" Type="http://schemas.openxmlformats.org/officeDocument/2006/relationships/image" Target="../media/image54.jpeg"/></Relationships>
</file>

<file path=ppt/slides/_rels/slide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12.xml"/><Relationship Id="rId4" Type="http://schemas.openxmlformats.org/officeDocument/2006/relationships/image" Target="../media/image60.jpeg"/></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png"/><Relationship Id="rId1" Type="http://schemas.openxmlformats.org/officeDocument/2006/relationships/slideLayout" Target="../slideLayouts/slideLayout7.xml"/><Relationship Id="rId4" Type="http://schemas.openxmlformats.org/officeDocument/2006/relationships/image" Target="../media/image66.jpeg"/></Relationships>
</file>

<file path=ppt/slides/_rels/slide6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7.xml"/><Relationship Id="rId5" Type="http://schemas.openxmlformats.org/officeDocument/2006/relationships/image" Target="../media/image72.jpeg"/><Relationship Id="rId4" Type="http://schemas.openxmlformats.org/officeDocument/2006/relationships/image" Target="../media/image71.jpeg"/></Relationships>
</file>

<file path=ppt/slides/_rels/slide6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7.xml"/><Relationship Id="rId4" Type="http://schemas.openxmlformats.org/officeDocument/2006/relationships/image" Target="../media/image79.jpeg"/></Relationships>
</file>

<file path=ppt/slides/_rels/slide7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png"/><Relationship Id="rId1" Type="http://schemas.openxmlformats.org/officeDocument/2006/relationships/slideLayout" Target="../slideLayouts/slideLayout7.xml"/><Relationship Id="rId4" Type="http://schemas.openxmlformats.org/officeDocument/2006/relationships/image" Target="../media/image90.jpeg"/></Relationships>
</file>

<file path=ppt/slides/_rels/slide77.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png"/><Relationship Id="rId1" Type="http://schemas.openxmlformats.org/officeDocument/2006/relationships/slideLayout" Target="../slideLayouts/slideLayout7.xml"/><Relationship Id="rId4" Type="http://schemas.openxmlformats.org/officeDocument/2006/relationships/image" Target="../media/image101.jpeg"/></Relationships>
</file>

<file path=ppt/slides/_rels/slide8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jpe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image" Target="../media/image110.jpe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image" Target="../media/image114.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117.jpeg"/><Relationship Id="rId1" Type="http://schemas.openxmlformats.org/officeDocument/2006/relationships/slideLayout" Target="../slideLayouts/slideLayout7.xml"/><Relationship Id="rId4" Type="http://schemas.openxmlformats.org/officeDocument/2006/relationships/image" Target="../media/image119.jpeg"/></Relationships>
</file>

<file path=ppt/slides/_rels/slide94.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image" Target="../media/image120.jpeg"/><Relationship Id="rId1" Type="http://schemas.openxmlformats.org/officeDocument/2006/relationships/slideLayout" Target="../slideLayouts/slideLayout7.xml"/><Relationship Id="rId4" Type="http://schemas.openxmlformats.org/officeDocument/2006/relationships/image" Target="../media/image122.png"/></Relationships>
</file>

<file path=ppt/slides/_rels/slide95.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jpe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09E93-262C-AE01-E75B-75B493122DA1}"/>
              </a:ext>
            </a:extLst>
          </p:cNvPr>
          <p:cNvSpPr>
            <a:spLocks noGrp="1"/>
          </p:cNvSpPr>
          <p:nvPr>
            <p:ph type="ctrTitle"/>
          </p:nvPr>
        </p:nvSpPr>
        <p:spPr>
          <a:xfrm>
            <a:off x="1524000" y="1122363"/>
            <a:ext cx="9144000" cy="1886308"/>
          </a:xfrm>
        </p:spPr>
        <p:txBody>
          <a:bodyPr>
            <a:normAutofit/>
          </a:bodyPr>
          <a:lstStyle/>
          <a:p>
            <a:pPr algn="ctr"/>
            <a:r>
              <a:rPr lang="en-US" sz="3200" b="1" dirty="0">
                <a:latin typeface="Times New Roman" panose="02020603050405020304" pitchFamily="18" charset="0"/>
                <a:cs typeface="Times New Roman" panose="02020603050405020304" pitchFamily="18" charset="0"/>
              </a:rPr>
              <a:t>Agnel Institute Of Design And Technology</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Faculty Of Mechanical And Automation Engineering</a:t>
            </a:r>
            <a:endParaRPr lang="en-IN" sz="3200" b="1" dirty="0"/>
          </a:p>
        </p:txBody>
      </p:sp>
      <p:sp>
        <p:nvSpPr>
          <p:cNvPr id="3" name="Subtitle 2">
            <a:extLst>
              <a:ext uri="{FF2B5EF4-FFF2-40B4-BE49-F238E27FC236}">
                <a16:creationId xmlns:a16="http://schemas.microsoft.com/office/drawing/2014/main" id="{B4C626DF-22CC-B936-4B12-373F11A2C561}"/>
              </a:ext>
            </a:extLst>
          </p:cNvPr>
          <p:cNvSpPr>
            <a:spLocks noGrp="1"/>
          </p:cNvSpPr>
          <p:nvPr>
            <p:ph type="subTitle" idx="1"/>
          </p:nvPr>
        </p:nvSpPr>
        <p:spPr>
          <a:xfrm>
            <a:off x="1524000" y="3274142"/>
            <a:ext cx="9144000" cy="1983658"/>
          </a:xfrm>
        </p:spPr>
        <p:txBody>
          <a:bodyPr/>
          <a:lstStyle/>
          <a:p>
            <a:pPr algn="ctr"/>
            <a:r>
              <a:rPr lang="en-US" sz="2000" dirty="0">
                <a:latin typeface="Times New Roman" panose="02020603050405020304" pitchFamily="18" charset="0"/>
                <a:cs typeface="Times New Roman" panose="02020603050405020304" pitchFamily="18" charset="0"/>
              </a:rPr>
              <a:t>COURSE NAME: CREATIVE THINKING AND INNOVATION</a:t>
            </a:r>
          </a:p>
          <a:p>
            <a:pPr algn="ctr"/>
            <a:r>
              <a:rPr lang="en-US" sz="2000" dirty="0">
                <a:latin typeface="Times New Roman" panose="02020603050405020304" pitchFamily="18" charset="0"/>
                <a:cs typeface="Times New Roman" panose="02020603050405020304" pitchFamily="18" charset="0"/>
              </a:rPr>
              <a:t>COURSE CODE : AEC102 </a:t>
            </a:r>
          </a:p>
          <a:p>
            <a:pPr algn="ctr"/>
            <a:r>
              <a:rPr lang="en-US" sz="2000" dirty="0">
                <a:latin typeface="Times New Roman" panose="02020603050405020304" pitchFamily="18" charset="0"/>
                <a:cs typeface="Times New Roman" panose="02020603050405020304" pitchFamily="18" charset="0"/>
              </a:rPr>
              <a:t>ASST.PROF. S.JESSINTHA</a:t>
            </a:r>
          </a:p>
          <a:p>
            <a:pPr algn="ctr"/>
            <a:endParaRPr lang="en-IN" dirty="0"/>
          </a:p>
        </p:txBody>
      </p:sp>
    </p:spTree>
    <p:extLst>
      <p:ext uri="{BB962C8B-B14F-4D97-AF65-F5344CB8AC3E}">
        <p14:creationId xmlns:p14="http://schemas.microsoft.com/office/powerpoint/2010/main" val="3358635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DF11BF-3B95-EFED-513D-869F04C70406}"/>
              </a:ext>
            </a:extLst>
          </p:cNvPr>
          <p:cNvPicPr>
            <a:picLocks noChangeAspect="1"/>
          </p:cNvPicPr>
          <p:nvPr/>
        </p:nvPicPr>
        <p:blipFill>
          <a:blip r:embed="rId2"/>
          <a:stretch>
            <a:fillRect/>
          </a:stretch>
        </p:blipFill>
        <p:spPr>
          <a:xfrm>
            <a:off x="0" y="0"/>
            <a:ext cx="12126951" cy="6858000"/>
          </a:xfrm>
          <a:prstGeom prst="rect">
            <a:avLst/>
          </a:prstGeom>
        </p:spPr>
      </p:pic>
    </p:spTree>
    <p:extLst>
      <p:ext uri="{BB962C8B-B14F-4D97-AF65-F5344CB8AC3E}">
        <p14:creationId xmlns:p14="http://schemas.microsoft.com/office/powerpoint/2010/main" val="3763851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FC13C-A760-0886-2355-AC5C12A804F1}"/>
              </a:ext>
            </a:extLst>
          </p:cNvPr>
          <p:cNvSpPr>
            <a:spLocks noGrp="1"/>
          </p:cNvSpPr>
          <p:nvPr>
            <p:ph type="title"/>
          </p:nvPr>
        </p:nvSpPr>
        <p:spPr>
          <a:xfrm>
            <a:off x="835742" y="618518"/>
            <a:ext cx="10402529" cy="777663"/>
          </a:xfrm>
        </p:spPr>
        <p:txBody>
          <a:bodyPr/>
          <a:lstStyle/>
          <a:p>
            <a:pPr algn="ctr"/>
            <a:r>
              <a:rPr lang="en-IN" dirty="0"/>
              <a:t>Unit – 3 </a:t>
            </a:r>
          </a:p>
        </p:txBody>
      </p:sp>
      <p:sp>
        <p:nvSpPr>
          <p:cNvPr id="3" name="Content Placeholder 2">
            <a:extLst>
              <a:ext uri="{FF2B5EF4-FFF2-40B4-BE49-F238E27FC236}">
                <a16:creationId xmlns:a16="http://schemas.microsoft.com/office/drawing/2014/main" id="{DB86D54A-689F-27C0-FDF8-8F9B241F0AB1}"/>
              </a:ext>
            </a:extLst>
          </p:cNvPr>
          <p:cNvSpPr>
            <a:spLocks noGrp="1"/>
          </p:cNvSpPr>
          <p:nvPr>
            <p:ph idx="1"/>
          </p:nvPr>
        </p:nvSpPr>
        <p:spPr>
          <a:xfrm>
            <a:off x="747252" y="1278194"/>
            <a:ext cx="10687664" cy="5083277"/>
          </a:xfrm>
        </p:spPr>
        <p:txBody>
          <a:bodyPr/>
          <a:lstStyle/>
          <a:p>
            <a:r>
              <a:rPr lang="en-US" b="1" dirty="0"/>
              <a:t>THEORY OF INVENTIVE PROBLEM SOLVING (TRIZ) </a:t>
            </a:r>
          </a:p>
          <a:p>
            <a:pPr marL="0" indent="0" algn="just">
              <a:buNone/>
            </a:pPr>
            <a:r>
              <a:rPr lang="en-US" dirty="0"/>
              <a:t>Common features of good solutions – resolve contradiction, use available resource, increase the ideality, trade-off, inherent contradiction, 30 key TRIZ principles – multifunction, preliminary action, compensation, nested doll, blessing in disguise, segmentation, separation, regional influences, symmetry change, opaque &amp; porous, inflate and deflate, color, recycle &amp; recover, phase transformation, energy, imaging, environment, composition, economical, surface response, equipotential, static &amp; dynamic, continuous &amp; intermittent, servo systems, smart systems, dimensions</a:t>
            </a:r>
          </a:p>
          <a:p>
            <a:endParaRPr lang="en-IN" dirty="0"/>
          </a:p>
        </p:txBody>
      </p:sp>
    </p:spTree>
    <p:extLst>
      <p:ext uri="{BB962C8B-B14F-4D97-AF65-F5344CB8AC3E}">
        <p14:creationId xmlns:p14="http://schemas.microsoft.com/office/powerpoint/2010/main" val="974110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DD0C-B31C-9F7D-16FA-CFAD1D148355}"/>
              </a:ext>
            </a:extLst>
          </p:cNvPr>
          <p:cNvSpPr>
            <a:spLocks noGrp="1"/>
          </p:cNvSpPr>
          <p:nvPr>
            <p:ph type="title"/>
          </p:nvPr>
        </p:nvSpPr>
        <p:spPr>
          <a:xfrm>
            <a:off x="1141413" y="285137"/>
            <a:ext cx="9905998" cy="619432"/>
          </a:xfrm>
        </p:spPr>
        <p:txBody>
          <a:bodyPr>
            <a:normAutofit fontScale="90000"/>
          </a:bodyPr>
          <a:lstStyle/>
          <a:p>
            <a:pPr algn="ctr"/>
            <a:r>
              <a:rPr lang="en-US" dirty="0"/>
              <a:t>Introduction </a:t>
            </a:r>
            <a:endParaRPr lang="en-IN" dirty="0"/>
          </a:p>
        </p:txBody>
      </p:sp>
      <p:sp>
        <p:nvSpPr>
          <p:cNvPr id="3" name="Content Placeholder 2">
            <a:extLst>
              <a:ext uri="{FF2B5EF4-FFF2-40B4-BE49-F238E27FC236}">
                <a16:creationId xmlns:a16="http://schemas.microsoft.com/office/drawing/2014/main" id="{DF6F35A2-AED7-0F70-00F3-7AD4B754D62E}"/>
              </a:ext>
            </a:extLst>
          </p:cNvPr>
          <p:cNvSpPr>
            <a:spLocks noGrp="1"/>
          </p:cNvSpPr>
          <p:nvPr>
            <p:ph idx="1"/>
          </p:nvPr>
        </p:nvSpPr>
        <p:spPr>
          <a:xfrm>
            <a:off x="550606" y="806245"/>
            <a:ext cx="11326762" cy="5766618"/>
          </a:xfrm>
        </p:spPr>
        <p:txBody>
          <a:bodyPr/>
          <a:lstStyle/>
          <a:p>
            <a:pPr algn="just"/>
            <a:r>
              <a:rPr lang="en-US" dirty="0">
                <a:latin typeface="Times New Roman" panose="02020603050405020304" pitchFamily="18" charset="0"/>
                <a:cs typeface="Times New Roman" panose="02020603050405020304" pitchFamily="18" charset="0"/>
              </a:rPr>
              <a:t>The term TRIZ comes from the Russian phrase </a:t>
            </a:r>
            <a:r>
              <a:rPr lang="en-US" i="1" dirty="0" err="1">
                <a:latin typeface="Times New Roman" panose="02020603050405020304" pitchFamily="18" charset="0"/>
                <a:cs typeface="Times New Roman" panose="02020603050405020304" pitchFamily="18" charset="0"/>
              </a:rPr>
              <a:t>teorija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rezhenija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izobretatelskih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zadach</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which means </a:t>
            </a:r>
            <a:r>
              <a:rPr lang="en-US" b="1" dirty="0">
                <a:solidFill>
                  <a:srgbClr val="FF0000"/>
                </a:solidFill>
                <a:latin typeface="Times New Roman" panose="02020603050405020304" pitchFamily="18" charset="0"/>
                <a:cs typeface="Times New Roman" panose="02020603050405020304" pitchFamily="18" charset="0"/>
              </a:rPr>
              <a:t>Theory Of Inventing Problem.</a:t>
            </a:r>
          </a:p>
          <a:p>
            <a:pPr algn="just"/>
            <a:r>
              <a:rPr lang="en-IN" dirty="0">
                <a:latin typeface="Times New Roman" panose="02020603050405020304" pitchFamily="18" charset="0"/>
                <a:cs typeface="Times New Roman" panose="02020603050405020304" pitchFamily="18" charset="0"/>
              </a:rPr>
              <a:t>Why do we need a new theory ? </a:t>
            </a:r>
          </a:p>
          <a:p>
            <a:pPr algn="just"/>
            <a:r>
              <a:rPr lang="en-IN" dirty="0">
                <a:latin typeface="Times New Roman" panose="02020603050405020304" pitchFamily="18" charset="0"/>
                <a:cs typeface="Times New Roman" panose="02020603050405020304" pitchFamily="18" charset="0"/>
              </a:rPr>
              <a:t>Without a theory , </a:t>
            </a:r>
            <a:r>
              <a:rPr lang="en-IN" dirty="0">
                <a:solidFill>
                  <a:srgbClr val="FF0000"/>
                </a:solidFill>
                <a:latin typeface="Times New Roman" panose="02020603050405020304" pitchFamily="18" charset="0"/>
                <a:cs typeface="Times New Roman" panose="02020603050405020304" pitchFamily="18" charset="0"/>
              </a:rPr>
              <a:t>people generate ideas by guesswork </a:t>
            </a:r>
            <a:r>
              <a:rPr lang="en-IN" dirty="0">
                <a:latin typeface="Times New Roman" panose="02020603050405020304" pitchFamily="18" charset="0"/>
                <a:cs typeface="Times New Roman" panose="02020603050405020304" pitchFamily="18" charset="0"/>
              </a:rPr>
              <a:t>and then select the one they like or those they think other people will like.</a:t>
            </a:r>
          </a:p>
          <a:p>
            <a:pPr algn="just"/>
            <a:r>
              <a:rPr lang="en-IN" dirty="0">
                <a:latin typeface="Times New Roman" panose="02020603050405020304" pitchFamily="18" charset="0"/>
                <a:cs typeface="Times New Roman" panose="02020603050405020304" pitchFamily="18" charset="0"/>
              </a:rPr>
              <a:t>With TRIZ you will able to </a:t>
            </a:r>
            <a:r>
              <a:rPr lang="en-IN" dirty="0">
                <a:solidFill>
                  <a:srgbClr val="FF0000"/>
                </a:solidFill>
                <a:latin typeface="Times New Roman" panose="02020603050405020304" pitchFamily="18" charset="0"/>
                <a:cs typeface="Times New Roman" panose="02020603050405020304" pitchFamily="18" charset="0"/>
              </a:rPr>
              <a:t>generate ideas faster, </a:t>
            </a:r>
            <a:r>
              <a:rPr lang="en-IN" dirty="0">
                <a:latin typeface="Times New Roman" panose="02020603050405020304" pitchFamily="18" charset="0"/>
                <a:cs typeface="Times New Roman" panose="02020603050405020304" pitchFamily="18" charset="0"/>
              </a:rPr>
              <a:t>and you will have a </a:t>
            </a:r>
            <a:r>
              <a:rPr lang="en-IN" dirty="0">
                <a:solidFill>
                  <a:srgbClr val="FF0000"/>
                </a:solidFill>
                <a:latin typeface="Times New Roman" panose="02020603050405020304" pitchFamily="18" charset="0"/>
                <a:cs typeface="Times New Roman" panose="02020603050405020304" pitchFamily="18" charset="0"/>
              </a:rPr>
              <a:t>basis for selecting the best ideas</a:t>
            </a:r>
            <a:r>
              <a:rPr lang="en-IN" dirty="0">
                <a:latin typeface="Times New Roman" panose="02020603050405020304" pitchFamily="18" charset="0"/>
                <a:cs typeface="Times New Roman" panose="02020603050405020304" pitchFamily="18" charset="0"/>
              </a:rPr>
              <a:t>, the idea that will solve your problem effectively and form a basis for further improvements.</a:t>
            </a:r>
          </a:p>
          <a:p>
            <a:pPr algn="just"/>
            <a:r>
              <a:rPr lang="en-IN" dirty="0">
                <a:latin typeface="Times New Roman" panose="02020603050405020304" pitchFamily="18" charset="0"/>
                <a:cs typeface="Times New Roman" panose="02020603050405020304" pitchFamily="18" charset="0"/>
              </a:rPr>
              <a:t>People cannot select ideas properly, cannot produce better idea effectively if they are </a:t>
            </a:r>
            <a:r>
              <a:rPr lang="en-IN" dirty="0">
                <a:solidFill>
                  <a:srgbClr val="FF0000"/>
                </a:solidFill>
                <a:latin typeface="Times New Roman" panose="02020603050405020304" pitchFamily="18" charset="0"/>
                <a:cs typeface="Times New Roman" panose="02020603050405020304" pitchFamily="18" charset="0"/>
              </a:rPr>
              <a:t>unaware of the common features of good solutions, </a:t>
            </a:r>
            <a:r>
              <a:rPr lang="en-IN" dirty="0">
                <a:latin typeface="Times New Roman" panose="02020603050405020304" pitchFamily="18" charset="0"/>
                <a:cs typeface="Times New Roman" panose="02020603050405020304" pitchFamily="18" charset="0"/>
              </a:rPr>
              <a:t>resolving contradictions making use of idle resources and increasing value.</a:t>
            </a:r>
          </a:p>
        </p:txBody>
      </p:sp>
    </p:spTree>
    <p:extLst>
      <p:ext uri="{BB962C8B-B14F-4D97-AF65-F5344CB8AC3E}">
        <p14:creationId xmlns:p14="http://schemas.microsoft.com/office/powerpoint/2010/main" val="3457367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CF2A8-0164-8333-5AE6-0963C9779141}"/>
              </a:ext>
            </a:extLst>
          </p:cNvPr>
          <p:cNvSpPr>
            <a:spLocks noGrp="1"/>
          </p:cNvSpPr>
          <p:nvPr>
            <p:ph type="title"/>
          </p:nvPr>
        </p:nvSpPr>
        <p:spPr>
          <a:xfrm>
            <a:off x="1146705" y="609601"/>
            <a:ext cx="3856037" cy="589934"/>
          </a:xfrm>
        </p:spPr>
        <p:txBody>
          <a:bodyPr/>
          <a:lstStyle/>
          <a:p>
            <a:pPr algn="ctr"/>
            <a:r>
              <a:rPr lang="en-US" sz="3200" b="1" dirty="0"/>
              <a:t>TRIZ</a:t>
            </a:r>
            <a:endParaRPr lang="en-IN" dirty="0"/>
          </a:p>
        </p:txBody>
      </p:sp>
      <p:sp>
        <p:nvSpPr>
          <p:cNvPr id="3" name="Content Placeholder 2">
            <a:extLst>
              <a:ext uri="{FF2B5EF4-FFF2-40B4-BE49-F238E27FC236}">
                <a16:creationId xmlns:a16="http://schemas.microsoft.com/office/drawing/2014/main" id="{2E498E9D-1E7A-BE11-2F63-8DFC7D5AA8C6}"/>
              </a:ext>
            </a:extLst>
          </p:cNvPr>
          <p:cNvSpPr>
            <a:spLocks noGrp="1"/>
          </p:cNvSpPr>
          <p:nvPr>
            <p:ph idx="1"/>
          </p:nvPr>
        </p:nvSpPr>
        <p:spPr>
          <a:xfrm>
            <a:off x="5156200" y="412955"/>
            <a:ext cx="6770329" cy="6282813"/>
          </a:xfrm>
        </p:spPr>
        <p:txBody>
          <a:bodyPr>
            <a:normAutofit/>
          </a:bodyPr>
          <a:lstStyle/>
          <a:p>
            <a:pPr algn="just">
              <a:lnSpc>
                <a:spcPct val="170000"/>
              </a:lnSpc>
            </a:pPr>
            <a:r>
              <a:rPr lang="en-US" sz="2000" dirty="0">
                <a:latin typeface="Times New Roman" panose="02020603050405020304" pitchFamily="18" charset="0"/>
                <a:cs typeface="Times New Roman" panose="02020603050405020304" pitchFamily="18" charset="0"/>
              </a:rPr>
              <a:t>TRIZ (Theory of Inventive Problem Solving) is a </a:t>
            </a:r>
            <a:r>
              <a:rPr lang="en-US" sz="2000" dirty="0">
                <a:solidFill>
                  <a:srgbClr val="FF0000"/>
                </a:solidFill>
                <a:latin typeface="Times New Roman" panose="02020603050405020304" pitchFamily="18" charset="0"/>
                <a:cs typeface="Times New Roman" panose="02020603050405020304" pitchFamily="18" charset="0"/>
              </a:rPr>
              <a:t>problem-solving and innovation methodology</a:t>
            </a:r>
            <a:r>
              <a:rPr lang="en-US" sz="2000" dirty="0">
                <a:latin typeface="Times New Roman" panose="02020603050405020304" pitchFamily="18" charset="0"/>
                <a:cs typeface="Times New Roman" panose="02020603050405020304" pitchFamily="18" charset="0"/>
              </a:rPr>
              <a:t> developed in Russia by the engineer and scientist, </a:t>
            </a:r>
            <a:r>
              <a:rPr lang="en-US" sz="2000" b="1" dirty="0" err="1">
                <a:solidFill>
                  <a:srgbClr val="0070C0"/>
                </a:solidFill>
                <a:latin typeface="Times New Roman" panose="02020603050405020304" pitchFamily="18" charset="0"/>
                <a:cs typeface="Times New Roman" panose="02020603050405020304" pitchFamily="18" charset="0"/>
              </a:rPr>
              <a:t>Genrich</a:t>
            </a:r>
            <a:r>
              <a:rPr lang="en-US" sz="2000" b="1" dirty="0">
                <a:solidFill>
                  <a:srgbClr val="0070C0"/>
                </a:solidFill>
                <a:latin typeface="Times New Roman" panose="02020603050405020304" pitchFamily="18" charset="0"/>
                <a:cs typeface="Times New Roman" panose="02020603050405020304" pitchFamily="18" charset="0"/>
              </a:rPr>
              <a:t> </a:t>
            </a:r>
            <a:r>
              <a:rPr lang="en-US" sz="2000" b="1" dirty="0" err="1">
                <a:solidFill>
                  <a:srgbClr val="0070C0"/>
                </a:solidFill>
                <a:latin typeface="Times New Roman" panose="02020603050405020304" pitchFamily="18" charset="0"/>
                <a:cs typeface="Times New Roman" panose="02020603050405020304" pitchFamily="18" charset="0"/>
              </a:rPr>
              <a:t>Altshuller</a:t>
            </a:r>
            <a:r>
              <a:rPr lang="en-US" sz="2000" dirty="0">
                <a:latin typeface="Times New Roman" panose="02020603050405020304" pitchFamily="18" charset="0"/>
                <a:cs typeface="Times New Roman" panose="02020603050405020304" pitchFamily="18" charset="0"/>
              </a:rPr>
              <a:t>, in the mid 20th century. TRIZ is a systematic approach that helps </a:t>
            </a:r>
            <a:r>
              <a:rPr lang="en-US" sz="2000" b="1" dirty="0">
                <a:solidFill>
                  <a:srgbClr val="0070C0"/>
                </a:solidFill>
                <a:latin typeface="Times New Roman" panose="02020603050405020304" pitchFamily="18" charset="0"/>
                <a:cs typeface="Times New Roman" panose="02020603050405020304" pitchFamily="18" charset="0"/>
              </a:rPr>
              <a:t>identify and solve complex problems </a:t>
            </a:r>
            <a:r>
              <a:rPr lang="en-US" sz="2000" dirty="0">
                <a:latin typeface="Times New Roman" panose="02020603050405020304" pitchFamily="18" charset="0"/>
                <a:cs typeface="Times New Roman" panose="02020603050405020304" pitchFamily="18" charset="0"/>
              </a:rPr>
              <a:t>by analyzing patterns and trends in past solutions. It focuses on identifying contradictions in systems or processes and finding ways to eliminate those contradictions to achieve a better solution. TRIZ has a </a:t>
            </a:r>
            <a:r>
              <a:rPr lang="en-US" sz="2000" b="1" dirty="0">
                <a:solidFill>
                  <a:srgbClr val="0070C0"/>
                </a:solidFill>
                <a:latin typeface="Times New Roman" panose="02020603050405020304" pitchFamily="18" charset="0"/>
                <a:cs typeface="Times New Roman" panose="02020603050405020304" pitchFamily="18" charset="0"/>
              </a:rPr>
              <a:t>set of principles, tools, and techniques </a:t>
            </a:r>
            <a:r>
              <a:rPr lang="en-US" sz="2000" dirty="0">
                <a:latin typeface="Times New Roman" panose="02020603050405020304" pitchFamily="18" charset="0"/>
                <a:cs typeface="Times New Roman" panose="02020603050405020304" pitchFamily="18" charset="0"/>
              </a:rPr>
              <a:t>to help users generate and evaluate innovative and effective solutions to complex problems. It is widely used by businesses, engineers, designers, and scientists around the world.</a:t>
            </a:r>
            <a:endParaRPr lang="en-IN" sz="20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95A85FD1-ACE0-DAAC-8347-726D91EE7118}"/>
              </a:ext>
            </a:extLst>
          </p:cNvPr>
          <p:cNvSpPr>
            <a:spLocks noGrp="1"/>
          </p:cNvSpPr>
          <p:nvPr>
            <p:ph type="body" sz="half" idx="2"/>
          </p:nvPr>
        </p:nvSpPr>
        <p:spPr>
          <a:xfrm>
            <a:off x="1146705" y="1199535"/>
            <a:ext cx="3856037" cy="5122607"/>
          </a:xfrm>
        </p:spPr>
        <p:txBody>
          <a:bodyPr/>
          <a:lstStyle/>
          <a:p>
            <a:pPr algn="ctr"/>
            <a:r>
              <a:rPr lang="en-US" sz="2800" b="1" dirty="0">
                <a:solidFill>
                  <a:schemeClr val="bg1"/>
                </a:solidFill>
              </a:rPr>
              <a:t>GENRICH ALTSHULLER</a:t>
            </a:r>
            <a:endParaRPr lang="en-IN" sz="2800" b="1" dirty="0">
              <a:solidFill>
                <a:schemeClr val="bg1"/>
              </a:solidFill>
            </a:endParaRPr>
          </a:p>
          <a:p>
            <a:endParaRPr lang="en-IN" dirty="0"/>
          </a:p>
        </p:txBody>
      </p:sp>
      <p:pic>
        <p:nvPicPr>
          <p:cNvPr id="5" name="Content Placeholder 4">
            <a:extLst>
              <a:ext uri="{FF2B5EF4-FFF2-40B4-BE49-F238E27FC236}">
                <a16:creationId xmlns:a16="http://schemas.microsoft.com/office/drawing/2014/main" id="{EF3373FB-E7C2-3C6E-1B16-7176CDA7A366}"/>
              </a:ext>
            </a:extLst>
          </p:cNvPr>
          <p:cNvPicPr>
            <a:picLocks noGrp="1" noChangeAspect="1"/>
          </p:cNvPicPr>
          <p:nvPr>
            <p:ph idx="1"/>
          </p:nvPr>
        </p:nvPicPr>
        <p:blipFill>
          <a:blip r:embed="rId2"/>
          <a:stretch>
            <a:fillRect/>
          </a:stretch>
        </p:blipFill>
        <p:spPr>
          <a:xfrm>
            <a:off x="1514167" y="1887793"/>
            <a:ext cx="3106993" cy="4360606"/>
          </a:xfrm>
        </p:spPr>
      </p:pic>
      <p:pic>
        <p:nvPicPr>
          <p:cNvPr id="7" name="Picture 6">
            <a:extLst>
              <a:ext uri="{FF2B5EF4-FFF2-40B4-BE49-F238E27FC236}">
                <a16:creationId xmlns:a16="http://schemas.microsoft.com/office/drawing/2014/main" id="{42BB3B1F-7FF3-B954-943C-6C379BDD404D}"/>
              </a:ext>
            </a:extLst>
          </p:cNvPr>
          <p:cNvPicPr>
            <a:picLocks noChangeAspect="1"/>
          </p:cNvPicPr>
          <p:nvPr/>
        </p:nvPicPr>
        <p:blipFill>
          <a:blip r:embed="rId2"/>
          <a:stretch>
            <a:fillRect/>
          </a:stretch>
        </p:blipFill>
        <p:spPr>
          <a:xfrm>
            <a:off x="1386348" y="1887793"/>
            <a:ext cx="3460955" cy="4360606"/>
          </a:xfrm>
          <a:prstGeom prst="rect">
            <a:avLst/>
          </a:prstGeom>
        </p:spPr>
      </p:pic>
    </p:spTree>
    <p:extLst>
      <p:ext uri="{BB962C8B-B14F-4D97-AF65-F5344CB8AC3E}">
        <p14:creationId xmlns:p14="http://schemas.microsoft.com/office/powerpoint/2010/main" val="1052540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FBD4-1CF7-269A-8FA1-647609DDD7BD}"/>
              </a:ext>
            </a:extLst>
          </p:cNvPr>
          <p:cNvSpPr>
            <a:spLocks noGrp="1"/>
          </p:cNvSpPr>
          <p:nvPr>
            <p:ph type="title"/>
          </p:nvPr>
        </p:nvSpPr>
        <p:spPr>
          <a:xfrm>
            <a:off x="838200" y="365125"/>
            <a:ext cx="10515600" cy="608269"/>
          </a:xfrm>
        </p:spPr>
        <p:txBody>
          <a:bodyPr>
            <a:normAutofit/>
          </a:bodyPr>
          <a:lstStyle/>
          <a:p>
            <a:pPr algn="ctr"/>
            <a:r>
              <a:rPr lang="en-IN" sz="3200" b="1" dirty="0">
                <a:latin typeface="Times New Roman" panose="02020603050405020304" pitchFamily="18" charset="0"/>
                <a:cs typeface="Times New Roman" panose="02020603050405020304" pitchFamily="18" charset="0"/>
              </a:rPr>
              <a:t>TRIZ</a:t>
            </a:r>
          </a:p>
        </p:txBody>
      </p:sp>
      <p:pic>
        <p:nvPicPr>
          <p:cNvPr id="5" name="Content Placeholder 4">
            <a:extLst>
              <a:ext uri="{FF2B5EF4-FFF2-40B4-BE49-F238E27FC236}">
                <a16:creationId xmlns:a16="http://schemas.microsoft.com/office/drawing/2014/main" id="{0F82C2D1-B7F8-0ABB-025E-75FE608632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973394"/>
            <a:ext cx="10515599" cy="5633883"/>
          </a:xfrm>
        </p:spPr>
      </p:pic>
    </p:spTree>
    <p:extLst>
      <p:ext uri="{BB962C8B-B14F-4D97-AF65-F5344CB8AC3E}">
        <p14:creationId xmlns:p14="http://schemas.microsoft.com/office/powerpoint/2010/main" val="2169479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5C267-3818-F09A-E7C3-C984770EC276}"/>
              </a:ext>
            </a:extLst>
          </p:cNvPr>
          <p:cNvSpPr>
            <a:spLocks noGrp="1"/>
          </p:cNvSpPr>
          <p:nvPr>
            <p:ph type="title"/>
          </p:nvPr>
        </p:nvSpPr>
        <p:spPr>
          <a:xfrm>
            <a:off x="1141413" y="618518"/>
            <a:ext cx="9905998" cy="1200450"/>
          </a:xfrm>
        </p:spPr>
        <p:txBody>
          <a:bodyPr/>
          <a:lstStyle/>
          <a:p>
            <a:pPr algn="ctr"/>
            <a:r>
              <a:rPr lang="en-US" dirty="0">
                <a:latin typeface="Times New Roman" panose="02020603050405020304" pitchFamily="18" charset="0"/>
                <a:cs typeface="Times New Roman" panose="02020603050405020304" pitchFamily="18" charset="0"/>
              </a:rPr>
              <a:t>Why we need </a:t>
            </a:r>
            <a:r>
              <a:rPr lang="en-US" dirty="0" err="1">
                <a:latin typeface="Times New Roman" panose="02020603050405020304" pitchFamily="18" charset="0"/>
                <a:cs typeface="Times New Roman" panose="02020603050405020304" pitchFamily="18" charset="0"/>
              </a:rPr>
              <a:t>triz</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065B6FC-59AE-24E9-362E-2A3D80FFDDDA}"/>
              </a:ext>
            </a:extLst>
          </p:cNvPr>
          <p:cNvSpPr>
            <a:spLocks noGrp="1"/>
          </p:cNvSpPr>
          <p:nvPr>
            <p:ph idx="1"/>
          </p:nvPr>
        </p:nvSpPr>
        <p:spPr>
          <a:xfrm>
            <a:off x="825910" y="1818968"/>
            <a:ext cx="10707329" cy="4420514"/>
          </a:xfrm>
        </p:spPr>
        <p:txBody>
          <a:bodyPr>
            <a:normAutofit/>
          </a:bodyPr>
          <a:lstStyle/>
          <a:p>
            <a:pPr algn="just">
              <a:lnSpc>
                <a:spcPct val="200000"/>
              </a:lnSpc>
            </a:pPr>
            <a:r>
              <a:rPr lang="en-US" dirty="0">
                <a:latin typeface="Times New Roman" panose="02020603050405020304" pitchFamily="18" charset="0"/>
                <a:cs typeface="Times New Roman" panose="02020603050405020304" pitchFamily="18" charset="0"/>
              </a:rPr>
              <a:t>We need TRIZ , the theory based on the </a:t>
            </a:r>
            <a:r>
              <a:rPr lang="en-US" b="1" dirty="0">
                <a:solidFill>
                  <a:srgbClr val="0070C0"/>
                </a:solidFill>
                <a:latin typeface="Times New Roman" panose="02020603050405020304" pitchFamily="18" charset="0"/>
                <a:cs typeface="Times New Roman" panose="02020603050405020304" pitchFamily="18" charset="0"/>
              </a:rPr>
              <a:t>features of great inventions and the patterns of the evolution of systems,</a:t>
            </a:r>
            <a:r>
              <a:rPr lang="en-US" dirty="0">
                <a:latin typeface="Times New Roman" panose="02020603050405020304" pitchFamily="18" charset="0"/>
                <a:cs typeface="Times New Roman" panose="02020603050405020304" pitchFamily="18" charset="0"/>
              </a:rPr>
              <a:t> rather than approaches with no theory, </a:t>
            </a:r>
            <a:r>
              <a:rPr lang="en-US" b="1" dirty="0">
                <a:solidFill>
                  <a:srgbClr val="FF0000"/>
                </a:solidFill>
                <a:latin typeface="Times New Roman" panose="02020603050405020304" pitchFamily="18" charset="0"/>
                <a:cs typeface="Times New Roman" panose="02020603050405020304" pitchFamily="18" charset="0"/>
              </a:rPr>
              <a:t>based primarily on the emotions of the people </a:t>
            </a:r>
            <a:r>
              <a:rPr lang="en-US" dirty="0">
                <a:latin typeface="Times New Roman" panose="02020603050405020304" pitchFamily="18" charset="0"/>
                <a:cs typeface="Times New Roman" panose="02020603050405020304" pitchFamily="18" charset="0"/>
              </a:rPr>
              <a:t>involved.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142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74EDB-71C0-E8D4-5144-ED7D3CE22C06}"/>
              </a:ext>
            </a:extLst>
          </p:cNvPr>
          <p:cNvSpPr>
            <a:spLocks noGrp="1"/>
          </p:cNvSpPr>
          <p:nvPr>
            <p:ph type="title"/>
          </p:nvPr>
        </p:nvSpPr>
        <p:spPr>
          <a:xfrm>
            <a:off x="838200" y="260556"/>
            <a:ext cx="10515600" cy="545690"/>
          </a:xfrm>
        </p:spPr>
        <p:txBody>
          <a:bodyPr>
            <a:normAutofit/>
          </a:bodyPr>
          <a:lstStyle/>
          <a:p>
            <a:pPr algn="ctr"/>
            <a:r>
              <a:rPr lang="en-US" sz="3200" b="1" dirty="0">
                <a:latin typeface="Times New Roman" panose="02020603050405020304" pitchFamily="18" charset="0"/>
                <a:cs typeface="Times New Roman" panose="02020603050405020304" pitchFamily="18" charset="0"/>
              </a:rPr>
              <a:t>TRIZ</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5EF7D4-C4F5-CDC5-45DC-1F8AAA7AE6AB}"/>
              </a:ext>
            </a:extLst>
          </p:cNvPr>
          <p:cNvSpPr>
            <a:spLocks noGrp="1"/>
          </p:cNvSpPr>
          <p:nvPr>
            <p:ph idx="1"/>
          </p:nvPr>
        </p:nvSpPr>
        <p:spPr>
          <a:xfrm>
            <a:off x="838200" y="806245"/>
            <a:ext cx="10515600" cy="5919019"/>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TRIZ:-</a:t>
            </a:r>
          </a:p>
          <a:p>
            <a:pPr marL="0" indent="0" algn="just">
              <a:buNone/>
            </a:pPr>
            <a:r>
              <a:rPr lang="en-US" dirty="0">
                <a:latin typeface="Times New Roman" panose="02020603050405020304" pitchFamily="18" charset="0"/>
                <a:cs typeface="Times New Roman" panose="02020603050405020304" pitchFamily="18" charset="0"/>
              </a:rPr>
              <a:t>- applies </a:t>
            </a:r>
            <a:r>
              <a:rPr lang="en-US" dirty="0">
                <a:solidFill>
                  <a:schemeClr val="accent1"/>
                </a:solidFill>
                <a:latin typeface="Times New Roman" panose="02020603050405020304" pitchFamily="18" charset="0"/>
                <a:cs typeface="Times New Roman" panose="02020603050405020304" pitchFamily="18" charset="0"/>
              </a:rPr>
              <a:t>trivial solutions to non-trivial problems </a:t>
            </a:r>
          </a:p>
          <a:p>
            <a:pPr algn="just">
              <a:buFontTx/>
              <a:buChar char="-"/>
            </a:pPr>
            <a:r>
              <a:rPr lang="en-US" dirty="0">
                <a:solidFill>
                  <a:srgbClr val="FF0000"/>
                </a:solidFill>
                <a:latin typeface="Times New Roman" panose="02020603050405020304" pitchFamily="18" charset="0"/>
                <a:cs typeface="Times New Roman" panose="02020603050405020304" pitchFamily="18" charset="0"/>
              </a:rPr>
              <a:t>eliminates unfocused solutions </a:t>
            </a:r>
          </a:p>
          <a:p>
            <a:pPr algn="just">
              <a:buFontTx/>
              <a:buChar char="-"/>
            </a:pPr>
            <a:r>
              <a:rPr lang="en-US" dirty="0">
                <a:latin typeface="Times New Roman" panose="02020603050405020304" pitchFamily="18" charset="0"/>
                <a:cs typeface="Times New Roman" panose="02020603050405020304" pitchFamily="18" charset="0"/>
              </a:rPr>
              <a:t>TRIZ and the analytical tools developed to function within the TRIZ framework </a:t>
            </a:r>
            <a:r>
              <a:rPr lang="en-US" b="1" dirty="0">
                <a:solidFill>
                  <a:srgbClr val="00B050"/>
                </a:solidFill>
                <a:latin typeface="Times New Roman" panose="02020603050405020304" pitchFamily="18" charset="0"/>
                <a:cs typeface="Times New Roman" panose="02020603050405020304" pitchFamily="18" charset="0"/>
              </a:rPr>
              <a:t>do not guarantee a problem will be solved </a:t>
            </a:r>
            <a:r>
              <a:rPr lang="en-US" dirty="0">
                <a:latin typeface="Times New Roman" panose="02020603050405020304" pitchFamily="18" charset="0"/>
                <a:cs typeface="Times New Roman" panose="02020603050405020304" pitchFamily="18" charset="0"/>
              </a:rPr>
              <a:t>but they do guarantee an improvement in the engineering system being addressed.</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Paradigm:</a:t>
            </a:r>
            <a:r>
              <a:rPr lang="en-US" dirty="0">
                <a:latin typeface="Times New Roman" panose="02020603050405020304" pitchFamily="18" charset="0"/>
                <a:cs typeface="Times New Roman" panose="02020603050405020304" pitchFamily="18" charset="0"/>
              </a:rPr>
              <a:t> TRIZ </a:t>
            </a:r>
            <a:r>
              <a:rPr lang="en-US" dirty="0">
                <a:solidFill>
                  <a:srgbClr val="FF0000"/>
                </a:solidFill>
                <a:latin typeface="Times New Roman" panose="02020603050405020304" pitchFamily="18" charset="0"/>
                <a:cs typeface="Times New Roman" panose="02020603050405020304" pitchFamily="18" charset="0"/>
              </a:rPr>
              <a:t>eliminates categories of unworkable solutions </a:t>
            </a:r>
            <a:r>
              <a:rPr lang="en-US" dirty="0">
                <a:latin typeface="Times New Roman" panose="02020603050405020304" pitchFamily="18" charset="0"/>
                <a:cs typeface="Times New Roman" panose="02020603050405020304" pitchFamily="18" charset="0"/>
              </a:rPr>
              <a:t>so the professional does not have to work to find them </a:t>
            </a:r>
          </a:p>
          <a:p>
            <a:pPr marL="0" indent="0" algn="just">
              <a:buNone/>
            </a:pPr>
            <a:r>
              <a:rPr lang="en-US" b="1" dirty="0">
                <a:latin typeface="Times New Roman" panose="02020603050405020304" pitchFamily="18" charset="0"/>
                <a:cs typeface="Times New Roman" panose="02020603050405020304" pitchFamily="18" charset="0"/>
              </a:rPr>
              <a:t>Advantages: </a:t>
            </a:r>
          </a:p>
          <a:p>
            <a:pPr marL="0" indent="0" algn="just">
              <a:buNone/>
            </a:pPr>
            <a:r>
              <a:rPr lang="en-US" dirty="0">
                <a:latin typeface="Times New Roman" panose="02020603050405020304" pitchFamily="18" charset="0"/>
                <a:cs typeface="Times New Roman" panose="02020603050405020304" pitchFamily="18" charset="0"/>
              </a:rPr>
              <a:t>High efficiency </a:t>
            </a:r>
          </a:p>
          <a:p>
            <a:pPr marL="0" indent="0" algn="just">
              <a:buNone/>
            </a:pPr>
            <a:r>
              <a:rPr lang="en-US" dirty="0">
                <a:latin typeface="Times New Roman" panose="02020603050405020304" pitchFamily="18" charset="0"/>
                <a:cs typeface="Times New Roman" panose="02020603050405020304" pitchFamily="18" charset="0"/>
              </a:rPr>
              <a:t>High predictability </a:t>
            </a:r>
          </a:p>
          <a:p>
            <a:pPr marL="0" indent="0" algn="just">
              <a:buNone/>
            </a:pPr>
            <a:r>
              <a:rPr lang="en-US" dirty="0">
                <a:latin typeface="Times New Roman" panose="02020603050405020304" pitchFamily="18" charset="0"/>
                <a:cs typeface="Times New Roman" panose="02020603050405020304" pitchFamily="18" charset="0"/>
              </a:rPr>
              <a:t>Independent of psychological inertia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2815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BBAA8-761A-ABEE-2A04-F324FE14544B}"/>
              </a:ext>
            </a:extLst>
          </p:cNvPr>
          <p:cNvSpPr>
            <a:spLocks noGrp="1"/>
          </p:cNvSpPr>
          <p:nvPr>
            <p:ph type="title"/>
          </p:nvPr>
        </p:nvSpPr>
        <p:spPr>
          <a:xfrm>
            <a:off x="838200" y="176982"/>
            <a:ext cx="10515600" cy="688258"/>
          </a:xfrm>
        </p:spPr>
        <p:txBody>
          <a:bodyPr>
            <a:normAutofit/>
          </a:bodyPr>
          <a:lstStyle/>
          <a:p>
            <a:pPr algn="ctr"/>
            <a:r>
              <a:rPr lang="en-IN" sz="3200" b="1" dirty="0">
                <a:latin typeface="Times New Roman" panose="02020603050405020304" pitchFamily="18" charset="0"/>
                <a:cs typeface="Times New Roman" panose="02020603050405020304" pitchFamily="18" charset="0"/>
              </a:rPr>
              <a:t>EXAMPLES OF GOOD SOLUTION </a:t>
            </a:r>
          </a:p>
        </p:txBody>
      </p:sp>
      <p:graphicFrame>
        <p:nvGraphicFramePr>
          <p:cNvPr id="4" name="Content Placeholder 3">
            <a:extLst>
              <a:ext uri="{FF2B5EF4-FFF2-40B4-BE49-F238E27FC236}">
                <a16:creationId xmlns:a16="http://schemas.microsoft.com/office/drawing/2014/main" id="{1A9BA34C-5E93-3459-33D3-7998F72DAC0F}"/>
              </a:ext>
            </a:extLst>
          </p:cNvPr>
          <p:cNvGraphicFramePr>
            <a:graphicFrameLocks noGrp="1"/>
          </p:cNvGraphicFramePr>
          <p:nvPr>
            <p:ph idx="1"/>
            <p:extLst>
              <p:ext uri="{D42A27DB-BD31-4B8C-83A1-F6EECF244321}">
                <p14:modId xmlns:p14="http://schemas.microsoft.com/office/powerpoint/2010/main" val="406591136"/>
              </p:ext>
            </p:extLst>
          </p:nvPr>
        </p:nvGraphicFramePr>
        <p:xfrm>
          <a:off x="725557" y="1002890"/>
          <a:ext cx="9932611" cy="5260256"/>
        </p:xfrm>
        <a:graphic>
          <a:graphicData uri="http://schemas.openxmlformats.org/drawingml/2006/table">
            <a:tbl>
              <a:tblPr firstRow="1" bandRow="1">
                <a:tableStyleId>{5C22544A-7EE6-4342-B048-85BDC9FD1C3A}</a:tableStyleId>
              </a:tblPr>
              <a:tblGrid>
                <a:gridCol w="3384561">
                  <a:extLst>
                    <a:ext uri="{9D8B030D-6E8A-4147-A177-3AD203B41FA5}">
                      <a16:colId xmlns:a16="http://schemas.microsoft.com/office/drawing/2014/main" val="2414038874"/>
                    </a:ext>
                  </a:extLst>
                </a:gridCol>
                <a:gridCol w="3274025">
                  <a:extLst>
                    <a:ext uri="{9D8B030D-6E8A-4147-A177-3AD203B41FA5}">
                      <a16:colId xmlns:a16="http://schemas.microsoft.com/office/drawing/2014/main" val="4149326422"/>
                    </a:ext>
                  </a:extLst>
                </a:gridCol>
                <a:gridCol w="3274025">
                  <a:extLst>
                    <a:ext uri="{9D8B030D-6E8A-4147-A177-3AD203B41FA5}">
                      <a16:colId xmlns:a16="http://schemas.microsoft.com/office/drawing/2014/main" val="929534136"/>
                    </a:ext>
                  </a:extLst>
                </a:gridCol>
              </a:tblGrid>
              <a:tr h="657532">
                <a:tc>
                  <a:txBody>
                    <a:bodyPr/>
                    <a:lstStyle/>
                    <a:p>
                      <a:pPr algn="l"/>
                      <a:endParaRPr lang="en-IN" dirty="0"/>
                    </a:p>
                    <a:p>
                      <a:pPr algn="l"/>
                      <a:r>
                        <a:rPr lang="en-IN" dirty="0"/>
                        <a:t>IDEA</a:t>
                      </a:r>
                    </a:p>
                  </a:txBody>
                  <a:tcPr/>
                </a:tc>
                <a:tc>
                  <a:txBody>
                    <a:bodyPr/>
                    <a:lstStyle/>
                    <a:p>
                      <a:pPr algn="l"/>
                      <a:endParaRPr lang="en-IN" dirty="0"/>
                    </a:p>
                    <a:p>
                      <a:pPr algn="l"/>
                      <a:r>
                        <a:rPr lang="en-IN" dirty="0"/>
                        <a:t>YEAR CREATED</a:t>
                      </a:r>
                    </a:p>
                  </a:txBody>
                  <a:tcPr/>
                </a:tc>
                <a:tc>
                  <a:txBody>
                    <a:bodyPr/>
                    <a:lstStyle/>
                    <a:p>
                      <a:pPr algn="l"/>
                      <a:endParaRPr lang="en-IN" dirty="0"/>
                    </a:p>
                    <a:p>
                      <a:pPr algn="l"/>
                      <a:r>
                        <a:rPr lang="en-IN" dirty="0"/>
                        <a:t>YEAR IMPLEMENTED</a:t>
                      </a:r>
                    </a:p>
                  </a:txBody>
                  <a:tcPr/>
                </a:tc>
                <a:extLst>
                  <a:ext uri="{0D108BD9-81ED-4DB2-BD59-A6C34878D82A}">
                    <a16:rowId xmlns:a16="http://schemas.microsoft.com/office/drawing/2014/main" val="3435349148"/>
                  </a:ext>
                </a:extLst>
              </a:tr>
              <a:tr h="657532">
                <a:tc>
                  <a:txBody>
                    <a:bodyPr/>
                    <a:lstStyle/>
                    <a:p>
                      <a:r>
                        <a:rPr lang="en-IN" dirty="0"/>
                        <a:t>Concept Of Global Network Of Computers</a:t>
                      </a:r>
                    </a:p>
                  </a:txBody>
                  <a:tcPr/>
                </a:tc>
                <a:tc>
                  <a:txBody>
                    <a:bodyPr/>
                    <a:lstStyle/>
                    <a:p>
                      <a:r>
                        <a:rPr lang="en-IN" dirty="0"/>
                        <a:t>1962</a:t>
                      </a:r>
                    </a:p>
                  </a:txBody>
                  <a:tcPr/>
                </a:tc>
                <a:tc>
                  <a:txBody>
                    <a:bodyPr/>
                    <a:lstStyle/>
                    <a:p>
                      <a:r>
                        <a:rPr lang="en-IN" dirty="0"/>
                        <a:t>1969</a:t>
                      </a:r>
                    </a:p>
                  </a:txBody>
                  <a:tcPr/>
                </a:tc>
                <a:extLst>
                  <a:ext uri="{0D108BD9-81ED-4DB2-BD59-A6C34878D82A}">
                    <a16:rowId xmlns:a16="http://schemas.microsoft.com/office/drawing/2014/main" val="2357775113"/>
                  </a:ext>
                </a:extLst>
              </a:tr>
              <a:tr h="657532">
                <a:tc>
                  <a:txBody>
                    <a:bodyPr/>
                    <a:lstStyle/>
                    <a:p>
                      <a:r>
                        <a:rPr lang="en-IN" dirty="0"/>
                        <a:t>Hypertext System For Sharing Information</a:t>
                      </a:r>
                    </a:p>
                  </a:txBody>
                  <a:tcPr/>
                </a:tc>
                <a:tc>
                  <a:txBody>
                    <a:bodyPr/>
                    <a:lstStyle/>
                    <a:p>
                      <a:r>
                        <a:rPr lang="en-IN" dirty="0"/>
                        <a:t>1989</a:t>
                      </a:r>
                    </a:p>
                  </a:txBody>
                  <a:tcPr/>
                </a:tc>
                <a:tc>
                  <a:txBody>
                    <a:bodyPr/>
                    <a:lstStyle/>
                    <a:p>
                      <a:r>
                        <a:rPr lang="en-IN" dirty="0"/>
                        <a:t>1991</a:t>
                      </a:r>
                    </a:p>
                  </a:txBody>
                  <a:tcPr/>
                </a:tc>
                <a:extLst>
                  <a:ext uri="{0D108BD9-81ED-4DB2-BD59-A6C34878D82A}">
                    <a16:rowId xmlns:a16="http://schemas.microsoft.com/office/drawing/2014/main" val="2447764498"/>
                  </a:ext>
                </a:extLst>
              </a:tr>
              <a:tr h="657532">
                <a:tc>
                  <a:txBody>
                    <a:bodyPr/>
                    <a:lstStyle/>
                    <a:p>
                      <a:r>
                        <a:rPr lang="en-IN" dirty="0"/>
                        <a:t>Combining A Mobile Phone With Computing Capabilities</a:t>
                      </a:r>
                    </a:p>
                  </a:txBody>
                  <a:tcPr/>
                </a:tc>
                <a:tc>
                  <a:txBody>
                    <a:bodyPr/>
                    <a:lstStyle/>
                    <a:p>
                      <a:r>
                        <a:rPr lang="en-IN" dirty="0"/>
                        <a:t>1973</a:t>
                      </a:r>
                    </a:p>
                  </a:txBody>
                  <a:tcPr/>
                </a:tc>
                <a:tc>
                  <a:txBody>
                    <a:bodyPr/>
                    <a:lstStyle/>
                    <a:p>
                      <a:r>
                        <a:rPr lang="en-IN" dirty="0"/>
                        <a:t>1994</a:t>
                      </a:r>
                    </a:p>
                  </a:txBody>
                  <a:tcPr/>
                </a:tc>
                <a:extLst>
                  <a:ext uri="{0D108BD9-81ED-4DB2-BD59-A6C34878D82A}">
                    <a16:rowId xmlns:a16="http://schemas.microsoft.com/office/drawing/2014/main" val="4118072246"/>
                  </a:ext>
                </a:extLst>
              </a:tr>
              <a:tr h="657532">
                <a:tc>
                  <a:txBody>
                    <a:bodyPr/>
                    <a:lstStyle/>
                    <a:p>
                      <a:r>
                        <a:rPr lang="en-IN" dirty="0">
                          <a:solidFill>
                            <a:srgbClr val="FF0000"/>
                          </a:solidFill>
                        </a:rPr>
                        <a:t>Machines simulating human intelligence</a:t>
                      </a:r>
                    </a:p>
                  </a:txBody>
                  <a:tcPr/>
                </a:tc>
                <a:tc>
                  <a:txBody>
                    <a:bodyPr/>
                    <a:lstStyle/>
                    <a:p>
                      <a:r>
                        <a:rPr lang="en-IN" dirty="0"/>
                        <a:t>1956</a:t>
                      </a:r>
                    </a:p>
                  </a:txBody>
                  <a:tcPr/>
                </a:tc>
                <a:tc>
                  <a:txBody>
                    <a:bodyPr/>
                    <a:lstStyle/>
                    <a:p>
                      <a:r>
                        <a:rPr lang="en-IN" dirty="0"/>
                        <a:t>1997</a:t>
                      </a:r>
                    </a:p>
                  </a:txBody>
                  <a:tcPr/>
                </a:tc>
                <a:extLst>
                  <a:ext uri="{0D108BD9-81ED-4DB2-BD59-A6C34878D82A}">
                    <a16:rowId xmlns:a16="http://schemas.microsoft.com/office/drawing/2014/main" val="1476838091"/>
                  </a:ext>
                </a:extLst>
              </a:tr>
              <a:tr h="657532">
                <a:tc>
                  <a:txBody>
                    <a:bodyPr/>
                    <a:lstStyle/>
                    <a:p>
                      <a:r>
                        <a:rPr lang="en-IN" dirty="0">
                          <a:solidFill>
                            <a:srgbClr val="FF0000"/>
                          </a:solidFill>
                        </a:rPr>
                        <a:t>Battery powered vehicle</a:t>
                      </a:r>
                    </a:p>
                  </a:txBody>
                  <a:tcPr/>
                </a:tc>
                <a:tc>
                  <a:txBody>
                    <a:bodyPr/>
                    <a:lstStyle/>
                    <a:p>
                      <a:r>
                        <a:rPr lang="en-IN" dirty="0"/>
                        <a:t>1828</a:t>
                      </a:r>
                    </a:p>
                  </a:txBody>
                  <a:tcPr/>
                </a:tc>
                <a:tc>
                  <a:txBody>
                    <a:bodyPr/>
                    <a:lstStyle/>
                    <a:p>
                      <a:r>
                        <a:rPr lang="en-IN" dirty="0"/>
                        <a:t>2008</a:t>
                      </a:r>
                    </a:p>
                  </a:txBody>
                  <a:tcPr/>
                </a:tc>
                <a:extLst>
                  <a:ext uri="{0D108BD9-81ED-4DB2-BD59-A6C34878D82A}">
                    <a16:rowId xmlns:a16="http://schemas.microsoft.com/office/drawing/2014/main" val="712697776"/>
                  </a:ext>
                </a:extLst>
              </a:tr>
              <a:tr h="657532">
                <a:tc>
                  <a:txBody>
                    <a:bodyPr/>
                    <a:lstStyle/>
                    <a:p>
                      <a:r>
                        <a:rPr lang="en-IN" dirty="0"/>
                        <a:t>A tool for precise genetic editing</a:t>
                      </a:r>
                    </a:p>
                  </a:txBody>
                  <a:tcPr/>
                </a:tc>
                <a:tc>
                  <a:txBody>
                    <a:bodyPr/>
                    <a:lstStyle/>
                    <a:p>
                      <a:r>
                        <a:rPr lang="en-IN" dirty="0"/>
                        <a:t>1987</a:t>
                      </a:r>
                    </a:p>
                  </a:txBody>
                  <a:tcPr/>
                </a:tc>
                <a:tc>
                  <a:txBody>
                    <a:bodyPr/>
                    <a:lstStyle/>
                    <a:p>
                      <a:r>
                        <a:rPr lang="en-IN" dirty="0"/>
                        <a:t>2012</a:t>
                      </a:r>
                    </a:p>
                  </a:txBody>
                  <a:tcPr/>
                </a:tc>
                <a:extLst>
                  <a:ext uri="{0D108BD9-81ED-4DB2-BD59-A6C34878D82A}">
                    <a16:rowId xmlns:a16="http://schemas.microsoft.com/office/drawing/2014/main" val="2257701756"/>
                  </a:ext>
                </a:extLst>
              </a:tr>
              <a:tr h="657532">
                <a:tc>
                  <a:txBody>
                    <a:bodyPr/>
                    <a:lstStyle/>
                    <a:p>
                      <a:r>
                        <a:rPr lang="en-IN" dirty="0"/>
                        <a:t>Using quantum mechanics for computation </a:t>
                      </a:r>
                    </a:p>
                  </a:txBody>
                  <a:tcPr/>
                </a:tc>
                <a:tc>
                  <a:txBody>
                    <a:bodyPr/>
                    <a:lstStyle/>
                    <a:p>
                      <a:r>
                        <a:rPr lang="en-IN" dirty="0"/>
                        <a:t>1980</a:t>
                      </a:r>
                    </a:p>
                  </a:txBody>
                  <a:tcPr/>
                </a:tc>
                <a:tc>
                  <a:txBody>
                    <a:bodyPr/>
                    <a:lstStyle/>
                    <a:p>
                      <a:r>
                        <a:rPr lang="en-IN" dirty="0"/>
                        <a:t>2020</a:t>
                      </a:r>
                    </a:p>
                  </a:txBody>
                  <a:tcPr/>
                </a:tc>
                <a:extLst>
                  <a:ext uri="{0D108BD9-81ED-4DB2-BD59-A6C34878D82A}">
                    <a16:rowId xmlns:a16="http://schemas.microsoft.com/office/drawing/2014/main" val="2813928807"/>
                  </a:ext>
                </a:extLst>
              </a:tr>
            </a:tbl>
          </a:graphicData>
        </a:graphic>
      </p:graphicFrame>
    </p:spTree>
    <p:extLst>
      <p:ext uri="{BB962C8B-B14F-4D97-AF65-F5344CB8AC3E}">
        <p14:creationId xmlns:p14="http://schemas.microsoft.com/office/powerpoint/2010/main" val="3295079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42EE3-1AEA-CA4F-2EC0-2762E594620F}"/>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TRIZ</a:t>
            </a:r>
          </a:p>
        </p:txBody>
      </p:sp>
      <p:sp>
        <p:nvSpPr>
          <p:cNvPr id="3" name="Content Placeholder 2">
            <a:extLst>
              <a:ext uri="{FF2B5EF4-FFF2-40B4-BE49-F238E27FC236}">
                <a16:creationId xmlns:a16="http://schemas.microsoft.com/office/drawing/2014/main" id="{6BA8DE33-AD38-F5D3-5896-E04633DE221A}"/>
              </a:ext>
            </a:extLst>
          </p:cNvPr>
          <p:cNvSpPr>
            <a:spLocks noGrp="1"/>
          </p:cNvSpPr>
          <p:nvPr>
            <p:ph idx="1"/>
          </p:nvPr>
        </p:nvSpPr>
        <p:spPr/>
        <p:txBody>
          <a:bodyPr/>
          <a:lstStyle/>
          <a:p>
            <a:pPr marL="0" indent="0">
              <a:buNone/>
            </a:pPr>
            <a:r>
              <a:rPr lang="en-US" dirty="0"/>
              <a:t>WHY DOES IT TAKE YEARS FOR EXCELLENT IDEAS TO COMMERCIALIZED </a:t>
            </a:r>
          </a:p>
          <a:p>
            <a:pPr marL="342900" indent="-342900">
              <a:buAutoNum type="arabicParenBoth"/>
            </a:pPr>
            <a:r>
              <a:rPr lang="en-US" dirty="0"/>
              <a:t>Inventor is ahead of his time </a:t>
            </a:r>
          </a:p>
          <a:p>
            <a:pPr marL="342900" indent="-342900">
              <a:buAutoNum type="arabicParenBoth"/>
            </a:pPr>
            <a:r>
              <a:rPr lang="en-US" dirty="0"/>
              <a:t>Inventor is not a good sales man</a:t>
            </a:r>
          </a:p>
          <a:p>
            <a:pPr marL="342900" indent="-342900">
              <a:buAutoNum type="arabicParenBoth"/>
            </a:pPr>
            <a:r>
              <a:rPr lang="en-US" dirty="0"/>
              <a:t>No financial support </a:t>
            </a:r>
          </a:p>
          <a:p>
            <a:pPr marL="342900" indent="-342900">
              <a:buAutoNum type="arabicParenBoth"/>
            </a:pPr>
            <a:r>
              <a:rPr lang="en-US" dirty="0"/>
              <a:t>Overbearing of popular and accepted ideas in the society</a:t>
            </a:r>
          </a:p>
          <a:p>
            <a:pPr marL="342900" indent="-342900"/>
            <a:endParaRPr lang="en-US" dirty="0"/>
          </a:p>
          <a:p>
            <a:pPr marL="342900" indent="-342900"/>
            <a:r>
              <a:rPr lang="en-US" b="1" dirty="0">
                <a:solidFill>
                  <a:srgbClr val="FF0000"/>
                </a:solidFill>
              </a:rPr>
              <a:t>Evolution of products such as bi-cycles, watches reflects the growth of mankind </a:t>
            </a:r>
          </a:p>
          <a:p>
            <a:pPr marL="342900" indent="-342900"/>
            <a:endParaRPr lang="en-US" b="1" dirty="0"/>
          </a:p>
          <a:p>
            <a:endParaRPr lang="en-IN" dirty="0"/>
          </a:p>
        </p:txBody>
      </p:sp>
    </p:spTree>
    <p:extLst>
      <p:ext uri="{BB962C8B-B14F-4D97-AF65-F5344CB8AC3E}">
        <p14:creationId xmlns:p14="http://schemas.microsoft.com/office/powerpoint/2010/main" val="3134220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F202B-E8F7-312A-3972-00BCC6EB9926}"/>
              </a:ext>
            </a:extLst>
          </p:cNvPr>
          <p:cNvSpPr>
            <a:spLocks noGrp="1"/>
          </p:cNvSpPr>
          <p:nvPr>
            <p:ph type="title"/>
          </p:nvPr>
        </p:nvSpPr>
        <p:spPr>
          <a:xfrm>
            <a:off x="838200" y="365125"/>
            <a:ext cx="10515600" cy="775417"/>
          </a:xfrm>
        </p:spPr>
        <p:txBody>
          <a:bodyPr/>
          <a:lstStyle/>
          <a:p>
            <a:pPr algn="ctr"/>
            <a:r>
              <a:rPr lang="en-IN" b="1" dirty="0"/>
              <a:t>?</a:t>
            </a:r>
          </a:p>
        </p:txBody>
      </p:sp>
      <p:sp>
        <p:nvSpPr>
          <p:cNvPr id="3" name="Content Placeholder 2">
            <a:extLst>
              <a:ext uri="{FF2B5EF4-FFF2-40B4-BE49-F238E27FC236}">
                <a16:creationId xmlns:a16="http://schemas.microsoft.com/office/drawing/2014/main" id="{EAB6B429-16F1-DE15-0693-A189CDEAF7FD}"/>
              </a:ext>
            </a:extLst>
          </p:cNvPr>
          <p:cNvSpPr>
            <a:spLocks noGrp="1"/>
          </p:cNvSpPr>
          <p:nvPr>
            <p:ph idx="1"/>
          </p:nvPr>
        </p:nvSpPr>
        <p:spPr>
          <a:xfrm>
            <a:off x="838200" y="1140542"/>
            <a:ext cx="10515600" cy="5036421"/>
          </a:xfrm>
        </p:spPr>
        <p:txBody>
          <a:bodyPr/>
          <a:lstStyle/>
          <a:p>
            <a:pPr algn="just"/>
            <a:r>
              <a:rPr lang="en-IN" dirty="0"/>
              <a:t>How can the inventors know what is really new and better than the old technology?</a:t>
            </a:r>
          </a:p>
          <a:p>
            <a:pPr algn="just"/>
            <a:r>
              <a:rPr lang="en-IN" dirty="0"/>
              <a:t>What about prejudices? Would the result be better if experts and managers were less prejudiced and more creative? </a:t>
            </a:r>
          </a:p>
          <a:p>
            <a:pPr algn="just"/>
            <a:r>
              <a:rPr lang="en-IN" dirty="0"/>
              <a:t>But how inventors know when to accept ideas and criticism and when to reject them?</a:t>
            </a:r>
          </a:p>
          <a:p>
            <a:pPr algn="just"/>
            <a:r>
              <a:rPr lang="en-IN" dirty="0"/>
              <a:t>One must select good solution from many ideas, some good and some bad.</a:t>
            </a:r>
          </a:p>
          <a:p>
            <a:pPr algn="just"/>
            <a:r>
              <a:rPr lang="en-IN" dirty="0"/>
              <a:t>How can we select the good solution?</a:t>
            </a:r>
          </a:p>
        </p:txBody>
      </p:sp>
    </p:spTree>
    <p:extLst>
      <p:ext uri="{BB962C8B-B14F-4D97-AF65-F5344CB8AC3E}">
        <p14:creationId xmlns:p14="http://schemas.microsoft.com/office/powerpoint/2010/main" val="1037028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FA05-EC69-C110-0239-BE723C4DDD25}"/>
              </a:ext>
            </a:extLst>
          </p:cNvPr>
          <p:cNvSpPr>
            <a:spLocks noGrp="1"/>
          </p:cNvSpPr>
          <p:nvPr>
            <p:ph type="title"/>
          </p:nvPr>
        </p:nvSpPr>
        <p:spPr>
          <a:xfrm>
            <a:off x="838200" y="365126"/>
            <a:ext cx="10515600" cy="31591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59A4F12E-9E15-AAEE-B664-EB8B0F467396}"/>
              </a:ext>
            </a:extLst>
          </p:cNvPr>
          <p:cNvSpPr>
            <a:spLocks noGrp="1"/>
          </p:cNvSpPr>
          <p:nvPr>
            <p:ph idx="1"/>
          </p:nvPr>
        </p:nvSpPr>
        <p:spPr>
          <a:xfrm>
            <a:off x="838200" y="894735"/>
            <a:ext cx="10515600" cy="5282228"/>
          </a:xfrm>
        </p:spPr>
        <p:txBody>
          <a:bodyPr/>
          <a:lstStyle/>
          <a:p>
            <a:pPr algn="just"/>
            <a:r>
              <a:rPr lang="en-IN" dirty="0">
                <a:latin typeface="Times New Roman" panose="02020603050405020304" pitchFamily="18" charset="0"/>
                <a:cs typeface="Times New Roman" panose="02020603050405020304" pitchFamily="18" charset="0"/>
              </a:rPr>
              <a:t>People reject good solutions and invest in bad ones because they </a:t>
            </a:r>
            <a:r>
              <a:rPr lang="en-IN" dirty="0">
                <a:highlight>
                  <a:srgbClr val="FFFF00"/>
                </a:highlight>
                <a:latin typeface="Times New Roman" panose="02020603050405020304" pitchFamily="18" charset="0"/>
                <a:cs typeface="Times New Roman" panose="02020603050405020304" pitchFamily="18" charset="0"/>
              </a:rPr>
              <a:t>don’t know the difference between them.</a:t>
            </a:r>
          </a:p>
          <a:p>
            <a:pPr algn="just"/>
            <a:r>
              <a:rPr lang="en-IN" dirty="0">
                <a:latin typeface="Times New Roman" panose="02020603050405020304" pitchFamily="18" charset="0"/>
                <a:cs typeface="Times New Roman" panose="02020603050405020304" pitchFamily="18" charset="0"/>
              </a:rPr>
              <a:t>Looking at cases of lost opportunities and great losses for business and society, people can take one two positions:</a:t>
            </a:r>
          </a:p>
          <a:p>
            <a:pPr marL="514350" indent="-514350" algn="just">
              <a:buAutoNum type="arabicPeriod"/>
            </a:pPr>
            <a:r>
              <a:rPr lang="en-IN" dirty="0">
                <a:highlight>
                  <a:srgbClr val="FFFF00"/>
                </a:highlight>
                <a:latin typeface="Times New Roman" panose="02020603050405020304" pitchFamily="18" charset="0"/>
                <a:cs typeface="Times New Roman" panose="02020603050405020304" pitchFamily="18" charset="0"/>
              </a:rPr>
              <a:t>With hindsight, </a:t>
            </a:r>
            <a:r>
              <a:rPr lang="en-IN" dirty="0">
                <a:latin typeface="Times New Roman" panose="02020603050405020304" pitchFamily="18" charset="0"/>
                <a:cs typeface="Times New Roman" panose="02020603050405020304" pitchFamily="18" charset="0"/>
              </a:rPr>
              <a:t>it is easy to see that often very good ideas are rejected and resources lost to bad ones. But obviously it is not possible to know whether the idea is good or bad when it is proposed.</a:t>
            </a:r>
          </a:p>
          <a:p>
            <a:pPr marL="514350" indent="-514350" algn="just">
              <a:buAutoNum type="arabicPeriod"/>
            </a:pPr>
            <a:r>
              <a:rPr lang="en-IN" dirty="0">
                <a:latin typeface="Times New Roman" panose="02020603050405020304" pitchFamily="18" charset="0"/>
                <a:cs typeface="Times New Roman" panose="02020603050405020304" pitchFamily="18" charset="0"/>
              </a:rPr>
              <a:t>Because the </a:t>
            </a:r>
            <a:r>
              <a:rPr lang="en-IN" dirty="0">
                <a:highlight>
                  <a:srgbClr val="FFFF00"/>
                </a:highlight>
                <a:latin typeface="Times New Roman" panose="02020603050405020304" pitchFamily="18" charset="0"/>
                <a:cs typeface="Times New Roman" panose="02020603050405020304" pitchFamily="18" charset="0"/>
              </a:rPr>
              <a:t>same patterns are repeated over and over again, </a:t>
            </a:r>
            <a:r>
              <a:rPr lang="en-IN" dirty="0">
                <a:latin typeface="Times New Roman" panose="02020603050405020304" pitchFamily="18" charset="0"/>
                <a:cs typeface="Times New Roman" panose="02020603050405020304" pitchFamily="18" charset="0"/>
              </a:rPr>
              <a:t>we can learn from the past. The patterns of evolution can be discovered and used to get better solutions today</a:t>
            </a:r>
          </a:p>
        </p:txBody>
      </p:sp>
    </p:spTree>
    <p:extLst>
      <p:ext uri="{BB962C8B-B14F-4D97-AF65-F5344CB8AC3E}">
        <p14:creationId xmlns:p14="http://schemas.microsoft.com/office/powerpoint/2010/main" val="1032173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F4E85-1407-4CF7-A7DA-97A5772AE676}"/>
              </a:ext>
            </a:extLst>
          </p:cNvPr>
          <p:cNvSpPr>
            <a:spLocks noGrp="1"/>
          </p:cNvSpPr>
          <p:nvPr>
            <p:ph type="title"/>
          </p:nvPr>
        </p:nvSpPr>
        <p:spPr>
          <a:xfrm>
            <a:off x="838200" y="201562"/>
            <a:ext cx="10515600" cy="604684"/>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Common features of good solutions</a:t>
            </a:r>
          </a:p>
        </p:txBody>
      </p:sp>
      <p:sp>
        <p:nvSpPr>
          <p:cNvPr id="3" name="Content Placeholder 2">
            <a:extLst>
              <a:ext uri="{FF2B5EF4-FFF2-40B4-BE49-F238E27FC236}">
                <a16:creationId xmlns:a16="http://schemas.microsoft.com/office/drawing/2014/main" id="{F05C0B29-5DFE-B8A9-2938-7B94D806C423}"/>
              </a:ext>
            </a:extLst>
          </p:cNvPr>
          <p:cNvSpPr>
            <a:spLocks noGrp="1"/>
          </p:cNvSpPr>
          <p:nvPr>
            <p:ph idx="1"/>
          </p:nvPr>
        </p:nvSpPr>
        <p:spPr>
          <a:xfrm>
            <a:off x="442451" y="924232"/>
            <a:ext cx="11415251" cy="5732207"/>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Good features have several common features. The good idea does the following:</a:t>
            </a:r>
          </a:p>
          <a:p>
            <a:pPr marL="514350" indent="-514350" algn="just">
              <a:buAutoNum type="arabicPeriod"/>
            </a:pPr>
            <a:r>
              <a:rPr lang="en-IN" dirty="0">
                <a:latin typeface="Times New Roman" panose="02020603050405020304" pitchFamily="18" charset="0"/>
                <a:cs typeface="Times New Roman" panose="02020603050405020304" pitchFamily="18" charset="0"/>
              </a:rPr>
              <a:t>Resolves contradictions</a:t>
            </a:r>
          </a:p>
          <a:p>
            <a:pPr marL="514350" indent="-514350" algn="just">
              <a:buAutoNum type="arabicPeriod"/>
            </a:pPr>
            <a:r>
              <a:rPr lang="en-IN" dirty="0">
                <a:latin typeface="Times New Roman" panose="02020603050405020304" pitchFamily="18" charset="0"/>
                <a:cs typeface="Times New Roman" panose="02020603050405020304" pitchFamily="18" charset="0"/>
              </a:rPr>
              <a:t>Increases the “</a:t>
            </a:r>
            <a:r>
              <a:rPr lang="en-IN" dirty="0" err="1">
                <a:latin typeface="Times New Roman" panose="02020603050405020304" pitchFamily="18" charset="0"/>
                <a:cs typeface="Times New Roman" panose="02020603050405020304" pitchFamily="18" charset="0"/>
              </a:rPr>
              <a:t>ideality</a:t>
            </a:r>
            <a:r>
              <a:rPr lang="en-IN" dirty="0">
                <a:latin typeface="Times New Roman" panose="02020603050405020304" pitchFamily="18" charset="0"/>
                <a:cs typeface="Times New Roman" panose="02020603050405020304" pitchFamily="18" charset="0"/>
              </a:rPr>
              <a:t>” of the system</a:t>
            </a:r>
          </a:p>
          <a:p>
            <a:pPr marL="514350" indent="-514350" algn="just">
              <a:buAutoNum type="arabicPeriod"/>
            </a:pPr>
            <a:r>
              <a:rPr lang="en-IN" dirty="0">
                <a:latin typeface="Times New Roman" panose="02020603050405020304" pitchFamily="18" charset="0"/>
                <a:cs typeface="Times New Roman" panose="02020603050405020304" pitchFamily="18" charset="0"/>
              </a:rPr>
              <a:t>Use idle, easily available resources</a:t>
            </a:r>
          </a:p>
          <a:p>
            <a:pPr algn="just"/>
            <a:r>
              <a:rPr lang="en-IN" b="1" dirty="0">
                <a:latin typeface="Times New Roman" panose="02020603050405020304" pitchFamily="18" charset="0"/>
                <a:cs typeface="Times New Roman" panose="02020603050405020304" pitchFamily="18" charset="0"/>
              </a:rPr>
              <a:t>Three Basic Concepts For Reaching The Best Solution</a:t>
            </a:r>
          </a:p>
          <a:p>
            <a:pPr marL="514350" indent="-514350" algn="just">
              <a:buAutoNum type="arabicPeriod"/>
            </a:pPr>
            <a:r>
              <a:rPr lang="en-IN" dirty="0">
                <a:latin typeface="Times New Roman" panose="02020603050405020304" pitchFamily="18" charset="0"/>
                <a:cs typeface="Times New Roman" panose="02020603050405020304" pitchFamily="18" charset="0"/>
              </a:rPr>
              <a:t>A </a:t>
            </a:r>
            <a:r>
              <a:rPr lang="en-IN" dirty="0">
                <a:highlight>
                  <a:srgbClr val="00FFFF"/>
                </a:highlight>
                <a:latin typeface="Times New Roman" panose="02020603050405020304" pitchFamily="18" charset="0"/>
                <a:cs typeface="Times New Roman" panose="02020603050405020304" pitchFamily="18" charset="0"/>
              </a:rPr>
              <a:t>good solution resolves the contradiction</a:t>
            </a:r>
            <a:r>
              <a:rPr lang="en-IN" dirty="0">
                <a:latin typeface="Times New Roman" panose="02020603050405020304" pitchFamily="18" charset="0"/>
                <a:cs typeface="Times New Roman" panose="02020603050405020304" pitchFamily="18" charset="0"/>
              </a:rPr>
              <a:t> that is the cause of the problem.</a:t>
            </a:r>
          </a:p>
          <a:p>
            <a:pPr marL="0" indent="0" algn="just">
              <a:buNone/>
            </a:pPr>
            <a:r>
              <a:rPr lang="en-IN" dirty="0">
                <a:latin typeface="Times New Roman" panose="02020603050405020304" pitchFamily="18" charset="0"/>
                <a:cs typeface="Times New Roman" panose="02020603050405020304" pitchFamily="18" charset="0"/>
              </a:rPr>
              <a:t>There are two kinds of contradictions</a:t>
            </a:r>
          </a:p>
          <a:p>
            <a:pPr algn="just">
              <a:buFontTx/>
              <a:buChar char="-"/>
            </a:pPr>
            <a:r>
              <a:rPr lang="en-IN" b="1" i="1" dirty="0">
                <a:latin typeface="Times New Roman" panose="02020603050405020304" pitchFamily="18" charset="0"/>
                <a:cs typeface="Times New Roman" panose="02020603050405020304" pitchFamily="18" charset="0"/>
              </a:rPr>
              <a:t>Trade off contradiction</a:t>
            </a:r>
          </a:p>
          <a:p>
            <a:pPr marL="0" indent="0" algn="just">
              <a:buNone/>
            </a:pPr>
            <a:r>
              <a:rPr lang="en-IN" dirty="0">
                <a:latin typeface="Times New Roman" panose="02020603050405020304" pitchFamily="18" charset="0"/>
                <a:cs typeface="Times New Roman" panose="02020603050405020304" pitchFamily="18" charset="0"/>
              </a:rPr>
              <a:t>	If something good happens, something bad happens too.</a:t>
            </a:r>
          </a:p>
          <a:p>
            <a:pPr algn="just">
              <a:buFontTx/>
              <a:buChar char="-"/>
            </a:pPr>
            <a:r>
              <a:rPr lang="en-IN" b="1" i="1" dirty="0">
                <a:latin typeface="Times New Roman" panose="02020603050405020304" pitchFamily="18" charset="0"/>
                <a:cs typeface="Times New Roman" panose="02020603050405020304" pitchFamily="18" charset="0"/>
              </a:rPr>
              <a:t>Inherent contradiction</a:t>
            </a:r>
          </a:p>
          <a:p>
            <a:pPr marL="0" indent="0" algn="just">
              <a:buNone/>
            </a:pPr>
            <a:r>
              <a:rPr lang="en-IN" dirty="0">
                <a:latin typeface="Times New Roman" panose="02020603050405020304" pitchFamily="18" charset="0"/>
                <a:cs typeface="Times New Roman" panose="02020603050405020304" pitchFamily="18" charset="0"/>
              </a:rPr>
              <a:t>	I want that one thing but that has two opposite properties</a:t>
            </a:r>
          </a:p>
        </p:txBody>
      </p:sp>
    </p:spTree>
    <p:extLst>
      <p:ext uri="{BB962C8B-B14F-4D97-AF65-F5344CB8AC3E}">
        <p14:creationId xmlns:p14="http://schemas.microsoft.com/office/powerpoint/2010/main" val="1151133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CDF8D-8ACA-2B04-7FC5-6F652545E90F}"/>
              </a:ext>
            </a:extLst>
          </p:cNvPr>
          <p:cNvSpPr>
            <a:spLocks noGrp="1"/>
          </p:cNvSpPr>
          <p:nvPr>
            <p:ph type="title"/>
          </p:nvPr>
        </p:nvSpPr>
        <p:spPr>
          <a:xfrm>
            <a:off x="838200" y="365126"/>
            <a:ext cx="10515600" cy="1109714"/>
          </a:xfrm>
        </p:spPr>
        <p:txBody>
          <a:bodyPr/>
          <a:lstStyle/>
          <a:p>
            <a:pPr algn="ctr"/>
            <a:r>
              <a:rPr lang="en-IN" b="1" dirty="0">
                <a:latin typeface="Times New Roman" panose="02020603050405020304" pitchFamily="18" charset="0"/>
                <a:cs typeface="Times New Roman" panose="02020603050405020304" pitchFamily="18" charset="0"/>
              </a:rPr>
              <a:t>Trade off contradiction</a:t>
            </a:r>
          </a:p>
        </p:txBody>
      </p:sp>
      <p:sp>
        <p:nvSpPr>
          <p:cNvPr id="3" name="Content Placeholder 2">
            <a:extLst>
              <a:ext uri="{FF2B5EF4-FFF2-40B4-BE49-F238E27FC236}">
                <a16:creationId xmlns:a16="http://schemas.microsoft.com/office/drawing/2014/main" id="{C2127A5A-5305-836C-EE10-010DEFB14D67}"/>
              </a:ext>
            </a:extLst>
          </p:cNvPr>
          <p:cNvSpPr>
            <a:spLocks noGrp="1"/>
          </p:cNvSpPr>
          <p:nvPr>
            <p:ph idx="1"/>
          </p:nvPr>
        </p:nvSpPr>
        <p:spPr/>
        <p:txBody>
          <a:bodyPr/>
          <a:lstStyle/>
          <a:p>
            <a:pPr algn="just">
              <a:buFont typeface="Arial" panose="020B0604020202020204" pitchFamily="34" charset="0"/>
              <a:buChar char="•"/>
            </a:pPr>
            <a:r>
              <a:rPr lang="en-US" dirty="0">
                <a:highlight>
                  <a:srgbClr val="FFFFFF"/>
                </a:highlight>
                <a:latin typeface="Times New Roman" panose="02020603050405020304" pitchFamily="18" charset="0"/>
                <a:cs typeface="Times New Roman" panose="02020603050405020304" pitchFamily="18" charset="0"/>
              </a:rPr>
              <a:t>W</a:t>
            </a:r>
            <a:r>
              <a:rPr lang="en-US" b="0" i="0" dirty="0">
                <a:effectLst/>
                <a:highlight>
                  <a:srgbClr val="FFFFFF"/>
                </a:highlight>
                <a:latin typeface="Times New Roman" panose="02020603050405020304" pitchFamily="18" charset="0"/>
                <a:cs typeface="Times New Roman" panose="02020603050405020304" pitchFamily="18" charset="0"/>
              </a:rPr>
              <a:t>hen </a:t>
            </a:r>
            <a:r>
              <a:rPr lang="en-US" b="0" i="0" dirty="0">
                <a:solidFill>
                  <a:srgbClr val="FF0000"/>
                </a:solidFill>
                <a:effectLst/>
                <a:latin typeface="Times New Roman" panose="02020603050405020304" pitchFamily="18" charset="0"/>
                <a:cs typeface="Times New Roman" panose="02020603050405020304" pitchFamily="18" charset="0"/>
              </a:rPr>
              <a:t>something gets better, something else automatically gets worse.</a:t>
            </a:r>
          </a:p>
          <a:p>
            <a:pPr algn="just">
              <a:buFont typeface="Arial" panose="020B0604020202020204" pitchFamily="34" charset="0"/>
              <a:buChar char="•"/>
            </a:pPr>
            <a:endParaRPr lang="en-US" dirty="0">
              <a:highlight>
                <a:srgbClr val="FFFFFF"/>
              </a:highlight>
              <a:latin typeface="Times New Roman" panose="02020603050405020304" pitchFamily="18" charset="0"/>
              <a:cs typeface="Times New Roman" panose="02020603050405020304" pitchFamily="18" charset="0"/>
            </a:endParaRPr>
          </a:p>
          <a:p>
            <a:pPr marL="0" indent="0" algn="just">
              <a:buNone/>
            </a:pPr>
            <a:r>
              <a:rPr lang="en-US" b="0" i="0" dirty="0">
                <a:effectLst/>
                <a:highlight>
                  <a:srgbClr val="FFFFFF"/>
                </a:highlight>
                <a:latin typeface="Times New Roman" panose="02020603050405020304" pitchFamily="18" charset="0"/>
                <a:cs typeface="Times New Roman" panose="02020603050405020304" pitchFamily="18" charset="0"/>
              </a:rPr>
              <a:t>For example:</a:t>
            </a:r>
          </a:p>
          <a:p>
            <a:pPr algn="just"/>
            <a:r>
              <a:rPr lang="en-US" b="0" i="0" dirty="0">
                <a:effectLst/>
                <a:highlight>
                  <a:srgbClr val="FFFFFF"/>
                </a:highlight>
                <a:latin typeface="Times New Roman" panose="02020603050405020304" pitchFamily="18" charset="0"/>
                <a:cs typeface="Times New Roman" panose="02020603050405020304" pitchFamily="18" charset="0"/>
              </a:rPr>
              <a:t>The product gets stronger (good), but the weight increases (bad).</a:t>
            </a:r>
          </a:p>
          <a:p>
            <a:pPr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Service is customized to each customer (good), but the service delivery system gets complicated (bad).</a:t>
            </a:r>
          </a:p>
          <a:p>
            <a:pPr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Training is comprehensive (good), but it keeps employees away from their assignments (bad).</a:t>
            </a:r>
          </a:p>
          <a:p>
            <a:endParaRPr lang="en-IN" dirty="0"/>
          </a:p>
        </p:txBody>
      </p:sp>
    </p:spTree>
    <p:extLst>
      <p:ext uri="{BB962C8B-B14F-4D97-AF65-F5344CB8AC3E}">
        <p14:creationId xmlns:p14="http://schemas.microsoft.com/office/powerpoint/2010/main" val="940103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A6FF1-BAC4-06E6-EA78-B2647E898B95}"/>
              </a:ext>
            </a:extLst>
          </p:cNvPr>
          <p:cNvSpPr>
            <a:spLocks noGrp="1"/>
          </p:cNvSpPr>
          <p:nvPr>
            <p:ph type="title"/>
          </p:nvPr>
        </p:nvSpPr>
        <p:spPr/>
        <p:txBody>
          <a:bodyPr>
            <a:normAutofit/>
          </a:bodyPr>
          <a:lstStyle/>
          <a:p>
            <a:pPr algn="ctr"/>
            <a:r>
              <a:rPr lang="en-US" sz="3200" b="1" i="0" dirty="0">
                <a:effectLst/>
                <a:highlight>
                  <a:srgbClr val="FFFFFF"/>
                </a:highlight>
                <a:latin typeface="Times New Roman" panose="02020603050405020304" pitchFamily="18" charset="0"/>
                <a:cs typeface="Times New Roman" panose="02020603050405020304" pitchFamily="18" charset="0"/>
              </a:rPr>
              <a:t>Physical (or "inherent") contradictions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D7F56C-602F-3CC5-9F6E-CEDFBD405ED9}"/>
              </a:ext>
            </a:extLst>
          </p:cNvPr>
          <p:cNvSpPr>
            <a:spLocks noGrp="1"/>
          </p:cNvSpPr>
          <p:nvPr>
            <p:ph idx="1"/>
          </p:nvPr>
        </p:nvSpPr>
        <p:spPr>
          <a:xfrm>
            <a:off x="838200" y="1825625"/>
            <a:ext cx="10754032" cy="4351338"/>
          </a:xfrm>
        </p:spPr>
        <p:txBody>
          <a:bodyPr>
            <a:normAutofit lnSpcReduction="10000"/>
          </a:bodyPr>
          <a:lstStyle/>
          <a:p>
            <a:pPr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Physical (or "inherent") contradictions:-</a:t>
            </a:r>
          </a:p>
          <a:p>
            <a:pPr marL="0" indent="0" algn="just">
              <a:buNone/>
            </a:pPr>
            <a:r>
              <a:rPr lang="en-US" dirty="0">
                <a:highlight>
                  <a:srgbClr val="FFFFFF"/>
                </a:highlight>
                <a:latin typeface="Times New Roman" panose="02020603050405020304" pitchFamily="18" charset="0"/>
                <a:cs typeface="Times New Roman" panose="02020603050405020304" pitchFamily="18" charset="0"/>
              </a:rPr>
              <a:t>	</a:t>
            </a:r>
            <a:r>
              <a:rPr lang="en-US" b="0" i="0" dirty="0">
                <a:effectLst/>
                <a:highlight>
                  <a:srgbClr val="FFFFFF"/>
                </a:highlight>
                <a:latin typeface="Times New Roman" panose="02020603050405020304" pitchFamily="18" charset="0"/>
                <a:cs typeface="Times New Roman" panose="02020603050405020304" pitchFamily="18" charset="0"/>
              </a:rPr>
              <a:t> These are situations in </a:t>
            </a:r>
            <a:r>
              <a:rPr lang="en-US" b="0" i="0" dirty="0">
                <a:effectLst/>
                <a:highlight>
                  <a:srgbClr val="FFFF00"/>
                </a:highlight>
                <a:latin typeface="Times New Roman" panose="02020603050405020304" pitchFamily="18" charset="0"/>
                <a:cs typeface="Times New Roman" panose="02020603050405020304" pitchFamily="18" charset="0"/>
              </a:rPr>
              <a:t>which an object or system suffers    contradictory, opposite requirements.</a:t>
            </a:r>
          </a:p>
          <a:p>
            <a:pPr marL="0" indent="0" algn="just">
              <a:buNone/>
            </a:pPr>
            <a:r>
              <a:rPr lang="en-US" b="0" i="0" dirty="0">
                <a:effectLst/>
                <a:highlight>
                  <a:srgbClr val="FFFFFF"/>
                </a:highlight>
                <a:latin typeface="Times New Roman" panose="02020603050405020304" pitchFamily="18" charset="0"/>
                <a:cs typeface="Times New Roman" panose="02020603050405020304" pitchFamily="18" charset="0"/>
              </a:rPr>
              <a:t> Everyday examples include: </a:t>
            </a:r>
          </a:p>
          <a:p>
            <a:pPr algn="just"/>
            <a:r>
              <a:rPr lang="en-US" b="0" i="0" dirty="0">
                <a:effectLst/>
                <a:highlight>
                  <a:srgbClr val="FFFFFF"/>
                </a:highlight>
                <a:latin typeface="Times New Roman" panose="02020603050405020304" pitchFamily="18" charset="0"/>
                <a:cs typeface="Times New Roman" panose="02020603050405020304" pitchFamily="18" charset="0"/>
              </a:rPr>
              <a:t>Software should be complex (to have many features), but simple (to be easy to learn).</a:t>
            </a:r>
          </a:p>
          <a:p>
            <a:pPr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Coffee should be hot (to be enjoyed), but cool (to avoid burning the drinker).</a:t>
            </a:r>
          </a:p>
          <a:p>
            <a:pPr algn="just">
              <a:buFont typeface="Arial" panose="020B0604020202020204" pitchFamily="34" charset="0"/>
              <a:buChar char="•"/>
            </a:pPr>
            <a:r>
              <a:rPr lang="en-US" b="0" i="0" dirty="0">
                <a:effectLst/>
                <a:highlight>
                  <a:srgbClr val="FFFFFF"/>
                </a:highlight>
                <a:latin typeface="Times New Roman" panose="02020603050405020304" pitchFamily="18" charset="0"/>
                <a:cs typeface="Times New Roman" panose="02020603050405020304" pitchFamily="18" charset="0"/>
              </a:rPr>
              <a:t>An umbrella should be large (to keep the rain off), but small (to be maneuverable in a crowd).</a:t>
            </a:r>
          </a:p>
          <a:p>
            <a:endParaRPr lang="en-IN" dirty="0"/>
          </a:p>
        </p:txBody>
      </p:sp>
    </p:spTree>
    <p:extLst>
      <p:ext uri="{BB962C8B-B14F-4D97-AF65-F5344CB8AC3E}">
        <p14:creationId xmlns:p14="http://schemas.microsoft.com/office/powerpoint/2010/main" val="3767785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227F-EEFF-BD03-1C77-DFF46209D5A9}"/>
              </a:ext>
            </a:extLst>
          </p:cNvPr>
          <p:cNvSpPr>
            <a:spLocks noGrp="1"/>
          </p:cNvSpPr>
          <p:nvPr>
            <p:ph type="title"/>
          </p:nvPr>
        </p:nvSpPr>
        <p:spPr>
          <a:xfrm>
            <a:off x="838200" y="117988"/>
            <a:ext cx="10515600" cy="563050"/>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Common features of good solutions</a:t>
            </a:r>
            <a:endParaRPr lang="en-IN" dirty="0"/>
          </a:p>
        </p:txBody>
      </p:sp>
      <p:sp>
        <p:nvSpPr>
          <p:cNvPr id="3" name="Content Placeholder 2">
            <a:extLst>
              <a:ext uri="{FF2B5EF4-FFF2-40B4-BE49-F238E27FC236}">
                <a16:creationId xmlns:a16="http://schemas.microsoft.com/office/drawing/2014/main" id="{6980FCE0-F92B-784A-9F19-51B95F8B736A}"/>
              </a:ext>
            </a:extLst>
          </p:cNvPr>
          <p:cNvSpPr>
            <a:spLocks noGrp="1"/>
          </p:cNvSpPr>
          <p:nvPr>
            <p:ph idx="1"/>
          </p:nvPr>
        </p:nvSpPr>
        <p:spPr>
          <a:xfrm>
            <a:off x="442453" y="757084"/>
            <a:ext cx="11336592" cy="5860026"/>
          </a:xfrm>
        </p:spPr>
        <p:txBody>
          <a:bodyPr>
            <a:normAutofit lnSpcReduction="10000"/>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2. The </a:t>
            </a:r>
            <a:r>
              <a:rPr lang="en-IN" dirty="0">
                <a:solidFill>
                  <a:srgbClr val="FF0000"/>
                </a:solidFill>
                <a:latin typeface="Times New Roman" panose="02020603050405020304" pitchFamily="18" charset="0"/>
                <a:cs typeface="Times New Roman" panose="02020603050405020304" pitchFamily="18" charset="0"/>
              </a:rPr>
              <a:t>“ </a:t>
            </a:r>
            <a:r>
              <a:rPr lang="en-IN" dirty="0" err="1">
                <a:solidFill>
                  <a:srgbClr val="FF0000"/>
                </a:solidFill>
                <a:latin typeface="Times New Roman" panose="02020603050405020304" pitchFamily="18" charset="0"/>
                <a:cs typeface="Times New Roman" panose="02020603050405020304" pitchFamily="18" charset="0"/>
              </a:rPr>
              <a:t>ideality</a:t>
            </a:r>
            <a:r>
              <a:rPr lang="en-IN" dirty="0">
                <a:solidFill>
                  <a:srgbClr val="FF0000"/>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of a system is the measure of </a:t>
            </a:r>
            <a:r>
              <a:rPr lang="en-IN" dirty="0">
                <a:solidFill>
                  <a:schemeClr val="accent1"/>
                </a:solidFill>
                <a:latin typeface="Times New Roman" panose="02020603050405020304" pitchFamily="18" charset="0"/>
                <a:cs typeface="Times New Roman" panose="02020603050405020304" pitchFamily="18" charset="0"/>
              </a:rPr>
              <a:t>how close it is to the perfect system.</a:t>
            </a:r>
            <a:r>
              <a:rPr lang="en-IN" dirty="0">
                <a:latin typeface="Times New Roman" panose="02020603050405020304" pitchFamily="18" charset="0"/>
                <a:cs typeface="Times New Roman" panose="02020603050405020304" pitchFamily="18" charset="0"/>
              </a:rPr>
              <a:t> The perfect system ( called the </a:t>
            </a:r>
            <a:r>
              <a:rPr lang="en-IN" b="1" dirty="0">
                <a:solidFill>
                  <a:srgbClr val="FF0000"/>
                </a:solidFill>
                <a:latin typeface="Times New Roman" panose="02020603050405020304" pitchFamily="18" charset="0"/>
                <a:cs typeface="Times New Roman" panose="02020603050405020304" pitchFamily="18" charset="0"/>
              </a:rPr>
              <a:t>“ideal final result” </a:t>
            </a:r>
            <a:r>
              <a:rPr lang="en-IN" dirty="0">
                <a:latin typeface="Times New Roman" panose="02020603050405020304" pitchFamily="18" charset="0"/>
                <a:cs typeface="Times New Roman" panose="02020603050405020304" pitchFamily="18" charset="0"/>
              </a:rPr>
              <a:t>in TRIZ) has all the benefits the customer wants, at no cost, with no harmful effects.  So a system increases </a:t>
            </a:r>
            <a:r>
              <a:rPr lang="en-IN" dirty="0" err="1">
                <a:latin typeface="Times New Roman" panose="02020603050405020304" pitchFamily="18" charset="0"/>
                <a:cs typeface="Times New Roman" panose="02020603050405020304" pitchFamily="18" charset="0"/>
              </a:rPr>
              <a:t>ideality</a:t>
            </a:r>
            <a:r>
              <a:rPr lang="en-IN" dirty="0">
                <a:latin typeface="Times New Roman" panose="02020603050405020304" pitchFamily="18" charset="0"/>
                <a:cs typeface="Times New Roman" panose="02020603050405020304" pitchFamily="18" charset="0"/>
              </a:rPr>
              <a:t> when it gives you more of what you want or less of what you don’t want, does it at lower cost and usually with less complexity.</a:t>
            </a:r>
          </a:p>
          <a:p>
            <a:pPr marL="0" indent="0" algn="just">
              <a:lnSpc>
                <a:spcPct val="150000"/>
              </a:lnSpc>
              <a:buNone/>
            </a:pPr>
            <a:r>
              <a:rPr lang="en-IN" dirty="0">
                <a:latin typeface="Times New Roman" panose="02020603050405020304" pitchFamily="18" charset="0"/>
                <a:cs typeface="Times New Roman" panose="02020603050405020304" pitchFamily="18" charset="0"/>
              </a:rPr>
              <a:t>3. </a:t>
            </a:r>
            <a:r>
              <a:rPr lang="en-IN" dirty="0">
                <a:solidFill>
                  <a:srgbClr val="FF0000"/>
                </a:solidFill>
                <a:latin typeface="Times New Roman" panose="02020603050405020304" pitchFamily="18" charset="0"/>
                <a:cs typeface="Times New Roman" panose="02020603050405020304" pitchFamily="18" charset="0"/>
              </a:rPr>
              <a:t>Unseen idle resources </a:t>
            </a:r>
            <a:r>
              <a:rPr lang="en-IN" dirty="0">
                <a:latin typeface="Times New Roman" panose="02020603050405020304" pitchFamily="18" charset="0"/>
                <a:cs typeface="Times New Roman" panose="02020603050405020304" pitchFamily="18" charset="0"/>
              </a:rPr>
              <a:t>of the system are used to reach these seemingly incompatible goals. These </a:t>
            </a:r>
            <a:r>
              <a:rPr lang="en-IN" dirty="0">
                <a:solidFill>
                  <a:srgbClr val="FF0000"/>
                </a:solidFill>
                <a:latin typeface="Times New Roman" panose="02020603050405020304" pitchFamily="18" charset="0"/>
                <a:cs typeface="Times New Roman" panose="02020603050405020304" pitchFamily="18" charset="0"/>
              </a:rPr>
              <a:t>EXISTING resources </a:t>
            </a:r>
            <a:r>
              <a:rPr lang="en-IN" dirty="0">
                <a:latin typeface="Times New Roman" panose="02020603050405020304" pitchFamily="18" charset="0"/>
                <a:cs typeface="Times New Roman" panose="02020603050405020304" pitchFamily="18" charset="0"/>
              </a:rPr>
              <a:t>include energy, materials, objects, information or things that can be made easily from the resources that are in the system or nearby.</a:t>
            </a:r>
          </a:p>
        </p:txBody>
      </p:sp>
    </p:spTree>
    <p:extLst>
      <p:ext uri="{BB962C8B-B14F-4D97-AF65-F5344CB8AC3E}">
        <p14:creationId xmlns:p14="http://schemas.microsoft.com/office/powerpoint/2010/main" val="3386871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B315C-A761-475D-2A87-BFF59AE4438E}"/>
              </a:ext>
            </a:extLst>
          </p:cNvPr>
          <p:cNvSpPr>
            <a:spLocks noGrp="1"/>
          </p:cNvSpPr>
          <p:nvPr>
            <p:ph type="title"/>
          </p:nvPr>
        </p:nvSpPr>
        <p:spPr>
          <a:xfrm>
            <a:off x="838200" y="365125"/>
            <a:ext cx="10515600" cy="637765"/>
          </a:xfrm>
        </p:spPr>
        <p:txBody>
          <a:bodyPr>
            <a:normAutofit/>
          </a:bodyPr>
          <a:lstStyle/>
          <a:p>
            <a:pPr algn="ctr"/>
            <a:r>
              <a:rPr lang="en-US" sz="3200" b="1" dirty="0">
                <a:latin typeface="Times New Roman" panose="02020603050405020304" pitchFamily="18" charset="0"/>
                <a:cs typeface="Times New Roman" panose="02020603050405020304" pitchFamily="18" charset="0"/>
              </a:rPr>
              <a:t>FEATURES OF GOOD SOLUTION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92F88F-AB92-0A72-BA55-E73ECB54B169}"/>
              </a:ext>
            </a:extLst>
          </p:cNvPr>
          <p:cNvSpPr>
            <a:spLocks noGrp="1"/>
          </p:cNvSpPr>
          <p:nvPr>
            <p:ph idx="1"/>
          </p:nvPr>
        </p:nvSpPr>
        <p:spPr>
          <a:xfrm>
            <a:off x="838200" y="1229032"/>
            <a:ext cx="10832690" cy="5263843"/>
          </a:xfrm>
        </p:spPr>
        <p:txBody>
          <a:bodyPr/>
          <a:lstStyle/>
          <a:p>
            <a:endParaRPr lang="en-IN" dirty="0"/>
          </a:p>
        </p:txBody>
      </p:sp>
      <p:sp>
        <p:nvSpPr>
          <p:cNvPr id="4" name="Oval 3">
            <a:extLst>
              <a:ext uri="{FF2B5EF4-FFF2-40B4-BE49-F238E27FC236}">
                <a16:creationId xmlns:a16="http://schemas.microsoft.com/office/drawing/2014/main" id="{976572FF-A672-8928-D2D6-CF979C917BB4}"/>
              </a:ext>
            </a:extLst>
          </p:cNvPr>
          <p:cNvSpPr/>
          <p:nvPr/>
        </p:nvSpPr>
        <p:spPr>
          <a:xfrm>
            <a:off x="1553497" y="5181601"/>
            <a:ext cx="3126658"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a:t>
            </a:r>
            <a:endParaRPr lang="en-IN" dirty="0"/>
          </a:p>
        </p:txBody>
      </p:sp>
      <p:sp>
        <p:nvSpPr>
          <p:cNvPr id="5" name="Rectangle 4">
            <a:extLst>
              <a:ext uri="{FF2B5EF4-FFF2-40B4-BE49-F238E27FC236}">
                <a16:creationId xmlns:a16="http://schemas.microsoft.com/office/drawing/2014/main" id="{0705CBB2-8EC4-1BEA-5E11-7E694AC62D27}"/>
              </a:ext>
            </a:extLst>
          </p:cNvPr>
          <p:cNvSpPr/>
          <p:nvPr/>
        </p:nvSpPr>
        <p:spPr>
          <a:xfrm>
            <a:off x="3559278" y="4178710"/>
            <a:ext cx="2694038" cy="373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CONTRADICTION</a:t>
            </a:r>
            <a:endParaRPr lang="en-IN" dirty="0"/>
          </a:p>
        </p:txBody>
      </p:sp>
      <p:sp>
        <p:nvSpPr>
          <p:cNvPr id="6" name="Rectangle 5">
            <a:extLst>
              <a:ext uri="{FF2B5EF4-FFF2-40B4-BE49-F238E27FC236}">
                <a16:creationId xmlns:a16="http://schemas.microsoft.com/office/drawing/2014/main" id="{116E1065-2437-1847-D976-1A386CA2BB92}"/>
              </a:ext>
            </a:extLst>
          </p:cNvPr>
          <p:cNvSpPr/>
          <p:nvPr/>
        </p:nvSpPr>
        <p:spPr>
          <a:xfrm>
            <a:off x="5437238" y="3403113"/>
            <a:ext cx="2861187" cy="373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RESOURCES</a:t>
            </a:r>
            <a:endParaRPr lang="en-IN" dirty="0"/>
          </a:p>
        </p:txBody>
      </p:sp>
      <p:sp>
        <p:nvSpPr>
          <p:cNvPr id="7" name="Rectangle 6">
            <a:extLst>
              <a:ext uri="{FF2B5EF4-FFF2-40B4-BE49-F238E27FC236}">
                <a16:creationId xmlns:a16="http://schemas.microsoft.com/office/drawing/2014/main" id="{5A951D9C-3C17-767A-3F92-7EAEC7177060}"/>
              </a:ext>
            </a:extLst>
          </p:cNvPr>
          <p:cNvSpPr/>
          <p:nvPr/>
        </p:nvSpPr>
        <p:spPr>
          <a:xfrm>
            <a:off x="7364361" y="2483221"/>
            <a:ext cx="2625213" cy="373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IDEAL FINAL RESULT</a:t>
            </a:r>
            <a:endParaRPr lang="en-IN" dirty="0"/>
          </a:p>
        </p:txBody>
      </p:sp>
      <p:sp>
        <p:nvSpPr>
          <p:cNvPr id="8" name="Oval 7">
            <a:extLst>
              <a:ext uri="{FF2B5EF4-FFF2-40B4-BE49-F238E27FC236}">
                <a16:creationId xmlns:a16="http://schemas.microsoft.com/office/drawing/2014/main" id="{6A862C41-3B4F-4CFE-4D50-EF3FD66391C6}"/>
              </a:ext>
            </a:extLst>
          </p:cNvPr>
          <p:cNvSpPr/>
          <p:nvPr/>
        </p:nvSpPr>
        <p:spPr>
          <a:xfrm>
            <a:off x="8170606" y="1366683"/>
            <a:ext cx="3077497" cy="5702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SOLUTION</a:t>
            </a:r>
            <a:endParaRPr lang="en-IN" dirty="0"/>
          </a:p>
        </p:txBody>
      </p:sp>
      <p:cxnSp>
        <p:nvCxnSpPr>
          <p:cNvPr id="10" name="Straight Arrow Connector 9">
            <a:extLst>
              <a:ext uri="{FF2B5EF4-FFF2-40B4-BE49-F238E27FC236}">
                <a16:creationId xmlns:a16="http://schemas.microsoft.com/office/drawing/2014/main" id="{4B8C8439-191D-2866-8487-910166F0C297}"/>
              </a:ext>
            </a:extLst>
          </p:cNvPr>
          <p:cNvCxnSpPr/>
          <p:nvPr/>
        </p:nvCxnSpPr>
        <p:spPr>
          <a:xfrm flipV="1">
            <a:off x="3116826" y="4552336"/>
            <a:ext cx="1435509" cy="629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B9E835E-F783-694E-D10E-28064315F33F}"/>
              </a:ext>
            </a:extLst>
          </p:cNvPr>
          <p:cNvCxnSpPr/>
          <p:nvPr/>
        </p:nvCxnSpPr>
        <p:spPr>
          <a:xfrm flipV="1">
            <a:off x="4906297" y="3776739"/>
            <a:ext cx="914400" cy="401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E1DE4FE-8E8B-A726-49D2-EDF1A68C882B}"/>
              </a:ext>
            </a:extLst>
          </p:cNvPr>
          <p:cNvCxnSpPr/>
          <p:nvPr/>
        </p:nvCxnSpPr>
        <p:spPr>
          <a:xfrm flipV="1">
            <a:off x="7197213" y="2856847"/>
            <a:ext cx="973393" cy="546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FCA96F-6802-C960-19C0-9596BD4A90B7}"/>
              </a:ext>
            </a:extLst>
          </p:cNvPr>
          <p:cNvCxnSpPr>
            <a:stCxn id="7" idx="0"/>
          </p:cNvCxnSpPr>
          <p:nvPr/>
        </p:nvCxnSpPr>
        <p:spPr>
          <a:xfrm flipV="1">
            <a:off x="8676968" y="1936955"/>
            <a:ext cx="662448" cy="546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8820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CE35A-4BB8-B956-BAF3-90A0E85C3383}"/>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REORGANIZATION OF CREATIVE ACTIVITY</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177535-3465-06AF-2D1E-0EA7B8E55CFE}"/>
              </a:ext>
            </a:extLst>
          </p:cNvPr>
          <p:cNvSpPr>
            <a:spLocks noGrp="1"/>
          </p:cNvSpPr>
          <p:nvPr>
            <p:ph sz="half" idx="1"/>
          </p:nvPr>
        </p:nvSpPr>
        <p:spPr/>
        <p:txBody>
          <a:bodyPr/>
          <a:lstStyle/>
          <a:p>
            <a:pPr marL="0" indent="0">
              <a:buNone/>
            </a:pPr>
            <a:r>
              <a:rPr lang="en-US" b="1" i="1" dirty="0">
                <a:latin typeface="Times New Roman" panose="02020603050405020304" pitchFamily="18" charset="0"/>
                <a:cs typeface="Times New Roman" panose="02020603050405020304" pitchFamily="18" charset="0"/>
              </a:rPr>
              <a:t>Old way of working</a:t>
            </a:r>
          </a:p>
          <a:p>
            <a:pPr marL="0" indent="0">
              <a:buNone/>
            </a:pPr>
            <a:endParaRPr lang="en-US" b="1"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Trial and error</a:t>
            </a:r>
          </a:p>
          <a:p>
            <a:r>
              <a:rPr lang="en-US" dirty="0">
                <a:latin typeface="Times New Roman" panose="02020603050405020304" pitchFamily="18" charset="0"/>
                <a:cs typeface="Times New Roman" panose="02020603050405020304" pitchFamily="18" charset="0"/>
              </a:rPr>
              <a:t>Contradictions are hidden</a:t>
            </a:r>
          </a:p>
          <a:p>
            <a:r>
              <a:rPr lang="en-US" dirty="0">
                <a:latin typeface="Times New Roman" panose="02020603050405020304" pitchFamily="18" charset="0"/>
                <a:cs typeface="Times New Roman" panose="02020603050405020304" pitchFamily="18" charset="0"/>
              </a:rPr>
              <a:t>Adding resources</a:t>
            </a:r>
          </a:p>
          <a:p>
            <a:r>
              <a:rPr lang="en-US" dirty="0">
                <a:latin typeface="Times New Roman" panose="02020603050405020304" pitchFamily="18" charset="0"/>
                <a:cs typeface="Times New Roman" panose="02020603050405020304" pitchFamily="18" charset="0"/>
              </a:rPr>
              <a:t>Compromise</a:t>
            </a:r>
          </a:p>
          <a:p>
            <a:r>
              <a:rPr lang="en-US" dirty="0">
                <a:latin typeface="Times New Roman" panose="02020603050405020304" pitchFamily="18" charset="0"/>
                <a:cs typeface="Times New Roman" panose="02020603050405020304" pitchFamily="18" charset="0"/>
              </a:rPr>
              <a:t>Evolution is considered accident</a:t>
            </a:r>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1959DE96-4480-5CC4-B355-D2CCBF4A4B87}"/>
              </a:ext>
            </a:extLst>
          </p:cNvPr>
          <p:cNvSpPr>
            <a:spLocks noGrp="1"/>
          </p:cNvSpPr>
          <p:nvPr>
            <p:ph sz="half" idx="2"/>
          </p:nvPr>
        </p:nvSpPr>
        <p:spPr/>
        <p:txBody>
          <a:bodyPr/>
          <a:lstStyle/>
          <a:p>
            <a:pPr marL="0" indent="0">
              <a:buNone/>
            </a:pPr>
            <a:r>
              <a:rPr lang="en-US" b="1" i="1" dirty="0">
                <a:latin typeface="Times New Roman" panose="02020603050405020304" pitchFamily="18" charset="0"/>
                <a:cs typeface="Times New Roman" panose="02020603050405020304" pitchFamily="18" charset="0"/>
              </a:rPr>
              <a:t>New way of working</a:t>
            </a:r>
          </a:p>
          <a:p>
            <a:pPr marL="0" indent="0">
              <a:buNone/>
            </a:pPr>
            <a:endParaRPr lang="en-US" b="1"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Systematic work</a:t>
            </a:r>
          </a:p>
          <a:p>
            <a:r>
              <a:rPr lang="en-US" dirty="0">
                <a:latin typeface="Times New Roman" panose="02020603050405020304" pitchFamily="18" charset="0"/>
                <a:cs typeface="Times New Roman" panose="02020603050405020304" pitchFamily="18" charset="0"/>
              </a:rPr>
              <a:t>Contradictions are clarified</a:t>
            </a:r>
          </a:p>
          <a:p>
            <a:r>
              <a:rPr lang="en-US" dirty="0">
                <a:latin typeface="Times New Roman" panose="02020603050405020304" pitchFamily="18" charset="0"/>
                <a:cs typeface="Times New Roman" panose="02020603050405020304" pitchFamily="18" charset="0"/>
              </a:rPr>
              <a:t>Using available resources</a:t>
            </a:r>
          </a:p>
          <a:p>
            <a:r>
              <a:rPr lang="en-US" dirty="0">
                <a:latin typeface="Times New Roman" panose="02020603050405020304" pitchFamily="18" charset="0"/>
                <a:cs typeface="Times New Roman" panose="02020603050405020304" pitchFamily="18" charset="0"/>
              </a:rPr>
              <a:t>Ideal final result</a:t>
            </a:r>
          </a:p>
          <a:p>
            <a:r>
              <a:rPr lang="en-US" dirty="0">
                <a:latin typeface="Times New Roman" panose="02020603050405020304" pitchFamily="18" charset="0"/>
                <a:cs typeface="Times New Roman" panose="02020603050405020304" pitchFamily="18" charset="0"/>
              </a:rPr>
              <a:t>Knowledge of the patterns of evolution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0226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41A50BF-7CF5-2CB1-9035-2EC55FD4EF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6790" y="442452"/>
            <a:ext cx="9758419" cy="6194322"/>
          </a:xfrm>
          <a:prstGeom prst="rect">
            <a:avLst/>
          </a:prstGeom>
        </p:spPr>
      </p:pic>
    </p:spTree>
    <p:extLst>
      <p:ext uri="{BB962C8B-B14F-4D97-AF65-F5344CB8AC3E}">
        <p14:creationId xmlns:p14="http://schemas.microsoft.com/office/powerpoint/2010/main" val="2960874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B11D4-8D59-D867-513A-ABD51DB3AE7C}"/>
              </a:ext>
            </a:extLst>
          </p:cNvPr>
          <p:cNvSpPr>
            <a:spLocks noGrp="1"/>
          </p:cNvSpPr>
          <p:nvPr>
            <p:ph type="title"/>
          </p:nvPr>
        </p:nvSpPr>
        <p:spPr>
          <a:xfrm>
            <a:off x="838200" y="365125"/>
            <a:ext cx="10515600" cy="470617"/>
          </a:xfrm>
        </p:spPr>
        <p:txBody>
          <a:bodyPr>
            <a:normAutofit fontScale="90000"/>
          </a:bodyPr>
          <a:lstStyle/>
          <a:p>
            <a:pPr algn="ctr"/>
            <a:r>
              <a:rPr lang="en-US" sz="3200" b="1" dirty="0">
                <a:latin typeface="Times New Roman" panose="02020603050405020304" pitchFamily="18" charset="0"/>
                <a:cs typeface="Times New Roman" panose="02020603050405020304" pitchFamily="18" charset="0"/>
              </a:rPr>
              <a:t>RESOLVING CONTRADICTIONS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9D7AEB-B861-83EB-ECF2-5AD8734B0BFF}"/>
              </a:ext>
            </a:extLst>
          </p:cNvPr>
          <p:cNvSpPr>
            <a:spLocks noGrp="1"/>
          </p:cNvSpPr>
          <p:nvPr>
            <p:ph idx="1"/>
          </p:nvPr>
        </p:nvSpPr>
        <p:spPr>
          <a:xfrm>
            <a:off x="353961" y="953729"/>
            <a:ext cx="11513574" cy="5633884"/>
          </a:xfrm>
        </p:spPr>
        <p:txBody>
          <a:bodyPr>
            <a:normAutofit/>
          </a:bodyPr>
          <a:lstStyle/>
          <a:p>
            <a:r>
              <a:rPr lang="en-US" dirty="0">
                <a:latin typeface="Times New Roman" panose="02020603050405020304" pitchFamily="18" charset="0"/>
                <a:cs typeface="Times New Roman" panose="02020603050405020304" pitchFamily="18" charset="0"/>
              </a:rPr>
              <a:t>One of the early insights of the TRIZ researchers was that </a:t>
            </a:r>
            <a:r>
              <a:rPr lang="en-US" dirty="0">
                <a:solidFill>
                  <a:srgbClr val="FF0000"/>
                </a:solidFill>
                <a:latin typeface="Times New Roman" panose="02020603050405020304" pitchFamily="18" charset="0"/>
                <a:cs typeface="Times New Roman" panose="02020603050405020304" pitchFamily="18" charset="0"/>
              </a:rPr>
              <a:t>solving a problem meant removing a contradiction.</a:t>
            </a:r>
          </a:p>
          <a:p>
            <a:r>
              <a:rPr lang="en-US" dirty="0">
                <a:solidFill>
                  <a:schemeClr val="accent1"/>
                </a:solidFill>
                <a:latin typeface="Times New Roman" panose="02020603050405020304" pitchFamily="18" charset="0"/>
                <a:cs typeface="Times New Roman" panose="02020603050405020304" pitchFamily="18" charset="0"/>
              </a:rPr>
              <a:t>Resolving contradictions </a:t>
            </a:r>
            <a:r>
              <a:rPr lang="en-US" dirty="0">
                <a:latin typeface="Times New Roman" panose="02020603050405020304" pitchFamily="18" charset="0"/>
                <a:cs typeface="Times New Roman" panose="02020603050405020304" pitchFamily="18" charset="0"/>
              </a:rPr>
              <a:t>in a system </a:t>
            </a:r>
            <a:r>
              <a:rPr lang="en-US" dirty="0">
                <a:solidFill>
                  <a:srgbClr val="FF0000"/>
                </a:solidFill>
                <a:latin typeface="Times New Roman" panose="02020603050405020304" pitchFamily="18" charset="0"/>
                <a:cs typeface="Times New Roman" panose="02020603050405020304" pitchFamily="18" charset="0"/>
              </a:rPr>
              <a:t>causes the development of the system</a:t>
            </a:r>
          </a:p>
          <a:p>
            <a:r>
              <a:rPr lang="en-US" dirty="0">
                <a:latin typeface="Times New Roman" panose="02020603050405020304" pitchFamily="18" charset="0"/>
                <a:cs typeface="Times New Roman" panose="02020603050405020304" pitchFamily="18" charset="0"/>
              </a:rPr>
              <a:t>A contradiction is a conflict in the system. </a:t>
            </a:r>
          </a:p>
          <a:p>
            <a:r>
              <a:rPr lang="en-US" dirty="0">
                <a:latin typeface="Times New Roman" panose="02020603050405020304" pitchFamily="18" charset="0"/>
                <a:cs typeface="Times New Roman" panose="02020603050405020304" pitchFamily="18" charset="0"/>
              </a:rPr>
              <a:t>A system consists of two components: tool (T) and object (O).</a:t>
            </a:r>
          </a:p>
          <a:p>
            <a:pPr marL="0" indent="0">
              <a:buNone/>
            </a:pPr>
            <a:endParaRPr lang="en-US"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72A2278C-6AFB-C9AD-5D08-E442760F6DA2}"/>
              </a:ext>
            </a:extLst>
          </p:cNvPr>
          <p:cNvGrpSpPr>
            <a:grpSpLocks/>
          </p:cNvGrpSpPr>
          <p:nvPr/>
        </p:nvGrpSpPr>
        <p:grpSpPr>
          <a:xfrm>
            <a:off x="2148348" y="3628318"/>
            <a:ext cx="7924799" cy="1858082"/>
            <a:chOff x="0" y="0"/>
            <a:chExt cx="4267200" cy="946188"/>
          </a:xfrm>
        </p:grpSpPr>
        <p:pic>
          <p:nvPicPr>
            <p:cNvPr id="5" name="Image 65">
              <a:extLst>
                <a:ext uri="{FF2B5EF4-FFF2-40B4-BE49-F238E27FC236}">
                  <a16:creationId xmlns:a16="http://schemas.microsoft.com/office/drawing/2014/main" id="{22A906B8-032B-801F-2931-21647862F8E3}"/>
                </a:ext>
              </a:extLst>
            </p:cNvPr>
            <p:cNvPicPr/>
            <p:nvPr/>
          </p:nvPicPr>
          <p:blipFill>
            <a:blip r:embed="rId2" cstate="print"/>
            <a:stretch>
              <a:fillRect/>
            </a:stretch>
          </p:blipFill>
          <p:spPr>
            <a:xfrm>
              <a:off x="762000" y="0"/>
              <a:ext cx="2743200" cy="894588"/>
            </a:xfrm>
            <a:prstGeom prst="rect">
              <a:avLst/>
            </a:prstGeom>
          </p:spPr>
        </p:pic>
        <p:sp>
          <p:nvSpPr>
            <p:cNvPr id="6" name="Graphic 66">
              <a:extLst>
                <a:ext uri="{FF2B5EF4-FFF2-40B4-BE49-F238E27FC236}">
                  <a16:creationId xmlns:a16="http://schemas.microsoft.com/office/drawing/2014/main" id="{676F7397-39C6-CFD0-9F54-C860CB242198}"/>
                </a:ext>
              </a:extLst>
            </p:cNvPr>
            <p:cNvSpPr/>
            <p:nvPr/>
          </p:nvSpPr>
          <p:spPr>
            <a:xfrm>
              <a:off x="0" y="94491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Tree>
    <p:extLst>
      <p:ext uri="{BB962C8B-B14F-4D97-AF65-F5344CB8AC3E}">
        <p14:creationId xmlns:p14="http://schemas.microsoft.com/office/powerpoint/2010/main" val="817364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D43C-9E3A-5C17-66F2-8E4B65A0D5C2}"/>
              </a:ext>
            </a:extLst>
          </p:cNvPr>
          <p:cNvSpPr>
            <a:spLocks noGrp="1"/>
          </p:cNvSpPr>
          <p:nvPr>
            <p:ph type="title"/>
          </p:nvPr>
        </p:nvSpPr>
        <p:spPr>
          <a:xfrm>
            <a:off x="838200" y="365126"/>
            <a:ext cx="10515600" cy="568940"/>
          </a:xfrm>
        </p:spPr>
        <p:txBody>
          <a:bodyPr>
            <a:normAutofit/>
          </a:bodyPr>
          <a:lstStyle/>
          <a:p>
            <a:pPr algn="ctr"/>
            <a:r>
              <a:rPr lang="en-US" sz="3200" b="1" dirty="0">
                <a:latin typeface="Times New Roman" panose="02020603050405020304" pitchFamily="18" charset="0"/>
                <a:cs typeface="Times New Roman" panose="02020603050405020304" pitchFamily="18" charset="0"/>
              </a:rPr>
              <a:t>RESOLVING CONTRADICTIONS</a:t>
            </a:r>
            <a:endParaRPr lang="en-IN" sz="3200" dirty="0"/>
          </a:p>
        </p:txBody>
      </p:sp>
      <p:sp>
        <p:nvSpPr>
          <p:cNvPr id="3" name="Content Placeholder 2">
            <a:extLst>
              <a:ext uri="{FF2B5EF4-FFF2-40B4-BE49-F238E27FC236}">
                <a16:creationId xmlns:a16="http://schemas.microsoft.com/office/drawing/2014/main" id="{DFBDD2FC-83F0-02C3-9029-A19E47300D25}"/>
              </a:ext>
            </a:extLst>
          </p:cNvPr>
          <p:cNvSpPr>
            <a:spLocks noGrp="1"/>
          </p:cNvSpPr>
          <p:nvPr>
            <p:ph idx="1"/>
          </p:nvPr>
        </p:nvSpPr>
        <p:spPr>
          <a:xfrm>
            <a:off x="599767" y="1012723"/>
            <a:ext cx="11080955" cy="5594554"/>
          </a:xfrm>
        </p:spPr>
        <p:txBody>
          <a:bodyPr/>
          <a:lstStyle/>
          <a:p>
            <a:pPr algn="just">
              <a:buFontTx/>
              <a:buChar char="-"/>
            </a:pPr>
            <a:r>
              <a:rPr lang="en-US" dirty="0">
                <a:latin typeface="Times New Roman" panose="02020603050405020304" pitchFamily="18" charset="0"/>
                <a:cs typeface="Times New Roman" panose="02020603050405020304" pitchFamily="18" charset="0"/>
              </a:rPr>
              <a:t>The </a:t>
            </a:r>
            <a:r>
              <a:rPr lang="en-US" dirty="0">
                <a:solidFill>
                  <a:srgbClr val="FF0000"/>
                </a:solidFill>
                <a:latin typeface="Times New Roman" panose="02020603050405020304" pitchFamily="18" charset="0"/>
                <a:cs typeface="Times New Roman" panose="02020603050405020304" pitchFamily="18" charset="0"/>
              </a:rPr>
              <a:t>edge of the ax blade, is a tool </a:t>
            </a:r>
            <a:r>
              <a:rPr lang="en-US" dirty="0">
                <a:latin typeface="Times New Roman" panose="02020603050405020304" pitchFamily="18" charset="0"/>
                <a:cs typeface="Times New Roman" panose="02020603050405020304" pitchFamily="18" charset="0"/>
              </a:rPr>
              <a:t>that splits the </a:t>
            </a:r>
            <a:r>
              <a:rPr lang="en-US" dirty="0">
                <a:solidFill>
                  <a:srgbClr val="FF0000"/>
                </a:solidFill>
                <a:latin typeface="Times New Roman" panose="02020603050405020304" pitchFamily="18" charset="0"/>
                <a:cs typeface="Times New Roman" panose="02020603050405020304" pitchFamily="18" charset="0"/>
              </a:rPr>
              <a:t>object, a chunk of wood</a:t>
            </a:r>
            <a:r>
              <a:rPr lang="en-US" dirty="0">
                <a:latin typeface="Times New Roman" panose="02020603050405020304" pitchFamily="18" charset="0"/>
                <a:cs typeface="Times New Roman" panose="02020603050405020304" pitchFamily="18" charset="0"/>
              </a:rPr>
              <a:t>.</a:t>
            </a:r>
          </a:p>
          <a:p>
            <a:pPr algn="just">
              <a:buFontTx/>
              <a:buChar char="-"/>
            </a:pPr>
            <a:r>
              <a:rPr lang="en-US" dirty="0">
                <a:latin typeface="Times New Roman" panose="02020603050405020304" pitchFamily="18" charset="0"/>
                <a:cs typeface="Times New Roman" panose="02020603050405020304" pitchFamily="18" charset="0"/>
              </a:rPr>
              <a:t> Splitting power is a good feature that is connected with harmful properties, such as the clumsiness of the tool. </a:t>
            </a:r>
          </a:p>
          <a:p>
            <a:pPr algn="just">
              <a:buFontTx/>
              <a:buChar char="-"/>
            </a:pPr>
            <a:r>
              <a:rPr lang="en-US" dirty="0">
                <a:latin typeface="Times New Roman" panose="02020603050405020304" pitchFamily="18" charset="0"/>
                <a:cs typeface="Times New Roman" panose="02020603050405020304" pitchFamily="18" charset="0"/>
              </a:rPr>
              <a:t>If you </a:t>
            </a:r>
            <a:r>
              <a:rPr lang="en-US" dirty="0">
                <a:solidFill>
                  <a:srgbClr val="FF0000"/>
                </a:solidFill>
                <a:latin typeface="Times New Roman" panose="02020603050405020304" pitchFamily="18" charset="0"/>
                <a:cs typeface="Times New Roman" panose="02020603050405020304" pitchFamily="18" charset="0"/>
              </a:rPr>
              <a:t>make the blade heavier</a:t>
            </a:r>
            <a:r>
              <a:rPr lang="en-US" dirty="0">
                <a:latin typeface="Times New Roman" panose="02020603050405020304" pitchFamily="18" charset="0"/>
                <a:cs typeface="Times New Roman" panose="02020603050405020304" pitchFamily="18" charset="0"/>
              </a:rPr>
              <a:t>, the </a:t>
            </a:r>
            <a:r>
              <a:rPr lang="en-US" dirty="0">
                <a:solidFill>
                  <a:srgbClr val="FF0000"/>
                </a:solidFill>
                <a:latin typeface="Times New Roman" panose="02020603050405020304" pitchFamily="18" charset="0"/>
                <a:cs typeface="Times New Roman" panose="02020603050405020304" pitchFamily="18" charset="0"/>
              </a:rPr>
              <a:t>ax can strike a more effective blow</a:t>
            </a:r>
            <a:r>
              <a:rPr lang="en-US" dirty="0">
                <a:latin typeface="Times New Roman" panose="02020603050405020304" pitchFamily="18" charset="0"/>
                <a:cs typeface="Times New Roman" panose="02020603050405020304" pitchFamily="18" charset="0"/>
              </a:rPr>
              <a:t>, but it becomes more awkward to handle</a:t>
            </a:r>
          </a:p>
          <a:p>
            <a:pPr algn="just">
              <a:buFontTx/>
              <a:buChar char="-"/>
            </a:pPr>
            <a:r>
              <a:rPr lang="en-US" spc="-20" dirty="0">
                <a:solidFill>
                  <a:srgbClr val="231F20"/>
                </a:solidFill>
                <a:effectLst/>
                <a:latin typeface="Times New Roman" panose="02020603050405020304" pitchFamily="18" charset="0"/>
                <a:ea typeface="Times New Roman" panose="02020603050405020304" pitchFamily="18" charset="0"/>
              </a:rPr>
              <a:t>We</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meet</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contradictions</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a:t>
            </a:r>
          </a:p>
          <a:p>
            <a:pPr algn="just">
              <a:buFontTx/>
              <a:buChar char="-"/>
            </a:pPr>
            <a:endParaRPr lang="en-IN" dirty="0"/>
          </a:p>
        </p:txBody>
      </p:sp>
      <p:sp>
        <p:nvSpPr>
          <p:cNvPr id="4" name="AutoShape 2" descr="The Ax is Stabbed with a Blade into the Stump. Ax with Wooden Handle ...">
            <a:extLst>
              <a:ext uri="{FF2B5EF4-FFF2-40B4-BE49-F238E27FC236}">
                <a16:creationId xmlns:a16="http://schemas.microsoft.com/office/drawing/2014/main" id="{AE39AE67-411F-9A35-76B1-EAB4E74BD44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The Ax is Stabbed with a Blade into the Stump. Ax with Wooden Handle ...">
            <a:extLst>
              <a:ext uri="{FF2B5EF4-FFF2-40B4-BE49-F238E27FC236}">
                <a16:creationId xmlns:a16="http://schemas.microsoft.com/office/drawing/2014/main" id="{B53A429D-88F0-37AE-5D7F-878C581CB75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2B10312F-4A16-1B60-135B-17B6DFB0D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3238" y="3850558"/>
            <a:ext cx="4365523" cy="2639961"/>
          </a:xfrm>
          <a:prstGeom prst="rect">
            <a:avLst/>
          </a:prstGeom>
        </p:spPr>
      </p:pic>
    </p:spTree>
    <p:extLst>
      <p:ext uri="{BB962C8B-B14F-4D97-AF65-F5344CB8AC3E}">
        <p14:creationId xmlns:p14="http://schemas.microsoft.com/office/powerpoint/2010/main" val="1866419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A6FB-1A67-CDFB-72B9-A1C49A7766F0}"/>
              </a:ext>
            </a:extLst>
          </p:cNvPr>
          <p:cNvSpPr>
            <a:spLocks noGrp="1"/>
          </p:cNvSpPr>
          <p:nvPr>
            <p:ph type="title"/>
          </p:nvPr>
        </p:nvSpPr>
        <p:spPr>
          <a:xfrm>
            <a:off x="838200" y="365126"/>
            <a:ext cx="10515600" cy="529610"/>
          </a:xfrm>
        </p:spPr>
        <p:txBody>
          <a:bodyPr>
            <a:normAutofit fontScale="90000"/>
          </a:bodyPr>
          <a:lstStyle/>
          <a:p>
            <a:pPr algn="ctr"/>
            <a:r>
              <a:rPr lang="en-US" sz="3200" b="1" dirty="0">
                <a:latin typeface="Times New Roman" panose="02020603050405020304" pitchFamily="18" charset="0"/>
                <a:cs typeface="Times New Roman" panose="02020603050405020304" pitchFamily="18" charset="0"/>
              </a:rPr>
              <a:t>RESOLVING CONTRADICTIONS</a:t>
            </a:r>
            <a:endParaRPr lang="en-IN" sz="3200" dirty="0"/>
          </a:p>
        </p:txBody>
      </p:sp>
      <p:sp>
        <p:nvSpPr>
          <p:cNvPr id="3" name="Content Placeholder 2">
            <a:extLst>
              <a:ext uri="{FF2B5EF4-FFF2-40B4-BE49-F238E27FC236}">
                <a16:creationId xmlns:a16="http://schemas.microsoft.com/office/drawing/2014/main" id="{4FCDFE7C-A163-BFFD-6720-28A86B4E199E}"/>
              </a:ext>
            </a:extLst>
          </p:cNvPr>
          <p:cNvSpPr>
            <a:spLocks noGrp="1"/>
          </p:cNvSpPr>
          <p:nvPr>
            <p:ph sz="half" idx="1"/>
          </p:nvPr>
        </p:nvSpPr>
        <p:spPr>
          <a:xfrm>
            <a:off x="838200" y="894736"/>
            <a:ext cx="5181600" cy="5810863"/>
          </a:xfrm>
        </p:spPr>
        <p:txBody>
          <a:bodyPr>
            <a:normAutofit lnSpcReduction="10000"/>
          </a:bodyPr>
          <a:lstStyle/>
          <a:p>
            <a:pPr algn="just">
              <a:buFontTx/>
              <a:buChar char="-"/>
            </a:pPr>
            <a:r>
              <a:rPr lang="en-US" spc="-20" dirty="0">
                <a:solidFill>
                  <a:srgbClr val="231F20"/>
                </a:solidFill>
                <a:effectLst/>
                <a:latin typeface="Times New Roman" panose="02020603050405020304" pitchFamily="18" charset="0"/>
                <a:ea typeface="Times New Roman" panose="02020603050405020304" pitchFamily="18" charset="0"/>
              </a:rPr>
              <a:t>For</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example,</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a</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company</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wants</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to</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improve business</a:t>
            </a:r>
            <a:r>
              <a:rPr lang="en-US" spc="-5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by</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improving</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customer</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service</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and</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decides</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to</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get</a:t>
            </a:r>
            <a:r>
              <a:rPr lang="en-US" spc="-50"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better</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service</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by</a:t>
            </a:r>
            <a:r>
              <a:rPr lang="en-US" spc="-45"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increas</a:t>
            </a:r>
            <a:r>
              <a:rPr lang="en-US" dirty="0">
                <a:solidFill>
                  <a:srgbClr val="FF0000"/>
                </a:solidFill>
                <a:effectLst/>
                <a:latin typeface="Times New Roman" panose="02020603050405020304" pitchFamily="18" charset="0"/>
                <a:ea typeface="Times New Roman" panose="02020603050405020304" pitchFamily="18" charset="0"/>
              </a:rPr>
              <a:t>ing staff training.</a:t>
            </a:r>
          </a:p>
          <a:p>
            <a:pPr algn="just">
              <a:buFontTx/>
              <a:buChar char="-"/>
            </a:pPr>
            <a:r>
              <a:rPr lang="en-US"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00B0F0"/>
                </a:solidFill>
                <a:effectLst/>
                <a:latin typeface="Times New Roman" panose="02020603050405020304" pitchFamily="18" charset="0"/>
                <a:ea typeface="Times New Roman" panose="02020603050405020304" pitchFamily="18" charset="0"/>
              </a:rPr>
              <a:t>Training is the </a:t>
            </a:r>
            <a:r>
              <a:rPr lang="en-US" i="1" dirty="0">
                <a:solidFill>
                  <a:srgbClr val="00B0F0"/>
                </a:solidFill>
                <a:effectLst/>
                <a:latin typeface="Times New Roman" panose="02020603050405020304" pitchFamily="18" charset="0"/>
                <a:ea typeface="Times New Roman" panose="02020603050405020304" pitchFamily="18" charset="0"/>
              </a:rPr>
              <a:t>T </a:t>
            </a:r>
            <a:r>
              <a:rPr lang="en-US" dirty="0">
                <a:solidFill>
                  <a:srgbClr val="231F20"/>
                </a:solidFill>
                <a:effectLst/>
                <a:latin typeface="Times New Roman" panose="02020603050405020304" pitchFamily="18" charset="0"/>
                <a:ea typeface="Times New Roman" panose="02020603050405020304" pitchFamily="18" charset="0"/>
              </a:rPr>
              <a:t>that is used to improve a certain </a:t>
            </a:r>
            <a:r>
              <a:rPr lang="en-US" i="1" dirty="0">
                <a:solidFill>
                  <a:srgbClr val="00B0F0"/>
                </a:solidFill>
                <a:effectLst/>
                <a:latin typeface="Times New Roman" panose="02020603050405020304" pitchFamily="18" charset="0"/>
                <a:ea typeface="Times New Roman" panose="02020603050405020304" pitchFamily="18" charset="0"/>
              </a:rPr>
              <a:t>O</a:t>
            </a:r>
            <a:r>
              <a:rPr lang="en-US" dirty="0">
                <a:solidFill>
                  <a:srgbClr val="00B0F0"/>
                </a:solidFill>
                <a:effectLst/>
                <a:latin typeface="Times New Roman" panose="02020603050405020304" pitchFamily="18" charset="0"/>
                <a:ea typeface="Times New Roman" panose="02020603050405020304" pitchFamily="18" charset="0"/>
              </a:rPr>
              <a:t>: the professional</a:t>
            </a:r>
            <a:r>
              <a:rPr lang="en-US" spc="-70" dirty="0">
                <a:solidFill>
                  <a:srgbClr val="00B0F0"/>
                </a:solidFill>
                <a:effectLst/>
                <a:latin typeface="Times New Roman" panose="02020603050405020304" pitchFamily="18" charset="0"/>
                <a:ea typeface="Times New Roman" panose="02020603050405020304" pitchFamily="18" charset="0"/>
              </a:rPr>
              <a:t> </a:t>
            </a:r>
            <a:r>
              <a:rPr lang="en-US" dirty="0">
                <a:solidFill>
                  <a:srgbClr val="00B0F0"/>
                </a:solidFill>
                <a:effectLst/>
                <a:latin typeface="Times New Roman" panose="02020603050405020304" pitchFamily="18" charset="0"/>
                <a:ea typeface="Times New Roman" panose="02020603050405020304" pitchFamily="18" charset="0"/>
              </a:rPr>
              <a:t>quality</a:t>
            </a:r>
            <a:r>
              <a:rPr lang="en-US" spc="-65" dirty="0">
                <a:solidFill>
                  <a:srgbClr val="00B0F0"/>
                </a:solidFill>
                <a:effectLst/>
                <a:latin typeface="Times New Roman" panose="02020603050405020304" pitchFamily="18" charset="0"/>
                <a:ea typeface="Times New Roman" panose="02020603050405020304" pitchFamily="18" charset="0"/>
              </a:rPr>
              <a:t> </a:t>
            </a:r>
            <a:r>
              <a:rPr lang="en-US" dirty="0">
                <a:solidFill>
                  <a:srgbClr val="00B0F0"/>
                </a:solidFill>
                <a:effectLst/>
                <a:latin typeface="Times New Roman" panose="02020603050405020304" pitchFamily="18" charset="0"/>
                <a:ea typeface="Times New Roman" panose="02020603050405020304" pitchFamily="18" charset="0"/>
              </a:rPr>
              <a:t>of</a:t>
            </a:r>
            <a:r>
              <a:rPr lang="en-US" spc="-65" dirty="0">
                <a:solidFill>
                  <a:srgbClr val="00B0F0"/>
                </a:solidFill>
                <a:effectLst/>
                <a:latin typeface="Times New Roman" panose="02020603050405020304" pitchFamily="18" charset="0"/>
                <a:ea typeface="Times New Roman" panose="02020603050405020304" pitchFamily="18" charset="0"/>
              </a:rPr>
              <a:t> </a:t>
            </a:r>
            <a:r>
              <a:rPr lang="en-US" dirty="0">
                <a:solidFill>
                  <a:srgbClr val="00B0F0"/>
                </a:solidFill>
                <a:effectLst/>
                <a:latin typeface="Times New Roman" panose="02020603050405020304" pitchFamily="18" charset="0"/>
                <a:ea typeface="Times New Roman" panose="02020603050405020304" pitchFamily="18" charset="0"/>
              </a:rPr>
              <a:t>employees.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If</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employees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get</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extensive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and</a:t>
            </a:r>
            <a:r>
              <a:rPr lang="en-US" spc="-7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thorough</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training, service</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surely</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can</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be</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improved,</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but</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time</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loss</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might</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be</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intolerable.</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We</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get</a:t>
            </a:r>
            <a:r>
              <a:rPr lang="en-US" spc="-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 contradiction: the better the service, the more training time is needed</a:t>
            </a:r>
            <a:endParaRPr lang="en-IN" dirty="0">
              <a:latin typeface="Times New Roman" panose="02020603050405020304" pitchFamily="18" charset="0"/>
              <a:cs typeface="Times New Roman" panose="02020603050405020304" pitchFamily="18" charset="0"/>
            </a:endParaRPr>
          </a:p>
          <a:p>
            <a:endParaRPr lang="en-IN" dirty="0"/>
          </a:p>
        </p:txBody>
      </p:sp>
      <p:pic>
        <p:nvPicPr>
          <p:cNvPr id="2050" name="Picture 2" descr="16 Top Training Industry Trends: Data, Insights &amp; Predictions ...">
            <a:extLst>
              <a:ext uri="{FF2B5EF4-FFF2-40B4-BE49-F238E27FC236}">
                <a16:creationId xmlns:a16="http://schemas.microsoft.com/office/drawing/2014/main" id="{B2B741DD-D381-938D-995B-9085718ABED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199" y="1170039"/>
            <a:ext cx="5734665" cy="4916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323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A6319-2914-4C28-827C-6299ACBE80C7}"/>
              </a:ext>
            </a:extLst>
          </p:cNvPr>
          <p:cNvSpPr>
            <a:spLocks noGrp="1"/>
          </p:cNvSpPr>
          <p:nvPr>
            <p:ph type="title"/>
          </p:nvPr>
        </p:nvSpPr>
        <p:spPr>
          <a:xfrm>
            <a:off x="838200" y="365125"/>
            <a:ext cx="10515600" cy="716423"/>
          </a:xfrm>
        </p:spPr>
        <p:txBody>
          <a:bodyPr>
            <a:normAutofit/>
          </a:bodyPr>
          <a:lstStyle/>
          <a:p>
            <a:pPr algn="ctr"/>
            <a:r>
              <a:rPr lang="en-US" sz="3200" b="1" dirty="0">
                <a:latin typeface="Times New Roman" panose="02020603050405020304" pitchFamily="18" charset="0"/>
                <a:cs typeface="Times New Roman" panose="02020603050405020304" pitchFamily="18" charset="0"/>
              </a:rPr>
              <a:t>RESOLVING CONTRADICTIONS</a:t>
            </a:r>
            <a:endParaRPr lang="en-IN" sz="3200" dirty="0"/>
          </a:p>
        </p:txBody>
      </p:sp>
      <p:sp>
        <p:nvSpPr>
          <p:cNvPr id="3" name="Content Placeholder 2">
            <a:extLst>
              <a:ext uri="{FF2B5EF4-FFF2-40B4-BE49-F238E27FC236}">
                <a16:creationId xmlns:a16="http://schemas.microsoft.com/office/drawing/2014/main" id="{7D9F7826-2089-EC1C-124A-64989C04BF44}"/>
              </a:ext>
            </a:extLst>
          </p:cNvPr>
          <p:cNvSpPr>
            <a:spLocks noGrp="1"/>
          </p:cNvSpPr>
          <p:nvPr>
            <p:ph idx="1"/>
          </p:nvPr>
        </p:nvSpPr>
        <p:spPr>
          <a:xfrm>
            <a:off x="838200" y="1081548"/>
            <a:ext cx="10515600" cy="5574891"/>
          </a:xfrm>
        </p:spPr>
        <p:txBody>
          <a:bodyPr/>
          <a:lstStyle/>
          <a:p>
            <a:pPr marL="209550" marR="232410" indent="190500" algn="just">
              <a:lnSpc>
                <a:spcPct val="103000"/>
              </a:lnSpc>
              <a:spcBef>
                <a:spcPts val="10"/>
              </a:spcBef>
              <a:spcAft>
                <a:spcPts val="0"/>
              </a:spcAft>
            </a:pPr>
            <a:r>
              <a:rPr lang="en-US" dirty="0">
                <a:solidFill>
                  <a:srgbClr val="231F20"/>
                </a:solidFill>
                <a:effectLst/>
                <a:latin typeface="Times New Roman" panose="02020603050405020304" pitchFamily="18" charset="0"/>
                <a:ea typeface="Times New Roman" panose="02020603050405020304" pitchFamily="18" charset="0"/>
              </a:rPr>
              <a:t>Think of a seesaw, When</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one</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end</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plank</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goes</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up,</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4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other goes down. You cannot get both ends to go up at the same time.</a:t>
            </a:r>
            <a:endParaRPr lang="en-IN" dirty="0">
              <a:effectLst/>
              <a:latin typeface="Times New Roman" panose="02020603050405020304" pitchFamily="18" charset="0"/>
              <a:ea typeface="Times New Roman" panose="02020603050405020304" pitchFamily="18" charset="0"/>
            </a:endParaRPr>
          </a:p>
          <a:p>
            <a:pPr marL="209550" marR="233045" indent="190500" algn="just">
              <a:lnSpc>
                <a:spcPct val="103000"/>
              </a:lnSpc>
              <a:spcBef>
                <a:spcPts val="5"/>
              </a:spcBef>
              <a:spcAft>
                <a:spcPts val="0"/>
              </a:spcAft>
            </a:pPr>
            <a:r>
              <a:rPr lang="en-US" dirty="0">
                <a:solidFill>
                  <a:srgbClr val="231F20"/>
                </a:solidFill>
                <a:effectLst/>
                <a:latin typeface="Times New Roman" panose="02020603050405020304" pitchFamily="18" charset="0"/>
                <a:ea typeface="Times New Roman" panose="02020603050405020304" pitchFamily="18" charset="0"/>
              </a:rPr>
              <a:t>In this case, the connection of </a:t>
            </a:r>
            <a:r>
              <a:rPr lang="en-US" dirty="0">
                <a:solidFill>
                  <a:srgbClr val="FF0000"/>
                </a:solidFill>
                <a:effectLst/>
                <a:latin typeface="Times New Roman" panose="02020603050405020304" pitchFamily="18" charset="0"/>
                <a:ea typeface="Times New Roman" panose="02020603050405020304" pitchFamily="18" charset="0"/>
              </a:rPr>
              <a:t>features (up-down) </a:t>
            </a:r>
            <a:r>
              <a:rPr lang="en-US" dirty="0">
                <a:solidFill>
                  <a:srgbClr val="231F20"/>
                </a:solidFill>
                <a:effectLst/>
                <a:latin typeface="Times New Roman" panose="02020603050405020304" pitchFamily="18" charset="0"/>
                <a:ea typeface="Times New Roman" panose="02020603050405020304" pitchFamily="18" charset="0"/>
              </a:rPr>
              <a:t>is not a problem having </a:t>
            </a:r>
            <a:r>
              <a:rPr lang="en-US" spc="-20" dirty="0">
                <a:solidFill>
                  <a:srgbClr val="231F20"/>
                </a:solidFill>
                <a:effectLst/>
                <a:latin typeface="Times New Roman" panose="02020603050405020304" pitchFamily="18" charset="0"/>
                <a:ea typeface="Times New Roman" panose="02020603050405020304" pitchFamily="18" charset="0"/>
              </a:rPr>
              <a:t>one</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end</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go</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up</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when</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the</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other</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goes</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down</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is</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a</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natural</a:t>
            </a:r>
            <a:r>
              <a:rPr lang="en-US" spc="-40"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property</a:t>
            </a:r>
            <a:r>
              <a:rPr lang="en-US" spc="-40"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of</a:t>
            </a:r>
            <a:r>
              <a:rPr lang="en-US" spc="-40"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a</a:t>
            </a:r>
            <a:r>
              <a:rPr lang="en-US" spc="-40" dirty="0">
                <a:solidFill>
                  <a:srgbClr val="FF0000"/>
                </a:solidFill>
                <a:effectLst/>
                <a:latin typeface="Times New Roman" panose="02020603050405020304" pitchFamily="18" charset="0"/>
                <a:ea typeface="Times New Roman" panose="02020603050405020304" pitchFamily="18" charset="0"/>
              </a:rPr>
              <a:t> </a:t>
            </a:r>
            <a:r>
              <a:rPr lang="en-US" spc="-20" dirty="0">
                <a:solidFill>
                  <a:srgbClr val="FF0000"/>
                </a:solidFill>
                <a:effectLst/>
                <a:latin typeface="Times New Roman" panose="02020603050405020304" pitchFamily="18" charset="0"/>
                <a:ea typeface="Times New Roman" panose="02020603050405020304" pitchFamily="18" charset="0"/>
              </a:rPr>
              <a:t>seesaw.</a:t>
            </a:r>
            <a:r>
              <a:rPr lang="en-US" spc="-40" dirty="0">
                <a:solidFill>
                  <a:srgbClr val="FF0000"/>
                </a:solidFill>
                <a:effectLst/>
                <a:latin typeface="Times New Roman" panose="02020603050405020304" pitchFamily="18" charset="0"/>
                <a:ea typeface="Times New Roman" panose="02020603050405020304" pitchFamily="18" charset="0"/>
              </a:rPr>
              <a:t> </a:t>
            </a:r>
          </a:p>
          <a:p>
            <a:pPr marL="209550" marR="233045" indent="190500" algn="just">
              <a:lnSpc>
                <a:spcPct val="103000"/>
              </a:lnSpc>
              <a:spcBef>
                <a:spcPts val="5"/>
              </a:spcBef>
              <a:spcAft>
                <a:spcPts val="0"/>
              </a:spcAft>
            </a:pPr>
            <a:r>
              <a:rPr lang="en-US" spc="-20" dirty="0">
                <a:solidFill>
                  <a:srgbClr val="231F20"/>
                </a:solidFill>
                <a:effectLst/>
                <a:latin typeface="Times New Roman" panose="02020603050405020304" pitchFamily="18" charset="0"/>
                <a:ea typeface="Times New Roman" panose="02020603050405020304" pitchFamily="18" charset="0"/>
              </a:rPr>
              <a:t>If</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you</a:t>
            </a:r>
            <a:r>
              <a:rPr lang="en-US" spc="-4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do </a:t>
            </a:r>
            <a:r>
              <a:rPr lang="en-US" spc="-10" dirty="0">
                <a:solidFill>
                  <a:srgbClr val="231F20"/>
                </a:solidFill>
                <a:effectLst/>
                <a:latin typeface="Times New Roman" panose="02020603050405020304" pitchFamily="18" charset="0"/>
                <a:ea typeface="Times New Roman" panose="02020603050405020304" pitchFamily="18" charset="0"/>
              </a:rPr>
              <a:t>not</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want</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the</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experience</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of</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going</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up</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and</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down,</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you</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will</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need</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to</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choose</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different </a:t>
            </a:r>
            <a:r>
              <a:rPr lang="en-US" dirty="0">
                <a:solidFill>
                  <a:srgbClr val="231F20"/>
                </a:solidFill>
                <a:effectLst/>
                <a:latin typeface="Times New Roman" panose="02020603050405020304" pitchFamily="18" charset="0"/>
                <a:ea typeface="Times New Roman" panose="02020603050405020304" pitchFamily="18" charset="0"/>
              </a:rPr>
              <a:t>toy</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or</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make</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some</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major</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changes</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to</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seesaw</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system.</a:t>
            </a:r>
          </a:p>
          <a:p>
            <a:pPr marL="209550" marR="233045" indent="190500" algn="just">
              <a:lnSpc>
                <a:spcPct val="103000"/>
              </a:lnSpc>
              <a:spcBef>
                <a:spcPts val="5"/>
              </a:spcBef>
            </a:pPr>
            <a:r>
              <a:rPr lang="en-US" sz="2800" spc="-10" dirty="0">
                <a:solidFill>
                  <a:srgbClr val="231F20"/>
                </a:solidFill>
                <a:effectLst/>
                <a:latin typeface="Times New Roman" panose="02020603050405020304" pitchFamily="18" charset="0"/>
                <a:ea typeface="Times New Roman" panose="02020603050405020304" pitchFamily="18" charset="0"/>
              </a:rPr>
              <a:t>Sometimes</a:t>
            </a:r>
            <a:r>
              <a:rPr lang="en-US" sz="2800" spc="-60" dirty="0">
                <a:solidFill>
                  <a:srgbClr val="231F20"/>
                </a:solidFill>
                <a:effectLst/>
                <a:latin typeface="Times New Roman" panose="02020603050405020304" pitchFamily="18" charset="0"/>
                <a:ea typeface="Times New Roman" panose="02020603050405020304" pitchFamily="18" charset="0"/>
              </a:rPr>
              <a:t> </a:t>
            </a:r>
            <a:r>
              <a:rPr lang="en-US" sz="2800" spc="-10" dirty="0">
                <a:solidFill>
                  <a:srgbClr val="231F20"/>
                </a:solidFill>
                <a:effectLst/>
                <a:latin typeface="Times New Roman" panose="02020603050405020304" pitchFamily="18" charset="0"/>
                <a:ea typeface="Times New Roman" panose="02020603050405020304" pitchFamily="18" charset="0"/>
              </a:rPr>
              <a:t>the</a:t>
            </a:r>
            <a:r>
              <a:rPr lang="en-US" sz="2800" spc="-55" dirty="0">
                <a:solidFill>
                  <a:srgbClr val="231F20"/>
                </a:solidFill>
                <a:effectLst/>
                <a:latin typeface="Times New Roman" panose="02020603050405020304" pitchFamily="18" charset="0"/>
                <a:ea typeface="Times New Roman" panose="02020603050405020304" pitchFamily="18" charset="0"/>
              </a:rPr>
              <a:t> </a:t>
            </a:r>
            <a:r>
              <a:rPr lang="en-US" sz="2800" spc="-10" dirty="0">
                <a:solidFill>
                  <a:srgbClr val="FF0000"/>
                </a:solidFill>
                <a:effectLst/>
                <a:latin typeface="Times New Roman" panose="02020603050405020304" pitchFamily="18" charset="0"/>
                <a:ea typeface="Times New Roman" panose="02020603050405020304" pitchFamily="18" charset="0"/>
              </a:rPr>
              <a:t>clear</a:t>
            </a:r>
            <a:r>
              <a:rPr lang="en-US" sz="2800" spc="-55" dirty="0">
                <a:solidFill>
                  <a:srgbClr val="FF0000"/>
                </a:solidFill>
                <a:effectLst/>
                <a:latin typeface="Times New Roman" panose="02020603050405020304" pitchFamily="18" charset="0"/>
                <a:ea typeface="Times New Roman" panose="02020603050405020304" pitchFamily="18" charset="0"/>
              </a:rPr>
              <a:t> </a:t>
            </a:r>
            <a:r>
              <a:rPr lang="en-US" sz="2800" spc="-10" dirty="0">
                <a:solidFill>
                  <a:srgbClr val="FF0000"/>
                </a:solidFill>
                <a:effectLst/>
                <a:latin typeface="Times New Roman" panose="02020603050405020304" pitchFamily="18" charset="0"/>
                <a:ea typeface="Times New Roman" panose="02020603050405020304" pitchFamily="18" charset="0"/>
              </a:rPr>
              <a:t>formulation</a:t>
            </a:r>
            <a:r>
              <a:rPr lang="en-US" sz="2800" spc="-55" dirty="0">
                <a:solidFill>
                  <a:srgbClr val="FF0000"/>
                </a:solidFill>
                <a:effectLst/>
                <a:latin typeface="Times New Roman" panose="02020603050405020304" pitchFamily="18" charset="0"/>
                <a:ea typeface="Times New Roman" panose="02020603050405020304" pitchFamily="18" charset="0"/>
              </a:rPr>
              <a:t> </a:t>
            </a:r>
            <a:r>
              <a:rPr lang="en-US" sz="2800" spc="-10" dirty="0">
                <a:solidFill>
                  <a:srgbClr val="FF0000"/>
                </a:solidFill>
                <a:effectLst/>
                <a:latin typeface="Times New Roman" panose="02020603050405020304" pitchFamily="18" charset="0"/>
                <a:ea typeface="Times New Roman" panose="02020603050405020304" pitchFamily="18" charset="0"/>
              </a:rPr>
              <a:t>of</a:t>
            </a:r>
            <a:r>
              <a:rPr lang="en-US" sz="2800" spc="-55" dirty="0">
                <a:solidFill>
                  <a:srgbClr val="FF0000"/>
                </a:solidFill>
                <a:effectLst/>
                <a:latin typeface="Times New Roman" panose="02020603050405020304" pitchFamily="18" charset="0"/>
                <a:ea typeface="Times New Roman" panose="02020603050405020304" pitchFamily="18" charset="0"/>
              </a:rPr>
              <a:t> </a:t>
            </a:r>
            <a:r>
              <a:rPr lang="en-US" sz="2800" spc="-10" dirty="0">
                <a:solidFill>
                  <a:srgbClr val="FF0000"/>
                </a:solidFill>
                <a:effectLst/>
                <a:latin typeface="Times New Roman" panose="02020603050405020304" pitchFamily="18" charset="0"/>
                <a:ea typeface="Times New Roman" panose="02020603050405020304" pitchFamily="18" charset="0"/>
              </a:rPr>
              <a:t>the</a:t>
            </a:r>
            <a:r>
              <a:rPr lang="en-US" sz="2800" spc="-55" dirty="0">
                <a:solidFill>
                  <a:srgbClr val="FF0000"/>
                </a:solidFill>
                <a:effectLst/>
                <a:latin typeface="Times New Roman" panose="02020603050405020304" pitchFamily="18" charset="0"/>
                <a:ea typeface="Times New Roman" panose="02020603050405020304" pitchFamily="18" charset="0"/>
              </a:rPr>
              <a:t> </a:t>
            </a:r>
            <a:r>
              <a:rPr lang="en-US" sz="2800" spc="-10" dirty="0">
                <a:solidFill>
                  <a:srgbClr val="FF0000"/>
                </a:solidFill>
                <a:effectLst/>
                <a:latin typeface="Times New Roman" panose="02020603050405020304" pitchFamily="18" charset="0"/>
                <a:ea typeface="Times New Roman" panose="02020603050405020304" pitchFamily="18" charset="0"/>
              </a:rPr>
              <a:t>contradiction</a:t>
            </a:r>
            <a:r>
              <a:rPr lang="en-US" sz="2800" spc="-55" dirty="0">
                <a:solidFill>
                  <a:srgbClr val="FF0000"/>
                </a:solidFill>
                <a:effectLst/>
                <a:latin typeface="Times New Roman" panose="02020603050405020304" pitchFamily="18" charset="0"/>
                <a:ea typeface="Times New Roman" panose="02020603050405020304" pitchFamily="18" charset="0"/>
              </a:rPr>
              <a:t> </a:t>
            </a:r>
            <a:r>
              <a:rPr lang="en-US" sz="2800" spc="-10" dirty="0">
                <a:solidFill>
                  <a:srgbClr val="231F20"/>
                </a:solidFill>
                <a:effectLst/>
                <a:latin typeface="Times New Roman" panose="02020603050405020304" pitchFamily="18" charset="0"/>
                <a:ea typeface="Times New Roman" panose="02020603050405020304" pitchFamily="18" charset="0"/>
              </a:rPr>
              <a:t>suggests</a:t>
            </a:r>
            <a:r>
              <a:rPr lang="en-US" sz="2800" spc="-55" dirty="0">
                <a:solidFill>
                  <a:srgbClr val="231F20"/>
                </a:solidFill>
                <a:effectLst/>
                <a:latin typeface="Times New Roman" panose="02020603050405020304" pitchFamily="18" charset="0"/>
                <a:ea typeface="Times New Roman" panose="02020603050405020304" pitchFamily="18" charset="0"/>
              </a:rPr>
              <a:t> </a:t>
            </a:r>
            <a:r>
              <a:rPr lang="en-US" sz="2800" spc="-10" dirty="0">
                <a:solidFill>
                  <a:srgbClr val="231F20"/>
                </a:solidFill>
                <a:effectLst/>
                <a:latin typeface="Times New Roman" panose="02020603050405020304" pitchFamily="18" charset="0"/>
                <a:ea typeface="Times New Roman" panose="02020603050405020304" pitchFamily="18" charset="0"/>
              </a:rPr>
              <a:t>a</a:t>
            </a:r>
            <a:r>
              <a:rPr lang="en-US" sz="2800" spc="-60" dirty="0">
                <a:solidFill>
                  <a:srgbClr val="231F20"/>
                </a:solidFill>
                <a:effectLst/>
                <a:latin typeface="Times New Roman" panose="02020603050405020304" pitchFamily="18" charset="0"/>
                <a:ea typeface="Times New Roman" panose="02020603050405020304" pitchFamily="18" charset="0"/>
              </a:rPr>
              <a:t> </a:t>
            </a:r>
            <a:r>
              <a:rPr lang="en-US" sz="2800" spc="-10" dirty="0">
                <a:solidFill>
                  <a:srgbClr val="231F20"/>
                </a:solidFill>
                <a:effectLst/>
                <a:latin typeface="Times New Roman" panose="02020603050405020304" pitchFamily="18" charset="0"/>
                <a:ea typeface="Times New Roman" panose="02020603050405020304" pitchFamily="18" charset="0"/>
              </a:rPr>
              <a:t>possible</a:t>
            </a:r>
            <a:r>
              <a:rPr lang="en-US" sz="2800" spc="-55" dirty="0">
                <a:solidFill>
                  <a:srgbClr val="231F20"/>
                </a:solidFill>
                <a:effectLst/>
                <a:latin typeface="Times New Roman" panose="02020603050405020304" pitchFamily="18" charset="0"/>
                <a:ea typeface="Times New Roman" panose="02020603050405020304" pitchFamily="18" charset="0"/>
              </a:rPr>
              <a:t> </a:t>
            </a:r>
            <a:r>
              <a:rPr lang="en-US" sz="2800" spc="-10" dirty="0">
                <a:solidFill>
                  <a:srgbClr val="231F20"/>
                </a:solidFill>
                <a:effectLst/>
                <a:latin typeface="Times New Roman" panose="02020603050405020304" pitchFamily="18" charset="0"/>
                <a:ea typeface="Times New Roman" panose="02020603050405020304" pitchFamily="18" charset="0"/>
              </a:rPr>
              <a:t>answer</a:t>
            </a:r>
            <a:r>
              <a:rPr lang="en-US" sz="2800" spc="-55" dirty="0">
                <a:solidFill>
                  <a:srgbClr val="231F20"/>
                </a:solidFill>
                <a:effectLst/>
                <a:latin typeface="Times New Roman" panose="02020603050405020304" pitchFamily="18" charset="0"/>
                <a:ea typeface="Times New Roman" panose="02020603050405020304" pitchFamily="18" charset="0"/>
              </a:rPr>
              <a:t> </a:t>
            </a:r>
            <a:r>
              <a:rPr lang="en-US" sz="2800" spc="-10" dirty="0">
                <a:solidFill>
                  <a:srgbClr val="231F20"/>
                </a:solidFill>
                <a:effectLst/>
                <a:latin typeface="Times New Roman" panose="02020603050405020304" pitchFamily="18" charset="0"/>
                <a:ea typeface="Times New Roman" panose="02020603050405020304" pitchFamily="18" charset="0"/>
              </a:rPr>
              <a:t>to </a:t>
            </a:r>
            <a:r>
              <a:rPr lang="en-US" sz="2800" spc="-20" dirty="0">
                <a:solidFill>
                  <a:srgbClr val="231F20"/>
                </a:solidFill>
                <a:effectLst/>
                <a:latin typeface="Times New Roman" panose="02020603050405020304" pitchFamily="18" charset="0"/>
                <a:ea typeface="Times New Roman" panose="02020603050405020304" pitchFamily="18" charset="0"/>
              </a:rPr>
              <a:t>the</a:t>
            </a:r>
            <a:r>
              <a:rPr lang="en-US" sz="2800" spc="-40" dirty="0">
                <a:solidFill>
                  <a:srgbClr val="231F20"/>
                </a:solidFill>
                <a:effectLst/>
                <a:latin typeface="Times New Roman" panose="02020603050405020304" pitchFamily="18" charset="0"/>
                <a:ea typeface="Times New Roman" panose="02020603050405020304" pitchFamily="18" charset="0"/>
              </a:rPr>
              <a:t> </a:t>
            </a:r>
            <a:r>
              <a:rPr lang="en-US" sz="2800" spc="-20" dirty="0">
                <a:solidFill>
                  <a:srgbClr val="231F20"/>
                </a:solidFill>
                <a:effectLst/>
                <a:latin typeface="Times New Roman" panose="02020603050405020304" pitchFamily="18" charset="0"/>
                <a:ea typeface="Times New Roman" panose="02020603050405020304" pitchFamily="18" charset="0"/>
              </a:rPr>
              <a:t>problem.</a:t>
            </a:r>
            <a:r>
              <a:rPr lang="en-US" sz="2800" spc="-40" dirty="0">
                <a:solidFill>
                  <a:srgbClr val="231F20"/>
                </a:solidFill>
                <a:effectLst/>
                <a:latin typeface="Times New Roman" panose="02020603050405020304" pitchFamily="18" charset="0"/>
                <a:ea typeface="Times New Roman" panose="02020603050405020304" pitchFamily="18" charset="0"/>
              </a:rPr>
              <a:t> </a:t>
            </a:r>
          </a:p>
          <a:p>
            <a:pPr marL="209550" marR="233045" indent="190500" algn="just">
              <a:lnSpc>
                <a:spcPct val="103000"/>
              </a:lnSpc>
              <a:spcBef>
                <a:spcPts val="5"/>
              </a:spcBef>
              <a:spcAft>
                <a:spcPts val="0"/>
              </a:spcAft>
            </a:pPr>
            <a:endParaRPr lang="en-IN" dirty="0">
              <a:effectLst/>
              <a:latin typeface="Times New Roman" panose="02020603050405020304" pitchFamily="18" charset="0"/>
              <a:ea typeface="Times New Roman" panose="02020603050405020304" pitchFamily="18" charset="0"/>
            </a:endParaRPr>
          </a:p>
          <a:p>
            <a:endParaRPr lang="en-IN" dirty="0"/>
          </a:p>
        </p:txBody>
      </p:sp>
      <p:grpSp>
        <p:nvGrpSpPr>
          <p:cNvPr id="4" name="Group 3">
            <a:extLst>
              <a:ext uri="{FF2B5EF4-FFF2-40B4-BE49-F238E27FC236}">
                <a16:creationId xmlns:a16="http://schemas.microsoft.com/office/drawing/2014/main" id="{276FE69F-9539-8207-0564-B8D320805386}"/>
              </a:ext>
            </a:extLst>
          </p:cNvPr>
          <p:cNvGrpSpPr>
            <a:grpSpLocks/>
          </p:cNvGrpSpPr>
          <p:nvPr/>
        </p:nvGrpSpPr>
        <p:grpSpPr>
          <a:xfrm>
            <a:off x="5297129" y="5210779"/>
            <a:ext cx="6056671" cy="1282096"/>
            <a:chOff x="0" y="46485"/>
            <a:chExt cx="4267200" cy="607095"/>
          </a:xfrm>
        </p:grpSpPr>
        <p:pic>
          <p:nvPicPr>
            <p:cNvPr id="5" name="Image 62">
              <a:extLst>
                <a:ext uri="{FF2B5EF4-FFF2-40B4-BE49-F238E27FC236}">
                  <a16:creationId xmlns:a16="http://schemas.microsoft.com/office/drawing/2014/main" id="{04FC8AC2-5018-E8E1-CF63-CD56445F37EF}"/>
                </a:ext>
              </a:extLst>
            </p:cNvPr>
            <p:cNvPicPr/>
            <p:nvPr/>
          </p:nvPicPr>
          <p:blipFill>
            <a:blip r:embed="rId2" cstate="print"/>
            <a:stretch>
              <a:fillRect/>
            </a:stretch>
          </p:blipFill>
          <p:spPr>
            <a:xfrm>
              <a:off x="965075" y="46485"/>
              <a:ext cx="2743200" cy="601979"/>
            </a:xfrm>
            <a:prstGeom prst="rect">
              <a:avLst/>
            </a:prstGeom>
          </p:spPr>
        </p:pic>
        <p:sp>
          <p:nvSpPr>
            <p:cNvPr id="6" name="Graphic 63">
              <a:extLst>
                <a:ext uri="{FF2B5EF4-FFF2-40B4-BE49-F238E27FC236}">
                  <a16:creationId xmlns:a16="http://schemas.microsoft.com/office/drawing/2014/main" id="{93F9B8AB-DF9E-F7AF-5DDA-2FA141C8F876}"/>
                </a:ext>
              </a:extLst>
            </p:cNvPr>
            <p:cNvSpPr/>
            <p:nvPr/>
          </p:nvSpPr>
          <p:spPr>
            <a:xfrm>
              <a:off x="0" y="652310"/>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Tree>
    <p:extLst>
      <p:ext uri="{BB962C8B-B14F-4D97-AF65-F5344CB8AC3E}">
        <p14:creationId xmlns:p14="http://schemas.microsoft.com/office/powerpoint/2010/main" val="1191554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CD5C8-9C49-0BAA-06F2-EE6EF64F3167}"/>
              </a:ext>
            </a:extLst>
          </p:cNvPr>
          <p:cNvSpPr>
            <a:spLocks noGrp="1"/>
          </p:cNvSpPr>
          <p:nvPr>
            <p:ph type="title"/>
          </p:nvPr>
        </p:nvSpPr>
        <p:spPr>
          <a:xfrm>
            <a:off x="838200" y="365125"/>
            <a:ext cx="10515600" cy="539443"/>
          </a:xfrm>
        </p:spPr>
        <p:txBody>
          <a:bodyPr>
            <a:normAutofit/>
          </a:bodyPr>
          <a:lstStyle/>
          <a:p>
            <a:pPr algn="ctr"/>
            <a:r>
              <a:rPr lang="en-US" sz="3200" b="1" dirty="0">
                <a:latin typeface="Times New Roman" panose="02020603050405020304" pitchFamily="18" charset="0"/>
                <a:cs typeface="Times New Roman" panose="02020603050405020304" pitchFamily="18" charset="0"/>
              </a:rPr>
              <a:t>RESOURCES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69D7A8-AC5F-9130-F6D3-5DEF3CA8036A}"/>
              </a:ext>
            </a:extLst>
          </p:cNvPr>
          <p:cNvSpPr>
            <a:spLocks noGrp="1"/>
          </p:cNvSpPr>
          <p:nvPr>
            <p:ph idx="1"/>
          </p:nvPr>
        </p:nvSpPr>
        <p:spPr>
          <a:xfrm>
            <a:off x="838200" y="1123229"/>
            <a:ext cx="10515600" cy="5272395"/>
          </a:xfrm>
        </p:spPr>
        <p:txBody>
          <a:bodyPr>
            <a:normAutofit fontScale="92500" lnSpcReduction="10000"/>
          </a:bodyPr>
          <a:lstStyle/>
          <a:p>
            <a:pPr marL="209550" marR="233680" algn="just">
              <a:lnSpc>
                <a:spcPct val="150000"/>
              </a:lnSpc>
              <a:spcBef>
                <a:spcPts val="640"/>
              </a:spcBef>
              <a:spcAft>
                <a:spcPts val="0"/>
              </a:spcAft>
            </a:pPr>
            <a:r>
              <a:rPr lang="en-US" sz="2400" spc="-20" dirty="0">
                <a:solidFill>
                  <a:srgbClr val="231F20"/>
                </a:solidFill>
                <a:effectLst/>
                <a:latin typeface="Times New Roman" panose="02020603050405020304" pitchFamily="18" charset="0"/>
                <a:ea typeface="Times New Roman" panose="02020603050405020304" pitchFamily="18" charset="0"/>
              </a:rPr>
              <a:t>Usually,</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however,</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additional</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information</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is</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needed.</a:t>
            </a:r>
            <a:r>
              <a:rPr lang="en-US" sz="2400" spc="-40" dirty="0">
                <a:solidFill>
                  <a:srgbClr val="231F20"/>
                </a:solidFill>
                <a:effectLst/>
                <a:latin typeface="Times New Roman" panose="02020603050405020304" pitchFamily="18" charset="0"/>
                <a:ea typeface="Times New Roman" panose="02020603050405020304" pitchFamily="18" charset="0"/>
              </a:rPr>
              <a:t> </a:t>
            </a:r>
          </a:p>
          <a:p>
            <a:pPr marL="209550" marR="233680" algn="just">
              <a:lnSpc>
                <a:spcPct val="150000"/>
              </a:lnSpc>
              <a:spcBef>
                <a:spcPts val="640"/>
              </a:spcBef>
              <a:spcAft>
                <a:spcPts val="0"/>
              </a:spcAft>
            </a:pPr>
            <a:r>
              <a:rPr lang="en-US" sz="2400" spc="-20" dirty="0">
                <a:solidFill>
                  <a:srgbClr val="0070C0"/>
                </a:solidFill>
                <a:effectLst/>
                <a:latin typeface="Times New Roman" panose="02020603050405020304" pitchFamily="18" charset="0"/>
                <a:ea typeface="Times New Roman" panose="02020603050405020304" pitchFamily="18" charset="0"/>
              </a:rPr>
              <a:t>Resource</a:t>
            </a:r>
            <a:r>
              <a:rPr lang="en-US" sz="2400" spc="-40" dirty="0">
                <a:solidFill>
                  <a:srgbClr val="0070C0"/>
                </a:solidFill>
                <a:effectLst/>
                <a:latin typeface="Times New Roman" panose="02020603050405020304" pitchFamily="18" charset="0"/>
                <a:ea typeface="Times New Roman" panose="02020603050405020304" pitchFamily="18" charset="0"/>
              </a:rPr>
              <a:t> </a:t>
            </a:r>
            <a:r>
              <a:rPr lang="en-US" sz="2400" spc="-20" dirty="0">
                <a:solidFill>
                  <a:srgbClr val="0070C0"/>
                </a:solidFill>
                <a:effectLst/>
                <a:latin typeface="Times New Roman" panose="02020603050405020304" pitchFamily="18" charset="0"/>
                <a:ea typeface="Times New Roman" panose="02020603050405020304" pitchFamily="18" charset="0"/>
              </a:rPr>
              <a:t>analysis </a:t>
            </a:r>
            <a:r>
              <a:rPr lang="en-US" sz="2400" dirty="0">
                <a:solidFill>
                  <a:srgbClr val="231F20"/>
                </a:solidFill>
                <a:effectLst/>
                <a:latin typeface="Times New Roman" panose="02020603050405020304" pitchFamily="18" charset="0"/>
                <a:ea typeface="Times New Roman" panose="02020603050405020304" pitchFamily="18" charset="0"/>
              </a:rPr>
              <a:t>helps</a:t>
            </a:r>
            <a:r>
              <a:rPr lang="en-US" sz="2400" spc="-1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you</a:t>
            </a:r>
            <a:r>
              <a:rPr lang="en-US" sz="2400" spc="-1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find</a:t>
            </a:r>
            <a:r>
              <a:rPr lang="en-US" sz="2400" spc="-1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ways</a:t>
            </a:r>
            <a:r>
              <a:rPr lang="en-US" sz="2400" spc="-1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to</a:t>
            </a:r>
            <a:r>
              <a:rPr lang="en-US" sz="2400" spc="-1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resolve</a:t>
            </a:r>
            <a:r>
              <a:rPr lang="en-US" sz="2400" spc="-1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1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contradiction.</a:t>
            </a:r>
          </a:p>
          <a:p>
            <a:pPr marL="209550" marR="233680" algn="just">
              <a:lnSpc>
                <a:spcPct val="150000"/>
              </a:lnSpc>
              <a:spcBef>
                <a:spcPts val="640"/>
              </a:spcBef>
              <a:spcAft>
                <a:spcPts val="0"/>
              </a:spcAft>
            </a:pPr>
            <a:r>
              <a:rPr lang="en-IN" sz="2400" dirty="0">
                <a:solidFill>
                  <a:srgbClr val="FF0000"/>
                </a:solidFill>
                <a:latin typeface="Times New Roman" panose="02020603050405020304" pitchFamily="18" charset="0"/>
                <a:ea typeface="Times New Roman" panose="02020603050405020304" pitchFamily="18" charset="0"/>
              </a:rPr>
              <a:t>Re</a:t>
            </a:r>
            <a:r>
              <a:rPr lang="en-US" sz="2400" spc="-20" dirty="0">
                <a:solidFill>
                  <a:srgbClr val="FF0000"/>
                </a:solidFill>
                <a:effectLst/>
                <a:latin typeface="Times New Roman" panose="02020603050405020304" pitchFamily="18" charset="0"/>
                <a:ea typeface="Times New Roman" panose="02020603050405020304" pitchFamily="18" charset="0"/>
              </a:rPr>
              <a:t>sources</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are</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things,</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information,</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energy,</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or</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properties</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of</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the</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materials</a:t>
            </a:r>
            <a:r>
              <a:rPr lang="en-US" sz="2400" spc="-2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that</a:t>
            </a:r>
            <a:r>
              <a:rPr lang="en-US" sz="2400" spc="-2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are </a:t>
            </a:r>
            <a:r>
              <a:rPr lang="en-US" sz="2400" dirty="0">
                <a:solidFill>
                  <a:srgbClr val="231F20"/>
                </a:solidFill>
                <a:effectLst/>
                <a:latin typeface="Times New Roman" panose="02020603050405020304" pitchFamily="18" charset="0"/>
                <a:ea typeface="Times New Roman" panose="02020603050405020304" pitchFamily="18" charset="0"/>
              </a:rPr>
              <a:t>already</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in</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or</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near</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environment</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of</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problem.</a:t>
            </a:r>
            <a:r>
              <a:rPr lang="en-US" sz="2400" spc="-40" dirty="0">
                <a:solidFill>
                  <a:srgbClr val="231F20"/>
                </a:solidFill>
                <a:effectLst/>
                <a:latin typeface="Times New Roman" panose="02020603050405020304" pitchFamily="18" charset="0"/>
                <a:ea typeface="Times New Roman" panose="02020603050405020304" pitchFamily="18" charset="0"/>
              </a:rPr>
              <a:t> </a:t>
            </a:r>
          </a:p>
          <a:p>
            <a:pPr marL="209550" marR="233680" algn="just">
              <a:lnSpc>
                <a:spcPct val="150000"/>
              </a:lnSpc>
              <a:spcBef>
                <a:spcPts val="640"/>
              </a:spcBef>
              <a:spcAft>
                <a:spcPts val="0"/>
              </a:spcAft>
            </a:pPr>
            <a:r>
              <a:rPr lang="en-US" sz="2400" dirty="0">
                <a:solidFill>
                  <a:srgbClr val="231F20"/>
                </a:solidFill>
                <a:effectLst/>
                <a:latin typeface="Times New Roman" panose="02020603050405020304" pitchFamily="18" charset="0"/>
                <a:ea typeface="Times New Roman" panose="02020603050405020304" pitchFamily="18" charset="0"/>
              </a:rPr>
              <a:t>If</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they</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can</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be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used</a:t>
            </a:r>
            <a:r>
              <a:rPr lang="en-US" sz="2400" spc="-4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directly</a:t>
            </a:r>
            <a:r>
              <a:rPr lang="en-US" sz="2400" spc="-4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or </a:t>
            </a:r>
            <a:r>
              <a:rPr lang="en-US" sz="2400" spc="-10" dirty="0">
                <a:solidFill>
                  <a:srgbClr val="FF0000"/>
                </a:solidFill>
                <a:effectLst/>
                <a:latin typeface="Times New Roman" panose="02020603050405020304" pitchFamily="18" charset="0"/>
                <a:ea typeface="Times New Roman" panose="02020603050405020304" pitchFamily="18" charset="0"/>
              </a:rPr>
              <a:t>modified</a:t>
            </a:r>
            <a:r>
              <a:rPr lang="en-US" sz="2400" spc="-60"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to</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make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them</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useful</a:t>
            </a:r>
            <a:r>
              <a:rPr lang="en-US" sz="2400" spc="-10" dirty="0">
                <a:solidFill>
                  <a:srgbClr val="231F20"/>
                </a:solidFill>
                <a:effectLst/>
                <a:latin typeface="Times New Roman" panose="02020603050405020304" pitchFamily="18" charset="0"/>
                <a:ea typeface="Times New Roman" panose="02020603050405020304" pitchFamily="18" charset="0"/>
              </a:rPr>
              <a:t>,</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the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problem</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will</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appear</a:t>
            </a:r>
            <a:r>
              <a:rPr lang="en-US" sz="2400" spc="-60"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to</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have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solved</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itself.</a:t>
            </a:r>
          </a:p>
          <a:p>
            <a:pPr marL="209550" marR="233680" algn="just">
              <a:lnSpc>
                <a:spcPct val="150000"/>
              </a:lnSpc>
              <a:spcBef>
                <a:spcPts val="640"/>
              </a:spcBef>
              <a:spcAft>
                <a:spcPts val="0"/>
              </a:spcAft>
            </a:pP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Think </a:t>
            </a:r>
            <a:r>
              <a:rPr lang="en-US" sz="2400" dirty="0">
                <a:solidFill>
                  <a:srgbClr val="231F20"/>
                </a:solidFill>
                <a:effectLst/>
                <a:latin typeface="Times New Roman" panose="02020603050405020304" pitchFamily="18" charset="0"/>
                <a:ea typeface="Times New Roman" panose="02020603050405020304" pitchFamily="18" charset="0"/>
              </a:rPr>
              <a:t>of</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resources</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as</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reserves—</a:t>
            </a:r>
            <a:r>
              <a:rPr lang="en-US" sz="2400" dirty="0">
                <a:solidFill>
                  <a:srgbClr val="FF0000"/>
                </a:solidFill>
                <a:effectLst/>
                <a:latin typeface="Times New Roman" panose="02020603050405020304" pitchFamily="18" charset="0"/>
                <a:ea typeface="Times New Roman" panose="02020603050405020304" pitchFamily="18" charset="0"/>
              </a:rPr>
              <a:t>they</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are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invisible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at</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first,</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because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we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are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accus</a:t>
            </a:r>
            <a:r>
              <a:rPr lang="en-US" sz="2400" spc="-10" dirty="0">
                <a:solidFill>
                  <a:srgbClr val="FF0000"/>
                </a:solidFill>
                <a:effectLst/>
                <a:latin typeface="Times New Roman" panose="02020603050405020304" pitchFamily="18" charset="0"/>
                <a:ea typeface="Times New Roman" panose="02020603050405020304" pitchFamily="18" charset="0"/>
              </a:rPr>
              <a:t>tomed</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to</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not</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seeing</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them</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when</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we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look</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at</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the</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problem</a:t>
            </a:r>
            <a:r>
              <a:rPr lang="en-US" sz="2400" spc="-55" dirty="0">
                <a:solidFill>
                  <a:srgbClr val="FF0000"/>
                </a:solidFill>
                <a:effectLst/>
                <a:latin typeface="Times New Roman" panose="02020603050405020304" pitchFamily="18" charset="0"/>
                <a:ea typeface="Times New Roman" panose="02020603050405020304" pitchFamily="18" charset="0"/>
              </a:rPr>
              <a:t> </a:t>
            </a:r>
            <a:r>
              <a:rPr lang="en-US" sz="2400" spc="-10" dirty="0">
                <a:solidFill>
                  <a:srgbClr val="FF0000"/>
                </a:solidFill>
                <a:effectLst/>
                <a:latin typeface="Times New Roman" panose="02020603050405020304" pitchFamily="18" charset="0"/>
                <a:ea typeface="Times New Roman" panose="02020603050405020304" pitchFamily="18" charset="0"/>
              </a:rPr>
              <a:t>situation,</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but</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we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can</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mobilize</a:t>
            </a:r>
            <a:r>
              <a:rPr lang="en-US" sz="2400" spc="-60"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these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reserves</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to</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solve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the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problem.</a:t>
            </a:r>
          </a:p>
          <a:p>
            <a:pPr marL="209550" marR="233680" algn="just">
              <a:lnSpc>
                <a:spcPct val="150000"/>
              </a:lnSpc>
              <a:spcBef>
                <a:spcPts val="640"/>
              </a:spcBef>
              <a:spcAft>
                <a:spcPts val="0"/>
              </a:spcAft>
            </a:pPr>
            <a:r>
              <a:rPr lang="en-US" sz="2400" spc="-10" dirty="0">
                <a:solidFill>
                  <a:srgbClr val="231F20"/>
                </a:solidFill>
                <a:latin typeface="Times New Roman" panose="02020603050405020304" pitchFamily="18" charset="0"/>
                <a:ea typeface="Times New Roman" panose="02020603050405020304" pitchFamily="18" charset="0"/>
              </a:rPr>
              <a:t>Mapping the resources.</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295975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D0E26-753F-4566-87C6-A629AB1CEAB6}"/>
              </a:ext>
            </a:extLst>
          </p:cNvPr>
          <p:cNvSpPr>
            <a:spLocks noGrp="1"/>
          </p:cNvSpPr>
          <p:nvPr>
            <p:ph type="title"/>
          </p:nvPr>
        </p:nvSpPr>
        <p:spPr>
          <a:xfrm>
            <a:off x="838200" y="365126"/>
            <a:ext cx="10515600" cy="588604"/>
          </a:xfrm>
        </p:spPr>
        <p:txBody>
          <a:bodyPr>
            <a:normAutofit/>
          </a:bodyPr>
          <a:lstStyle/>
          <a:p>
            <a:pPr algn="ctr"/>
            <a:r>
              <a:rPr lang="en-US" sz="3200" b="1" dirty="0">
                <a:latin typeface="Times New Roman" panose="02020603050405020304" pitchFamily="18" charset="0"/>
                <a:cs typeface="Times New Roman" panose="02020603050405020304" pitchFamily="18" charset="0"/>
              </a:rPr>
              <a:t>RESOURCES</a:t>
            </a:r>
            <a:endParaRPr lang="en-IN" sz="3200" dirty="0"/>
          </a:p>
        </p:txBody>
      </p:sp>
      <p:sp>
        <p:nvSpPr>
          <p:cNvPr id="3" name="Content Placeholder 2">
            <a:extLst>
              <a:ext uri="{FF2B5EF4-FFF2-40B4-BE49-F238E27FC236}">
                <a16:creationId xmlns:a16="http://schemas.microsoft.com/office/drawing/2014/main" id="{235AFC79-8481-57B1-AB29-05CBF6138067}"/>
              </a:ext>
            </a:extLst>
          </p:cNvPr>
          <p:cNvSpPr>
            <a:spLocks noGrp="1"/>
          </p:cNvSpPr>
          <p:nvPr>
            <p:ph idx="1"/>
          </p:nvPr>
        </p:nvSpPr>
        <p:spPr>
          <a:xfrm>
            <a:off x="344129" y="953730"/>
            <a:ext cx="11572567" cy="5771535"/>
          </a:xfrm>
        </p:spPr>
        <p:txBody>
          <a:bodyPr/>
          <a:lstStyle/>
          <a:p>
            <a:pPr algn="just"/>
            <a:r>
              <a:rPr lang="en-US" sz="2400" dirty="0">
                <a:solidFill>
                  <a:srgbClr val="231F20"/>
                </a:solidFill>
                <a:effectLst/>
                <a:latin typeface="Times New Roman" panose="02020603050405020304" pitchFamily="18" charset="0"/>
                <a:ea typeface="Times New Roman" panose="02020603050405020304" pitchFamily="18" charset="0"/>
              </a:rPr>
              <a:t>For example, a garbage bin that was partly hidden underground. The </a:t>
            </a:r>
            <a:r>
              <a:rPr lang="en-US" sz="2400" dirty="0">
                <a:solidFill>
                  <a:srgbClr val="FF0000"/>
                </a:solidFill>
                <a:effectLst/>
                <a:latin typeface="Times New Roman" panose="02020603050405020304" pitchFamily="18" charset="0"/>
                <a:ea typeface="Times New Roman" panose="02020603050405020304" pitchFamily="18" charset="0"/>
              </a:rPr>
              <a:t>needed change was achieved using the space beneath the bin. </a:t>
            </a:r>
          </a:p>
          <a:p>
            <a:pPr algn="just"/>
            <a:r>
              <a:rPr lang="en-US" sz="2400" spc="-20" dirty="0">
                <a:solidFill>
                  <a:srgbClr val="231F20"/>
                </a:solidFill>
                <a:effectLst/>
                <a:latin typeface="Times New Roman" panose="02020603050405020304" pitchFamily="18" charset="0"/>
                <a:ea typeface="Times New Roman" panose="02020603050405020304" pitchFamily="18" charset="0"/>
              </a:rPr>
              <a:t>In</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the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ax</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example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mentioned</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earlier,</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we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need</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to</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change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the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system</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so</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that</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split</a:t>
            </a:r>
            <a:r>
              <a:rPr lang="en-US" sz="2400" spc="-10" dirty="0">
                <a:solidFill>
                  <a:srgbClr val="231F20"/>
                </a:solidFill>
                <a:effectLst/>
                <a:latin typeface="Times New Roman" panose="02020603050405020304" pitchFamily="18" charset="0"/>
                <a:ea typeface="Times New Roman" panose="02020603050405020304" pitchFamily="18" charset="0"/>
              </a:rPr>
              <a:t>ting</a:t>
            </a:r>
            <a:r>
              <a:rPr lang="en-US" sz="2400" spc="-60"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power</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is</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improved,</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but</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the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ax</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does</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not</a:t>
            </a:r>
            <a:r>
              <a:rPr lang="en-US" sz="2400" spc="-60"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get</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more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difficult</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to</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use.</a:t>
            </a:r>
            <a:r>
              <a:rPr lang="en-US" sz="2400" spc="-55" dirty="0">
                <a:solidFill>
                  <a:srgbClr val="231F20"/>
                </a:solidFill>
                <a:effectLst/>
                <a:latin typeface="Times New Roman" panose="02020603050405020304" pitchFamily="18" charset="0"/>
                <a:ea typeface="Times New Roman" panose="02020603050405020304" pitchFamily="18" charset="0"/>
              </a:rPr>
              <a:t> </a:t>
            </a:r>
          </a:p>
          <a:p>
            <a:pPr algn="just"/>
            <a:r>
              <a:rPr lang="en-US" sz="2400" spc="-10" dirty="0">
                <a:solidFill>
                  <a:srgbClr val="231F20"/>
                </a:solidFill>
                <a:effectLst/>
                <a:latin typeface="Times New Roman" panose="02020603050405020304" pitchFamily="18" charset="0"/>
                <a:ea typeface="Times New Roman" panose="02020603050405020304" pitchFamily="18" charset="0"/>
              </a:rPr>
              <a:t>The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resources </a:t>
            </a:r>
            <a:r>
              <a:rPr lang="en-US" sz="2400" dirty="0">
                <a:solidFill>
                  <a:srgbClr val="231F20"/>
                </a:solidFill>
                <a:effectLst/>
                <a:latin typeface="Times New Roman" panose="02020603050405020304" pitchFamily="18" charset="0"/>
                <a:ea typeface="Times New Roman" panose="02020603050405020304" pitchFamily="18" charset="0"/>
              </a:rPr>
              <a:t>in the ax and chunk of wood system are the </a:t>
            </a:r>
            <a:r>
              <a:rPr lang="en-US" sz="2400" dirty="0">
                <a:effectLst/>
                <a:latin typeface="Times New Roman" panose="02020603050405020304" pitchFamily="18" charset="0"/>
                <a:ea typeface="Times New Roman" panose="02020603050405020304" pitchFamily="18" charset="0"/>
              </a:rPr>
              <a:t>blade, its edge, form, material, and other</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properties,</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handle</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its</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properties</a:t>
            </a:r>
            <a:r>
              <a:rPr lang="en-US" sz="2400" dirty="0">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chunk</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wood</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its</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properties</a:t>
            </a:r>
            <a:r>
              <a:rPr lang="en-US" sz="2400" dirty="0">
                <a:latin typeface="Times New Roman" panose="02020603050405020304" pitchFamily="18" charset="0"/>
                <a:ea typeface="Times New Roman" panose="02020603050405020304" pitchFamily="18" charset="0"/>
              </a:rPr>
              <a: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surrounding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air,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so</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forth.</a:t>
            </a:r>
            <a:r>
              <a:rPr lang="en-US" sz="2400" spc="-5" dirty="0">
                <a:effectLst/>
                <a:latin typeface="Times New Roman" panose="02020603050405020304" pitchFamily="18" charset="0"/>
                <a:ea typeface="Times New Roman" panose="02020603050405020304" pitchFamily="18" charset="0"/>
              </a:rPr>
              <a:t> </a:t>
            </a:r>
          </a:p>
          <a:p>
            <a:pPr algn="just"/>
            <a:r>
              <a:rPr lang="en-US" sz="2400" dirty="0">
                <a:solidFill>
                  <a:srgbClr val="231F20"/>
                </a:solidFill>
                <a:effectLst/>
                <a:latin typeface="Times New Roman" panose="02020603050405020304" pitchFamily="18" charset="0"/>
                <a:ea typeface="Times New Roman" panose="02020603050405020304" pitchFamily="18" charset="0"/>
              </a:rPr>
              <a:t>Depending</a:t>
            </a:r>
            <a:r>
              <a:rPr lang="en-US" sz="2400" spc="-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on</a:t>
            </a:r>
            <a:r>
              <a:rPr lang="en-US" sz="2400" spc="-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how</a:t>
            </a:r>
            <a:r>
              <a:rPr lang="en-US" sz="2400" spc="-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system</a:t>
            </a:r>
            <a:r>
              <a:rPr lang="en-US" sz="2400" spc="-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is</a:t>
            </a:r>
            <a:r>
              <a:rPr lang="en-US" sz="2400" spc="-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defined, we</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can</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also</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include</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person</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whose</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arm</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provides</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energy</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and</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whose</a:t>
            </a:r>
            <a:r>
              <a:rPr lang="en-US" sz="2400" spc="-2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hands provide the transmission of energy to the ax.</a:t>
            </a:r>
            <a:endParaRPr lang="en-IN" sz="2400" dirty="0">
              <a:effectLst/>
              <a:latin typeface="Times New Roman" panose="02020603050405020304" pitchFamily="18" charset="0"/>
              <a:ea typeface="Times New Roman" panose="02020603050405020304" pitchFamily="18" charset="0"/>
            </a:endParaRPr>
          </a:p>
          <a:p>
            <a:pPr marL="209550" marR="233680" indent="190500" algn="just">
              <a:lnSpc>
                <a:spcPct val="110000"/>
              </a:lnSpc>
              <a:spcBef>
                <a:spcPts val="40"/>
              </a:spcBef>
              <a:spcAft>
                <a:spcPts val="0"/>
              </a:spcAft>
            </a:pPr>
            <a:endParaRPr lang="en-IN" sz="1800" dirty="0">
              <a:effectLst/>
              <a:latin typeface="Times New Roman" panose="02020603050405020304" pitchFamily="18" charset="0"/>
              <a:ea typeface="Times New Roman" panose="02020603050405020304" pitchFamily="18" charset="0"/>
            </a:endParaRPr>
          </a:p>
          <a:p>
            <a:endParaRPr lang="en-US" sz="1800" dirty="0">
              <a:solidFill>
                <a:srgbClr val="231F20"/>
              </a:solidFill>
              <a:effectLst/>
              <a:latin typeface="Times New Roman" panose="02020603050405020304" pitchFamily="18" charset="0"/>
              <a:ea typeface="Times New Roman" panose="02020603050405020304" pitchFamily="18" charset="0"/>
            </a:endParaRPr>
          </a:p>
          <a:p>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pic>
        <p:nvPicPr>
          <p:cNvPr id="1026" name="Picture 2" descr="Semi-underground waste container Bee Bin - Inesta">
            <a:extLst>
              <a:ext uri="{FF2B5EF4-FFF2-40B4-BE49-F238E27FC236}">
                <a16:creationId xmlns:a16="http://schemas.microsoft.com/office/drawing/2014/main" id="{4DDAAF12-A66A-7B4C-FF07-314EBED092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9045" y="4513005"/>
            <a:ext cx="4463845" cy="1979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3220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BBD12-049E-6DD6-9591-E4DCFD6335F2}"/>
              </a:ext>
            </a:extLst>
          </p:cNvPr>
          <p:cNvSpPr>
            <a:spLocks noGrp="1"/>
          </p:cNvSpPr>
          <p:nvPr>
            <p:ph type="title"/>
          </p:nvPr>
        </p:nvSpPr>
        <p:spPr>
          <a:xfrm>
            <a:off x="838200" y="365125"/>
            <a:ext cx="10515600" cy="775417"/>
          </a:xfrm>
        </p:spPr>
        <p:txBody>
          <a:bodyPr>
            <a:normAutofit/>
          </a:bodyPr>
          <a:lstStyle/>
          <a:p>
            <a:pPr algn="ctr"/>
            <a:r>
              <a:rPr lang="en-US" sz="3200" b="1" dirty="0">
                <a:latin typeface="Times New Roman" panose="02020603050405020304" pitchFamily="18" charset="0"/>
                <a:cs typeface="Times New Roman" panose="02020603050405020304" pitchFamily="18" charset="0"/>
              </a:rPr>
              <a:t>RESOURCES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5735BF-CC88-91E9-0108-37D21D55E4BD}"/>
              </a:ext>
            </a:extLst>
          </p:cNvPr>
          <p:cNvSpPr>
            <a:spLocks noGrp="1"/>
          </p:cNvSpPr>
          <p:nvPr>
            <p:ph idx="1"/>
          </p:nvPr>
        </p:nvSpPr>
        <p:spPr>
          <a:xfrm>
            <a:off x="838200" y="1140542"/>
            <a:ext cx="10515600" cy="5036421"/>
          </a:xfrm>
        </p:spPr>
        <p:txBody>
          <a:bodyPr/>
          <a:lstStyle/>
          <a:p>
            <a:pPr algn="just">
              <a:lnSpc>
                <a:spcPct val="150000"/>
              </a:lnSpc>
            </a:pPr>
            <a:r>
              <a:rPr lang="en-US" sz="2800" dirty="0">
                <a:solidFill>
                  <a:srgbClr val="231F20"/>
                </a:solidFill>
                <a:effectLst/>
                <a:latin typeface="Times New Roman" panose="02020603050405020304" pitchFamily="18" charset="0"/>
                <a:ea typeface="Times New Roman" panose="02020603050405020304" pitchFamily="18" charset="0"/>
              </a:rPr>
              <a:t>In the training example, the curriculum, its structure and properties, skills</a:t>
            </a:r>
            <a:r>
              <a:rPr lang="en-US" sz="2800" spc="400"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of</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teachers,</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textbooks,</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the</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motivation,</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and</a:t>
            </a:r>
            <a:r>
              <a:rPr lang="en-US" sz="2800" spc="10"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existing</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knowledge</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and</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skills</a:t>
            </a:r>
            <a:r>
              <a:rPr lang="en-US" sz="2800" spc="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of</a:t>
            </a:r>
            <a:r>
              <a:rPr lang="en-US" sz="2800" spc="10" dirty="0">
                <a:solidFill>
                  <a:srgbClr val="231F20"/>
                </a:solidFill>
                <a:effectLst/>
                <a:latin typeface="Times New Roman" panose="02020603050405020304" pitchFamily="18" charset="0"/>
                <a:ea typeface="Times New Roman" panose="02020603050405020304" pitchFamily="18" charset="0"/>
              </a:rPr>
              <a:t> </a:t>
            </a:r>
            <a:r>
              <a:rPr lang="en-US" sz="2800" spc="-25" dirty="0">
                <a:solidFill>
                  <a:srgbClr val="231F20"/>
                </a:solidFill>
                <a:effectLst/>
                <a:latin typeface="Times New Roman" panose="02020603050405020304" pitchFamily="18" charset="0"/>
                <a:ea typeface="Times New Roman" panose="02020603050405020304" pitchFamily="18" charset="0"/>
              </a:rPr>
              <a:t>the </a:t>
            </a:r>
            <a:r>
              <a:rPr lang="en-US" sz="2800" dirty="0">
                <a:solidFill>
                  <a:srgbClr val="231F20"/>
                </a:solidFill>
                <a:effectLst/>
                <a:latin typeface="Times New Roman" panose="02020603050405020304" pitchFamily="18" charset="0"/>
                <a:ea typeface="Times New Roman" panose="02020603050405020304" pitchFamily="18" charset="0"/>
              </a:rPr>
              <a:t>students</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are</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all</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resources,</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as</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well</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as</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the</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culture</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of</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the</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company</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and</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the</a:t>
            </a:r>
            <a:r>
              <a:rPr lang="en-US" sz="2800" spc="-25" dirty="0">
                <a:solidFill>
                  <a:srgbClr val="231F20"/>
                </a:solidFill>
                <a:effectLst/>
                <a:latin typeface="Times New Roman" panose="02020603050405020304" pitchFamily="18" charset="0"/>
                <a:ea typeface="Times New Roman" panose="02020603050405020304" pitchFamily="18" charset="0"/>
              </a:rPr>
              <a:t> </a:t>
            </a:r>
            <a:r>
              <a:rPr lang="en-US" sz="2800" dirty="0">
                <a:solidFill>
                  <a:srgbClr val="231F20"/>
                </a:solidFill>
                <a:effectLst/>
                <a:latin typeface="Times New Roman" panose="02020603050405020304" pitchFamily="18" charset="0"/>
                <a:ea typeface="Times New Roman" panose="02020603050405020304" pitchFamily="18" charset="0"/>
              </a:rPr>
              <a:t>physical environment of the training.</a:t>
            </a:r>
            <a:endParaRPr lang="en-IN" sz="2800" dirty="0">
              <a:effectLst/>
              <a:latin typeface="Times New Roman" panose="02020603050405020304" pitchFamily="18" charset="0"/>
              <a:ea typeface="Times New Roman" panose="02020603050405020304" pitchFamily="18" charset="0"/>
            </a:endParaRPr>
          </a:p>
          <a:p>
            <a:endParaRPr lang="en-IN" dirty="0"/>
          </a:p>
        </p:txBody>
      </p:sp>
      <p:grpSp>
        <p:nvGrpSpPr>
          <p:cNvPr id="4" name="Group 3">
            <a:extLst>
              <a:ext uri="{FF2B5EF4-FFF2-40B4-BE49-F238E27FC236}">
                <a16:creationId xmlns:a16="http://schemas.microsoft.com/office/drawing/2014/main" id="{7A8FD3A7-CAF7-4554-3808-C4B15D321B30}"/>
              </a:ext>
            </a:extLst>
          </p:cNvPr>
          <p:cNvGrpSpPr>
            <a:grpSpLocks/>
          </p:cNvGrpSpPr>
          <p:nvPr/>
        </p:nvGrpSpPr>
        <p:grpSpPr>
          <a:xfrm>
            <a:off x="3603522" y="4492279"/>
            <a:ext cx="4984955" cy="1421824"/>
            <a:chOff x="0" y="-99208"/>
            <a:chExt cx="4267200" cy="1421824"/>
          </a:xfrm>
        </p:grpSpPr>
        <p:pic>
          <p:nvPicPr>
            <p:cNvPr id="5" name="Image 68">
              <a:extLst>
                <a:ext uri="{FF2B5EF4-FFF2-40B4-BE49-F238E27FC236}">
                  <a16:creationId xmlns:a16="http://schemas.microsoft.com/office/drawing/2014/main" id="{E898077C-9A33-9F3A-B54B-029787D06D0D}"/>
                </a:ext>
              </a:extLst>
            </p:cNvPr>
            <p:cNvPicPr/>
            <p:nvPr/>
          </p:nvPicPr>
          <p:blipFill>
            <a:blip r:embed="rId2" cstate="print"/>
            <a:stretch>
              <a:fillRect/>
            </a:stretch>
          </p:blipFill>
          <p:spPr>
            <a:xfrm>
              <a:off x="547078" y="-99208"/>
              <a:ext cx="3577042" cy="1271015"/>
            </a:xfrm>
            <a:prstGeom prst="rect">
              <a:avLst/>
            </a:prstGeom>
          </p:spPr>
        </p:pic>
        <p:sp>
          <p:nvSpPr>
            <p:cNvPr id="6" name="Graphic 69">
              <a:extLst>
                <a:ext uri="{FF2B5EF4-FFF2-40B4-BE49-F238E27FC236}">
                  <a16:creationId xmlns:a16="http://schemas.microsoft.com/office/drawing/2014/main" id="{9105646C-3BD2-8351-C545-AB37439E0A44}"/>
                </a:ext>
              </a:extLst>
            </p:cNvPr>
            <p:cNvSpPr/>
            <p:nvPr/>
          </p:nvSpPr>
          <p:spPr>
            <a:xfrm>
              <a:off x="0" y="1321346"/>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Tree>
    <p:extLst>
      <p:ext uri="{BB962C8B-B14F-4D97-AF65-F5344CB8AC3E}">
        <p14:creationId xmlns:p14="http://schemas.microsoft.com/office/powerpoint/2010/main" val="2008454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24B34-3A80-B940-7B26-2738F155D045}"/>
              </a:ext>
            </a:extLst>
          </p:cNvPr>
          <p:cNvSpPr>
            <a:spLocks noGrp="1"/>
          </p:cNvSpPr>
          <p:nvPr>
            <p:ph type="title"/>
          </p:nvPr>
        </p:nvSpPr>
        <p:spPr>
          <a:xfrm>
            <a:off x="838200" y="365125"/>
            <a:ext cx="10515600" cy="559107"/>
          </a:xfrm>
        </p:spPr>
        <p:txBody>
          <a:bodyPr>
            <a:normAutofit/>
          </a:bodyPr>
          <a:lstStyle/>
          <a:p>
            <a:pPr algn="ctr"/>
            <a:r>
              <a:rPr lang="en-IN" sz="3200" b="1" dirty="0">
                <a:latin typeface="Times New Roman" panose="02020603050405020304" pitchFamily="18" charset="0"/>
                <a:cs typeface="Times New Roman" panose="02020603050405020304" pitchFamily="18" charset="0"/>
              </a:rPr>
              <a:t>IDEALITY</a:t>
            </a:r>
          </a:p>
        </p:txBody>
      </p:sp>
      <p:sp>
        <p:nvSpPr>
          <p:cNvPr id="3" name="Content Placeholder 2">
            <a:extLst>
              <a:ext uri="{FF2B5EF4-FFF2-40B4-BE49-F238E27FC236}">
                <a16:creationId xmlns:a16="http://schemas.microsoft.com/office/drawing/2014/main" id="{6C9D9375-A13F-C549-E1C0-448EC95096F4}"/>
              </a:ext>
            </a:extLst>
          </p:cNvPr>
          <p:cNvSpPr>
            <a:spLocks noGrp="1"/>
          </p:cNvSpPr>
          <p:nvPr>
            <p:ph idx="1"/>
          </p:nvPr>
        </p:nvSpPr>
        <p:spPr>
          <a:xfrm>
            <a:off x="838200" y="1120877"/>
            <a:ext cx="10515600" cy="5056086"/>
          </a:xfrm>
        </p:spPr>
        <p:txBody>
          <a:bodyPr/>
          <a:lstStyle/>
          <a:p>
            <a:pPr marL="209550" marR="233680" indent="190500" algn="just">
              <a:lnSpc>
                <a:spcPct val="103000"/>
              </a:lnSpc>
              <a:spcAft>
                <a:spcPts val="0"/>
              </a:spcAft>
            </a:pPr>
            <a:r>
              <a:rPr lang="en-US" sz="2400" dirty="0">
                <a:solidFill>
                  <a:srgbClr val="231F20"/>
                </a:solidFill>
                <a:effectLst/>
                <a:latin typeface="Times New Roman" panose="02020603050405020304" pitchFamily="18" charset="0"/>
                <a:ea typeface="Times New Roman" panose="02020603050405020304" pitchFamily="18" charset="0"/>
              </a:rPr>
              <a:t>Imagine that </a:t>
            </a:r>
            <a:r>
              <a:rPr lang="en-US" sz="2400" dirty="0">
                <a:effectLst/>
                <a:latin typeface="Times New Roman" panose="02020603050405020304" pitchFamily="18" charset="0"/>
                <a:ea typeface="Times New Roman" panose="02020603050405020304" pitchFamily="18" charset="0"/>
              </a:rPr>
              <a:t>both ends of the plank forming the seesaw go up by virtue of resources.</a:t>
            </a:r>
            <a:r>
              <a:rPr lang="en-US" sz="2400" spc="-65" dirty="0">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If</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child’s</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resources</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included</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some</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rope,</a:t>
            </a:r>
            <a:r>
              <a:rPr lang="en-US" sz="2400" spc="-6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a</a:t>
            </a:r>
            <a:r>
              <a:rPr lang="en-US" sz="2400" spc="-6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tree,</a:t>
            </a:r>
            <a:r>
              <a:rPr lang="en-US" sz="2400" spc="-6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and</a:t>
            </a:r>
            <a:r>
              <a:rPr lang="en-US" sz="2400" spc="-6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a</a:t>
            </a:r>
            <a:r>
              <a:rPr lang="en-US" sz="2400" spc="-6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strong</a:t>
            </a:r>
            <a:r>
              <a:rPr lang="en-US" sz="2400" spc="-65"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parent, both ends of the plank could go up at the same time. </a:t>
            </a:r>
          </a:p>
          <a:p>
            <a:pPr marL="209550" marR="233680" indent="190500" algn="just">
              <a:lnSpc>
                <a:spcPct val="103000"/>
              </a:lnSpc>
            </a:pP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seesaw</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analogy</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ideal</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final</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result.</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Both</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ends</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plank</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go </a:t>
            </a:r>
            <a:r>
              <a:rPr lang="en-US" sz="24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up.</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0" marR="233680" indent="0" algn="just">
              <a:lnSpc>
                <a:spcPct val="103000"/>
              </a:lnSpc>
              <a:spcAft>
                <a:spcPts val="0"/>
              </a:spcAft>
              <a:buNone/>
            </a:pP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grpSp>
        <p:nvGrpSpPr>
          <p:cNvPr id="4" name="Group 3">
            <a:extLst>
              <a:ext uri="{FF2B5EF4-FFF2-40B4-BE49-F238E27FC236}">
                <a16:creationId xmlns:a16="http://schemas.microsoft.com/office/drawing/2014/main" id="{CD088B1E-168C-B7B2-16DE-2B7EC9DBE32D}"/>
              </a:ext>
            </a:extLst>
          </p:cNvPr>
          <p:cNvGrpSpPr>
            <a:grpSpLocks/>
          </p:cNvGrpSpPr>
          <p:nvPr/>
        </p:nvGrpSpPr>
        <p:grpSpPr>
          <a:xfrm>
            <a:off x="3716594" y="3211296"/>
            <a:ext cx="4267200" cy="2389415"/>
            <a:chOff x="0" y="0"/>
            <a:chExt cx="4267200" cy="2389415"/>
          </a:xfrm>
        </p:grpSpPr>
        <p:pic>
          <p:nvPicPr>
            <p:cNvPr id="5" name="Image 74">
              <a:extLst>
                <a:ext uri="{FF2B5EF4-FFF2-40B4-BE49-F238E27FC236}">
                  <a16:creationId xmlns:a16="http://schemas.microsoft.com/office/drawing/2014/main" id="{52DE412F-A98F-481A-D527-A1BA596AD377}"/>
                </a:ext>
              </a:extLst>
            </p:cNvPr>
            <p:cNvPicPr/>
            <p:nvPr/>
          </p:nvPicPr>
          <p:blipFill>
            <a:blip r:embed="rId2" cstate="print"/>
            <a:stretch>
              <a:fillRect/>
            </a:stretch>
          </p:blipFill>
          <p:spPr>
            <a:xfrm>
              <a:off x="762000" y="0"/>
              <a:ext cx="2743199" cy="2337815"/>
            </a:xfrm>
            <a:prstGeom prst="rect">
              <a:avLst/>
            </a:prstGeom>
          </p:spPr>
        </p:pic>
        <p:sp>
          <p:nvSpPr>
            <p:cNvPr id="6" name="Graphic 75">
              <a:extLst>
                <a:ext uri="{FF2B5EF4-FFF2-40B4-BE49-F238E27FC236}">
                  <a16:creationId xmlns:a16="http://schemas.microsoft.com/office/drawing/2014/main" id="{2E20A94F-E713-A380-9CA2-EABCC59235AC}"/>
                </a:ext>
              </a:extLst>
            </p:cNvPr>
            <p:cNvSpPr/>
            <p:nvPr/>
          </p:nvSpPr>
          <p:spPr>
            <a:xfrm>
              <a:off x="0" y="2388145"/>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sz="2400"/>
            </a:p>
          </p:txBody>
        </p:sp>
      </p:grpSp>
    </p:spTree>
    <p:extLst>
      <p:ext uri="{BB962C8B-B14F-4D97-AF65-F5344CB8AC3E}">
        <p14:creationId xmlns:p14="http://schemas.microsoft.com/office/powerpoint/2010/main" val="1429056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A4F77-18AE-5700-9108-B2CF67F77D6B}"/>
              </a:ext>
            </a:extLst>
          </p:cNvPr>
          <p:cNvSpPr>
            <a:spLocks noGrp="1"/>
          </p:cNvSpPr>
          <p:nvPr>
            <p:ph type="title"/>
          </p:nvPr>
        </p:nvSpPr>
        <p:spPr>
          <a:xfrm>
            <a:off x="838200" y="365126"/>
            <a:ext cx="10515600" cy="598436"/>
          </a:xfrm>
        </p:spPr>
        <p:txBody>
          <a:bodyPr>
            <a:normAutofit/>
          </a:bodyPr>
          <a:lstStyle/>
          <a:p>
            <a:pPr algn="ctr"/>
            <a:r>
              <a:rPr lang="en-IN" sz="3200" b="1" dirty="0">
                <a:latin typeface="Times New Roman" panose="02020603050405020304" pitchFamily="18" charset="0"/>
                <a:cs typeface="Times New Roman" panose="02020603050405020304" pitchFamily="18" charset="0"/>
              </a:rPr>
              <a:t>IDEALITY</a:t>
            </a:r>
          </a:p>
        </p:txBody>
      </p:sp>
      <p:sp>
        <p:nvSpPr>
          <p:cNvPr id="3" name="Content Placeholder 2">
            <a:extLst>
              <a:ext uri="{FF2B5EF4-FFF2-40B4-BE49-F238E27FC236}">
                <a16:creationId xmlns:a16="http://schemas.microsoft.com/office/drawing/2014/main" id="{C7ED829B-694D-1067-2F2F-3C5BC1168A70}"/>
              </a:ext>
            </a:extLst>
          </p:cNvPr>
          <p:cNvSpPr>
            <a:spLocks noGrp="1"/>
          </p:cNvSpPr>
          <p:nvPr>
            <p:ph idx="1"/>
          </p:nvPr>
        </p:nvSpPr>
        <p:spPr>
          <a:xfrm>
            <a:off x="838200" y="963562"/>
            <a:ext cx="10515600" cy="5213401"/>
          </a:xfrm>
        </p:spPr>
        <p:txBody>
          <a:bodyPr/>
          <a:lstStyle/>
          <a:p>
            <a:pPr marL="209550" marR="231775" indent="190500" algn="just">
              <a:lnSpc>
                <a:spcPct val="103000"/>
              </a:lnSpc>
              <a:spcAft>
                <a:spcPts val="0"/>
              </a:spcAft>
            </a:pP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blow</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struck</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by</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ax</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should</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be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made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stronger,</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but,</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at</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same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time,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 </a:t>
            </a:r>
            <a:r>
              <a:rPr lang="en-US" sz="2400" spc="-10" dirty="0">
                <a:solidFill>
                  <a:srgbClr val="231F20"/>
                </a:solidFill>
                <a:effectLst/>
                <a:latin typeface="Times New Roman" panose="02020603050405020304" pitchFamily="18" charset="0"/>
                <a:ea typeface="Times New Roman" panose="02020603050405020304" pitchFamily="18" charset="0"/>
              </a:rPr>
              <a:t>tool</a:t>
            </a:r>
            <a:r>
              <a:rPr lang="en-US" sz="2400" spc="-60"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should</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remain</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easy</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to</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use.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To</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split</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the</a:t>
            </a:r>
            <a:r>
              <a:rPr lang="en-US" sz="2400" spc="-60"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chunk</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of</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wood,</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the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ax</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should</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be</a:t>
            </a:r>
            <a:r>
              <a:rPr lang="en-US" sz="2400" spc="-55" dirty="0">
                <a:solidFill>
                  <a:srgbClr val="231F20"/>
                </a:solidFill>
                <a:effectLst/>
                <a:latin typeface="Times New Roman" panose="02020603050405020304" pitchFamily="18" charset="0"/>
                <a:ea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rPr>
              <a:t>heavy, </a:t>
            </a:r>
            <a:r>
              <a:rPr lang="en-US" sz="2400" dirty="0">
                <a:solidFill>
                  <a:srgbClr val="231F20"/>
                </a:solidFill>
                <a:effectLst/>
                <a:latin typeface="Times New Roman" panose="02020603050405020304" pitchFamily="18" charset="0"/>
                <a:ea typeface="Times New Roman" panose="02020603050405020304" pitchFamily="18" charset="0"/>
              </a:rPr>
              <a:t>but, at the same time, for ease of handling, the ax should be light.</a:t>
            </a:r>
            <a:endParaRPr lang="en-IN" sz="2400" dirty="0">
              <a:effectLst/>
              <a:latin typeface="Times New Roman" panose="02020603050405020304" pitchFamily="18" charset="0"/>
              <a:ea typeface="Times New Roman" panose="02020603050405020304" pitchFamily="18" charset="0"/>
            </a:endParaRPr>
          </a:p>
          <a:p>
            <a:pPr marL="209550" marR="233045" indent="190500" algn="just">
              <a:lnSpc>
                <a:spcPct val="103000"/>
              </a:lnSpc>
              <a:spcAft>
                <a:spcPts val="0"/>
              </a:spcAft>
            </a:pPr>
            <a:r>
              <a:rPr lang="en-US" sz="2400" spc="-20" dirty="0">
                <a:solidFill>
                  <a:srgbClr val="231F20"/>
                </a:solidFill>
                <a:effectLst/>
                <a:latin typeface="Times New Roman" panose="02020603050405020304" pitchFamily="18" charset="0"/>
                <a:ea typeface="Times New Roman" panose="02020603050405020304" pitchFamily="18" charset="0"/>
              </a:rPr>
              <a:t>The</a:t>
            </a:r>
            <a:r>
              <a:rPr lang="en-US" sz="2400" spc="-5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ideal</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final</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result</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can</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now</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be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described</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as</a:t>
            </a:r>
            <a:r>
              <a:rPr lang="en-US" sz="2400" spc="-5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follows:</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something</a:t>
            </a:r>
            <a:r>
              <a:rPr lang="en-US" sz="2400" spc="-4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changes</a:t>
            </a:r>
            <a:r>
              <a:rPr lang="en-US" sz="2400" spc="-4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the</a:t>
            </a:r>
            <a:r>
              <a:rPr lang="en-US" sz="2400" spc="-45"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ax in</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some</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way</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so</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that</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it</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is</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both</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heavy</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and</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FF0000"/>
                </a:solidFill>
                <a:effectLst/>
                <a:latin typeface="Times New Roman" panose="02020603050405020304" pitchFamily="18" charset="0"/>
                <a:ea typeface="Times New Roman" panose="02020603050405020304" pitchFamily="18" charset="0"/>
              </a:rPr>
              <a:t>light,</a:t>
            </a:r>
            <a:r>
              <a:rPr lang="en-US" sz="2400" spc="-30" dirty="0">
                <a:solidFill>
                  <a:srgbClr val="FF000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for</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the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double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purpose</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of</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making</a:t>
            </a:r>
            <a:r>
              <a:rPr lang="en-US" sz="2400" spc="-30" dirty="0">
                <a:solidFill>
                  <a:srgbClr val="231F20"/>
                </a:solidFill>
                <a:effectLst/>
                <a:latin typeface="Times New Roman" panose="02020603050405020304" pitchFamily="18" charset="0"/>
                <a:ea typeface="Times New Roman" panose="02020603050405020304" pitchFamily="18" charset="0"/>
              </a:rPr>
              <a:t> </a:t>
            </a:r>
            <a:r>
              <a:rPr lang="en-US" sz="2400" spc="-25" dirty="0">
                <a:solidFill>
                  <a:srgbClr val="231F20"/>
                </a:solidFill>
                <a:effectLst/>
                <a:latin typeface="Times New Roman" panose="02020603050405020304" pitchFamily="18" charset="0"/>
                <a:ea typeface="Times New Roman" panose="02020603050405020304" pitchFamily="18" charset="0"/>
              </a:rPr>
              <a:t>the</a:t>
            </a:r>
            <a:r>
              <a:rPr lang="en-IN" sz="2400" dirty="0">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blow</a:t>
            </a:r>
            <a:r>
              <a:rPr lang="en-US" sz="2400" spc="-5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stronger</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without</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decreasing</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the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ease</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of</a:t>
            </a:r>
            <a:r>
              <a:rPr lang="en-US" sz="2400" spc="-45"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use.</a:t>
            </a:r>
            <a:r>
              <a:rPr lang="en-US" sz="2400" spc="-45" dirty="0">
                <a:solidFill>
                  <a:srgbClr val="231F20"/>
                </a:solidFill>
                <a:effectLst/>
                <a:latin typeface="Times New Roman" panose="02020603050405020304" pitchFamily="18" charset="0"/>
                <a:ea typeface="Times New Roman" panose="02020603050405020304" pitchFamily="18" charset="0"/>
              </a:rPr>
              <a:t> </a:t>
            </a:r>
          </a:p>
          <a:p>
            <a:pPr marL="209550" marR="233045" indent="190500" algn="just">
              <a:lnSpc>
                <a:spcPct val="103000"/>
              </a:lnSpc>
              <a:spcAft>
                <a:spcPts val="0"/>
              </a:spcAft>
            </a:pPr>
            <a:r>
              <a:rPr lang="en-US" sz="2400" spc="-20" dirty="0">
                <a:solidFill>
                  <a:srgbClr val="231F20"/>
                </a:solidFill>
                <a:effectLst/>
                <a:latin typeface="Times New Roman" panose="02020603050405020304" pitchFamily="18" charset="0"/>
                <a:ea typeface="Times New Roman" panose="02020603050405020304" pitchFamily="18" charset="0"/>
              </a:rPr>
              <a:t>The</a:t>
            </a:r>
            <a:r>
              <a:rPr lang="en-US" sz="2400" spc="-5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chemeClr val="accent4">
                    <a:lumMod val="75000"/>
                  </a:schemeClr>
                </a:solidFill>
                <a:effectLst/>
                <a:latin typeface="Times New Roman" panose="02020603050405020304" pitchFamily="18" charset="0"/>
                <a:ea typeface="Times New Roman" panose="02020603050405020304" pitchFamily="18" charset="0"/>
              </a:rPr>
              <a:t>ax</a:t>
            </a:r>
            <a:r>
              <a:rPr lang="en-US" sz="2400" spc="-45" dirty="0">
                <a:solidFill>
                  <a:schemeClr val="accent4">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4">
                    <a:lumMod val="75000"/>
                  </a:schemeClr>
                </a:solidFill>
                <a:effectLst/>
                <a:latin typeface="Times New Roman" panose="02020603050405020304" pitchFamily="18" charset="0"/>
                <a:ea typeface="Times New Roman" panose="02020603050405020304" pitchFamily="18" charset="0"/>
              </a:rPr>
              <a:t>marketed</a:t>
            </a:r>
            <a:r>
              <a:rPr lang="en-US" sz="2400" spc="-45" dirty="0">
                <a:solidFill>
                  <a:schemeClr val="accent4">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4">
                    <a:lumMod val="75000"/>
                  </a:schemeClr>
                </a:solidFill>
                <a:effectLst/>
                <a:latin typeface="Times New Roman" panose="02020603050405020304" pitchFamily="18" charset="0"/>
                <a:ea typeface="Times New Roman" panose="02020603050405020304" pitchFamily="18" charset="0"/>
              </a:rPr>
              <a:t>by</a:t>
            </a:r>
            <a:r>
              <a:rPr lang="en-US" sz="2400" spc="-45" dirty="0">
                <a:solidFill>
                  <a:schemeClr val="accent4">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4">
                    <a:lumMod val="75000"/>
                  </a:schemeClr>
                </a:solidFill>
                <a:effectLst/>
                <a:latin typeface="Times New Roman" panose="02020603050405020304" pitchFamily="18" charset="0"/>
                <a:ea typeface="Times New Roman" panose="02020603050405020304" pitchFamily="18" charset="0"/>
              </a:rPr>
              <a:t>Fiskars</a:t>
            </a:r>
            <a:r>
              <a:rPr lang="en-US" sz="2400" spc="-45" dirty="0">
                <a:solidFill>
                  <a:schemeClr val="accent4">
                    <a:lumMod val="75000"/>
                  </a:schemeClr>
                </a:solidFill>
                <a:effectLst/>
                <a:latin typeface="Times New Roman" panose="02020603050405020304" pitchFamily="18" charset="0"/>
                <a:ea typeface="Times New Roman" panose="02020603050405020304" pitchFamily="18" charset="0"/>
              </a:rPr>
              <a:t> </a:t>
            </a:r>
            <a:r>
              <a:rPr lang="en-US" sz="2400" spc="-20" dirty="0">
                <a:solidFill>
                  <a:srgbClr val="231F20"/>
                </a:solidFill>
                <a:effectLst/>
                <a:latin typeface="Times New Roman" panose="02020603050405020304" pitchFamily="18" charset="0"/>
                <a:ea typeface="Times New Roman" panose="02020603050405020304" pitchFamily="18" charset="0"/>
              </a:rPr>
              <a:t>solves </a:t>
            </a:r>
            <a:r>
              <a:rPr lang="en-US" sz="2400" dirty="0">
                <a:solidFill>
                  <a:srgbClr val="231F20"/>
                </a:solidFill>
                <a:effectLst/>
                <a:latin typeface="Times New Roman" panose="02020603050405020304" pitchFamily="18" charset="0"/>
                <a:ea typeface="Times New Roman" panose="02020603050405020304" pitchFamily="18" charset="0"/>
              </a:rPr>
              <a:t>this</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problem</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by</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using</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hollow</a:t>
            </a:r>
            <a:r>
              <a:rPr lang="en-US" sz="2400" spc="-40" dirty="0">
                <a:solidFill>
                  <a:srgbClr val="FF0000"/>
                </a:solidFill>
                <a:effectLst/>
                <a:latin typeface="Times New Roman" panose="02020603050405020304" pitchFamily="18" charset="0"/>
                <a:ea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rPr>
              <a:t>handle</a:t>
            </a:r>
            <a:r>
              <a:rPr lang="en-US" sz="2400" dirty="0">
                <a:solidFill>
                  <a:srgbClr val="231F20"/>
                </a:solidFill>
                <a:effectLst/>
                <a:latin typeface="Times New Roman" panose="02020603050405020304" pitchFamily="18" charset="0"/>
                <a:ea typeface="Times New Roman" panose="02020603050405020304" pitchFamily="18" charset="0"/>
              </a:rPr>
              <a:t>.</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Air</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is</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used</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as</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resource</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that</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solves</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the </a:t>
            </a:r>
            <a:r>
              <a:rPr lang="en-US" sz="2400" spc="-20" dirty="0">
                <a:solidFill>
                  <a:srgbClr val="231F20"/>
                </a:solidFill>
                <a:effectLst/>
                <a:latin typeface="Times New Roman" panose="02020603050405020304" pitchFamily="18" charset="0"/>
                <a:ea typeface="Times New Roman" panose="02020603050405020304" pitchFamily="18" charset="0"/>
              </a:rPr>
              <a:t>problem.</a:t>
            </a:r>
            <a:r>
              <a:rPr lang="en-US" sz="2400" spc="-40" dirty="0">
                <a:solidFill>
                  <a:srgbClr val="231F20"/>
                </a:solidFill>
                <a:effectLst/>
                <a:latin typeface="Times New Roman" panose="02020603050405020304" pitchFamily="18" charset="0"/>
                <a:ea typeface="Times New Roman" panose="02020603050405020304" pitchFamily="18" charset="0"/>
              </a:rPr>
              <a:t> </a:t>
            </a:r>
          </a:p>
          <a:p>
            <a:pPr marL="209550" marR="233045" indent="190500" algn="just">
              <a:lnSpc>
                <a:spcPct val="103000"/>
              </a:lnSpc>
              <a:spcAft>
                <a:spcPts val="0"/>
              </a:spcAft>
            </a:pPr>
            <a:r>
              <a:rPr lang="en-US" sz="2400" spc="-20" dirty="0">
                <a:solidFill>
                  <a:srgbClr val="231F20"/>
                </a:solidFill>
                <a:effectLst/>
                <a:latin typeface="Times New Roman" panose="02020603050405020304" pitchFamily="18" charset="0"/>
                <a:ea typeface="Times New Roman" panose="02020603050405020304" pitchFamily="18" charset="0"/>
              </a:rPr>
              <a:t>The</a:t>
            </a:r>
            <a:r>
              <a:rPr lang="en-US" sz="2400" spc="-40" dirty="0">
                <a:solidFill>
                  <a:srgbClr val="231F20"/>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hollow</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handle</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gives</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an</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unexpected</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new</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quality.</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center</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of</a:t>
            </a:r>
            <a:r>
              <a:rPr lang="en-US" sz="2400" spc="-4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spc="-20" dirty="0">
                <a:solidFill>
                  <a:schemeClr val="accent1">
                    <a:lumMod val="75000"/>
                  </a:schemeClr>
                </a:solidFill>
                <a:effectLst/>
                <a:latin typeface="Times New Roman" panose="02020603050405020304" pitchFamily="18" charset="0"/>
                <a:ea typeface="Times New Roman" panose="02020603050405020304" pitchFamily="18" charset="0"/>
              </a:rPr>
              <a:t>gravity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moves</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nearer</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to</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blade.</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blow</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is</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more</a:t>
            </a:r>
            <a:r>
              <a:rPr lang="en-US" sz="24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400" dirty="0">
                <a:solidFill>
                  <a:schemeClr val="accent1">
                    <a:lumMod val="75000"/>
                  </a:schemeClr>
                </a:solidFill>
                <a:effectLst/>
                <a:latin typeface="Times New Roman" panose="02020603050405020304" pitchFamily="18" charset="0"/>
                <a:ea typeface="Times New Roman" panose="02020603050405020304" pitchFamily="18" charset="0"/>
              </a:rPr>
              <a:t>powerful,</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which</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could</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be</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thought</a:t>
            </a:r>
            <a:r>
              <a:rPr lang="en-US" sz="2400" spc="-65" dirty="0">
                <a:solidFill>
                  <a:srgbClr val="231F20"/>
                </a:solidFill>
                <a:effectLst/>
                <a:latin typeface="Times New Roman" panose="02020603050405020304" pitchFamily="18" charset="0"/>
                <a:ea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rPr>
              <a:t>of as heavy, although the tool is lighter.</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620795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086F5-AA8B-F096-633F-51CE21820E9D}"/>
              </a:ext>
            </a:extLst>
          </p:cNvPr>
          <p:cNvSpPr>
            <a:spLocks noGrp="1"/>
          </p:cNvSpPr>
          <p:nvPr>
            <p:ph type="title"/>
          </p:nvPr>
        </p:nvSpPr>
        <p:spPr>
          <a:xfrm>
            <a:off x="838200" y="365126"/>
            <a:ext cx="10515600" cy="431288"/>
          </a:xfrm>
        </p:spPr>
        <p:txBody>
          <a:bodyPr>
            <a:normAutofit fontScale="90000"/>
          </a:bodyPr>
          <a:lstStyle/>
          <a:p>
            <a:pPr algn="ctr"/>
            <a:r>
              <a:rPr lang="en-IN" sz="3200" b="1" dirty="0">
                <a:latin typeface="Times New Roman" panose="02020603050405020304" pitchFamily="18" charset="0"/>
                <a:cs typeface="Times New Roman" panose="02020603050405020304" pitchFamily="18" charset="0"/>
              </a:rPr>
              <a:t>IDEALITY</a:t>
            </a:r>
          </a:p>
        </p:txBody>
      </p:sp>
      <p:sp>
        <p:nvSpPr>
          <p:cNvPr id="3" name="Content Placeholder 2">
            <a:extLst>
              <a:ext uri="{FF2B5EF4-FFF2-40B4-BE49-F238E27FC236}">
                <a16:creationId xmlns:a16="http://schemas.microsoft.com/office/drawing/2014/main" id="{57F74300-F346-CD73-00B3-2FF904BC69ED}"/>
              </a:ext>
            </a:extLst>
          </p:cNvPr>
          <p:cNvSpPr>
            <a:spLocks noGrp="1"/>
          </p:cNvSpPr>
          <p:nvPr>
            <p:ph idx="1"/>
          </p:nvPr>
        </p:nvSpPr>
        <p:spPr>
          <a:xfrm>
            <a:off x="838200" y="983226"/>
            <a:ext cx="10515600" cy="5791200"/>
          </a:xfrm>
        </p:spPr>
        <p:txBody>
          <a:bodyPr/>
          <a:lstStyle/>
          <a:p>
            <a:pPr marL="209550" marR="234315" indent="190500" algn="just">
              <a:lnSpc>
                <a:spcPct val="107000"/>
              </a:lnSpc>
              <a:spcAft>
                <a:spcPts val="0"/>
              </a:spcAft>
            </a:pP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“Ideality” is the </a:t>
            </a:r>
            <a:r>
              <a:rPr lang="en-US" sz="2400" b="1"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measure of how close the system is to the ideal final result</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If</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useful</a:t>
            </a:r>
            <a:r>
              <a:rPr lang="en-US" sz="2400" spc="-1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feature</a:t>
            </a:r>
            <a:r>
              <a:rPr lang="en-US" sz="2400" spc="-1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improves</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ideality</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improves.</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If</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harmful</a:t>
            </a:r>
            <a:r>
              <a:rPr lang="en-US" sz="2400" spc="-1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feature</a:t>
            </a:r>
            <a:r>
              <a:rPr lang="en-US" sz="2400" spc="-1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lessens</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ideality</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also</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improves.</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209550" marR="234315" indent="190500" algn="just">
              <a:lnSpc>
                <a:spcPct val="107000"/>
              </a:lnSpc>
              <a:spcAft>
                <a:spcPts val="0"/>
              </a:spcAft>
            </a:pP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solve</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problem,</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look</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resources</a:t>
            </a:r>
            <a:r>
              <a:rPr lang="en-US" sz="24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already in</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help</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useful</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get</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better</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or</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harmful</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a:t>
            </a:r>
            <a:r>
              <a:rPr lang="en-US" sz="2400"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 reduced—or vanish entirely.</a:t>
            </a:r>
          </a:p>
          <a:p>
            <a:pPr marL="209550" marR="234315" indent="190500" algn="just">
              <a:lnSpc>
                <a:spcPct val="107000"/>
              </a:lnSpc>
            </a:pPr>
            <a:r>
              <a:rPr lang="en-US" sz="2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ideal</a:t>
            </a:r>
            <a:r>
              <a:rPr lang="en-US" sz="2400" b="1" spc="-4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final</a:t>
            </a:r>
            <a:r>
              <a:rPr lang="en-US" sz="2400" b="1"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result</a:t>
            </a:r>
            <a:r>
              <a:rPr lang="en-US" sz="2400" b="1"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400" b="1"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b="1" spc="-4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solution</a:t>
            </a:r>
            <a:r>
              <a:rPr lang="en-US" sz="2400" b="1"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2400" b="1"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resolves</a:t>
            </a:r>
            <a:r>
              <a:rPr lang="en-US" sz="2400" b="1" spc="-4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b="1"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contradiction </a:t>
            </a:r>
            <a:r>
              <a:rPr lang="en-US" sz="2400" b="1" spc="-1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without</a:t>
            </a:r>
            <a:r>
              <a:rPr lang="en-US" sz="2400" b="1"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compromise.</a:t>
            </a:r>
            <a:r>
              <a:rPr lang="en-US" sz="2400" b="1"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Resources</a:t>
            </a:r>
            <a:r>
              <a:rPr lang="en-US" sz="2400" b="1"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2400" b="1"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used</a:t>
            </a:r>
            <a:r>
              <a:rPr lang="en-US" sz="2400" b="1"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b="1"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go</a:t>
            </a:r>
            <a:r>
              <a:rPr lang="en-US" sz="2400" b="1"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US" sz="2400" b="1"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b="1"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contradiction</a:t>
            </a:r>
            <a:r>
              <a:rPr lang="en-US" sz="2400" b="1"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b="1"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as </a:t>
            </a:r>
            <a:r>
              <a:rPr lang="en-US" sz="2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perfect</a:t>
            </a:r>
            <a:r>
              <a:rPr lang="en-US" sz="2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2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solution</a:t>
            </a:r>
            <a:r>
              <a:rPr lang="en-US" sz="2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US" sz="2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possible.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09550" marR="234315" indent="0" algn="just">
              <a:lnSpc>
                <a:spcPct val="107000"/>
              </a:lnSpc>
              <a:spcAft>
                <a:spcPts val="0"/>
              </a:spcAft>
              <a:buNone/>
            </a:pPr>
            <a:endParaRPr lang="en-IN" sz="2400" dirty="0">
              <a:effectLst/>
              <a:latin typeface="Times New Roman" panose="02020603050405020304" pitchFamily="18" charset="0"/>
              <a:ea typeface="Times New Roman" panose="02020603050405020304" pitchFamily="18" charset="0"/>
            </a:endParaRPr>
          </a:p>
          <a:p>
            <a:pPr marL="0" indent="0">
              <a:buNone/>
            </a:pPr>
            <a:endParaRPr lang="en-IN" sz="1800" dirty="0">
              <a:effectLst/>
              <a:latin typeface="Times New Roman" panose="02020603050405020304" pitchFamily="18" charset="0"/>
              <a:ea typeface="Times New Roman" panose="02020603050405020304" pitchFamily="18" charset="0"/>
            </a:endParaRPr>
          </a:p>
        </p:txBody>
      </p:sp>
      <p:grpSp>
        <p:nvGrpSpPr>
          <p:cNvPr id="4" name="Group 3">
            <a:extLst>
              <a:ext uri="{FF2B5EF4-FFF2-40B4-BE49-F238E27FC236}">
                <a16:creationId xmlns:a16="http://schemas.microsoft.com/office/drawing/2014/main" id="{37A40DF5-7C53-EA43-3670-E43961831CA6}"/>
              </a:ext>
            </a:extLst>
          </p:cNvPr>
          <p:cNvGrpSpPr>
            <a:grpSpLocks/>
          </p:cNvGrpSpPr>
          <p:nvPr/>
        </p:nvGrpSpPr>
        <p:grpSpPr>
          <a:xfrm>
            <a:off x="3224981" y="4591665"/>
            <a:ext cx="5515896" cy="1995948"/>
            <a:chOff x="0" y="0"/>
            <a:chExt cx="4267200" cy="1697529"/>
          </a:xfrm>
        </p:grpSpPr>
        <p:pic>
          <p:nvPicPr>
            <p:cNvPr id="5" name="Image 71">
              <a:extLst>
                <a:ext uri="{FF2B5EF4-FFF2-40B4-BE49-F238E27FC236}">
                  <a16:creationId xmlns:a16="http://schemas.microsoft.com/office/drawing/2014/main" id="{EE725254-21A0-D39E-B051-89505560D46D}"/>
                </a:ext>
              </a:extLst>
            </p:cNvPr>
            <p:cNvPicPr/>
            <p:nvPr/>
          </p:nvPicPr>
          <p:blipFill>
            <a:blip r:embed="rId2" cstate="print"/>
            <a:stretch>
              <a:fillRect/>
            </a:stretch>
          </p:blipFill>
          <p:spPr>
            <a:xfrm>
              <a:off x="762000" y="0"/>
              <a:ext cx="2743200" cy="1645916"/>
            </a:xfrm>
            <a:prstGeom prst="rect">
              <a:avLst/>
            </a:prstGeom>
          </p:spPr>
        </p:pic>
        <p:sp>
          <p:nvSpPr>
            <p:cNvPr id="6" name="Graphic 72">
              <a:extLst>
                <a:ext uri="{FF2B5EF4-FFF2-40B4-BE49-F238E27FC236}">
                  <a16:creationId xmlns:a16="http://schemas.microsoft.com/office/drawing/2014/main" id="{34039707-50A0-5955-3356-4176DEF0BE5E}"/>
                </a:ext>
              </a:extLst>
            </p:cNvPr>
            <p:cNvSpPr/>
            <p:nvPr/>
          </p:nvSpPr>
          <p:spPr>
            <a:xfrm>
              <a:off x="0" y="1696259"/>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Tree>
    <p:extLst>
      <p:ext uri="{BB962C8B-B14F-4D97-AF65-F5344CB8AC3E}">
        <p14:creationId xmlns:p14="http://schemas.microsoft.com/office/powerpoint/2010/main" val="19038217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BDF77-83DF-4B42-C60F-A941710F176C}"/>
              </a:ext>
            </a:extLst>
          </p:cNvPr>
          <p:cNvSpPr>
            <a:spLocks noGrp="1"/>
          </p:cNvSpPr>
          <p:nvPr>
            <p:ph type="title"/>
          </p:nvPr>
        </p:nvSpPr>
        <p:spPr>
          <a:xfrm>
            <a:off x="838200" y="365126"/>
            <a:ext cx="10515600" cy="667262"/>
          </a:xfrm>
        </p:spPr>
        <p:txBody>
          <a:bodyPr>
            <a:normAutofit/>
          </a:bodyPr>
          <a:lstStyle/>
          <a:p>
            <a:pPr algn="ctr"/>
            <a:r>
              <a:rPr lang="en-IN" sz="3200" b="1" dirty="0">
                <a:latin typeface="Times New Roman" panose="02020603050405020304" pitchFamily="18" charset="0"/>
                <a:cs typeface="Times New Roman" panose="02020603050405020304" pitchFamily="18" charset="0"/>
              </a:rPr>
              <a:t>PATTERNS OF EVOLUTION</a:t>
            </a:r>
          </a:p>
        </p:txBody>
      </p:sp>
      <p:sp>
        <p:nvSpPr>
          <p:cNvPr id="3" name="Content Placeholder 2">
            <a:extLst>
              <a:ext uri="{FF2B5EF4-FFF2-40B4-BE49-F238E27FC236}">
                <a16:creationId xmlns:a16="http://schemas.microsoft.com/office/drawing/2014/main" id="{DF321DD6-DBEA-F25D-C831-5E364392F4ED}"/>
              </a:ext>
            </a:extLst>
          </p:cNvPr>
          <p:cNvSpPr>
            <a:spLocks noGrp="1"/>
          </p:cNvSpPr>
          <p:nvPr>
            <p:ph idx="1"/>
          </p:nvPr>
        </p:nvSpPr>
        <p:spPr>
          <a:xfrm>
            <a:off x="838200" y="1032388"/>
            <a:ext cx="10515600" cy="5460486"/>
          </a:xfrm>
        </p:spPr>
        <p:txBody>
          <a:bodyPr/>
          <a:lstStyle/>
          <a:p>
            <a:pPr algn="just"/>
            <a:r>
              <a:rPr lang="en-US" sz="24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 patterns of evolution have multiple uses: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they support the tools </a:t>
            </a:r>
            <a:r>
              <a:rPr lang="en-US" sz="2400"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for problem solving, help to get solutions directly,</a:t>
            </a:r>
            <a:r>
              <a:rPr lang="en-US" sz="24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and can be used for the pre</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diction</a:t>
            </a:r>
            <a:r>
              <a:rPr lang="en-US" sz="24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future</a:t>
            </a:r>
            <a:r>
              <a:rPr lang="en-US" sz="24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features</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technology.</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grpSp>
        <p:nvGrpSpPr>
          <p:cNvPr id="4" name="Group 3">
            <a:extLst>
              <a:ext uri="{FF2B5EF4-FFF2-40B4-BE49-F238E27FC236}">
                <a16:creationId xmlns:a16="http://schemas.microsoft.com/office/drawing/2014/main" id="{16A111CD-B8F4-6318-DDFC-2E3EEE93F5A4}"/>
              </a:ext>
            </a:extLst>
          </p:cNvPr>
          <p:cNvGrpSpPr>
            <a:grpSpLocks/>
          </p:cNvGrpSpPr>
          <p:nvPr/>
        </p:nvGrpSpPr>
        <p:grpSpPr>
          <a:xfrm>
            <a:off x="3175819" y="2616283"/>
            <a:ext cx="6135329" cy="3764851"/>
            <a:chOff x="0" y="0"/>
            <a:chExt cx="4267200" cy="3209328"/>
          </a:xfrm>
        </p:grpSpPr>
        <p:pic>
          <p:nvPicPr>
            <p:cNvPr id="5" name="Image 77">
              <a:extLst>
                <a:ext uri="{FF2B5EF4-FFF2-40B4-BE49-F238E27FC236}">
                  <a16:creationId xmlns:a16="http://schemas.microsoft.com/office/drawing/2014/main" id="{6661B1C9-DCE4-7826-BAB2-B2B3E8961881}"/>
                </a:ext>
              </a:extLst>
            </p:cNvPr>
            <p:cNvPicPr/>
            <p:nvPr/>
          </p:nvPicPr>
          <p:blipFill>
            <a:blip r:embed="rId2" cstate="print"/>
            <a:stretch>
              <a:fillRect/>
            </a:stretch>
          </p:blipFill>
          <p:spPr>
            <a:xfrm>
              <a:off x="304800" y="0"/>
              <a:ext cx="3657599" cy="3157727"/>
            </a:xfrm>
            <a:prstGeom prst="rect">
              <a:avLst/>
            </a:prstGeom>
          </p:spPr>
        </p:pic>
        <p:sp>
          <p:nvSpPr>
            <p:cNvPr id="6" name="Graphic 78">
              <a:extLst>
                <a:ext uri="{FF2B5EF4-FFF2-40B4-BE49-F238E27FC236}">
                  <a16:creationId xmlns:a16="http://schemas.microsoft.com/office/drawing/2014/main" id="{1C0C7592-FD91-EC00-241A-2D5A3E23ECE5}"/>
                </a:ext>
              </a:extLst>
            </p:cNvPr>
            <p:cNvSpPr/>
            <p:nvPr/>
          </p:nvSpPr>
          <p:spPr>
            <a:xfrm>
              <a:off x="0" y="320805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Tree>
    <p:extLst>
      <p:ext uri="{BB962C8B-B14F-4D97-AF65-F5344CB8AC3E}">
        <p14:creationId xmlns:p14="http://schemas.microsoft.com/office/powerpoint/2010/main" val="4203073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3782-92C2-3881-17FE-C61D4E722809}"/>
              </a:ext>
            </a:extLst>
          </p:cNvPr>
          <p:cNvSpPr>
            <a:spLocks noGrp="1"/>
          </p:cNvSpPr>
          <p:nvPr>
            <p:ph type="title"/>
          </p:nvPr>
        </p:nvSpPr>
        <p:spPr>
          <a:xfrm>
            <a:off x="838200" y="365126"/>
            <a:ext cx="10515600" cy="588604"/>
          </a:xfrm>
        </p:spPr>
        <p:txBody>
          <a:bodyPr>
            <a:normAutofit/>
          </a:bodyPr>
          <a:lstStyle/>
          <a:p>
            <a:pPr algn="ctr"/>
            <a:r>
              <a:rPr lang="en-IN" sz="3200" b="1" dirty="0">
                <a:latin typeface="Times New Roman" panose="02020603050405020304" pitchFamily="18" charset="0"/>
                <a:cs typeface="Times New Roman" panose="02020603050405020304" pitchFamily="18" charset="0"/>
              </a:rPr>
              <a:t>INNOVATIVE PRINCIPLES</a:t>
            </a:r>
          </a:p>
        </p:txBody>
      </p:sp>
      <p:sp>
        <p:nvSpPr>
          <p:cNvPr id="3" name="Content Placeholder 2">
            <a:extLst>
              <a:ext uri="{FF2B5EF4-FFF2-40B4-BE49-F238E27FC236}">
                <a16:creationId xmlns:a16="http://schemas.microsoft.com/office/drawing/2014/main" id="{BCB8F8C3-84D5-AB32-66DA-5471FC81C190}"/>
              </a:ext>
            </a:extLst>
          </p:cNvPr>
          <p:cNvSpPr>
            <a:spLocks noGrp="1"/>
          </p:cNvSpPr>
          <p:nvPr>
            <p:ph idx="1"/>
          </p:nvPr>
        </p:nvSpPr>
        <p:spPr>
          <a:xfrm>
            <a:off x="838200" y="953730"/>
            <a:ext cx="10515600" cy="5539144"/>
          </a:xfrm>
        </p:spPr>
        <p:txBody>
          <a:bodyPr/>
          <a:lstStyle/>
          <a:p>
            <a:pPr algn="just"/>
            <a:r>
              <a:rPr lang="en-US" sz="24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Forty</a:t>
            </a:r>
            <a:r>
              <a:rPr lang="en-US" sz="24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innovative</a:t>
            </a:r>
            <a:r>
              <a:rPr lang="en-US" sz="24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principles</a:t>
            </a:r>
            <a:r>
              <a:rPr lang="en-US" sz="24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give</a:t>
            </a:r>
            <a:r>
              <a:rPr lang="en-US" sz="2400" spc="-4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400" spc="-3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l</a:t>
            </a:r>
            <a:r>
              <a:rPr lang="en-US" sz="2400"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ues</a:t>
            </a:r>
            <a:r>
              <a:rPr lang="en-US" sz="2400"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4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finding</a:t>
            </a:r>
            <a:r>
              <a:rPr lang="en-US" sz="2400" spc="-4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ideas.</a:t>
            </a:r>
            <a:r>
              <a:rPr lang="en-US" sz="24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They</a:t>
            </a:r>
            <a:r>
              <a:rPr lang="en-US" sz="24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z="24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used</a:t>
            </a:r>
            <a:r>
              <a:rPr lang="en-US" sz="24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both</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independent</a:t>
            </a:r>
            <a:r>
              <a:rPr lang="en-US" sz="24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tools</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support</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other</a:t>
            </a:r>
            <a:r>
              <a:rPr lang="en-US" sz="24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methods.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grpSp>
        <p:nvGrpSpPr>
          <p:cNvPr id="4" name="Group 3">
            <a:extLst>
              <a:ext uri="{FF2B5EF4-FFF2-40B4-BE49-F238E27FC236}">
                <a16:creationId xmlns:a16="http://schemas.microsoft.com/office/drawing/2014/main" id="{5637B6BA-952E-5876-7754-8FC46B4984CE}"/>
              </a:ext>
            </a:extLst>
          </p:cNvPr>
          <p:cNvGrpSpPr>
            <a:grpSpLocks/>
          </p:cNvGrpSpPr>
          <p:nvPr/>
        </p:nvGrpSpPr>
        <p:grpSpPr>
          <a:xfrm>
            <a:off x="3185652" y="2204321"/>
            <a:ext cx="6037006" cy="4176814"/>
            <a:chOff x="0" y="0"/>
            <a:chExt cx="4267200" cy="3204756"/>
          </a:xfrm>
        </p:grpSpPr>
        <p:pic>
          <p:nvPicPr>
            <p:cNvPr id="5" name="Image 80">
              <a:extLst>
                <a:ext uri="{FF2B5EF4-FFF2-40B4-BE49-F238E27FC236}">
                  <a16:creationId xmlns:a16="http://schemas.microsoft.com/office/drawing/2014/main" id="{A5F84647-0734-6D83-3D8A-00970C2FDF27}"/>
                </a:ext>
              </a:extLst>
            </p:cNvPr>
            <p:cNvPicPr/>
            <p:nvPr/>
          </p:nvPicPr>
          <p:blipFill>
            <a:blip r:embed="rId2" cstate="print"/>
            <a:stretch>
              <a:fillRect/>
            </a:stretch>
          </p:blipFill>
          <p:spPr>
            <a:xfrm>
              <a:off x="304800" y="0"/>
              <a:ext cx="3657600" cy="3153155"/>
            </a:xfrm>
            <a:prstGeom prst="rect">
              <a:avLst/>
            </a:prstGeom>
          </p:spPr>
        </p:pic>
        <p:sp>
          <p:nvSpPr>
            <p:cNvPr id="6" name="Graphic 81">
              <a:extLst>
                <a:ext uri="{FF2B5EF4-FFF2-40B4-BE49-F238E27FC236}">
                  <a16:creationId xmlns:a16="http://schemas.microsoft.com/office/drawing/2014/main" id="{389F00E1-B642-17F3-52A5-D3910F980ACC}"/>
                </a:ext>
              </a:extLst>
            </p:cNvPr>
            <p:cNvSpPr/>
            <p:nvPr/>
          </p:nvSpPr>
          <p:spPr>
            <a:xfrm>
              <a:off x="0" y="3203486"/>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Tree>
    <p:extLst>
      <p:ext uri="{BB962C8B-B14F-4D97-AF65-F5344CB8AC3E}">
        <p14:creationId xmlns:p14="http://schemas.microsoft.com/office/powerpoint/2010/main" val="1132276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5492690-EF53-AA40-364E-E84D9E16B060}"/>
              </a:ext>
            </a:extLst>
          </p:cNvPr>
          <p:cNvGrpSpPr>
            <a:grpSpLocks/>
          </p:cNvGrpSpPr>
          <p:nvPr/>
        </p:nvGrpSpPr>
        <p:grpSpPr>
          <a:xfrm>
            <a:off x="2546554" y="1219200"/>
            <a:ext cx="7708491" cy="4965290"/>
            <a:chOff x="0" y="0"/>
            <a:chExt cx="4267200" cy="3197136"/>
          </a:xfrm>
        </p:grpSpPr>
        <p:pic>
          <p:nvPicPr>
            <p:cNvPr id="5" name="Image 101">
              <a:extLst>
                <a:ext uri="{FF2B5EF4-FFF2-40B4-BE49-F238E27FC236}">
                  <a16:creationId xmlns:a16="http://schemas.microsoft.com/office/drawing/2014/main" id="{2D8A43F1-9DC7-00A6-B906-6518E88099D6}"/>
                </a:ext>
              </a:extLst>
            </p:cNvPr>
            <p:cNvPicPr/>
            <p:nvPr/>
          </p:nvPicPr>
          <p:blipFill>
            <a:blip r:embed="rId2" cstate="print"/>
            <a:stretch>
              <a:fillRect/>
            </a:stretch>
          </p:blipFill>
          <p:spPr>
            <a:xfrm>
              <a:off x="19811" y="0"/>
              <a:ext cx="4227575" cy="3145535"/>
            </a:xfrm>
            <a:prstGeom prst="rect">
              <a:avLst/>
            </a:prstGeom>
          </p:spPr>
        </p:pic>
        <p:sp>
          <p:nvSpPr>
            <p:cNvPr id="6" name="Graphic 102">
              <a:extLst>
                <a:ext uri="{FF2B5EF4-FFF2-40B4-BE49-F238E27FC236}">
                  <a16:creationId xmlns:a16="http://schemas.microsoft.com/office/drawing/2014/main" id="{F9DDB4FB-403E-97A9-400F-A999CC51985C}"/>
                </a:ext>
              </a:extLst>
            </p:cNvPr>
            <p:cNvSpPr/>
            <p:nvPr/>
          </p:nvSpPr>
          <p:spPr>
            <a:xfrm>
              <a:off x="0" y="3195866"/>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3" name="TextBox 2">
            <a:extLst>
              <a:ext uri="{FF2B5EF4-FFF2-40B4-BE49-F238E27FC236}">
                <a16:creationId xmlns:a16="http://schemas.microsoft.com/office/drawing/2014/main" id="{ED9B9FB3-19C7-2E0E-821C-6871AD8E47A1}"/>
              </a:ext>
            </a:extLst>
          </p:cNvPr>
          <p:cNvSpPr txBox="1"/>
          <p:nvPr/>
        </p:nvSpPr>
        <p:spPr>
          <a:xfrm>
            <a:off x="3177208" y="291984"/>
            <a:ext cx="6096000"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CONTRADICTION</a:t>
            </a:r>
            <a:endParaRPr lang="en-IN" sz="2400" dirty="0"/>
          </a:p>
        </p:txBody>
      </p:sp>
    </p:spTree>
    <p:extLst>
      <p:ext uri="{BB962C8B-B14F-4D97-AF65-F5344CB8AC3E}">
        <p14:creationId xmlns:p14="http://schemas.microsoft.com/office/powerpoint/2010/main" val="1982322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FCAB2D-6C4F-C59C-4F7E-8D676FC8E4E9}"/>
              </a:ext>
            </a:extLst>
          </p:cNvPr>
          <p:cNvSpPr txBox="1"/>
          <p:nvPr/>
        </p:nvSpPr>
        <p:spPr>
          <a:xfrm>
            <a:off x="343111" y="864577"/>
            <a:ext cx="10991744" cy="369332"/>
          </a:xfrm>
          <a:prstGeom prst="rect">
            <a:avLst/>
          </a:prstGeom>
          <a:noFill/>
        </p:spPr>
        <p:txBody>
          <a:bodyPr wrap="square">
            <a:spAutoFit/>
          </a:bodyPr>
          <a:lstStyle/>
          <a:p>
            <a:r>
              <a:rPr lang="en-US" spc="-10" dirty="0">
                <a:solidFill>
                  <a:srgbClr val="231F20"/>
                </a:solidFill>
                <a:latin typeface="Times New Roman" panose="02020603050405020304" pitchFamily="18" charset="0"/>
                <a:ea typeface="Times New Roman" panose="02020603050405020304" pitchFamily="18" charset="0"/>
              </a:rPr>
              <a:t>C</a:t>
            </a:r>
            <a:r>
              <a:rPr lang="en-US" sz="1800" spc="-10" dirty="0">
                <a:solidFill>
                  <a:srgbClr val="231F20"/>
                </a:solidFill>
                <a:effectLst/>
                <a:latin typeface="Times New Roman" panose="02020603050405020304" pitchFamily="18" charset="0"/>
                <a:ea typeface="Times New Roman" panose="02020603050405020304" pitchFamily="18" charset="0"/>
              </a:rPr>
              <a:t>ontradictions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core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of</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the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most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challenging</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problems</a:t>
            </a:r>
            <a:endParaRPr lang="en-IN" dirty="0">
              <a:solidFill>
                <a:srgbClr val="FF0000"/>
              </a:solidFill>
            </a:endParaRPr>
          </a:p>
        </p:txBody>
      </p:sp>
      <p:sp>
        <p:nvSpPr>
          <p:cNvPr id="5" name="TextBox 4">
            <a:extLst>
              <a:ext uri="{FF2B5EF4-FFF2-40B4-BE49-F238E27FC236}">
                <a16:creationId xmlns:a16="http://schemas.microsoft.com/office/drawing/2014/main" id="{7F412515-5428-A9D9-AEF6-73C7C75DE317}"/>
              </a:ext>
            </a:extLst>
          </p:cNvPr>
          <p:cNvSpPr txBox="1"/>
          <p:nvPr/>
        </p:nvSpPr>
        <p:spPr>
          <a:xfrm>
            <a:off x="335016" y="1771470"/>
            <a:ext cx="10490050" cy="369332"/>
          </a:xfrm>
          <a:prstGeom prst="rect">
            <a:avLst/>
          </a:prstGeom>
          <a:noFill/>
        </p:spPr>
        <p:txBody>
          <a:bodyPr wrap="square">
            <a:spAutoFit/>
          </a:bodyPr>
          <a:lstStyle/>
          <a:p>
            <a:r>
              <a:rPr lang="en-US" spc="-30" dirty="0">
                <a:solidFill>
                  <a:srgbClr val="231F20"/>
                </a:solidFill>
                <a:latin typeface="Times New Roman" panose="02020603050405020304" pitchFamily="18" charset="0"/>
                <a:ea typeface="Times New Roman" panose="02020603050405020304" pitchFamily="18" charset="0"/>
              </a:rPr>
              <a:t>W</a:t>
            </a:r>
            <a:r>
              <a:rPr lang="en-US" sz="1800" spc="-30" dirty="0">
                <a:solidFill>
                  <a:srgbClr val="231F20"/>
                </a:solidFill>
                <a:effectLst/>
                <a:latin typeface="Times New Roman" panose="02020603050405020304" pitchFamily="18" charset="0"/>
                <a:ea typeface="Times New Roman" panose="02020603050405020304" pitchFamily="18" charset="0"/>
              </a:rPr>
              <a:t>e </a:t>
            </a:r>
            <a:r>
              <a:rPr lang="en-US" sz="1800" spc="-30" dirty="0">
                <a:solidFill>
                  <a:srgbClr val="FF0000"/>
                </a:solidFill>
                <a:effectLst/>
                <a:latin typeface="Times New Roman" panose="02020603050405020304" pitchFamily="18" charset="0"/>
                <a:ea typeface="Times New Roman" panose="02020603050405020304" pitchFamily="18" charset="0"/>
              </a:rPr>
              <a:t>analyze the </a:t>
            </a:r>
            <a:r>
              <a:rPr lang="en-US" sz="1800" spc="-40" dirty="0">
                <a:solidFill>
                  <a:srgbClr val="FF0000"/>
                </a:solidFill>
                <a:effectLst/>
                <a:latin typeface="Times New Roman" panose="02020603050405020304" pitchFamily="18" charset="0"/>
                <a:ea typeface="Times New Roman" panose="02020603050405020304" pitchFamily="18" charset="0"/>
              </a:rPr>
              <a:t>conflict</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40" dirty="0">
                <a:solidFill>
                  <a:srgbClr val="FF0000"/>
                </a:solidFill>
                <a:effectLst/>
                <a:latin typeface="Times New Roman" panose="02020603050405020304" pitchFamily="18" charset="0"/>
                <a:ea typeface="Times New Roman" panose="02020603050405020304" pitchFamily="18" charset="0"/>
              </a:rPr>
              <a:t>between</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40" dirty="0">
                <a:solidFill>
                  <a:srgbClr val="FF0000"/>
                </a:solidFill>
                <a:effectLst/>
                <a:latin typeface="Times New Roman" panose="02020603050405020304" pitchFamily="18" charset="0"/>
                <a:ea typeface="Times New Roman" panose="02020603050405020304" pitchFamily="18" charset="0"/>
              </a:rPr>
              <a:t>two</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40" dirty="0">
                <a:solidFill>
                  <a:srgbClr val="FF0000"/>
                </a:solidFill>
                <a:effectLst/>
                <a:latin typeface="Times New Roman" panose="02020603050405020304" pitchFamily="18" charset="0"/>
                <a:ea typeface="Times New Roman" panose="02020603050405020304" pitchFamily="18" charset="0"/>
              </a:rPr>
              <a:t>features</a:t>
            </a:r>
            <a:r>
              <a:rPr lang="en-US" sz="1800" spc="-40" dirty="0">
                <a:solidFill>
                  <a:srgbClr val="231F20"/>
                </a:solidFill>
                <a:effectLst/>
                <a:latin typeface="Times New Roman" panose="02020603050405020304" pitchFamily="18" charset="0"/>
                <a:ea typeface="Times New Roman" panose="02020603050405020304" pitchFamily="18" charset="0"/>
              </a:rPr>
              <a:t>.</a:t>
            </a:r>
            <a:r>
              <a:rPr lang="en-US" sz="1800" spc="-25" dirty="0">
                <a:solidFill>
                  <a:srgbClr val="231F20"/>
                </a:solidFill>
                <a:effectLst/>
                <a:latin typeface="Times New Roman" panose="02020603050405020304" pitchFamily="18" charset="0"/>
                <a:ea typeface="Times New Roman" panose="02020603050405020304" pitchFamily="18" charset="0"/>
              </a:rPr>
              <a:t> </a:t>
            </a:r>
            <a:endParaRPr lang="en-IN" dirty="0"/>
          </a:p>
        </p:txBody>
      </p:sp>
      <p:sp>
        <p:nvSpPr>
          <p:cNvPr id="7" name="TextBox 6">
            <a:extLst>
              <a:ext uri="{FF2B5EF4-FFF2-40B4-BE49-F238E27FC236}">
                <a16:creationId xmlns:a16="http://schemas.microsoft.com/office/drawing/2014/main" id="{2D19F517-2871-17FA-8E57-35997406E3DF}"/>
              </a:ext>
            </a:extLst>
          </p:cNvPr>
          <p:cNvSpPr txBox="1"/>
          <p:nvPr/>
        </p:nvSpPr>
        <p:spPr>
          <a:xfrm>
            <a:off x="335017" y="2698184"/>
            <a:ext cx="11168724" cy="646331"/>
          </a:xfrm>
          <a:prstGeom prst="rect">
            <a:avLst/>
          </a:prstGeom>
          <a:noFill/>
        </p:spPr>
        <p:txBody>
          <a:bodyPr wrap="square">
            <a:spAutoFit/>
          </a:bodyPr>
          <a:lstStyle/>
          <a:p>
            <a:pPr algn="just"/>
            <a:r>
              <a:rPr lang="en-US" sz="1800" spc="-40" dirty="0">
                <a:solidFill>
                  <a:srgbClr val="231F20"/>
                </a:solidFill>
                <a:effectLst/>
                <a:latin typeface="Times New Roman" panose="02020603050405020304" pitchFamily="18" charset="0"/>
                <a:ea typeface="Times New Roman" panose="02020603050405020304" pitchFamily="18" charset="0"/>
              </a:rPr>
              <a:t>These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are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frequently</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called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“tradeoffs”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because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b="1" spc="-4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1800" b="1"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b="1" spc="-40" dirty="0">
                <a:solidFill>
                  <a:schemeClr val="accent1">
                    <a:lumMod val="75000"/>
                  </a:schemeClr>
                </a:solidFill>
                <a:effectLst/>
                <a:latin typeface="Times New Roman" panose="02020603050405020304" pitchFamily="18" charset="0"/>
                <a:ea typeface="Times New Roman" panose="02020603050405020304" pitchFamily="18" charset="0"/>
              </a:rPr>
              <a:t>prob</a:t>
            </a:r>
            <a:r>
              <a:rPr lang="en-US" sz="1800" b="1" spc="-30" dirty="0">
                <a:solidFill>
                  <a:schemeClr val="accent1">
                    <a:lumMod val="75000"/>
                  </a:schemeClr>
                </a:solidFill>
                <a:effectLst/>
                <a:latin typeface="Times New Roman" panose="02020603050405020304" pitchFamily="18" charset="0"/>
                <a:ea typeface="Times New Roman" panose="02020603050405020304" pitchFamily="18" charset="0"/>
              </a:rPr>
              <a:t>lem solver trades improvement of one feature against decline in another feature</a:t>
            </a:r>
            <a:r>
              <a:rPr lang="en-US" sz="1800" spc="-3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in the </a:t>
            </a:r>
            <a:r>
              <a:rPr lang="en-US" sz="1800" spc="-50" dirty="0">
                <a:solidFill>
                  <a:srgbClr val="231F20"/>
                </a:solidFill>
                <a:effectLst/>
                <a:latin typeface="Times New Roman" panose="02020603050405020304" pitchFamily="18" charset="0"/>
                <a:ea typeface="Times New Roman" panose="02020603050405020304" pitchFamily="18" charset="0"/>
              </a:rPr>
              <a:t>hope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50" dirty="0">
                <a:solidFill>
                  <a:srgbClr val="231F20"/>
                </a:solidFill>
                <a:effectLst/>
                <a:latin typeface="Times New Roman" panose="02020603050405020304" pitchFamily="18" charset="0"/>
                <a:ea typeface="Times New Roman" panose="02020603050405020304" pitchFamily="18" charset="0"/>
              </a:rPr>
              <a:t>of</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50" dirty="0">
                <a:solidFill>
                  <a:srgbClr val="231F20"/>
                </a:solidFill>
                <a:effectLst/>
                <a:latin typeface="Times New Roman" panose="02020603050405020304" pitchFamily="18" charset="0"/>
                <a:ea typeface="Times New Roman" panose="02020603050405020304" pitchFamily="18" charset="0"/>
              </a:rPr>
              <a:t>finding</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50" dirty="0">
                <a:solidFill>
                  <a:srgbClr val="231F20"/>
                </a:solidFill>
                <a:effectLst/>
                <a:latin typeface="Times New Roman" panose="02020603050405020304" pitchFamily="18" charset="0"/>
                <a:ea typeface="Times New Roman" panose="02020603050405020304" pitchFamily="18" charset="0"/>
              </a:rPr>
              <a:t>a</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50" dirty="0">
                <a:solidFill>
                  <a:srgbClr val="231F20"/>
                </a:solidFill>
                <a:effectLst/>
                <a:latin typeface="Times New Roman" panose="02020603050405020304" pitchFamily="18" charset="0"/>
                <a:ea typeface="Times New Roman" panose="02020603050405020304" pitchFamily="18" charset="0"/>
              </a:rPr>
              <a:t>solution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50" dirty="0">
                <a:solidFill>
                  <a:srgbClr val="231F20"/>
                </a:solidFill>
                <a:effectLst/>
                <a:latin typeface="Times New Roman" panose="02020603050405020304" pitchFamily="18" charset="0"/>
                <a:ea typeface="Times New Roman" panose="02020603050405020304" pitchFamily="18" charset="0"/>
              </a:rPr>
              <a:t>to</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50" dirty="0">
                <a:solidFill>
                  <a:srgbClr val="231F20"/>
                </a:solidFill>
                <a:effectLst/>
                <a:latin typeface="Times New Roman" panose="02020603050405020304" pitchFamily="18" charset="0"/>
                <a:ea typeface="Times New Roman" panose="02020603050405020304" pitchFamily="18" charset="0"/>
              </a:rPr>
              <a:t>the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50" dirty="0">
                <a:solidFill>
                  <a:srgbClr val="231F20"/>
                </a:solidFill>
                <a:effectLst/>
                <a:latin typeface="Times New Roman" panose="02020603050405020304" pitchFamily="18" charset="0"/>
                <a:ea typeface="Times New Roman" panose="02020603050405020304" pitchFamily="18" charset="0"/>
              </a:rPr>
              <a:t>problem.</a:t>
            </a:r>
            <a:r>
              <a:rPr lang="en-US" sz="1800" spc="-15" dirty="0">
                <a:solidFill>
                  <a:srgbClr val="231F20"/>
                </a:solidFill>
                <a:effectLst/>
                <a:latin typeface="Times New Roman" panose="02020603050405020304" pitchFamily="18" charset="0"/>
                <a:ea typeface="Times New Roman" panose="02020603050405020304" pitchFamily="18" charset="0"/>
              </a:rPr>
              <a:t> </a:t>
            </a:r>
            <a:endParaRPr lang="en-IN" dirty="0"/>
          </a:p>
        </p:txBody>
      </p: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9E837832-6A02-B5A5-EC27-A11CC7942088}"/>
                  </a:ext>
                </a:extLst>
              </p14:cNvPr>
              <p14:cNvContentPartPr/>
              <p14:nvPr/>
            </p14:nvContentPartPr>
            <p14:xfrm>
              <a:off x="6941497" y="5624148"/>
              <a:ext cx="10080" cy="360"/>
            </p14:xfrm>
          </p:contentPart>
        </mc:Choice>
        <mc:Fallback xmlns="">
          <p:pic>
            <p:nvPicPr>
              <p:cNvPr id="16" name="Ink 15">
                <a:extLst>
                  <a:ext uri="{FF2B5EF4-FFF2-40B4-BE49-F238E27FC236}">
                    <a16:creationId xmlns:a16="http://schemas.microsoft.com/office/drawing/2014/main" id="{9E837832-6A02-B5A5-EC27-A11CC7942088}"/>
                  </a:ext>
                </a:extLst>
              </p:cNvPr>
              <p:cNvPicPr/>
              <p:nvPr/>
            </p:nvPicPr>
            <p:blipFill>
              <a:blip r:embed="rId3"/>
              <a:stretch>
                <a:fillRect/>
              </a:stretch>
            </p:blipFill>
            <p:spPr>
              <a:xfrm>
                <a:off x="6935377" y="5618028"/>
                <a:ext cx="223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7770D7F2-E317-C71F-92C7-CD2308776A06}"/>
                  </a:ext>
                </a:extLst>
              </p14:cNvPr>
              <p14:cNvContentPartPr/>
              <p14:nvPr/>
            </p14:nvContentPartPr>
            <p14:xfrm>
              <a:off x="6331657" y="3560628"/>
              <a:ext cx="198720" cy="282960"/>
            </p14:xfrm>
          </p:contentPart>
        </mc:Choice>
        <mc:Fallback xmlns="">
          <p:pic>
            <p:nvPicPr>
              <p:cNvPr id="18" name="Ink 17">
                <a:extLst>
                  <a:ext uri="{FF2B5EF4-FFF2-40B4-BE49-F238E27FC236}">
                    <a16:creationId xmlns:a16="http://schemas.microsoft.com/office/drawing/2014/main" id="{7770D7F2-E317-C71F-92C7-CD2308776A06}"/>
                  </a:ext>
                </a:extLst>
              </p:cNvPr>
              <p:cNvPicPr/>
              <p:nvPr/>
            </p:nvPicPr>
            <p:blipFill>
              <a:blip r:embed="rId5"/>
              <a:stretch>
                <a:fillRect/>
              </a:stretch>
            </p:blipFill>
            <p:spPr>
              <a:xfrm>
                <a:off x="6268657" y="3497628"/>
                <a:ext cx="324360" cy="408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87F39C0D-C96F-1E14-850A-D89D63A56CB9}"/>
                  </a:ext>
                </a:extLst>
              </p14:cNvPr>
              <p14:cNvContentPartPr/>
              <p14:nvPr/>
            </p14:nvContentPartPr>
            <p14:xfrm>
              <a:off x="10392817" y="2526708"/>
              <a:ext cx="360" cy="360"/>
            </p14:xfrm>
          </p:contentPart>
        </mc:Choice>
        <mc:Fallback xmlns="">
          <p:pic>
            <p:nvPicPr>
              <p:cNvPr id="19" name="Ink 18">
                <a:extLst>
                  <a:ext uri="{FF2B5EF4-FFF2-40B4-BE49-F238E27FC236}">
                    <a16:creationId xmlns:a16="http://schemas.microsoft.com/office/drawing/2014/main" id="{87F39C0D-C96F-1E14-850A-D89D63A56CB9}"/>
                  </a:ext>
                </a:extLst>
              </p:cNvPr>
              <p:cNvPicPr/>
              <p:nvPr/>
            </p:nvPicPr>
            <p:blipFill>
              <a:blip r:embed="rId7"/>
              <a:stretch>
                <a:fillRect/>
              </a:stretch>
            </p:blipFill>
            <p:spPr>
              <a:xfrm>
                <a:off x="10329817" y="246406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F6696ED9-00EA-2B4D-3B34-9757502290E5}"/>
                  </a:ext>
                </a:extLst>
              </p14:cNvPr>
              <p14:cNvContentPartPr/>
              <p14:nvPr/>
            </p14:nvContentPartPr>
            <p14:xfrm>
              <a:off x="2143417" y="4414548"/>
              <a:ext cx="360" cy="360"/>
            </p14:xfrm>
          </p:contentPart>
        </mc:Choice>
        <mc:Fallback xmlns="">
          <p:pic>
            <p:nvPicPr>
              <p:cNvPr id="20" name="Ink 19">
                <a:extLst>
                  <a:ext uri="{FF2B5EF4-FFF2-40B4-BE49-F238E27FC236}">
                    <a16:creationId xmlns:a16="http://schemas.microsoft.com/office/drawing/2014/main" id="{F6696ED9-00EA-2B4D-3B34-9757502290E5}"/>
                  </a:ext>
                </a:extLst>
              </p:cNvPr>
              <p:cNvPicPr/>
              <p:nvPr/>
            </p:nvPicPr>
            <p:blipFill>
              <a:blip r:embed="rId7"/>
              <a:stretch>
                <a:fillRect/>
              </a:stretch>
            </p:blipFill>
            <p:spPr>
              <a:xfrm>
                <a:off x="2080417" y="435154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1D3BA873-6599-0C5C-BC79-8C6FE182EF55}"/>
                  </a:ext>
                </a:extLst>
              </p14:cNvPr>
              <p14:cNvContentPartPr/>
              <p14:nvPr/>
            </p14:nvContentPartPr>
            <p14:xfrm>
              <a:off x="-482063" y="727788"/>
              <a:ext cx="360" cy="360"/>
            </p14:xfrm>
          </p:contentPart>
        </mc:Choice>
        <mc:Fallback xmlns="">
          <p:pic>
            <p:nvPicPr>
              <p:cNvPr id="21" name="Ink 20">
                <a:extLst>
                  <a:ext uri="{FF2B5EF4-FFF2-40B4-BE49-F238E27FC236}">
                    <a16:creationId xmlns:a16="http://schemas.microsoft.com/office/drawing/2014/main" id="{1D3BA873-6599-0C5C-BC79-8C6FE182EF55}"/>
                  </a:ext>
                </a:extLst>
              </p:cNvPr>
              <p:cNvPicPr/>
              <p:nvPr/>
            </p:nvPicPr>
            <p:blipFill>
              <a:blip r:embed="rId10"/>
              <a:stretch>
                <a:fillRect/>
              </a:stretch>
            </p:blipFill>
            <p:spPr>
              <a:xfrm>
                <a:off x="-517703" y="691788"/>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366663D0-3A82-3113-8EC2-49B90EE048C2}"/>
                  </a:ext>
                </a:extLst>
              </p14:cNvPr>
              <p14:cNvContentPartPr/>
              <p14:nvPr/>
            </p14:nvContentPartPr>
            <p14:xfrm>
              <a:off x="10372657" y="835541"/>
              <a:ext cx="360" cy="360"/>
            </p14:xfrm>
          </p:contentPart>
        </mc:Choice>
        <mc:Fallback xmlns="">
          <p:pic>
            <p:nvPicPr>
              <p:cNvPr id="22" name="Ink 21">
                <a:extLst>
                  <a:ext uri="{FF2B5EF4-FFF2-40B4-BE49-F238E27FC236}">
                    <a16:creationId xmlns:a16="http://schemas.microsoft.com/office/drawing/2014/main" id="{366663D0-3A82-3113-8EC2-49B90EE048C2}"/>
                  </a:ext>
                </a:extLst>
              </p:cNvPr>
              <p:cNvPicPr/>
              <p:nvPr/>
            </p:nvPicPr>
            <p:blipFill>
              <a:blip r:embed="rId10"/>
              <a:stretch>
                <a:fillRect/>
              </a:stretch>
            </p:blipFill>
            <p:spPr>
              <a:xfrm>
                <a:off x="10337017" y="799541"/>
                <a:ext cx="72000" cy="72000"/>
              </a:xfrm>
              <a:prstGeom prst="rect">
                <a:avLst/>
              </a:prstGeom>
            </p:spPr>
          </p:pic>
        </mc:Fallback>
      </mc:AlternateContent>
      <p:sp>
        <p:nvSpPr>
          <p:cNvPr id="35" name="TextBox 34">
            <a:extLst>
              <a:ext uri="{FF2B5EF4-FFF2-40B4-BE49-F238E27FC236}">
                <a16:creationId xmlns:a16="http://schemas.microsoft.com/office/drawing/2014/main" id="{DE00602B-A0AF-FFC6-4E62-29C7071AC6A8}"/>
              </a:ext>
            </a:extLst>
          </p:cNvPr>
          <p:cNvSpPr txBox="1"/>
          <p:nvPr/>
        </p:nvSpPr>
        <p:spPr>
          <a:xfrm>
            <a:off x="3154417" y="292675"/>
            <a:ext cx="6553200"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TRADE OFF CONTRADICTION</a:t>
            </a:r>
            <a:endParaRPr lang="en-IN" sz="2400" dirty="0"/>
          </a:p>
        </p:txBody>
      </p:sp>
      <p:sp>
        <p:nvSpPr>
          <p:cNvPr id="37" name="TextBox 36">
            <a:extLst>
              <a:ext uri="{FF2B5EF4-FFF2-40B4-BE49-F238E27FC236}">
                <a16:creationId xmlns:a16="http://schemas.microsoft.com/office/drawing/2014/main" id="{20CA3099-175E-3061-3539-9647EDE321BC}"/>
              </a:ext>
            </a:extLst>
          </p:cNvPr>
          <p:cNvSpPr txBox="1"/>
          <p:nvPr/>
        </p:nvSpPr>
        <p:spPr>
          <a:xfrm>
            <a:off x="335016" y="1406396"/>
            <a:ext cx="11168725" cy="369332"/>
          </a:xfrm>
          <a:prstGeom prst="rect">
            <a:avLst/>
          </a:prstGeom>
          <a:noFill/>
        </p:spPr>
        <p:txBody>
          <a:bodyPr wrap="square">
            <a:spAutoFit/>
          </a:bodyPr>
          <a:lstStyle/>
          <a:p>
            <a:pPr algn="just"/>
            <a:r>
              <a:rPr lang="en-US" sz="1800" spc="-10" dirty="0">
                <a:solidFill>
                  <a:srgbClr val="231F20"/>
                </a:solidFill>
                <a:effectLst/>
                <a:latin typeface="Times New Roman" panose="02020603050405020304" pitchFamily="18" charset="0"/>
                <a:ea typeface="Times New Roman" panose="02020603050405020304" pitchFamily="18" charset="0"/>
              </a:rPr>
              <a:t>TRIZ</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new</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approach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sees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contradictions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(tradeoffs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inherent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contradictions)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sources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development.</a:t>
            </a:r>
            <a:endParaRPr lang="en-IN" dirty="0"/>
          </a:p>
        </p:txBody>
      </p:sp>
      <p:sp>
        <p:nvSpPr>
          <p:cNvPr id="39" name="TextBox 38">
            <a:extLst>
              <a:ext uri="{FF2B5EF4-FFF2-40B4-BE49-F238E27FC236}">
                <a16:creationId xmlns:a16="http://schemas.microsoft.com/office/drawing/2014/main" id="{EBFE15A0-B5E0-5F53-DAC0-313B6797E806}"/>
              </a:ext>
            </a:extLst>
          </p:cNvPr>
          <p:cNvSpPr txBox="1"/>
          <p:nvPr/>
        </p:nvSpPr>
        <p:spPr>
          <a:xfrm>
            <a:off x="343111" y="3588212"/>
            <a:ext cx="11168724" cy="646331"/>
          </a:xfrm>
          <a:prstGeom prst="rect">
            <a:avLst/>
          </a:prstGeom>
          <a:noFill/>
        </p:spPr>
        <p:txBody>
          <a:bodyPr wrap="square">
            <a:spAutoFit/>
          </a:bodyPr>
          <a:lstStyle/>
          <a:p>
            <a:pPr algn="just"/>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tradeoff</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arises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consisting</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tool</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object.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All</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engineering systems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many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others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would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considered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engineering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 built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from</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tools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objects.</a:t>
            </a:r>
            <a:endParaRPr lang="en-IN" dirty="0"/>
          </a:p>
        </p:txBody>
      </p:sp>
      <p:grpSp>
        <p:nvGrpSpPr>
          <p:cNvPr id="40" name="Group 39">
            <a:extLst>
              <a:ext uri="{FF2B5EF4-FFF2-40B4-BE49-F238E27FC236}">
                <a16:creationId xmlns:a16="http://schemas.microsoft.com/office/drawing/2014/main" id="{4C8FAAE3-ED60-3630-C3F5-EBF4E94AFD83}"/>
              </a:ext>
            </a:extLst>
          </p:cNvPr>
          <p:cNvGrpSpPr>
            <a:grpSpLocks/>
          </p:cNvGrpSpPr>
          <p:nvPr/>
        </p:nvGrpSpPr>
        <p:grpSpPr>
          <a:xfrm>
            <a:off x="3293565" y="5451604"/>
            <a:ext cx="4267200" cy="822744"/>
            <a:chOff x="0" y="0"/>
            <a:chExt cx="4267200" cy="822744"/>
          </a:xfrm>
        </p:grpSpPr>
        <p:pic>
          <p:nvPicPr>
            <p:cNvPr id="41" name="Image 104">
              <a:extLst>
                <a:ext uri="{FF2B5EF4-FFF2-40B4-BE49-F238E27FC236}">
                  <a16:creationId xmlns:a16="http://schemas.microsoft.com/office/drawing/2014/main" id="{0318C0C7-EB62-7C6E-D904-071475DB630F}"/>
                </a:ext>
              </a:extLst>
            </p:cNvPr>
            <p:cNvPicPr/>
            <p:nvPr/>
          </p:nvPicPr>
          <p:blipFill>
            <a:blip r:embed="rId12" cstate="print"/>
            <a:stretch>
              <a:fillRect/>
            </a:stretch>
          </p:blipFill>
          <p:spPr>
            <a:xfrm>
              <a:off x="838200" y="0"/>
              <a:ext cx="2590800" cy="771144"/>
            </a:xfrm>
            <a:prstGeom prst="rect">
              <a:avLst/>
            </a:prstGeom>
          </p:spPr>
        </p:pic>
        <p:sp>
          <p:nvSpPr>
            <p:cNvPr id="42" name="Graphic 105">
              <a:extLst>
                <a:ext uri="{FF2B5EF4-FFF2-40B4-BE49-F238E27FC236}">
                  <a16:creationId xmlns:a16="http://schemas.microsoft.com/office/drawing/2014/main" id="{83700F42-E277-3ADC-3ECD-FD1BBD324B91}"/>
                </a:ext>
              </a:extLst>
            </p:cNvPr>
            <p:cNvSpPr/>
            <p:nvPr/>
          </p:nvSpPr>
          <p:spPr>
            <a:xfrm>
              <a:off x="0" y="821474"/>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44" name="TextBox 43">
            <a:extLst>
              <a:ext uri="{FF2B5EF4-FFF2-40B4-BE49-F238E27FC236}">
                <a16:creationId xmlns:a16="http://schemas.microsoft.com/office/drawing/2014/main" id="{80313C20-6792-887D-E0F3-CCDD130884B2}"/>
              </a:ext>
            </a:extLst>
          </p:cNvPr>
          <p:cNvSpPr txBox="1"/>
          <p:nvPr/>
        </p:nvSpPr>
        <p:spPr>
          <a:xfrm>
            <a:off x="2234140" y="6411436"/>
            <a:ext cx="6386050" cy="307777"/>
          </a:xfrm>
          <a:prstGeom prst="rect">
            <a:avLst/>
          </a:prstGeom>
          <a:noFill/>
        </p:spPr>
        <p:txBody>
          <a:bodyPr wrap="square">
            <a:spAutoFit/>
          </a:bodyPr>
          <a:lstStyle/>
          <a:p>
            <a:pPr marL="209550" algn="ctr">
              <a:spcBef>
                <a:spcPts val="505"/>
              </a:spcBef>
              <a:spcAft>
                <a:spcPts val="0"/>
              </a:spcAft>
            </a:pP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Tool,</a:t>
            </a:r>
            <a:r>
              <a:rPr lang="en-US" sz="1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action,</a:t>
            </a:r>
            <a:r>
              <a:rPr lang="en-US" sz="1400" b="1"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object</a:t>
            </a:r>
            <a:r>
              <a:rPr lang="en-US" sz="1400" b="1"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diagram</a:t>
            </a:r>
            <a:r>
              <a:rPr lang="en-US" sz="1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1400" b="1"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defines</a:t>
            </a:r>
            <a:r>
              <a:rPr lang="en-US" sz="1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400" b="1"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DDE0970-B165-757C-93C5-D33E7B2E1C2B}"/>
              </a:ext>
            </a:extLst>
          </p:cNvPr>
          <p:cNvSpPr txBox="1"/>
          <p:nvPr/>
        </p:nvSpPr>
        <p:spPr>
          <a:xfrm>
            <a:off x="335016" y="2201619"/>
            <a:ext cx="8778014" cy="369332"/>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Resolving conflicts is the rationale behind successful inventions and innovations.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30754F9-B181-02DA-F1E7-1A675F96A291}"/>
              </a:ext>
            </a:extLst>
          </p:cNvPr>
          <p:cNvSpPr txBox="1"/>
          <p:nvPr/>
        </p:nvSpPr>
        <p:spPr>
          <a:xfrm>
            <a:off x="411561" y="4212536"/>
            <a:ext cx="11168724" cy="646331"/>
          </a:xfrm>
          <a:prstGeom prst="rect">
            <a:avLst/>
          </a:prstGeom>
          <a:noFill/>
        </p:spPr>
        <p:txBody>
          <a:bodyPr wrap="square">
            <a:spAutoFit/>
          </a:bodyPr>
          <a:lstStyle/>
          <a:p>
            <a:r>
              <a:rPr lang="en-US" sz="1800" dirty="0">
                <a:solidFill>
                  <a:srgbClr val="231F20"/>
                </a:solidFill>
                <a:effectLst/>
                <a:latin typeface="Times New Roman" panose="02020603050405020304" pitchFamily="18" charset="0"/>
                <a:ea typeface="Times New Roman" panose="02020603050405020304" pitchFamily="18" charset="0"/>
              </a:rPr>
              <a:t>It is useful to </a:t>
            </a:r>
            <a:r>
              <a:rPr lang="en-US" sz="1800" dirty="0">
                <a:solidFill>
                  <a:srgbClr val="FF0000"/>
                </a:solidFill>
                <a:effectLst/>
                <a:latin typeface="Times New Roman" panose="02020603050405020304" pitchFamily="18" charset="0"/>
                <a:ea typeface="Times New Roman" panose="02020603050405020304" pitchFamily="18" charset="0"/>
              </a:rPr>
              <a:t>formulate problems and tradeoffs on more than one level</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20" dirty="0">
                <a:solidFill>
                  <a:srgbClr val="231F20"/>
                </a:solidFill>
                <a:effectLst/>
                <a:latin typeface="Times New Roman" panose="02020603050405020304" pitchFamily="18" charset="0"/>
                <a:ea typeface="Times New Roman" panose="02020603050405020304" pitchFamily="18" charset="0"/>
              </a:rPr>
              <a:t> The </a:t>
            </a:r>
            <a:r>
              <a:rPr lang="en-US" sz="1800" spc="-20" dirty="0">
                <a:solidFill>
                  <a:schemeClr val="accent1"/>
                </a:solidFill>
                <a:effectLst/>
                <a:latin typeface="Times New Roman" panose="02020603050405020304" pitchFamily="18" charset="0"/>
                <a:ea typeface="Times New Roman" panose="02020603050405020304" pitchFamily="18" charset="0"/>
              </a:rPr>
              <a:t>selection of the tradeoff depends </a:t>
            </a:r>
            <a:r>
              <a:rPr lang="en-US" sz="1800" spc="-20" dirty="0">
                <a:solidFill>
                  <a:srgbClr val="231F20"/>
                </a:solidFill>
                <a:effectLst/>
                <a:latin typeface="Times New Roman" panose="02020603050405020304" pitchFamily="18" charset="0"/>
                <a:ea typeface="Times New Roman" panose="02020603050405020304" pitchFamily="18" charset="0"/>
              </a:rPr>
              <a:t>on the </a:t>
            </a:r>
            <a:r>
              <a:rPr lang="en-US" sz="1800" spc="-20" dirty="0">
                <a:solidFill>
                  <a:schemeClr val="accent1"/>
                </a:solidFill>
                <a:effectLst/>
                <a:latin typeface="Times New Roman" panose="02020603050405020304" pitchFamily="18" charset="0"/>
                <a:ea typeface="Times New Roman" panose="02020603050405020304" pitchFamily="18" charset="0"/>
              </a:rPr>
              <a:t>constraints and </a:t>
            </a:r>
            <a:r>
              <a:rPr lang="en-US" sz="1800" spc="-10" dirty="0">
                <a:solidFill>
                  <a:schemeClr val="accent1"/>
                </a:solidFill>
                <a:effectLst/>
                <a:latin typeface="Times New Roman" panose="02020603050405020304" pitchFamily="18" charset="0"/>
                <a:ea typeface="Times New Roman" panose="02020603050405020304" pitchFamily="18" charset="0"/>
              </a:rPr>
              <a:t>conditions</a:t>
            </a:r>
            <a:r>
              <a:rPr lang="en-US" sz="1800" spc="-6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of</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the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problem</a:t>
            </a:r>
            <a:endParaRPr lang="en-IN" dirty="0">
              <a:solidFill>
                <a:schemeClr val="accent1"/>
              </a:solidFill>
            </a:endParaRPr>
          </a:p>
        </p:txBody>
      </p:sp>
    </p:spTree>
    <p:extLst>
      <p:ext uri="{BB962C8B-B14F-4D97-AF65-F5344CB8AC3E}">
        <p14:creationId xmlns:p14="http://schemas.microsoft.com/office/powerpoint/2010/main" val="174529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65100-E0CA-90F3-C8DC-F5E6958E4BFC}"/>
              </a:ext>
            </a:extLst>
          </p:cNvPr>
          <p:cNvSpPr txBox="1"/>
          <p:nvPr/>
        </p:nvSpPr>
        <p:spPr>
          <a:xfrm>
            <a:off x="206476" y="791728"/>
            <a:ext cx="11027281" cy="1971950"/>
          </a:xfrm>
          <a:prstGeom prst="rect">
            <a:avLst/>
          </a:prstGeom>
          <a:noFill/>
        </p:spPr>
        <p:txBody>
          <a:bodyPr wrap="square">
            <a:spAutoFit/>
          </a:bodyPr>
          <a:lstStyle/>
          <a:p>
            <a:pPr marL="552450" marR="233680" indent="-342900" algn="just">
              <a:lnSpc>
                <a:spcPct val="103000"/>
              </a:lnSpc>
              <a:spcBef>
                <a:spcPts val="600"/>
              </a:spcBef>
              <a:spcAft>
                <a:spcPts val="0"/>
              </a:spcAft>
              <a:buFont typeface="Wingdings" panose="05000000000000000000" pitchFamily="2" charset="2"/>
              <a:buChar char="§"/>
            </a:pP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car</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is</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tool</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for</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carrying</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passengers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cargo.</a:t>
            </a:r>
          </a:p>
          <a:p>
            <a:pPr marL="552450" marR="233680" indent="-342900" algn="just">
              <a:lnSpc>
                <a:spcPct val="103000"/>
              </a:lnSpc>
              <a:spcBef>
                <a:spcPts val="600"/>
              </a:spcBef>
              <a:spcAft>
                <a:spcPts val="0"/>
              </a:spcAft>
              <a:buFont typeface="Wingdings" panose="05000000000000000000" pitchFamily="2" charset="2"/>
              <a:buChar char="§"/>
            </a:pP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transistor</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is</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tool</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for</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switching</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electrical</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current</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on</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off.</a:t>
            </a:r>
            <a:r>
              <a:rPr lang="en-US" sz="2000" spc="-50" dirty="0">
                <a:solidFill>
                  <a:srgbClr val="231F20"/>
                </a:solidFill>
                <a:effectLst/>
                <a:latin typeface="Times New Roman" panose="02020603050405020304" pitchFamily="18" charset="0"/>
                <a:ea typeface="Times New Roman" panose="02020603050405020304" pitchFamily="18" charset="0"/>
              </a:rPr>
              <a:t> </a:t>
            </a:r>
          </a:p>
          <a:p>
            <a:pPr marL="552450" marR="233680" indent="-342900" algn="just">
              <a:lnSpc>
                <a:spcPct val="103000"/>
              </a:lnSpc>
              <a:spcBef>
                <a:spcPts val="600"/>
              </a:spcBef>
              <a:spcAft>
                <a:spcPts val="0"/>
              </a:spcAft>
              <a:buFont typeface="Wingdings" panose="05000000000000000000" pitchFamily="2" charset="2"/>
              <a:buChar char="§"/>
            </a:pPr>
            <a:r>
              <a:rPr lang="en-US" sz="2000" spc="-10" dirty="0">
                <a:solidFill>
                  <a:srgbClr val="231F20"/>
                </a:solidFill>
                <a:effectLst/>
                <a:latin typeface="Times New Roman" panose="02020603050405020304" pitchFamily="18" charset="0"/>
                <a:ea typeface="Times New Roman" panose="02020603050405020304" pitchFamily="18" charset="0"/>
              </a:rPr>
              <a:t>A</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bee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is </a:t>
            </a:r>
            <a:r>
              <a:rPr lang="en-US" sz="2000" dirty="0">
                <a:solidFill>
                  <a:srgbClr val="231F20"/>
                </a:solidFill>
                <a:effectLst/>
                <a:latin typeface="Times New Roman" panose="02020603050405020304" pitchFamily="18" charset="0"/>
                <a:ea typeface="Times New Roman" panose="02020603050405020304" pitchFamily="18" charset="0"/>
              </a:rPr>
              <a:t>a tool for collecting pollen.</a:t>
            </a:r>
            <a:r>
              <a:rPr lang="en-IN" sz="2000" dirty="0">
                <a:latin typeface="Times New Roman" panose="02020603050405020304" pitchFamily="18" charset="0"/>
                <a:ea typeface="Times New Roman" panose="02020603050405020304" pitchFamily="18" charset="0"/>
              </a:rPr>
              <a:t> </a:t>
            </a:r>
          </a:p>
          <a:p>
            <a:pPr marL="552450" marR="233680" indent="-342900" algn="just">
              <a:lnSpc>
                <a:spcPct val="103000"/>
              </a:lnSpc>
              <a:spcBef>
                <a:spcPts val="600"/>
              </a:spcBef>
              <a:spcAft>
                <a:spcPts val="0"/>
              </a:spcAft>
              <a:buFont typeface="Wingdings" panose="05000000000000000000" pitchFamily="2" charset="2"/>
              <a:buChar char="§"/>
            </a:pPr>
            <a:r>
              <a:rPr lang="en-US" sz="2000" spc="-10" dirty="0">
                <a:solidFill>
                  <a:srgbClr val="231F20"/>
                </a:solidFill>
                <a:effectLst/>
                <a:latin typeface="Times New Roman" panose="02020603050405020304" pitchFamily="18" charset="0"/>
                <a:ea typeface="Times New Roman" panose="02020603050405020304" pitchFamily="18" charset="0"/>
              </a:rPr>
              <a:t>Knowledge,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models,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information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are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also</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tools.</a:t>
            </a:r>
            <a:r>
              <a:rPr lang="en-US" sz="2000" spc="-40" dirty="0">
                <a:solidFill>
                  <a:srgbClr val="231F20"/>
                </a:solidFill>
                <a:effectLst/>
                <a:latin typeface="Times New Roman" panose="02020603050405020304" pitchFamily="18" charset="0"/>
                <a:ea typeface="Times New Roman" panose="02020603050405020304" pitchFamily="18" charset="0"/>
              </a:rPr>
              <a:t> </a:t>
            </a:r>
          </a:p>
          <a:p>
            <a:pPr marL="552450" marR="233680" indent="-342900" algn="just">
              <a:lnSpc>
                <a:spcPct val="103000"/>
              </a:lnSpc>
              <a:spcBef>
                <a:spcPts val="600"/>
              </a:spcBef>
              <a:spcAft>
                <a:spcPts val="0"/>
              </a:spcAft>
              <a:buFont typeface="Wingdings" panose="05000000000000000000" pitchFamily="2" charset="2"/>
              <a:buChar char="§"/>
            </a:pPr>
            <a:r>
              <a:rPr lang="en-US" sz="2000" spc="-10" dirty="0">
                <a:solidFill>
                  <a:srgbClr val="231F20"/>
                </a:solidFill>
                <a:effectLst/>
                <a:latin typeface="Times New Roman" panose="02020603050405020304" pitchFamily="18" charset="0"/>
                <a:ea typeface="Times New Roman" panose="02020603050405020304" pitchFamily="18" charset="0"/>
              </a:rPr>
              <a:t>An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advertisement</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tool </a:t>
            </a:r>
            <a:r>
              <a:rPr lang="en-US" sz="2000" dirty="0">
                <a:solidFill>
                  <a:srgbClr val="231F20"/>
                </a:solidFill>
                <a:effectLst/>
                <a:latin typeface="Times New Roman" panose="02020603050405020304" pitchFamily="18" charset="0"/>
                <a:ea typeface="Times New Roman" panose="02020603050405020304" pitchFamily="18" charset="0"/>
              </a:rPr>
              <a:t>to inform potential buyers. </a:t>
            </a:r>
            <a:endParaRPr lang="en-IN" sz="2000" dirty="0"/>
          </a:p>
        </p:txBody>
      </p:sp>
      <p:sp>
        <p:nvSpPr>
          <p:cNvPr id="5" name="TextBox 4">
            <a:extLst>
              <a:ext uri="{FF2B5EF4-FFF2-40B4-BE49-F238E27FC236}">
                <a16:creationId xmlns:a16="http://schemas.microsoft.com/office/drawing/2014/main" id="{97FC27AD-766A-5E97-383F-FBA4C467B0F9}"/>
              </a:ext>
            </a:extLst>
          </p:cNvPr>
          <p:cNvSpPr txBox="1"/>
          <p:nvPr/>
        </p:nvSpPr>
        <p:spPr>
          <a:xfrm>
            <a:off x="178923" y="3049776"/>
            <a:ext cx="10553268" cy="400110"/>
          </a:xfrm>
          <a:prstGeom prst="rect">
            <a:avLst/>
          </a:prstGeom>
          <a:noFill/>
        </p:spPr>
        <p:txBody>
          <a:bodyPr wrap="square">
            <a:spAutoFit/>
          </a:bodyPr>
          <a:lstStyle/>
          <a:p>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tool</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is</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the</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component</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that</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is</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easiest</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to</a:t>
            </a:r>
            <a:r>
              <a:rPr lang="en-US" sz="2000" spc="-50"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change</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when</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problem</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is</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resolved</a:t>
            </a:r>
            <a:endParaRPr lang="en-IN" sz="2000" dirty="0"/>
          </a:p>
        </p:txBody>
      </p:sp>
      <p:sp>
        <p:nvSpPr>
          <p:cNvPr id="7" name="TextBox 6">
            <a:extLst>
              <a:ext uri="{FF2B5EF4-FFF2-40B4-BE49-F238E27FC236}">
                <a16:creationId xmlns:a16="http://schemas.microsoft.com/office/drawing/2014/main" id="{277C24B9-AEB8-75D0-C8B1-2D8ECE988628}"/>
              </a:ext>
            </a:extLst>
          </p:cNvPr>
          <p:cNvSpPr txBox="1"/>
          <p:nvPr/>
        </p:nvSpPr>
        <p:spPr>
          <a:xfrm>
            <a:off x="0" y="4094322"/>
            <a:ext cx="11861591" cy="1975221"/>
          </a:xfrm>
          <a:prstGeom prst="rect">
            <a:avLst/>
          </a:prstGeom>
          <a:noFill/>
        </p:spPr>
        <p:txBody>
          <a:bodyPr wrap="square">
            <a:spAutoFit/>
          </a:bodyPr>
          <a:lstStyle/>
          <a:p>
            <a:pPr marL="209550" marR="233680" indent="190500" algn="just">
              <a:lnSpc>
                <a:spcPct val="103000"/>
              </a:lnSpc>
            </a:pPr>
            <a:r>
              <a:rPr lang="en-US" sz="2000" dirty="0">
                <a:solidFill>
                  <a:srgbClr val="231F20"/>
                </a:solidFill>
                <a:effectLst/>
                <a:latin typeface="Times New Roman" panose="02020603050405020304" pitchFamily="18" charset="0"/>
                <a:ea typeface="Times New Roman" panose="02020603050405020304" pitchFamily="18" charset="0"/>
              </a:rPr>
              <a:t>If the problem is how to decrease the </a:t>
            </a:r>
            <a:r>
              <a:rPr lang="en-US" sz="2000" dirty="0">
                <a:solidFill>
                  <a:schemeClr val="accent1"/>
                </a:solidFill>
                <a:effectLst/>
                <a:latin typeface="Times New Roman" panose="02020603050405020304" pitchFamily="18" charset="0"/>
                <a:ea typeface="Times New Roman" panose="02020603050405020304" pitchFamily="18" charset="0"/>
              </a:rPr>
              <a:t>wear of a saw that cuts metal</a:t>
            </a:r>
            <a:r>
              <a:rPr lang="en-US" sz="2000" dirty="0">
                <a:solidFill>
                  <a:srgbClr val="231F20"/>
                </a:solidFill>
                <a:effectLst/>
                <a:latin typeface="Times New Roman" panose="02020603050405020304" pitchFamily="18" charset="0"/>
                <a:ea typeface="Times New Roman" panose="02020603050405020304" pitchFamily="18" charset="0"/>
              </a:rPr>
              <a:t>, there are many possibilities change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sharpness</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or</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shape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teeth,</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put</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coatings </a:t>
            </a:r>
            <a:r>
              <a:rPr lang="en-US" sz="2000" dirty="0">
                <a:solidFill>
                  <a:srgbClr val="231F20"/>
                </a:solidFill>
                <a:effectLst/>
                <a:latin typeface="Times New Roman" panose="02020603050405020304" pitchFamily="18" charset="0"/>
                <a:ea typeface="Times New Roman" panose="02020603050405020304" pitchFamily="18" charset="0"/>
              </a:rPr>
              <a:t>of tougher metal on the teeth, change the thickness of the blade, add a lubricant during</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cutting,</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and</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so</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on.</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metal</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being</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cut</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object)</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most</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often</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cannot</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 changed or can be changed very little. </a:t>
            </a:r>
          </a:p>
          <a:p>
            <a:pPr marL="209550" marR="233680" indent="190500" algn="just">
              <a:lnSpc>
                <a:spcPct val="103000"/>
              </a:lnSpc>
            </a:pPr>
            <a:endParaRPr lang="en-US" sz="2000" dirty="0">
              <a:solidFill>
                <a:srgbClr val="231F20"/>
              </a:solidFill>
              <a:latin typeface="Times New Roman" panose="02020603050405020304" pitchFamily="18" charset="0"/>
              <a:ea typeface="Times New Roman" panose="02020603050405020304" pitchFamily="18" charset="0"/>
            </a:endParaRPr>
          </a:p>
          <a:p>
            <a:pPr marL="209550" marR="233680" indent="190500" algn="just">
              <a:lnSpc>
                <a:spcPct val="103000"/>
              </a:lnSpc>
            </a:pPr>
            <a:endParaRPr lang="en-IN" sz="20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79368771-B466-E9F8-8B32-2B58B2588141}"/>
              </a:ext>
            </a:extLst>
          </p:cNvPr>
          <p:cNvSpPr txBox="1"/>
          <p:nvPr/>
        </p:nvSpPr>
        <p:spPr>
          <a:xfrm>
            <a:off x="206476" y="3591429"/>
            <a:ext cx="10255444" cy="400110"/>
          </a:xfrm>
          <a:prstGeom prst="rect">
            <a:avLst/>
          </a:prstGeom>
          <a:noFill/>
        </p:spPr>
        <p:txBody>
          <a:bodyPr wrap="square">
            <a:spAutoFit/>
          </a:bodyPr>
          <a:lstStyle/>
          <a:p>
            <a:r>
              <a:rPr lang="en-US" sz="2000" dirty="0">
                <a:solidFill>
                  <a:srgbClr val="231F20"/>
                </a:solidFill>
                <a:effectLst/>
                <a:latin typeface="Times New Roman" panose="02020603050405020304" pitchFamily="18" charset="0"/>
                <a:ea typeface="Times New Roman" panose="02020603050405020304" pitchFamily="18" charset="0"/>
              </a:rPr>
              <a:t>Action</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means</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that</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the</a:t>
            </a:r>
            <a:r>
              <a:rPr lang="en-US" sz="2000" b="1" spc="-60"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tool</a:t>
            </a:r>
            <a:r>
              <a:rPr lang="en-US" sz="2000" b="1" spc="-55"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does</a:t>
            </a:r>
            <a:r>
              <a:rPr lang="en-US" sz="2000" b="1" spc="-60"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something</a:t>
            </a:r>
            <a:r>
              <a:rPr lang="en-US" sz="2000" b="1" spc="-60"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that</a:t>
            </a:r>
            <a:r>
              <a:rPr lang="en-US" sz="2000" b="1" spc="-60"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causes</a:t>
            </a:r>
            <a:r>
              <a:rPr lang="en-US" sz="2000" b="1" spc="-55"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the</a:t>
            </a:r>
            <a:r>
              <a:rPr lang="en-US" sz="2000" b="1" spc="-60"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object</a:t>
            </a:r>
            <a:r>
              <a:rPr lang="en-US" sz="2000" b="1" spc="-60" dirty="0">
                <a:solidFill>
                  <a:srgbClr val="00B050"/>
                </a:solidFill>
                <a:effectLst/>
                <a:latin typeface="Times New Roman" panose="02020603050405020304" pitchFamily="18" charset="0"/>
                <a:ea typeface="Times New Roman" panose="02020603050405020304" pitchFamily="18" charset="0"/>
              </a:rPr>
              <a:t> </a:t>
            </a:r>
            <a:r>
              <a:rPr lang="en-US" sz="2000" b="1" dirty="0">
                <a:solidFill>
                  <a:srgbClr val="00B050"/>
                </a:solidFill>
                <a:effectLst/>
                <a:latin typeface="Times New Roman" panose="02020603050405020304" pitchFamily="18" charset="0"/>
                <a:ea typeface="Times New Roman" panose="02020603050405020304" pitchFamily="18" charset="0"/>
              </a:rPr>
              <a:t>to</a:t>
            </a:r>
            <a:r>
              <a:rPr lang="en-US" sz="2000" b="1" spc="-60" dirty="0">
                <a:solidFill>
                  <a:srgbClr val="00B050"/>
                </a:solidFill>
                <a:effectLst/>
                <a:latin typeface="Times New Roman" panose="02020603050405020304" pitchFamily="18" charset="0"/>
                <a:ea typeface="Times New Roman" panose="02020603050405020304" pitchFamily="18" charset="0"/>
              </a:rPr>
              <a:t> </a:t>
            </a:r>
            <a:r>
              <a:rPr lang="en-US" sz="2000" b="1" spc="-10" dirty="0">
                <a:solidFill>
                  <a:srgbClr val="00B050"/>
                </a:solidFill>
                <a:effectLst/>
                <a:latin typeface="Times New Roman" panose="02020603050405020304" pitchFamily="18" charset="0"/>
                <a:ea typeface="Times New Roman" panose="02020603050405020304" pitchFamily="18" charset="0"/>
              </a:rPr>
              <a:t>change</a:t>
            </a:r>
            <a:endParaRPr lang="en-IN" sz="2000" b="1" dirty="0">
              <a:solidFill>
                <a:srgbClr val="00B050"/>
              </a:solidFill>
            </a:endParaRPr>
          </a:p>
        </p:txBody>
      </p:sp>
      <p:pic>
        <p:nvPicPr>
          <p:cNvPr id="2" name="Picture 2" descr="10 Signs Your Circular Saw Blade Is Dull And Needs Replacement - Toolever">
            <a:extLst>
              <a:ext uri="{FF2B5EF4-FFF2-40B4-BE49-F238E27FC236}">
                <a16:creationId xmlns:a16="http://schemas.microsoft.com/office/drawing/2014/main" id="{CEC9C43C-558F-B51C-C440-D87E502BC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4026" y="98763"/>
            <a:ext cx="4601498" cy="25285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DD3A0E6-B2BF-3211-64FA-B79E4A4B6C9D}"/>
              </a:ext>
            </a:extLst>
          </p:cNvPr>
          <p:cNvSpPr txBox="1"/>
          <p:nvPr/>
        </p:nvSpPr>
        <p:spPr>
          <a:xfrm>
            <a:off x="1229033" y="145163"/>
            <a:ext cx="6096000" cy="400110"/>
          </a:xfrm>
          <a:prstGeom prst="rect">
            <a:avLst/>
          </a:prstGeom>
          <a:noFill/>
        </p:spPr>
        <p:txBody>
          <a:bodyPr wrap="square">
            <a:spAutoFit/>
          </a:bodyPr>
          <a:lstStyle/>
          <a:p>
            <a:pPr algn="ctr"/>
            <a:r>
              <a:rPr lang="en-US" sz="2000" b="1" dirty="0">
                <a:solidFill>
                  <a:srgbClr val="231F20"/>
                </a:solidFill>
                <a:latin typeface="Times New Roman" panose="02020603050405020304" pitchFamily="18" charset="0"/>
                <a:ea typeface="Times New Roman" panose="02020603050405020304" pitchFamily="18" charset="0"/>
              </a:rPr>
              <a:t>DEFINING THE </a:t>
            </a:r>
            <a:r>
              <a:rPr lang="en-US" sz="2000" b="1" dirty="0">
                <a:solidFill>
                  <a:srgbClr val="231F20"/>
                </a:solidFill>
                <a:effectLst/>
                <a:latin typeface="Times New Roman" panose="02020603050405020304" pitchFamily="18" charset="0"/>
                <a:ea typeface="Times New Roman" panose="02020603050405020304" pitchFamily="18" charset="0"/>
              </a:rPr>
              <a:t>TOOL AND OBJECT</a:t>
            </a:r>
            <a:endParaRPr lang="en-IN" sz="2000" b="1" dirty="0"/>
          </a:p>
        </p:txBody>
      </p:sp>
      <p:sp>
        <p:nvSpPr>
          <p:cNvPr id="8" name="TextBox 7">
            <a:extLst>
              <a:ext uri="{FF2B5EF4-FFF2-40B4-BE49-F238E27FC236}">
                <a16:creationId xmlns:a16="http://schemas.microsoft.com/office/drawing/2014/main" id="{5E773B57-3432-7E2B-A91C-6BEC5F5E7A0A}"/>
              </a:ext>
            </a:extLst>
          </p:cNvPr>
          <p:cNvSpPr txBox="1"/>
          <p:nvPr/>
        </p:nvSpPr>
        <p:spPr>
          <a:xfrm>
            <a:off x="178923" y="5386275"/>
            <a:ext cx="11580458" cy="1058047"/>
          </a:xfrm>
          <a:prstGeom prst="rect">
            <a:avLst/>
          </a:prstGeom>
          <a:noFill/>
        </p:spPr>
        <p:txBody>
          <a:bodyPr wrap="square">
            <a:spAutoFit/>
          </a:bodyPr>
          <a:lstStyle/>
          <a:p>
            <a:pPr marL="209550" marR="233045" indent="190500" algn="just">
              <a:lnSpc>
                <a:spcPct val="107000"/>
              </a:lnSpc>
              <a:spcAft>
                <a:spcPts val="0"/>
              </a:spcAft>
            </a:pP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object,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on</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other</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hand</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a:t>
            </a:r>
            <a:r>
              <a:rPr lang="en-US" sz="20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gives</a:t>
            </a:r>
            <a:r>
              <a:rPr lang="en-US" sz="20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constraints</a:t>
            </a:r>
            <a:r>
              <a:rPr lang="en-US" sz="20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for</a:t>
            </a:r>
            <a:r>
              <a:rPr lang="en-US" sz="2000" spc="-7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20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change</a:t>
            </a:r>
            <a:r>
              <a:rPr lang="en-US" sz="20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of</a:t>
            </a:r>
            <a:r>
              <a:rPr lang="en-US" sz="20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20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000" dirty="0">
                <a:solidFill>
                  <a:schemeClr val="accent1">
                    <a:lumMod val="75000"/>
                  </a:schemeClr>
                </a:solidFill>
                <a:effectLst/>
                <a:latin typeface="Times New Roman" panose="02020603050405020304" pitchFamily="18" charset="0"/>
                <a:ea typeface="Times New Roman" panose="02020603050405020304" pitchFamily="18" charset="0"/>
              </a:rPr>
              <a:t>tool</a:t>
            </a:r>
            <a:r>
              <a:rPr lang="en-US" sz="2000" dirty="0">
                <a:solidFill>
                  <a:srgbClr val="231F20"/>
                </a:solidFill>
                <a:effectLst/>
                <a:latin typeface="Times New Roman" panose="02020603050405020304" pitchFamily="18" charset="0"/>
                <a:ea typeface="Times New Roman" panose="02020603050405020304" pitchFamily="18" charset="0"/>
              </a:rPr>
              <a: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 material</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being</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cut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limits</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choice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cutting</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tool.</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Sometimes</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object,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too,</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can be</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changed</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in</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some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way,</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for</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example,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many</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objects</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can</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combined—it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may</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be easier</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cut</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stack</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glass</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plates</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than</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single</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thin</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sheet</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glass.</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933920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10DA657-D566-1ECB-AE8A-4D38DD3276A1}"/>
              </a:ext>
            </a:extLst>
          </p:cNvPr>
          <p:cNvSpPr txBox="1"/>
          <p:nvPr/>
        </p:nvSpPr>
        <p:spPr>
          <a:xfrm>
            <a:off x="116559" y="689085"/>
            <a:ext cx="10629070" cy="1323439"/>
          </a:xfrm>
          <a:prstGeom prst="rect">
            <a:avLst/>
          </a:prstGeom>
          <a:noFill/>
        </p:spPr>
        <p:txBody>
          <a:bodyPr wrap="square">
            <a:spAutoFit/>
          </a:bodyPr>
          <a:lstStyle/>
          <a:p>
            <a:pPr marL="342900" indent="-342900" algn="just">
              <a:buFont typeface="Arial" panose="020B0604020202020204" pitchFamily="34" charset="0"/>
              <a:buChar char="•"/>
            </a:pP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statements</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problem</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solving</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problem</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become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much</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easier</a:t>
            </a:r>
            <a:r>
              <a:rPr lang="en-US" sz="2000" spc="-50" dirty="0">
                <a:solidFill>
                  <a:srgbClr val="231F20"/>
                </a:solidFill>
                <a:effectLst/>
                <a:latin typeface="Times New Roman" panose="02020603050405020304" pitchFamily="18" charset="0"/>
                <a:ea typeface="Times New Roman" panose="02020603050405020304" pitchFamily="18" charset="0"/>
              </a:rPr>
              <a:t> </a:t>
            </a:r>
          </a:p>
          <a:p>
            <a:pPr marL="342900" indent="-342900" algn="just">
              <a:buFont typeface="Arial" panose="020B0604020202020204" pitchFamily="34" charset="0"/>
              <a:buChar char="•"/>
            </a:pPr>
            <a:r>
              <a:rPr lang="en-US" sz="2000" spc="-10" dirty="0">
                <a:solidFill>
                  <a:srgbClr val="231F20"/>
                </a:solidFill>
                <a:effectLst/>
                <a:latin typeface="Times New Roman" panose="02020603050405020304" pitchFamily="18" charset="0"/>
                <a:ea typeface="Times New Roman" panose="02020603050405020304" pitchFamily="18" charset="0"/>
              </a:rPr>
              <a:t>when </a:t>
            </a:r>
            <a:r>
              <a:rPr lang="en-US" sz="2000" dirty="0">
                <a:solidFill>
                  <a:srgbClr val="231F20"/>
                </a:solidFill>
                <a:effectLst/>
                <a:latin typeface="Times New Roman" panose="02020603050405020304" pitchFamily="18" charset="0"/>
                <a:ea typeface="Times New Roman" panose="02020603050405020304" pitchFamily="18" charset="0"/>
              </a:rPr>
              <a:t>the tool and the object that are at the heart of the problem are isolated from the numerous</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other</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components</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system.</a:t>
            </a:r>
            <a:r>
              <a:rPr lang="en-US" sz="2000" spc="-5" dirty="0">
                <a:solidFill>
                  <a:srgbClr val="231F20"/>
                </a:solidFill>
                <a:effectLst/>
                <a:latin typeface="Times New Roman" panose="02020603050405020304" pitchFamily="18" charset="0"/>
                <a:ea typeface="Times New Roman" panose="02020603050405020304" pitchFamily="18" charset="0"/>
              </a:rPr>
              <a:t> </a:t>
            </a:r>
          </a:p>
          <a:p>
            <a:pPr marL="342900" indent="-342900" algn="just">
              <a:buFont typeface="Arial" panose="020B0604020202020204" pitchFamily="34" charset="0"/>
              <a:buChar char="•"/>
            </a:pPr>
            <a:r>
              <a:rPr lang="en-US" sz="2000" dirty="0">
                <a:solidFill>
                  <a:srgbClr val="231F20"/>
                </a:solidFill>
                <a:effectLst/>
                <a:latin typeface="Times New Roman" panose="02020603050405020304" pitchFamily="18" charset="0"/>
                <a:ea typeface="Times New Roman" panose="02020603050405020304" pitchFamily="18" charset="0"/>
              </a:rPr>
              <a:t>For</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example,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many</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gates</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are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locked by</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latch</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mechanism.</a:t>
            </a:r>
            <a:r>
              <a:rPr lang="en-US" sz="2000" spc="-45" dirty="0">
                <a:solidFill>
                  <a:srgbClr val="231F20"/>
                </a:solidFill>
                <a:effectLst/>
                <a:latin typeface="Times New Roman" panose="02020603050405020304" pitchFamily="18" charset="0"/>
                <a:ea typeface="Times New Roman" panose="02020603050405020304" pitchFamily="18" charset="0"/>
              </a:rPr>
              <a:t> </a:t>
            </a:r>
            <a:endParaRPr lang="en-IN" dirty="0"/>
          </a:p>
        </p:txBody>
      </p:sp>
      <p:grpSp>
        <p:nvGrpSpPr>
          <p:cNvPr id="25" name="Group 24">
            <a:extLst>
              <a:ext uri="{FF2B5EF4-FFF2-40B4-BE49-F238E27FC236}">
                <a16:creationId xmlns:a16="http://schemas.microsoft.com/office/drawing/2014/main" id="{70C27A7A-AE0F-A5D6-AAA6-76082A9C4F3D}"/>
              </a:ext>
            </a:extLst>
          </p:cNvPr>
          <p:cNvGrpSpPr>
            <a:grpSpLocks/>
          </p:cNvGrpSpPr>
          <p:nvPr/>
        </p:nvGrpSpPr>
        <p:grpSpPr>
          <a:xfrm>
            <a:off x="116559" y="2320965"/>
            <a:ext cx="4844465" cy="2685643"/>
            <a:chOff x="0" y="0"/>
            <a:chExt cx="4267200" cy="2685643"/>
          </a:xfrm>
        </p:grpSpPr>
        <p:pic>
          <p:nvPicPr>
            <p:cNvPr id="26" name="Image 107">
              <a:extLst>
                <a:ext uri="{FF2B5EF4-FFF2-40B4-BE49-F238E27FC236}">
                  <a16:creationId xmlns:a16="http://schemas.microsoft.com/office/drawing/2014/main" id="{A3964CBD-BC7C-ADF9-BCF2-E6734E5025B2}"/>
                </a:ext>
              </a:extLst>
            </p:cNvPr>
            <p:cNvPicPr/>
            <p:nvPr/>
          </p:nvPicPr>
          <p:blipFill>
            <a:blip r:embed="rId2" cstate="print"/>
            <a:stretch>
              <a:fillRect/>
            </a:stretch>
          </p:blipFill>
          <p:spPr>
            <a:xfrm>
              <a:off x="344170" y="0"/>
              <a:ext cx="3578859" cy="2634043"/>
            </a:xfrm>
            <a:prstGeom prst="rect">
              <a:avLst/>
            </a:prstGeom>
          </p:spPr>
        </p:pic>
        <p:sp>
          <p:nvSpPr>
            <p:cNvPr id="27" name="Graphic 108">
              <a:extLst>
                <a:ext uri="{FF2B5EF4-FFF2-40B4-BE49-F238E27FC236}">
                  <a16:creationId xmlns:a16="http://schemas.microsoft.com/office/drawing/2014/main" id="{D310BFC9-D500-2C1A-6B6F-8366695F9536}"/>
                </a:ext>
              </a:extLst>
            </p:cNvPr>
            <p:cNvSpPr/>
            <p:nvPr/>
          </p:nvSpPr>
          <p:spPr>
            <a:xfrm>
              <a:off x="342900" y="491223"/>
              <a:ext cx="321945" cy="307975"/>
            </a:xfrm>
            <a:custGeom>
              <a:avLst/>
              <a:gdLst/>
              <a:ahLst/>
              <a:cxnLst/>
              <a:rect l="l" t="t" r="r" b="b"/>
              <a:pathLst>
                <a:path w="321945" h="307975">
                  <a:moveTo>
                    <a:pt x="321500" y="0"/>
                  </a:moveTo>
                  <a:lnTo>
                    <a:pt x="0" y="0"/>
                  </a:lnTo>
                  <a:lnTo>
                    <a:pt x="0" y="307759"/>
                  </a:lnTo>
                  <a:lnTo>
                    <a:pt x="321500" y="307759"/>
                  </a:lnTo>
                  <a:lnTo>
                    <a:pt x="321500" y="0"/>
                  </a:lnTo>
                  <a:close/>
                </a:path>
              </a:pathLst>
            </a:custGeom>
            <a:solidFill>
              <a:srgbClr val="FFFFFF"/>
            </a:solidFill>
          </p:spPr>
          <p:txBody>
            <a:bodyPr wrap="square" lIns="0" tIns="0" rIns="0" bIns="0" rtlCol="0">
              <a:prstTxWarp prst="textNoShape">
                <a:avLst/>
              </a:prstTxWarp>
              <a:noAutofit/>
            </a:bodyPr>
            <a:lstStyle/>
            <a:p>
              <a:endParaRPr lang="en-IN"/>
            </a:p>
          </p:txBody>
        </p:sp>
        <p:sp>
          <p:nvSpPr>
            <p:cNvPr id="28" name="Graphic 109">
              <a:extLst>
                <a:ext uri="{FF2B5EF4-FFF2-40B4-BE49-F238E27FC236}">
                  <a16:creationId xmlns:a16="http://schemas.microsoft.com/office/drawing/2014/main" id="{F11E106B-70D0-AE46-4468-00A8649A0D93}"/>
                </a:ext>
              </a:extLst>
            </p:cNvPr>
            <p:cNvSpPr/>
            <p:nvPr/>
          </p:nvSpPr>
          <p:spPr>
            <a:xfrm>
              <a:off x="0" y="2684373"/>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sp>
          <p:nvSpPr>
            <p:cNvPr id="29" name="Textbox 110">
              <a:extLst>
                <a:ext uri="{FF2B5EF4-FFF2-40B4-BE49-F238E27FC236}">
                  <a16:creationId xmlns:a16="http://schemas.microsoft.com/office/drawing/2014/main" id="{E6C20835-5AE8-63BA-76FD-143616E40701}"/>
                </a:ext>
              </a:extLst>
            </p:cNvPr>
            <p:cNvSpPr txBox="1"/>
            <p:nvPr/>
          </p:nvSpPr>
          <p:spPr>
            <a:xfrm>
              <a:off x="1161567" y="64003"/>
              <a:ext cx="188595" cy="101600"/>
            </a:xfrm>
            <a:prstGeom prst="rect">
              <a:avLst/>
            </a:prstGeom>
          </p:spPr>
          <p:txBody>
            <a:bodyPr wrap="square" lIns="0" tIns="0" rIns="0" bIns="0" rtlCol="0">
              <a:noAutofit/>
            </a:bodyPr>
            <a:lstStyle/>
            <a:p>
              <a:pPr>
                <a:lnSpc>
                  <a:spcPts val="775"/>
                </a:lnSpc>
              </a:pPr>
              <a:r>
                <a:rPr lang="en-IN" sz="800" spc="-70">
                  <a:solidFill>
                    <a:srgbClr val="231F20"/>
                  </a:solidFill>
                  <a:effectLst/>
                  <a:highlight>
                    <a:srgbClr val="FFFFFF"/>
                  </a:highlight>
                  <a:latin typeface="Times New Roman" panose="02020603050405020304" pitchFamily="18" charset="0"/>
                  <a:ea typeface="Times New Roman" panose="02020603050405020304" pitchFamily="18" charset="0"/>
                </a:rPr>
                <a:t> </a:t>
              </a:r>
              <a:r>
                <a:rPr lang="en-US" sz="800" spc="-25">
                  <a:solidFill>
                    <a:srgbClr val="231F20"/>
                  </a:solidFill>
                  <a:effectLst/>
                  <a:highlight>
                    <a:srgbClr val="FFFFFF"/>
                  </a:highlight>
                  <a:latin typeface="Times New Roman" panose="02020603050405020304" pitchFamily="18" charset="0"/>
                  <a:ea typeface="Times New Roman" panose="02020603050405020304" pitchFamily="18" charset="0"/>
                </a:rPr>
                <a:t>Pin</a:t>
              </a:r>
              <a:r>
                <a:rPr lang="en-US" sz="800" spc="200">
                  <a:solidFill>
                    <a:srgbClr val="231F20"/>
                  </a:solidFill>
                  <a:effectLst/>
                  <a:highlight>
                    <a:srgbClr val="FFFFFF"/>
                  </a:highligh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30" name="Textbox 111">
              <a:extLst>
                <a:ext uri="{FF2B5EF4-FFF2-40B4-BE49-F238E27FC236}">
                  <a16:creationId xmlns:a16="http://schemas.microsoft.com/office/drawing/2014/main" id="{13ECD686-0F43-4C01-EB5B-E290D58DA397}"/>
                </a:ext>
              </a:extLst>
            </p:cNvPr>
            <p:cNvSpPr txBox="1"/>
            <p:nvPr/>
          </p:nvSpPr>
          <p:spPr>
            <a:xfrm>
              <a:off x="344161" y="533556"/>
              <a:ext cx="313690" cy="228600"/>
            </a:xfrm>
            <a:prstGeom prst="rect">
              <a:avLst/>
            </a:prstGeom>
          </p:spPr>
          <p:txBody>
            <a:bodyPr wrap="square" lIns="0" tIns="0" rIns="0" bIns="0" rtlCol="0">
              <a:noAutofit/>
            </a:bodyPr>
            <a:lstStyle/>
            <a:p>
              <a:pPr>
                <a:lnSpc>
                  <a:spcPts val="775"/>
                </a:lnSpc>
              </a:pPr>
              <a:r>
                <a:rPr lang="en-US" sz="800">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sp>
          <p:nvSpPr>
            <p:cNvPr id="31" name="Textbox 112">
              <a:extLst>
                <a:ext uri="{FF2B5EF4-FFF2-40B4-BE49-F238E27FC236}">
                  <a16:creationId xmlns:a16="http://schemas.microsoft.com/office/drawing/2014/main" id="{9A8EFF70-0242-55ED-E55C-2053FEE4BD9F}"/>
                </a:ext>
              </a:extLst>
            </p:cNvPr>
            <p:cNvSpPr txBox="1"/>
            <p:nvPr/>
          </p:nvSpPr>
          <p:spPr>
            <a:xfrm>
              <a:off x="3685273" y="483819"/>
              <a:ext cx="239395" cy="425450"/>
            </a:xfrm>
            <a:prstGeom prst="rect">
              <a:avLst/>
            </a:prstGeom>
            <a:solidFill>
              <a:srgbClr val="FFFFFF"/>
            </a:solidFill>
          </p:spPr>
          <p:txBody>
            <a:bodyPr wrap="square" lIns="0" tIns="0" rIns="0" bIns="0" rtlCol="0">
              <a:noAutofit/>
            </a:bodyPr>
            <a:lstStyle/>
            <a:p>
              <a:pPr marR="1270">
                <a:lnSpc>
                  <a:spcPct val="108000"/>
                </a:lnSpc>
                <a:spcBef>
                  <a:spcPts val="245"/>
                </a:spcBef>
                <a:spcAft>
                  <a:spcPts val="0"/>
                </a:spcAft>
              </a:pPr>
              <a:r>
                <a:rPr lang="en-US" sz="800">
                  <a:solidFill>
                    <a:srgbClr val="000000"/>
                  </a:solidFill>
                  <a:effectLst/>
                  <a:latin typeface="Times New Roman" panose="02020603050405020304" pitchFamily="18" charset="0"/>
                  <a:ea typeface="Times New Roman" panose="02020603050405020304" pitchFamily="18" charset="0"/>
                </a:rPr>
                <a:t> </a:t>
              </a:r>
              <a:endParaRPr lang="en-IN" sz="1100">
                <a:effectLst/>
                <a:latin typeface="Times New Roman" panose="02020603050405020304" pitchFamily="18" charset="0"/>
                <a:ea typeface="Times New Roman" panose="02020603050405020304" pitchFamily="18" charset="0"/>
              </a:endParaRPr>
            </a:p>
          </p:txBody>
        </p:sp>
      </p:grpSp>
      <p:sp>
        <p:nvSpPr>
          <p:cNvPr id="33" name="TextBox 32">
            <a:extLst>
              <a:ext uri="{FF2B5EF4-FFF2-40B4-BE49-F238E27FC236}">
                <a16:creationId xmlns:a16="http://schemas.microsoft.com/office/drawing/2014/main" id="{B25CCE08-0B74-E244-19C0-14DA55BB5038}"/>
              </a:ext>
            </a:extLst>
          </p:cNvPr>
          <p:cNvSpPr txBox="1"/>
          <p:nvPr/>
        </p:nvSpPr>
        <p:spPr>
          <a:xfrm>
            <a:off x="-812712" y="5284938"/>
            <a:ext cx="6386050" cy="307777"/>
          </a:xfrm>
          <a:prstGeom prst="rect">
            <a:avLst/>
          </a:prstGeom>
          <a:noFill/>
        </p:spPr>
        <p:txBody>
          <a:bodyPr wrap="square">
            <a:spAutoFit/>
          </a:bodyPr>
          <a:lstStyle/>
          <a:p>
            <a:pPr algn="ct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Tools</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objects</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latching</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mechanism</a:t>
            </a:r>
            <a:endParaRPr lang="en-IN" sz="14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4E1A5752-5BED-5AC1-1E32-9461DF9A508B}"/>
              </a:ext>
            </a:extLst>
          </p:cNvPr>
          <p:cNvGrpSpPr>
            <a:grpSpLocks/>
          </p:cNvGrpSpPr>
          <p:nvPr/>
        </p:nvGrpSpPr>
        <p:grpSpPr>
          <a:xfrm>
            <a:off x="7714382" y="1487967"/>
            <a:ext cx="3716593" cy="1941033"/>
            <a:chOff x="0" y="0"/>
            <a:chExt cx="1729991" cy="1078654"/>
          </a:xfrm>
        </p:grpSpPr>
        <p:pic>
          <p:nvPicPr>
            <p:cNvPr id="3" name="Image 114">
              <a:extLst>
                <a:ext uri="{FF2B5EF4-FFF2-40B4-BE49-F238E27FC236}">
                  <a16:creationId xmlns:a16="http://schemas.microsoft.com/office/drawing/2014/main" id="{2F81AEA2-0018-AB59-9618-44FCAC423F31}"/>
                </a:ext>
              </a:extLst>
            </p:cNvPr>
            <p:cNvPicPr/>
            <p:nvPr/>
          </p:nvPicPr>
          <p:blipFill>
            <a:blip r:embed="rId3" cstate="print"/>
            <a:stretch>
              <a:fillRect/>
            </a:stretch>
          </p:blipFill>
          <p:spPr>
            <a:xfrm>
              <a:off x="0" y="0"/>
              <a:ext cx="1728454" cy="1078654"/>
            </a:xfrm>
            <a:prstGeom prst="rect">
              <a:avLst/>
            </a:prstGeom>
          </p:spPr>
        </p:pic>
        <p:sp>
          <p:nvSpPr>
            <p:cNvPr id="4" name="Textbox 115">
              <a:extLst>
                <a:ext uri="{FF2B5EF4-FFF2-40B4-BE49-F238E27FC236}">
                  <a16:creationId xmlns:a16="http://schemas.microsoft.com/office/drawing/2014/main" id="{63216A8D-930E-905A-BC39-41647577EDC1}"/>
                </a:ext>
              </a:extLst>
            </p:cNvPr>
            <p:cNvSpPr txBox="1"/>
            <p:nvPr/>
          </p:nvSpPr>
          <p:spPr>
            <a:xfrm>
              <a:off x="408086" y="10470"/>
              <a:ext cx="499109" cy="101600"/>
            </a:xfrm>
            <a:prstGeom prst="rect">
              <a:avLst/>
            </a:prstGeom>
          </p:spPr>
          <p:txBody>
            <a:bodyPr wrap="square" lIns="0" tIns="0" rIns="0" bIns="0" rtlCol="0">
              <a:noAutofit/>
            </a:bodyPr>
            <a:lstStyle/>
            <a:p>
              <a:pPr>
                <a:lnSpc>
                  <a:spcPts val="775"/>
                </a:lnSpc>
              </a:pPr>
              <a:endParaRPr lang="en-IN" sz="1100" dirty="0">
                <a:effectLst/>
                <a:latin typeface="Times New Roman" panose="02020603050405020304" pitchFamily="18" charset="0"/>
                <a:ea typeface="Times New Roman" panose="02020603050405020304" pitchFamily="18" charset="0"/>
              </a:endParaRPr>
            </a:p>
          </p:txBody>
        </p:sp>
        <p:sp>
          <p:nvSpPr>
            <p:cNvPr id="5" name="Textbox 116">
              <a:extLst>
                <a:ext uri="{FF2B5EF4-FFF2-40B4-BE49-F238E27FC236}">
                  <a16:creationId xmlns:a16="http://schemas.microsoft.com/office/drawing/2014/main" id="{3699FDB6-DFA5-CFB0-6AEB-89078B103264}"/>
                </a:ext>
              </a:extLst>
            </p:cNvPr>
            <p:cNvSpPr txBox="1"/>
            <p:nvPr/>
          </p:nvSpPr>
          <p:spPr>
            <a:xfrm>
              <a:off x="466110" y="651822"/>
              <a:ext cx="439420" cy="101600"/>
            </a:xfrm>
            <a:prstGeom prst="rect">
              <a:avLst/>
            </a:prstGeom>
          </p:spPr>
          <p:txBody>
            <a:bodyPr wrap="square" lIns="0" tIns="0" rIns="0" bIns="0" rtlCol="0">
              <a:noAutofit/>
            </a:bodyPr>
            <a:lstStyle/>
            <a:p>
              <a:pPr>
                <a:lnSpc>
                  <a:spcPts val="775"/>
                </a:lnSpc>
              </a:pPr>
              <a:r>
                <a:rPr lang="en-US" sz="800" spc="400" dirty="0">
                  <a:solidFill>
                    <a:srgbClr val="231F20"/>
                  </a:solidFill>
                  <a:effectLst/>
                  <a:highlight>
                    <a:srgbClr val="FFFFFF"/>
                  </a:highlight>
                  <a:latin typeface="Times New Roman" panose="02020603050405020304" pitchFamily="18" charset="0"/>
                  <a:ea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endParaRPr>
            </a:p>
          </p:txBody>
        </p:sp>
        <p:sp>
          <p:nvSpPr>
            <p:cNvPr id="6" name="Textbox 117">
              <a:extLst>
                <a:ext uri="{FF2B5EF4-FFF2-40B4-BE49-F238E27FC236}">
                  <a16:creationId xmlns:a16="http://schemas.microsoft.com/office/drawing/2014/main" id="{9759E8C8-1407-AECC-06AA-49D78E016592}"/>
                </a:ext>
              </a:extLst>
            </p:cNvPr>
            <p:cNvSpPr txBox="1"/>
            <p:nvPr/>
          </p:nvSpPr>
          <p:spPr>
            <a:xfrm>
              <a:off x="979421" y="184663"/>
              <a:ext cx="750570" cy="194945"/>
            </a:xfrm>
            <a:prstGeom prst="rect">
              <a:avLst/>
            </a:prstGeom>
            <a:solidFill>
              <a:srgbClr val="FFFFFF"/>
            </a:solidFill>
          </p:spPr>
          <p:txBody>
            <a:bodyPr wrap="square" lIns="0" tIns="0" rIns="0" bIns="0" rtlCol="0">
              <a:noAutofit/>
            </a:bodyPr>
            <a:lstStyle/>
            <a:p>
              <a:pPr marL="18415">
                <a:spcBef>
                  <a:spcPts val="285"/>
                </a:spcBef>
                <a:spcAft>
                  <a:spcPts val="0"/>
                </a:spcAft>
              </a:pPr>
              <a:r>
                <a:rPr lang="en-US" sz="1200" dirty="0">
                  <a:solidFill>
                    <a:srgbClr val="231F20"/>
                  </a:solidFill>
                  <a:effectLst/>
                  <a:latin typeface="Times New Roman" panose="02020603050405020304" pitchFamily="18" charset="0"/>
                  <a:ea typeface="Times New Roman" panose="02020603050405020304" pitchFamily="18" charset="0"/>
                </a:rPr>
                <a:t>A</a:t>
              </a:r>
              <a:r>
                <a:rPr lang="en-US" sz="1200" spc="-35" dirty="0">
                  <a:solidFill>
                    <a:srgbClr val="231F20"/>
                  </a:solidFill>
                  <a:effectLst/>
                  <a:latin typeface="Times New Roman" panose="02020603050405020304" pitchFamily="18" charset="0"/>
                  <a:ea typeface="Times New Roman" panose="02020603050405020304" pitchFamily="18" charset="0"/>
                </a:rPr>
                <a:t> </a:t>
              </a:r>
              <a:r>
                <a:rPr lang="en-US" sz="1200" dirty="0">
                  <a:solidFill>
                    <a:srgbClr val="231F20"/>
                  </a:solidFill>
                  <a:effectLst/>
                  <a:latin typeface="Times New Roman" panose="02020603050405020304" pitchFamily="18" charset="0"/>
                  <a:ea typeface="Times New Roman" panose="02020603050405020304" pitchFamily="18" charset="0"/>
                </a:rPr>
                <a:t>part</a:t>
              </a:r>
              <a:r>
                <a:rPr lang="en-US" sz="1200" spc="-35" dirty="0">
                  <a:solidFill>
                    <a:srgbClr val="231F20"/>
                  </a:solidFill>
                  <a:effectLst/>
                  <a:latin typeface="Times New Roman" panose="02020603050405020304" pitchFamily="18" charset="0"/>
                  <a:ea typeface="Times New Roman" panose="02020603050405020304" pitchFamily="18" charset="0"/>
                </a:rPr>
                <a:t> </a:t>
              </a:r>
              <a:r>
                <a:rPr lang="en-US" sz="1200" dirty="0">
                  <a:solidFill>
                    <a:srgbClr val="231F20"/>
                  </a:solidFill>
                  <a:effectLst/>
                  <a:latin typeface="Times New Roman" panose="02020603050405020304" pitchFamily="18" charset="0"/>
                  <a:ea typeface="Times New Roman" panose="02020603050405020304" pitchFamily="18" charset="0"/>
                </a:rPr>
                <a:t>with</a:t>
              </a:r>
              <a:r>
                <a:rPr lang="en-US" sz="1200" spc="-35" dirty="0">
                  <a:solidFill>
                    <a:srgbClr val="231F20"/>
                  </a:solidFill>
                  <a:effectLst/>
                  <a:latin typeface="Times New Roman" panose="02020603050405020304" pitchFamily="18" charset="0"/>
                  <a:ea typeface="Times New Roman" panose="02020603050405020304" pitchFamily="18" charset="0"/>
                </a:rPr>
                <a:t> </a:t>
              </a:r>
              <a:r>
                <a:rPr lang="en-US" sz="1200" dirty="0">
                  <a:solidFill>
                    <a:srgbClr val="231F20"/>
                  </a:solidFill>
                  <a:effectLst/>
                  <a:latin typeface="Times New Roman" panose="02020603050405020304" pitchFamily="18" charset="0"/>
                  <a:ea typeface="Times New Roman" panose="02020603050405020304" pitchFamily="18" charset="0"/>
                </a:rPr>
                <a:t>a</a:t>
              </a:r>
              <a:r>
                <a:rPr lang="en-US" sz="1200" spc="-40" dirty="0">
                  <a:solidFill>
                    <a:srgbClr val="231F20"/>
                  </a:solidFill>
                  <a:effectLst/>
                  <a:latin typeface="Times New Roman" panose="02020603050405020304" pitchFamily="18" charset="0"/>
                  <a:ea typeface="Times New Roman" panose="02020603050405020304" pitchFamily="18" charset="0"/>
                </a:rPr>
                <a:t> </a:t>
              </a:r>
              <a:r>
                <a:rPr lang="en-US" sz="1200" spc="-20" dirty="0">
                  <a:solidFill>
                    <a:srgbClr val="231F20"/>
                  </a:solidFill>
                  <a:effectLst/>
                  <a:latin typeface="Times New Roman" panose="02020603050405020304" pitchFamily="18" charset="0"/>
                  <a:ea typeface="Times New Roman" panose="02020603050405020304" pitchFamily="18" charset="0"/>
                </a:rPr>
                <a:t>hole</a:t>
              </a:r>
              <a:endParaRPr lang="en-IN" sz="1200" dirty="0">
                <a:effectLst/>
                <a:latin typeface="Times New Roman" panose="02020603050405020304" pitchFamily="18" charset="0"/>
                <a:ea typeface="Times New Roman" panose="02020603050405020304" pitchFamily="18" charset="0"/>
              </a:endParaRPr>
            </a:p>
          </p:txBody>
        </p:sp>
      </p:grpSp>
      <p:sp>
        <p:nvSpPr>
          <p:cNvPr id="17" name="TextBox 16">
            <a:extLst>
              <a:ext uri="{FF2B5EF4-FFF2-40B4-BE49-F238E27FC236}">
                <a16:creationId xmlns:a16="http://schemas.microsoft.com/office/drawing/2014/main" id="{6393E17E-E7A3-4416-E4F6-65A7BBA257AB}"/>
              </a:ext>
            </a:extLst>
          </p:cNvPr>
          <p:cNvSpPr txBox="1"/>
          <p:nvPr/>
        </p:nvSpPr>
        <p:spPr>
          <a:xfrm>
            <a:off x="5573338" y="3628795"/>
            <a:ext cx="6327058" cy="307777"/>
          </a:xfrm>
          <a:prstGeom prst="rect">
            <a:avLst/>
          </a:prstGeom>
          <a:noFill/>
        </p:spPr>
        <p:txBody>
          <a:bodyPr wrap="square">
            <a:spAutoFit/>
          </a:bodyPr>
          <a:lstStyle/>
          <a:p>
            <a:pPr algn="ct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Limiting</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view</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latching</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mechanism</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problem</a:t>
            </a:r>
            <a:endParaRPr lang="en-IN" sz="14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4B608923-2B50-CC38-8473-0FF1204CB3DA}"/>
              </a:ext>
            </a:extLst>
          </p:cNvPr>
          <p:cNvGrpSpPr>
            <a:grpSpLocks/>
          </p:cNvGrpSpPr>
          <p:nvPr/>
        </p:nvGrpSpPr>
        <p:grpSpPr>
          <a:xfrm>
            <a:off x="7422148" y="4283039"/>
            <a:ext cx="3639142" cy="2025461"/>
            <a:chOff x="0" y="0"/>
            <a:chExt cx="1828799" cy="1753209"/>
          </a:xfrm>
        </p:grpSpPr>
        <p:pic>
          <p:nvPicPr>
            <p:cNvPr id="10" name="Image 120">
              <a:extLst>
                <a:ext uri="{FF2B5EF4-FFF2-40B4-BE49-F238E27FC236}">
                  <a16:creationId xmlns:a16="http://schemas.microsoft.com/office/drawing/2014/main" id="{23769B13-30FE-B202-183C-02AB5B401DC7}"/>
                </a:ext>
              </a:extLst>
            </p:cNvPr>
            <p:cNvPicPr/>
            <p:nvPr/>
          </p:nvPicPr>
          <p:blipFill>
            <a:blip r:embed="rId4" cstate="print"/>
            <a:stretch>
              <a:fillRect/>
            </a:stretch>
          </p:blipFill>
          <p:spPr>
            <a:xfrm>
              <a:off x="1" y="0"/>
              <a:ext cx="1828798" cy="1753209"/>
            </a:xfrm>
            <a:prstGeom prst="rect">
              <a:avLst/>
            </a:prstGeom>
          </p:spPr>
        </p:pic>
        <p:sp>
          <p:nvSpPr>
            <p:cNvPr id="8" name="Graphic 121">
              <a:extLst>
                <a:ext uri="{FF2B5EF4-FFF2-40B4-BE49-F238E27FC236}">
                  <a16:creationId xmlns:a16="http://schemas.microsoft.com/office/drawing/2014/main" id="{562983D5-9384-A55E-4FD0-ECC45053A78B}"/>
                </a:ext>
              </a:extLst>
            </p:cNvPr>
            <p:cNvSpPr/>
            <p:nvPr/>
          </p:nvSpPr>
          <p:spPr>
            <a:xfrm>
              <a:off x="0" y="271919"/>
              <a:ext cx="582295" cy="209550"/>
            </a:xfrm>
            <a:custGeom>
              <a:avLst/>
              <a:gdLst/>
              <a:ahLst/>
              <a:cxnLst/>
              <a:rect l="l" t="t" r="r" b="b"/>
              <a:pathLst>
                <a:path w="582295" h="209550">
                  <a:moveTo>
                    <a:pt x="582079" y="0"/>
                  </a:moveTo>
                  <a:lnTo>
                    <a:pt x="0" y="0"/>
                  </a:lnTo>
                  <a:lnTo>
                    <a:pt x="0" y="209549"/>
                  </a:lnTo>
                  <a:lnTo>
                    <a:pt x="582079" y="209549"/>
                  </a:lnTo>
                  <a:lnTo>
                    <a:pt x="582079" y="0"/>
                  </a:lnTo>
                  <a:close/>
                </a:path>
              </a:pathLst>
            </a:custGeom>
            <a:solidFill>
              <a:srgbClr val="FFFFFF"/>
            </a:solidFill>
          </p:spPr>
          <p:txBody>
            <a:bodyPr wrap="square" lIns="0" tIns="0" rIns="0" bIns="0" rtlCol="0">
              <a:prstTxWarp prst="textNoShape">
                <a:avLst/>
              </a:prstTxWarp>
              <a:noAutofit/>
            </a:bodyPr>
            <a:lstStyle/>
            <a:p>
              <a:endParaRPr lang="en-IN"/>
            </a:p>
          </p:txBody>
        </p:sp>
        <p:sp>
          <p:nvSpPr>
            <p:cNvPr id="12" name="Graphic 122">
              <a:extLst>
                <a:ext uri="{FF2B5EF4-FFF2-40B4-BE49-F238E27FC236}">
                  <a16:creationId xmlns:a16="http://schemas.microsoft.com/office/drawing/2014/main" id="{850D4E5F-2E1D-6602-9128-7D31971B27AF}"/>
                </a:ext>
              </a:extLst>
            </p:cNvPr>
            <p:cNvSpPr/>
            <p:nvPr/>
          </p:nvSpPr>
          <p:spPr>
            <a:xfrm>
              <a:off x="519379" y="333387"/>
              <a:ext cx="561340" cy="81915"/>
            </a:xfrm>
            <a:custGeom>
              <a:avLst/>
              <a:gdLst/>
              <a:ahLst/>
              <a:cxnLst/>
              <a:rect l="l" t="t" r="r" b="b"/>
              <a:pathLst>
                <a:path w="561340" h="81915">
                  <a:moveTo>
                    <a:pt x="0" y="81699"/>
                  </a:moveTo>
                  <a:lnTo>
                    <a:pt x="560793" y="0"/>
                  </a:lnTo>
                </a:path>
              </a:pathLst>
            </a:custGeom>
            <a:ln w="6350">
              <a:solidFill>
                <a:srgbClr val="231F20"/>
              </a:solidFill>
              <a:prstDash val="solid"/>
            </a:ln>
          </p:spPr>
          <p:txBody>
            <a:bodyPr wrap="square" lIns="0" tIns="0" rIns="0" bIns="0" rtlCol="0">
              <a:prstTxWarp prst="textNoShape">
                <a:avLst/>
              </a:prstTxWarp>
              <a:noAutofit/>
            </a:bodyPr>
            <a:lstStyle/>
            <a:p>
              <a:endParaRPr lang="en-IN"/>
            </a:p>
          </p:txBody>
        </p:sp>
        <p:sp>
          <p:nvSpPr>
            <p:cNvPr id="13" name="Textbox 123">
              <a:extLst>
                <a:ext uri="{FF2B5EF4-FFF2-40B4-BE49-F238E27FC236}">
                  <a16:creationId xmlns:a16="http://schemas.microsoft.com/office/drawing/2014/main" id="{45C94CB1-D0B1-C3C8-D48A-3AF2883FFB73}"/>
                </a:ext>
              </a:extLst>
            </p:cNvPr>
            <p:cNvSpPr txBox="1"/>
            <p:nvPr/>
          </p:nvSpPr>
          <p:spPr>
            <a:xfrm>
              <a:off x="26620" y="271919"/>
              <a:ext cx="492759" cy="145586"/>
            </a:xfrm>
            <a:prstGeom prst="rect">
              <a:avLst/>
            </a:prstGeom>
          </p:spPr>
          <p:txBody>
            <a:bodyPr wrap="square" lIns="0" tIns="0" rIns="0" bIns="0" rtlCol="0">
              <a:noAutofit/>
            </a:bodyPr>
            <a:lstStyle/>
            <a:p>
              <a:pPr>
                <a:lnSpc>
                  <a:spcPts val="775"/>
                </a:lnSpc>
              </a:pPr>
              <a:r>
                <a:rPr lang="en-US" sz="1200" dirty="0">
                  <a:solidFill>
                    <a:srgbClr val="231F20"/>
                  </a:solidFill>
                  <a:effectLst/>
                  <a:latin typeface="Times New Roman" panose="02020603050405020304" pitchFamily="18" charset="0"/>
                  <a:ea typeface="Times New Roman" panose="02020603050405020304" pitchFamily="18" charset="0"/>
                </a:rPr>
                <a:t>Angle</a:t>
              </a:r>
              <a:r>
                <a:rPr lang="en-US" sz="1200" spc="-15" dirty="0">
                  <a:solidFill>
                    <a:srgbClr val="231F20"/>
                  </a:solidFill>
                  <a:effectLst/>
                  <a:latin typeface="Times New Roman" panose="02020603050405020304" pitchFamily="18" charset="0"/>
                  <a:ea typeface="Times New Roman" panose="02020603050405020304" pitchFamily="18" charset="0"/>
                </a:rPr>
                <a:t> </a:t>
              </a:r>
              <a:r>
                <a:rPr lang="en-US" sz="1200" spc="-10" dirty="0">
                  <a:solidFill>
                    <a:srgbClr val="231F20"/>
                  </a:solidFill>
                  <a:effectLst/>
                  <a:latin typeface="Times New Roman" panose="02020603050405020304" pitchFamily="18" charset="0"/>
                  <a:ea typeface="Times New Roman" panose="02020603050405020304" pitchFamily="18" charset="0"/>
                </a:rPr>
                <a:t>15.4°</a:t>
              </a:r>
              <a:endParaRPr lang="en-IN" sz="1200" dirty="0">
                <a:effectLst/>
                <a:latin typeface="Times New Roman" panose="02020603050405020304" pitchFamily="18" charset="0"/>
                <a:ea typeface="Times New Roman" panose="02020603050405020304" pitchFamily="18" charset="0"/>
              </a:endParaRPr>
            </a:p>
          </p:txBody>
        </p:sp>
        <p:sp>
          <p:nvSpPr>
            <p:cNvPr id="14" name="Textbox 124">
              <a:extLst>
                <a:ext uri="{FF2B5EF4-FFF2-40B4-BE49-F238E27FC236}">
                  <a16:creationId xmlns:a16="http://schemas.microsoft.com/office/drawing/2014/main" id="{478507E9-B1F7-7195-FFEC-17504BDE7D17}"/>
                </a:ext>
              </a:extLst>
            </p:cNvPr>
            <p:cNvSpPr txBox="1"/>
            <p:nvPr/>
          </p:nvSpPr>
          <p:spPr>
            <a:xfrm>
              <a:off x="1270795" y="271919"/>
              <a:ext cx="525145" cy="179533"/>
            </a:xfrm>
            <a:prstGeom prst="rect">
              <a:avLst/>
            </a:prstGeom>
          </p:spPr>
          <p:txBody>
            <a:bodyPr wrap="square" lIns="0" tIns="0" rIns="0" bIns="0" rtlCol="0">
              <a:noAutofit/>
            </a:bodyPr>
            <a:lstStyle/>
            <a:p>
              <a:pPr>
                <a:lnSpc>
                  <a:spcPts val="775"/>
                </a:lnSpc>
              </a:pPr>
              <a:r>
                <a:rPr lang="en-IN" sz="800" spc="85" dirty="0">
                  <a:solidFill>
                    <a:srgbClr val="231F20"/>
                  </a:solidFill>
                  <a:effectLst/>
                  <a:highlight>
                    <a:srgbClr val="FFFFFF"/>
                  </a:highlight>
                  <a:latin typeface="Times New Roman" panose="02020603050405020304" pitchFamily="18" charset="0"/>
                  <a:ea typeface="Times New Roman" panose="02020603050405020304" pitchFamily="18" charset="0"/>
                </a:rPr>
                <a:t> </a:t>
              </a:r>
              <a:r>
                <a:rPr lang="en-US" sz="800" spc="400" dirty="0">
                  <a:solidFill>
                    <a:srgbClr val="231F20"/>
                  </a:solidFill>
                  <a:effectLst/>
                  <a:highlight>
                    <a:srgbClr val="FFFFFF"/>
                  </a:highlight>
                  <a:latin typeface="Times New Roman" panose="02020603050405020304" pitchFamily="18" charset="0"/>
                  <a:ea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endParaRPr>
            </a:p>
          </p:txBody>
        </p:sp>
        <p:sp>
          <p:nvSpPr>
            <p:cNvPr id="15" name="Textbox 125">
              <a:extLst>
                <a:ext uri="{FF2B5EF4-FFF2-40B4-BE49-F238E27FC236}">
                  <a16:creationId xmlns:a16="http://schemas.microsoft.com/office/drawing/2014/main" id="{3C52B930-2BA5-55C0-03D9-6023C48E8BD8}"/>
                </a:ext>
              </a:extLst>
            </p:cNvPr>
            <p:cNvSpPr txBox="1"/>
            <p:nvPr/>
          </p:nvSpPr>
          <p:spPr>
            <a:xfrm>
              <a:off x="1308100" y="973908"/>
              <a:ext cx="480695" cy="180286"/>
            </a:xfrm>
            <a:prstGeom prst="rect">
              <a:avLst/>
            </a:prstGeom>
          </p:spPr>
          <p:txBody>
            <a:bodyPr wrap="square" lIns="0" tIns="0" rIns="0" bIns="0" rtlCol="0">
              <a:noAutofit/>
            </a:bodyPr>
            <a:lstStyle/>
            <a:p>
              <a:pPr>
                <a:lnSpc>
                  <a:spcPts val="775"/>
                </a:lnSpc>
              </a:pPr>
              <a:endParaRPr lang="en-IN" sz="1100" dirty="0">
                <a:effectLst/>
                <a:latin typeface="Times New Roman" panose="02020603050405020304" pitchFamily="18" charset="0"/>
                <a:ea typeface="Times New Roman" panose="02020603050405020304" pitchFamily="18" charset="0"/>
              </a:endParaRPr>
            </a:p>
          </p:txBody>
        </p:sp>
      </p:grpSp>
      <p:sp>
        <p:nvSpPr>
          <p:cNvPr id="19" name="TextBox 18">
            <a:extLst>
              <a:ext uri="{FF2B5EF4-FFF2-40B4-BE49-F238E27FC236}">
                <a16:creationId xmlns:a16="http://schemas.microsoft.com/office/drawing/2014/main" id="{D8CA7B07-0197-1F5A-2A63-6687909C290C}"/>
              </a:ext>
            </a:extLst>
          </p:cNvPr>
          <p:cNvSpPr txBox="1"/>
          <p:nvPr/>
        </p:nvSpPr>
        <p:spPr>
          <a:xfrm>
            <a:off x="5864942" y="6314868"/>
            <a:ext cx="6327058" cy="307777"/>
          </a:xfrm>
          <a:prstGeom prst="rect">
            <a:avLst/>
          </a:prstGeom>
          <a:noFill/>
        </p:spPr>
        <p:txBody>
          <a:bodyPr wrap="square">
            <a:spAutoFit/>
          </a:bodyPr>
          <a:lstStyle/>
          <a:p>
            <a:pPr algn="ct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principle</a:t>
            </a:r>
            <a:r>
              <a:rPr lang="en-US" sz="1400" b="1"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solution</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400" b="1"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locking</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mechanism</a:t>
            </a:r>
            <a:r>
              <a:rPr lang="en-US" sz="1400" b="1"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problem</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8554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024B907-BA71-520A-8491-2785FCB28CDC}"/>
              </a:ext>
            </a:extLst>
          </p:cNvPr>
          <p:cNvSpPr txBox="1"/>
          <p:nvPr/>
        </p:nvSpPr>
        <p:spPr>
          <a:xfrm>
            <a:off x="7304406" y="1086167"/>
            <a:ext cx="3952568" cy="1631216"/>
          </a:xfrm>
          <a:prstGeom prst="rect">
            <a:avLst/>
          </a:prstGeom>
          <a:noFill/>
        </p:spPr>
        <p:txBody>
          <a:bodyPr wrap="square">
            <a:spAutoFit/>
          </a:bodyPr>
          <a:lstStyle/>
          <a:p>
            <a:pPr algn="just"/>
            <a:r>
              <a:rPr lang="en-US" sz="2000" dirty="0">
                <a:solidFill>
                  <a:srgbClr val="231F20"/>
                </a:solidFill>
                <a:effectLst/>
                <a:latin typeface="Times New Roman" panose="02020603050405020304" pitchFamily="18" charset="0"/>
                <a:ea typeface="Times New Roman" panose="02020603050405020304" pitchFamily="18" charset="0"/>
              </a:rPr>
              <a:t>In</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1994,</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the</a:t>
            </a:r>
            <a:r>
              <a:rPr lang="en-US" sz="2000" spc="-1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ferry</a:t>
            </a:r>
            <a:r>
              <a:rPr lang="en-US" sz="2000" spc="-1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Estonia</a:t>
            </a:r>
            <a:r>
              <a:rPr lang="en-US" sz="2000" spc="-1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sank</a:t>
            </a:r>
            <a:r>
              <a:rPr lang="en-US" sz="2000" spc="-1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in </a:t>
            </a:r>
            <a:r>
              <a:rPr lang="en-US" sz="2000" spc="-20" dirty="0">
                <a:solidFill>
                  <a:srgbClr val="FF0000"/>
                </a:solidFill>
                <a:effectLst/>
                <a:latin typeface="Times New Roman" panose="02020603050405020304" pitchFamily="18" charset="0"/>
                <a:ea typeface="Times New Roman" panose="02020603050405020304" pitchFamily="18" charset="0"/>
              </a:rPr>
              <a:t>the Baltic Sea and 852 persons lost their lives. </a:t>
            </a:r>
            <a:r>
              <a:rPr lang="en-US" sz="2000" spc="-20" dirty="0">
                <a:solidFill>
                  <a:srgbClr val="231F20"/>
                </a:solidFill>
                <a:effectLst/>
                <a:latin typeface="Times New Roman" panose="02020603050405020304" pitchFamily="18" charset="0"/>
                <a:ea typeface="Times New Roman" panose="02020603050405020304" pitchFamily="18" charset="0"/>
              </a:rPr>
              <a:t>The investigating commission found </a:t>
            </a:r>
            <a:r>
              <a:rPr lang="en-US" sz="2000" dirty="0">
                <a:solidFill>
                  <a:srgbClr val="231F20"/>
                </a:solidFill>
                <a:effectLst/>
                <a:latin typeface="Times New Roman" panose="02020603050405020304" pitchFamily="18" charset="0"/>
                <a:ea typeface="Times New Roman" panose="02020603050405020304" pitchFamily="18" charset="0"/>
              </a:rPr>
              <a:t>that</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reason</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for</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disaster</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was</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failure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locking</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mechanism.</a:t>
            </a:r>
            <a:r>
              <a:rPr lang="en-US" sz="2000" spc="-30" dirty="0">
                <a:solidFill>
                  <a:srgbClr val="231F20"/>
                </a:solidFill>
                <a:effectLst/>
                <a:latin typeface="Times New Roman" panose="02020603050405020304" pitchFamily="18" charset="0"/>
                <a:ea typeface="Times New Roman" panose="02020603050405020304" pitchFamily="18" charset="0"/>
              </a:rPr>
              <a:t> </a:t>
            </a:r>
            <a:endParaRPr lang="en-IN" sz="2000" dirty="0"/>
          </a:p>
        </p:txBody>
      </p:sp>
      <p:sp>
        <p:nvSpPr>
          <p:cNvPr id="21" name="TextBox 20">
            <a:extLst>
              <a:ext uri="{FF2B5EF4-FFF2-40B4-BE49-F238E27FC236}">
                <a16:creationId xmlns:a16="http://schemas.microsoft.com/office/drawing/2014/main" id="{F71B3E6A-3ADC-0631-BAC5-106734F46E8E}"/>
              </a:ext>
            </a:extLst>
          </p:cNvPr>
          <p:cNvSpPr txBox="1"/>
          <p:nvPr/>
        </p:nvSpPr>
        <p:spPr>
          <a:xfrm>
            <a:off x="7089058" y="3799237"/>
            <a:ext cx="4562168" cy="1041119"/>
          </a:xfrm>
          <a:prstGeom prst="rect">
            <a:avLst/>
          </a:prstGeom>
          <a:noFill/>
        </p:spPr>
        <p:txBody>
          <a:bodyPr wrap="square">
            <a:spAutoFit/>
          </a:bodyPr>
          <a:lstStyle/>
          <a:p>
            <a:pPr marL="209550" marR="232410" algn="just">
              <a:lnSpc>
                <a:spcPct val="105000"/>
              </a:lnSpc>
              <a:spcAft>
                <a:spcPts val="0"/>
              </a:spcAft>
            </a:pPr>
            <a:r>
              <a:rPr lang="en-US" sz="2000" dirty="0">
                <a:solidFill>
                  <a:srgbClr val="231F20"/>
                </a:solidFill>
                <a:latin typeface="Times New Roman" panose="02020603050405020304" pitchFamily="18" charset="0"/>
                <a:ea typeface="Times New Roman" panose="02020603050405020304" pitchFamily="18" charset="0"/>
              </a:rPr>
              <a:t>T</a:t>
            </a:r>
            <a:r>
              <a:rPr lang="en-US" sz="2000" dirty="0">
                <a:solidFill>
                  <a:srgbClr val="231F20"/>
                </a:solidFill>
                <a:effectLst/>
                <a:latin typeface="Times New Roman" panose="02020603050405020304" pitchFamily="18" charset="0"/>
                <a:ea typeface="Times New Roman" panose="02020603050405020304" pitchFamily="18" charset="0"/>
              </a:rPr>
              <a:t>he</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locking</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mechanism</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reduces</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 amount of force needed to initially open a gate or hatch.</a:t>
            </a:r>
            <a:endParaRPr lang="en-IN" sz="2000" dirty="0">
              <a:effectLst/>
              <a:latin typeface="Times New Roman" panose="02020603050405020304" pitchFamily="18" charset="0"/>
              <a:ea typeface="Times New Roman" panose="02020603050405020304" pitchFamily="18" charset="0"/>
            </a:endParaRPr>
          </a:p>
        </p:txBody>
      </p:sp>
      <p:pic>
        <p:nvPicPr>
          <p:cNvPr id="1028" name="Picture 4" descr="Estonia ferry disaster: TV crew uncovers new evidence - BBC News">
            <a:extLst>
              <a:ext uri="{FF2B5EF4-FFF2-40B4-BE49-F238E27FC236}">
                <a16:creationId xmlns:a16="http://schemas.microsoft.com/office/drawing/2014/main" id="{723DB58F-2F23-FE7D-CD25-D72847412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632" y="455553"/>
            <a:ext cx="6145162" cy="5365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924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43DB9E-913C-3154-4FDE-73991CA75CC6}"/>
              </a:ext>
            </a:extLst>
          </p:cNvPr>
          <p:cNvSpPr txBox="1"/>
          <p:nvPr/>
        </p:nvSpPr>
        <p:spPr>
          <a:xfrm>
            <a:off x="3162814" y="214053"/>
            <a:ext cx="6096000" cy="369332"/>
          </a:xfrm>
          <a:prstGeom prst="rect">
            <a:avLst/>
          </a:prstGeom>
          <a:noFill/>
        </p:spPr>
        <p:txBody>
          <a:bodyPr wrap="square">
            <a:spAutoFit/>
          </a:bodyPr>
          <a:lstStyle/>
          <a:p>
            <a:pPr lvl="2" algn="ctr">
              <a:buClr>
                <a:srgbClr val="231F20"/>
              </a:buClr>
              <a:buSzPts val="1250"/>
              <a:tabLst>
                <a:tab pos="664845" algn="l"/>
              </a:tabLst>
            </a:pP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Tradeoffs</a:t>
            </a:r>
            <a:r>
              <a:rPr lang="en-US" sz="1800" b="1" i="1" spc="-2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Everywhere</a:t>
            </a:r>
            <a:endParaRPr lang="en-IN" sz="1800" b="1" i="1" spc="-75" dirty="0">
              <a:effectLst/>
              <a:latin typeface="Trebuchet MS" panose="020B0603020202020204" pitchFamily="34" charset="0"/>
              <a:ea typeface="Trebuchet MS" panose="020B0603020202020204" pitchFamily="34" charset="0"/>
              <a:cs typeface="Trebuchet MS" panose="020B0603020202020204" pitchFamily="34" charset="0"/>
            </a:endParaRPr>
          </a:p>
        </p:txBody>
      </p:sp>
      <p:grpSp>
        <p:nvGrpSpPr>
          <p:cNvPr id="6" name="Group 5">
            <a:extLst>
              <a:ext uri="{FF2B5EF4-FFF2-40B4-BE49-F238E27FC236}">
                <a16:creationId xmlns:a16="http://schemas.microsoft.com/office/drawing/2014/main" id="{29D56FB5-E2E0-1774-8401-F97E6A5F5230}"/>
              </a:ext>
            </a:extLst>
          </p:cNvPr>
          <p:cNvGrpSpPr>
            <a:grpSpLocks/>
          </p:cNvGrpSpPr>
          <p:nvPr/>
        </p:nvGrpSpPr>
        <p:grpSpPr>
          <a:xfrm>
            <a:off x="6577781" y="1858298"/>
            <a:ext cx="5319251" cy="3087328"/>
            <a:chOff x="0" y="0"/>
            <a:chExt cx="4267200" cy="1214412"/>
          </a:xfrm>
        </p:grpSpPr>
        <p:pic>
          <p:nvPicPr>
            <p:cNvPr id="7" name="Image 128">
              <a:extLst>
                <a:ext uri="{FF2B5EF4-FFF2-40B4-BE49-F238E27FC236}">
                  <a16:creationId xmlns:a16="http://schemas.microsoft.com/office/drawing/2014/main" id="{93E9EEDA-AB02-C70E-CF0E-4E2A0CE24E3C}"/>
                </a:ext>
              </a:extLst>
            </p:cNvPr>
            <p:cNvPicPr/>
            <p:nvPr/>
          </p:nvPicPr>
          <p:blipFill>
            <a:blip r:embed="rId2" cstate="print"/>
            <a:stretch>
              <a:fillRect/>
            </a:stretch>
          </p:blipFill>
          <p:spPr>
            <a:xfrm>
              <a:off x="533400" y="0"/>
              <a:ext cx="3200400" cy="1162811"/>
            </a:xfrm>
            <a:prstGeom prst="rect">
              <a:avLst/>
            </a:prstGeom>
          </p:spPr>
        </p:pic>
        <p:sp>
          <p:nvSpPr>
            <p:cNvPr id="8" name="Graphic 129">
              <a:extLst>
                <a:ext uri="{FF2B5EF4-FFF2-40B4-BE49-F238E27FC236}">
                  <a16:creationId xmlns:a16="http://schemas.microsoft.com/office/drawing/2014/main" id="{509506CB-F602-B725-933D-00FDA351B3BE}"/>
                </a:ext>
              </a:extLst>
            </p:cNvPr>
            <p:cNvSpPr/>
            <p:nvPr/>
          </p:nvSpPr>
          <p:spPr>
            <a:xfrm>
              <a:off x="0" y="1213142"/>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sp>
          <p:nvSpPr>
            <p:cNvPr id="9" name="Textbox 130">
              <a:extLst>
                <a:ext uri="{FF2B5EF4-FFF2-40B4-BE49-F238E27FC236}">
                  <a16:creationId xmlns:a16="http://schemas.microsoft.com/office/drawing/2014/main" id="{9DE7E342-42C5-6CD3-BBCC-0FCD008C132A}"/>
                </a:ext>
              </a:extLst>
            </p:cNvPr>
            <p:cNvSpPr txBox="1"/>
            <p:nvPr/>
          </p:nvSpPr>
          <p:spPr>
            <a:xfrm>
              <a:off x="613680" y="115231"/>
              <a:ext cx="205104"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Tool</a:t>
              </a:r>
              <a:endParaRPr lang="en-IN" sz="1100">
                <a:effectLst/>
                <a:latin typeface="Times New Roman" panose="02020603050405020304" pitchFamily="18" charset="0"/>
                <a:ea typeface="Times New Roman" panose="02020603050405020304" pitchFamily="18" charset="0"/>
              </a:endParaRPr>
            </a:p>
          </p:txBody>
        </p:sp>
        <p:sp>
          <p:nvSpPr>
            <p:cNvPr id="10" name="Textbox 131">
              <a:extLst>
                <a:ext uri="{FF2B5EF4-FFF2-40B4-BE49-F238E27FC236}">
                  <a16:creationId xmlns:a16="http://schemas.microsoft.com/office/drawing/2014/main" id="{5934AEDB-D440-E1FD-63BD-A298CB0E8D6E}"/>
                </a:ext>
              </a:extLst>
            </p:cNvPr>
            <p:cNvSpPr txBox="1"/>
            <p:nvPr/>
          </p:nvSpPr>
          <p:spPr>
            <a:xfrm>
              <a:off x="1293564" y="106239"/>
              <a:ext cx="300990" cy="101600"/>
            </a:xfrm>
            <a:prstGeom prst="rect">
              <a:avLst/>
            </a:prstGeom>
          </p:spPr>
          <p:txBody>
            <a:bodyPr wrap="square" lIns="0" tIns="0" rIns="0" bIns="0" rtlCol="0">
              <a:noAutofit/>
            </a:bodyPr>
            <a:lstStyle/>
            <a:p>
              <a:pPr>
                <a:lnSpc>
                  <a:spcPts val="775"/>
                </a:lnSpc>
              </a:pPr>
              <a:r>
                <a:rPr lang="en-US" sz="800" spc="-10">
                  <a:solidFill>
                    <a:srgbClr val="231F20"/>
                  </a:solidFill>
                  <a:effectLst/>
                  <a:latin typeface="Times New Roman" panose="02020603050405020304" pitchFamily="18" charset="0"/>
                  <a:ea typeface="Times New Roman" panose="02020603050405020304" pitchFamily="18" charset="0"/>
                </a:rPr>
                <a:t>Object</a:t>
              </a:r>
              <a:endParaRPr lang="en-IN" sz="1100">
                <a:effectLst/>
                <a:latin typeface="Times New Roman" panose="02020603050405020304" pitchFamily="18" charset="0"/>
                <a:ea typeface="Times New Roman" panose="02020603050405020304" pitchFamily="18" charset="0"/>
              </a:endParaRPr>
            </a:p>
          </p:txBody>
        </p:sp>
        <p:sp>
          <p:nvSpPr>
            <p:cNvPr id="11" name="Textbox 132">
              <a:extLst>
                <a:ext uri="{FF2B5EF4-FFF2-40B4-BE49-F238E27FC236}">
                  <a16:creationId xmlns:a16="http://schemas.microsoft.com/office/drawing/2014/main" id="{83077DB2-C679-C34A-0991-78EFDF96D053}"/>
                </a:ext>
              </a:extLst>
            </p:cNvPr>
            <p:cNvSpPr txBox="1"/>
            <p:nvPr/>
          </p:nvSpPr>
          <p:spPr>
            <a:xfrm>
              <a:off x="617847" y="555193"/>
              <a:ext cx="205104"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Tool</a:t>
              </a:r>
              <a:endParaRPr lang="en-IN" sz="1100">
                <a:effectLst/>
                <a:latin typeface="Times New Roman" panose="02020603050405020304" pitchFamily="18" charset="0"/>
                <a:ea typeface="Times New Roman" panose="02020603050405020304" pitchFamily="18" charset="0"/>
              </a:endParaRPr>
            </a:p>
          </p:txBody>
        </p:sp>
        <p:sp>
          <p:nvSpPr>
            <p:cNvPr id="12" name="Textbox 133">
              <a:extLst>
                <a:ext uri="{FF2B5EF4-FFF2-40B4-BE49-F238E27FC236}">
                  <a16:creationId xmlns:a16="http://schemas.microsoft.com/office/drawing/2014/main" id="{C2308A71-212C-2AF7-0D24-243C6E41C01F}"/>
                </a:ext>
              </a:extLst>
            </p:cNvPr>
            <p:cNvSpPr txBox="1"/>
            <p:nvPr/>
          </p:nvSpPr>
          <p:spPr>
            <a:xfrm>
              <a:off x="1293564" y="555193"/>
              <a:ext cx="300990" cy="101600"/>
            </a:xfrm>
            <a:prstGeom prst="rect">
              <a:avLst/>
            </a:prstGeom>
          </p:spPr>
          <p:txBody>
            <a:bodyPr wrap="square" lIns="0" tIns="0" rIns="0" bIns="0" rtlCol="0">
              <a:noAutofit/>
            </a:bodyPr>
            <a:lstStyle/>
            <a:p>
              <a:pPr>
                <a:lnSpc>
                  <a:spcPts val="775"/>
                </a:lnSpc>
              </a:pPr>
              <a:r>
                <a:rPr lang="en-US" sz="800" spc="-10" dirty="0">
                  <a:solidFill>
                    <a:srgbClr val="231F20"/>
                  </a:solidFill>
                  <a:effectLst/>
                  <a:latin typeface="Times New Roman" panose="02020603050405020304" pitchFamily="18" charset="0"/>
                  <a:ea typeface="Times New Roman" panose="02020603050405020304" pitchFamily="18" charset="0"/>
                </a:rPr>
                <a:t>Object</a:t>
              </a:r>
              <a:endParaRPr lang="en-IN" sz="1100" dirty="0">
                <a:effectLst/>
                <a:latin typeface="Times New Roman" panose="02020603050405020304" pitchFamily="18" charset="0"/>
                <a:ea typeface="Times New Roman" panose="02020603050405020304" pitchFamily="18" charset="0"/>
              </a:endParaRPr>
            </a:p>
          </p:txBody>
        </p:sp>
        <p:sp>
          <p:nvSpPr>
            <p:cNvPr id="13" name="Textbox 134">
              <a:extLst>
                <a:ext uri="{FF2B5EF4-FFF2-40B4-BE49-F238E27FC236}">
                  <a16:creationId xmlns:a16="http://schemas.microsoft.com/office/drawing/2014/main" id="{97EC54A6-3170-94EA-030F-39ECBE92AB7E}"/>
                </a:ext>
              </a:extLst>
            </p:cNvPr>
            <p:cNvSpPr txBox="1"/>
            <p:nvPr/>
          </p:nvSpPr>
          <p:spPr>
            <a:xfrm>
              <a:off x="2371496" y="555193"/>
              <a:ext cx="205104"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Tool</a:t>
              </a:r>
              <a:endParaRPr lang="en-IN" sz="1100">
                <a:effectLst/>
                <a:latin typeface="Times New Roman" panose="02020603050405020304" pitchFamily="18" charset="0"/>
                <a:ea typeface="Times New Roman" panose="02020603050405020304" pitchFamily="18" charset="0"/>
              </a:endParaRPr>
            </a:p>
          </p:txBody>
        </p:sp>
        <p:sp>
          <p:nvSpPr>
            <p:cNvPr id="14" name="Textbox 135">
              <a:extLst>
                <a:ext uri="{FF2B5EF4-FFF2-40B4-BE49-F238E27FC236}">
                  <a16:creationId xmlns:a16="http://schemas.microsoft.com/office/drawing/2014/main" id="{3430ED23-13CE-BEF5-C652-ECE0C9ED5306}"/>
                </a:ext>
              </a:extLst>
            </p:cNvPr>
            <p:cNvSpPr txBox="1"/>
            <p:nvPr/>
          </p:nvSpPr>
          <p:spPr>
            <a:xfrm>
              <a:off x="3054311" y="555193"/>
              <a:ext cx="300990" cy="101600"/>
            </a:xfrm>
            <a:prstGeom prst="rect">
              <a:avLst/>
            </a:prstGeom>
          </p:spPr>
          <p:txBody>
            <a:bodyPr wrap="square" lIns="0" tIns="0" rIns="0" bIns="0" rtlCol="0">
              <a:noAutofit/>
            </a:bodyPr>
            <a:lstStyle/>
            <a:p>
              <a:pPr>
                <a:lnSpc>
                  <a:spcPts val="775"/>
                </a:lnSpc>
              </a:pPr>
              <a:r>
                <a:rPr lang="en-US" sz="800" spc="-10">
                  <a:solidFill>
                    <a:srgbClr val="231F20"/>
                  </a:solidFill>
                  <a:effectLst/>
                  <a:latin typeface="Times New Roman" panose="02020603050405020304" pitchFamily="18" charset="0"/>
                  <a:ea typeface="Times New Roman" panose="02020603050405020304" pitchFamily="18" charset="0"/>
                </a:rPr>
                <a:t>Object</a:t>
              </a:r>
              <a:endParaRPr lang="en-IN" sz="1100">
                <a:effectLst/>
                <a:latin typeface="Times New Roman" panose="02020603050405020304" pitchFamily="18" charset="0"/>
                <a:ea typeface="Times New Roman" panose="02020603050405020304" pitchFamily="18" charset="0"/>
              </a:endParaRPr>
            </a:p>
          </p:txBody>
        </p:sp>
        <p:sp>
          <p:nvSpPr>
            <p:cNvPr id="15" name="Textbox 136">
              <a:extLst>
                <a:ext uri="{FF2B5EF4-FFF2-40B4-BE49-F238E27FC236}">
                  <a16:creationId xmlns:a16="http://schemas.microsoft.com/office/drawing/2014/main" id="{5B02C3F8-00E3-88A5-F354-7E8F7B924508}"/>
                </a:ext>
              </a:extLst>
            </p:cNvPr>
            <p:cNvSpPr txBox="1"/>
            <p:nvPr/>
          </p:nvSpPr>
          <p:spPr>
            <a:xfrm>
              <a:off x="676659" y="997534"/>
              <a:ext cx="81280" cy="101600"/>
            </a:xfrm>
            <a:prstGeom prst="rect">
              <a:avLst/>
            </a:prstGeom>
          </p:spPr>
          <p:txBody>
            <a:bodyPr wrap="square" lIns="0" tIns="0" rIns="0" bIns="0" rtlCol="0">
              <a:noAutofit/>
            </a:bodyPr>
            <a:lstStyle/>
            <a:p>
              <a:pPr>
                <a:lnSpc>
                  <a:spcPts val="775"/>
                </a:lnSpc>
              </a:pPr>
              <a:r>
                <a:rPr lang="en-US" sz="800" spc="-50">
                  <a:solidFill>
                    <a:srgbClr val="231F20"/>
                  </a:solidFill>
                  <a:effectLst/>
                  <a:latin typeface="Times New Roman" panose="02020603050405020304" pitchFamily="18" charset="0"/>
                  <a:ea typeface="Times New Roman" panose="02020603050405020304" pitchFamily="18" charset="0"/>
                </a:rPr>
                <a:t>T</a:t>
              </a:r>
              <a:endParaRPr lang="en-IN" sz="1100">
                <a:effectLst/>
                <a:latin typeface="Times New Roman" panose="02020603050405020304" pitchFamily="18" charset="0"/>
                <a:ea typeface="Times New Roman" panose="02020603050405020304" pitchFamily="18" charset="0"/>
              </a:endParaRPr>
            </a:p>
          </p:txBody>
        </p:sp>
        <p:sp>
          <p:nvSpPr>
            <p:cNvPr id="16" name="Textbox 137">
              <a:extLst>
                <a:ext uri="{FF2B5EF4-FFF2-40B4-BE49-F238E27FC236}">
                  <a16:creationId xmlns:a16="http://schemas.microsoft.com/office/drawing/2014/main" id="{02CDFA1F-C912-C3A2-252B-264BD65F894D}"/>
                </a:ext>
              </a:extLst>
            </p:cNvPr>
            <p:cNvSpPr txBox="1"/>
            <p:nvPr/>
          </p:nvSpPr>
          <p:spPr>
            <a:xfrm>
              <a:off x="1194630" y="997534"/>
              <a:ext cx="92710" cy="101600"/>
            </a:xfrm>
            <a:prstGeom prst="rect">
              <a:avLst/>
            </a:prstGeom>
          </p:spPr>
          <p:txBody>
            <a:bodyPr wrap="square" lIns="0" tIns="0" rIns="0" bIns="0" rtlCol="0">
              <a:noAutofit/>
            </a:bodyPr>
            <a:lstStyle/>
            <a:p>
              <a:pPr>
                <a:lnSpc>
                  <a:spcPts val="775"/>
                </a:lnSpc>
              </a:pPr>
              <a:r>
                <a:rPr lang="en-US" sz="800" spc="-50">
                  <a:solidFill>
                    <a:srgbClr val="231F20"/>
                  </a:solidFill>
                  <a:effectLst/>
                  <a:latin typeface="Times New Roman" panose="02020603050405020304" pitchFamily="18" charset="0"/>
                  <a:ea typeface="Times New Roman" panose="02020603050405020304" pitchFamily="18" charset="0"/>
                </a:rPr>
                <a:t>O</a:t>
              </a:r>
              <a:endParaRPr lang="en-IN" sz="1100">
                <a:effectLst/>
                <a:latin typeface="Times New Roman" panose="02020603050405020304" pitchFamily="18" charset="0"/>
                <a:ea typeface="Times New Roman" panose="02020603050405020304" pitchFamily="18" charset="0"/>
              </a:endParaRPr>
            </a:p>
          </p:txBody>
        </p:sp>
        <p:sp>
          <p:nvSpPr>
            <p:cNvPr id="17" name="Textbox 138">
              <a:extLst>
                <a:ext uri="{FF2B5EF4-FFF2-40B4-BE49-F238E27FC236}">
                  <a16:creationId xmlns:a16="http://schemas.microsoft.com/office/drawing/2014/main" id="{BC8800DC-FE77-09D4-4D32-A5583FF9AA03}"/>
                </a:ext>
              </a:extLst>
            </p:cNvPr>
            <p:cNvSpPr txBox="1"/>
            <p:nvPr/>
          </p:nvSpPr>
          <p:spPr>
            <a:xfrm>
              <a:off x="1855952" y="997534"/>
              <a:ext cx="81280" cy="101600"/>
            </a:xfrm>
            <a:prstGeom prst="rect">
              <a:avLst/>
            </a:prstGeom>
          </p:spPr>
          <p:txBody>
            <a:bodyPr wrap="square" lIns="0" tIns="0" rIns="0" bIns="0" rtlCol="0">
              <a:noAutofit/>
            </a:bodyPr>
            <a:lstStyle/>
            <a:p>
              <a:pPr>
                <a:lnSpc>
                  <a:spcPts val="775"/>
                </a:lnSpc>
              </a:pPr>
              <a:r>
                <a:rPr lang="en-US" sz="800" spc="-50">
                  <a:solidFill>
                    <a:srgbClr val="231F20"/>
                  </a:solidFill>
                  <a:effectLst/>
                  <a:latin typeface="Times New Roman" panose="02020603050405020304" pitchFamily="18" charset="0"/>
                  <a:ea typeface="Times New Roman" panose="02020603050405020304" pitchFamily="18" charset="0"/>
                </a:rPr>
                <a:t>T</a:t>
              </a:r>
              <a:endParaRPr lang="en-IN" sz="1100">
                <a:effectLst/>
                <a:latin typeface="Times New Roman" panose="02020603050405020304" pitchFamily="18" charset="0"/>
                <a:ea typeface="Times New Roman" panose="02020603050405020304" pitchFamily="18" charset="0"/>
              </a:endParaRPr>
            </a:p>
          </p:txBody>
        </p:sp>
        <p:sp>
          <p:nvSpPr>
            <p:cNvPr id="18" name="Textbox 139">
              <a:extLst>
                <a:ext uri="{FF2B5EF4-FFF2-40B4-BE49-F238E27FC236}">
                  <a16:creationId xmlns:a16="http://schemas.microsoft.com/office/drawing/2014/main" id="{F512A774-2C17-6B10-A1E0-488828B84708}"/>
                </a:ext>
              </a:extLst>
            </p:cNvPr>
            <p:cNvSpPr txBox="1"/>
            <p:nvPr/>
          </p:nvSpPr>
          <p:spPr>
            <a:xfrm>
              <a:off x="2377973" y="997534"/>
              <a:ext cx="92710" cy="101600"/>
            </a:xfrm>
            <a:prstGeom prst="rect">
              <a:avLst/>
            </a:prstGeom>
          </p:spPr>
          <p:txBody>
            <a:bodyPr wrap="square" lIns="0" tIns="0" rIns="0" bIns="0" rtlCol="0">
              <a:noAutofit/>
            </a:bodyPr>
            <a:lstStyle/>
            <a:p>
              <a:pPr>
                <a:lnSpc>
                  <a:spcPts val="775"/>
                </a:lnSpc>
              </a:pPr>
              <a:r>
                <a:rPr lang="en-US" sz="800" spc="-50">
                  <a:solidFill>
                    <a:srgbClr val="231F20"/>
                  </a:solidFill>
                  <a:effectLst/>
                  <a:latin typeface="Times New Roman" panose="02020603050405020304" pitchFamily="18" charset="0"/>
                  <a:ea typeface="Times New Roman" panose="02020603050405020304" pitchFamily="18" charset="0"/>
                </a:rPr>
                <a:t>O</a:t>
              </a:r>
              <a:endParaRPr lang="en-IN" sz="1100">
                <a:effectLst/>
                <a:latin typeface="Times New Roman" panose="02020603050405020304" pitchFamily="18" charset="0"/>
                <a:ea typeface="Times New Roman" panose="02020603050405020304" pitchFamily="18" charset="0"/>
              </a:endParaRPr>
            </a:p>
          </p:txBody>
        </p:sp>
        <p:sp>
          <p:nvSpPr>
            <p:cNvPr id="19" name="Textbox 140">
              <a:extLst>
                <a:ext uri="{FF2B5EF4-FFF2-40B4-BE49-F238E27FC236}">
                  <a16:creationId xmlns:a16="http://schemas.microsoft.com/office/drawing/2014/main" id="{0A5296B8-BA98-8185-3DE3-3FE9F0E8E9A4}"/>
                </a:ext>
              </a:extLst>
            </p:cNvPr>
            <p:cNvSpPr txBox="1"/>
            <p:nvPr/>
          </p:nvSpPr>
          <p:spPr>
            <a:xfrm>
              <a:off x="3047390" y="997534"/>
              <a:ext cx="81280" cy="101600"/>
            </a:xfrm>
            <a:prstGeom prst="rect">
              <a:avLst/>
            </a:prstGeom>
          </p:spPr>
          <p:txBody>
            <a:bodyPr wrap="square" lIns="0" tIns="0" rIns="0" bIns="0" rtlCol="0">
              <a:noAutofit/>
            </a:bodyPr>
            <a:lstStyle/>
            <a:p>
              <a:pPr>
                <a:lnSpc>
                  <a:spcPts val="775"/>
                </a:lnSpc>
              </a:pPr>
              <a:r>
                <a:rPr lang="en-US" sz="800" spc="-50">
                  <a:solidFill>
                    <a:srgbClr val="231F20"/>
                  </a:solidFill>
                  <a:effectLst/>
                  <a:latin typeface="Times New Roman" panose="02020603050405020304" pitchFamily="18" charset="0"/>
                  <a:ea typeface="Times New Roman" panose="02020603050405020304" pitchFamily="18" charset="0"/>
                </a:rPr>
                <a:t>T</a:t>
              </a:r>
              <a:endParaRPr lang="en-IN" sz="1100">
                <a:effectLst/>
                <a:latin typeface="Times New Roman" panose="02020603050405020304" pitchFamily="18" charset="0"/>
                <a:ea typeface="Times New Roman" panose="02020603050405020304" pitchFamily="18" charset="0"/>
              </a:endParaRPr>
            </a:p>
          </p:txBody>
        </p:sp>
        <p:sp>
          <p:nvSpPr>
            <p:cNvPr id="20" name="Textbox 141">
              <a:extLst>
                <a:ext uri="{FF2B5EF4-FFF2-40B4-BE49-F238E27FC236}">
                  <a16:creationId xmlns:a16="http://schemas.microsoft.com/office/drawing/2014/main" id="{E90BA4E8-02F6-AC62-963B-B0D18085900F}"/>
                </a:ext>
              </a:extLst>
            </p:cNvPr>
            <p:cNvSpPr txBox="1"/>
            <p:nvPr/>
          </p:nvSpPr>
          <p:spPr>
            <a:xfrm>
              <a:off x="3564077" y="997534"/>
              <a:ext cx="92710" cy="101600"/>
            </a:xfrm>
            <a:prstGeom prst="rect">
              <a:avLst/>
            </a:prstGeom>
          </p:spPr>
          <p:txBody>
            <a:bodyPr wrap="square" lIns="0" tIns="0" rIns="0" bIns="0" rtlCol="0">
              <a:noAutofit/>
            </a:bodyPr>
            <a:lstStyle/>
            <a:p>
              <a:pPr>
                <a:lnSpc>
                  <a:spcPts val="775"/>
                </a:lnSpc>
              </a:pPr>
              <a:r>
                <a:rPr lang="en-US" sz="800" spc="-50">
                  <a:solidFill>
                    <a:srgbClr val="231F20"/>
                  </a:solidFill>
                  <a:effectLst/>
                  <a:latin typeface="Times New Roman" panose="02020603050405020304" pitchFamily="18" charset="0"/>
                  <a:ea typeface="Times New Roman" panose="02020603050405020304" pitchFamily="18" charset="0"/>
                </a:rPr>
                <a:t>O</a:t>
              </a:r>
              <a:endParaRPr lang="en-IN" sz="1100">
                <a:effectLst/>
                <a:latin typeface="Times New Roman" panose="02020603050405020304" pitchFamily="18" charset="0"/>
                <a:ea typeface="Times New Roman" panose="02020603050405020304" pitchFamily="18" charset="0"/>
              </a:endParaRPr>
            </a:p>
          </p:txBody>
        </p:sp>
      </p:grpSp>
      <p:sp>
        <p:nvSpPr>
          <p:cNvPr id="36" name="TextBox 35">
            <a:extLst>
              <a:ext uri="{FF2B5EF4-FFF2-40B4-BE49-F238E27FC236}">
                <a16:creationId xmlns:a16="http://schemas.microsoft.com/office/drawing/2014/main" id="{C4F7A0FA-DC27-CDD0-DE7A-72FCB775E8F9}"/>
              </a:ext>
            </a:extLst>
          </p:cNvPr>
          <p:cNvSpPr txBox="1"/>
          <p:nvPr/>
        </p:nvSpPr>
        <p:spPr>
          <a:xfrm>
            <a:off x="541139" y="1325026"/>
            <a:ext cx="5171059" cy="4665188"/>
          </a:xfrm>
          <a:prstGeom prst="rect">
            <a:avLst/>
          </a:prstGeom>
          <a:noFill/>
        </p:spPr>
        <p:txBody>
          <a:bodyPr wrap="square">
            <a:spAutoFit/>
          </a:bodyPr>
          <a:lstStyle/>
          <a:p>
            <a:pPr marL="495300" marR="231775" indent="-285750" algn="just">
              <a:lnSpc>
                <a:spcPct val="115000"/>
              </a:lnSpc>
              <a:spcAft>
                <a:spcPts val="0"/>
              </a:spcAft>
              <a:buFont typeface="Arial" panose="020B0604020202020204" pitchFamily="34" charset="0"/>
              <a:buChar char="•"/>
            </a:pP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tradeoff</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may</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appear</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clearly</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as</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harmful</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action</a:t>
            </a:r>
            <a:r>
              <a:rPr lang="en-US" sz="2000" spc="-7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that</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accompanies</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a</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useful action.</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In</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cutting</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tool,</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edge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works</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material,</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but</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at</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same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time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heats </a:t>
            </a:r>
            <a:r>
              <a:rPr lang="en-US" sz="2000" spc="-10" dirty="0">
                <a:solidFill>
                  <a:srgbClr val="231F20"/>
                </a:solidFill>
                <a:effectLst/>
                <a:latin typeface="Times New Roman" panose="02020603050405020304" pitchFamily="18" charset="0"/>
                <a:ea typeface="Times New Roman" panose="02020603050405020304" pitchFamily="18" charset="0"/>
              </a:rPr>
              <a:t>it. </a:t>
            </a:r>
          </a:p>
          <a:p>
            <a:pPr marL="495300" marR="231775" indent="-285750" algn="just">
              <a:lnSpc>
                <a:spcPct val="115000"/>
              </a:lnSpc>
              <a:spcAft>
                <a:spcPts val="0"/>
              </a:spcAft>
              <a:buFont typeface="Arial" panose="020B0604020202020204" pitchFamily="34" charset="0"/>
              <a:buChar char="•"/>
            </a:pP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car</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transports</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people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cargo, </a:t>
            </a:r>
            <a:r>
              <a:rPr lang="en-US" sz="2000" dirty="0">
                <a:solidFill>
                  <a:srgbClr val="231F20"/>
                </a:solidFill>
                <a:effectLst/>
                <a:latin typeface="Times New Roman" panose="02020603050405020304" pitchFamily="18" charset="0"/>
                <a:ea typeface="Times New Roman" panose="02020603050405020304" pitchFamily="18" charset="0"/>
              </a:rPr>
              <a:t>but</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noise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car</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disturbs</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people</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and</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exhaust</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gases</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pollute</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the</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atmosphere</a:t>
            </a:r>
            <a:r>
              <a:rPr lang="en-US" sz="2000" dirty="0">
                <a:solidFill>
                  <a:srgbClr val="231F20"/>
                </a:solidFill>
                <a:effectLst/>
                <a:latin typeface="Times New Roman" panose="02020603050405020304" pitchFamily="18" charset="0"/>
                <a:ea typeface="Times New Roman" panose="02020603050405020304" pitchFamily="18" charset="0"/>
              </a:rPr>
              <a:t>. The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transistor</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produces</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harmful</a:t>
            </a:r>
            <a:r>
              <a:rPr lang="en-US" sz="2000" spc="-3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heat</a:t>
            </a:r>
            <a:r>
              <a:rPr lang="en-US" sz="2000" spc="-3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while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it</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does</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beneficial</a:t>
            </a:r>
            <a:r>
              <a:rPr lang="en-US" sz="2000" spc="-3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switching.</a:t>
            </a:r>
            <a:endParaRPr lang="en-IN" sz="2000" dirty="0">
              <a:solidFill>
                <a:srgbClr val="FF0000"/>
              </a:solidFill>
              <a:effectLst/>
              <a:latin typeface="Times New Roman" panose="02020603050405020304" pitchFamily="18" charset="0"/>
              <a:ea typeface="Times New Roman" panose="02020603050405020304" pitchFamily="18" charset="0"/>
            </a:endParaRPr>
          </a:p>
          <a:p>
            <a:pPr marL="495300" marR="233045" indent="-285750" algn="just">
              <a:lnSpc>
                <a:spcPct val="115000"/>
              </a:lnSpc>
              <a:spcBef>
                <a:spcPts val="5"/>
              </a:spcBef>
              <a:spcAft>
                <a:spcPts val="0"/>
              </a:spcAft>
              <a:buFont typeface="Arial" panose="020B0604020202020204" pitchFamily="34" charset="0"/>
              <a:buChar char="•"/>
            </a:pPr>
            <a:r>
              <a:rPr lang="en-US" sz="2000" spc="-20" dirty="0">
                <a:solidFill>
                  <a:srgbClr val="231F20"/>
                </a:solidFill>
                <a:effectLst/>
                <a:latin typeface="Times New Roman" panose="02020603050405020304" pitchFamily="18" charset="0"/>
                <a:ea typeface="Times New Roman" panose="02020603050405020304" pitchFamily="18" charset="0"/>
              </a:rPr>
              <a:t>There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are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tradeoffs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in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system</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even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when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there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are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no</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visible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harmful</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effects. </a:t>
            </a:r>
            <a:r>
              <a:rPr lang="en-US" sz="2000" dirty="0">
                <a:solidFill>
                  <a:srgbClr val="231F20"/>
                </a:solidFill>
                <a:effectLst/>
                <a:latin typeface="Times New Roman" panose="02020603050405020304" pitchFamily="18" charset="0"/>
                <a:ea typeface="Times New Roman" panose="02020603050405020304" pitchFamily="18" charset="0"/>
              </a:rPr>
              <a:t>To generalize, the system is bad simply because it exists. </a:t>
            </a:r>
          </a:p>
        </p:txBody>
      </p:sp>
    </p:spTree>
    <p:extLst>
      <p:ext uri="{BB962C8B-B14F-4D97-AF65-F5344CB8AC3E}">
        <p14:creationId xmlns:p14="http://schemas.microsoft.com/office/powerpoint/2010/main" val="2655714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59DB85-2541-99A3-A6DA-4009C2DBAFE5}"/>
              </a:ext>
            </a:extLst>
          </p:cNvPr>
          <p:cNvSpPr txBox="1"/>
          <p:nvPr/>
        </p:nvSpPr>
        <p:spPr>
          <a:xfrm>
            <a:off x="481780" y="211548"/>
            <a:ext cx="6096000" cy="6434903"/>
          </a:xfrm>
          <a:prstGeom prst="rect">
            <a:avLst/>
          </a:prstGeom>
          <a:noFill/>
        </p:spPr>
        <p:txBody>
          <a:bodyPr wrap="square">
            <a:spAutoFit/>
          </a:bodyPr>
          <a:lstStyle/>
          <a:p>
            <a:pPr marL="495300" marR="233045" indent="-285750" algn="just">
              <a:lnSpc>
                <a:spcPct val="115000"/>
              </a:lnSpc>
              <a:spcBef>
                <a:spcPts val="5"/>
              </a:spcBef>
              <a:spcAft>
                <a:spcPts val="0"/>
              </a:spcAft>
              <a:buFont typeface="Arial" panose="020B0604020202020204" pitchFamily="34" charset="0"/>
              <a:buChar char="•"/>
            </a:pPr>
            <a:r>
              <a:rPr lang="en-US" sz="2000" dirty="0">
                <a:solidFill>
                  <a:srgbClr val="231F20"/>
                </a:solidFill>
                <a:effectLst/>
                <a:latin typeface="Times New Roman" panose="02020603050405020304" pitchFamily="18" charset="0"/>
                <a:ea typeface="Times New Roman" panose="02020603050405020304" pitchFamily="18" charset="0"/>
              </a:rPr>
              <a:t>To have the capability of </a:t>
            </a:r>
            <a:r>
              <a:rPr lang="en-US" sz="2000" spc="-10" dirty="0">
                <a:solidFill>
                  <a:srgbClr val="231F20"/>
                </a:solidFill>
                <a:effectLst/>
                <a:latin typeface="Times New Roman" panose="02020603050405020304" pitchFamily="18" charset="0"/>
                <a:ea typeface="Times New Roman" panose="02020603050405020304" pitchFamily="18" charset="0"/>
              </a:rPr>
              <a:t>acting</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on</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object</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(useful</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feature),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tool</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has</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dimensions</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weight,</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consumes </a:t>
            </a:r>
            <a:r>
              <a:rPr lang="en-US" sz="2000" dirty="0">
                <a:solidFill>
                  <a:srgbClr val="231F20"/>
                </a:solidFill>
                <a:effectLst/>
                <a:latin typeface="Times New Roman" panose="02020603050405020304" pitchFamily="18" charset="0"/>
                <a:ea typeface="Times New Roman" panose="02020603050405020304" pitchFamily="18" charset="0"/>
              </a:rPr>
              <a:t>energy, and has other features that engender cost and harm. </a:t>
            </a:r>
          </a:p>
          <a:p>
            <a:pPr marL="495300" marR="233045" indent="-285750" algn="just">
              <a:lnSpc>
                <a:spcPct val="115000"/>
              </a:lnSpc>
              <a:spcBef>
                <a:spcPts val="5"/>
              </a:spcBef>
              <a:spcAft>
                <a:spcPts val="0"/>
              </a:spcAft>
              <a:buFont typeface="Arial" panose="020B0604020202020204" pitchFamily="34" charset="0"/>
              <a:buChar char="•"/>
            </a:pPr>
            <a:r>
              <a:rPr lang="en-US" sz="2000" dirty="0">
                <a:solidFill>
                  <a:srgbClr val="231F20"/>
                </a:solidFill>
                <a:effectLst/>
                <a:latin typeface="Times New Roman" panose="02020603050405020304" pitchFamily="18" charset="0"/>
                <a:ea typeface="Times New Roman" panose="02020603050405020304" pitchFamily="18" charset="0"/>
              </a:rPr>
              <a:t>When the </a:t>
            </a:r>
            <a:r>
              <a:rPr lang="en-US" sz="2000" dirty="0">
                <a:solidFill>
                  <a:srgbClr val="FF0000"/>
                </a:solidFill>
                <a:effectLst/>
                <a:latin typeface="Times New Roman" panose="02020603050405020304" pitchFamily="18" charset="0"/>
                <a:ea typeface="Times New Roman" panose="02020603050405020304" pitchFamily="18" charset="0"/>
              </a:rPr>
              <a:t>tradeoff</a:t>
            </a:r>
            <a:r>
              <a:rPr lang="en-US" sz="2000" spc="20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is removed</a:t>
            </a:r>
            <a:r>
              <a:rPr lang="en-US" sz="2000" dirty="0">
                <a:solidFill>
                  <a:srgbClr val="231F20"/>
                </a:solidFill>
                <a:effectLst/>
                <a:latin typeface="Times New Roman" panose="02020603050405020304" pitchFamily="18" charset="0"/>
                <a:ea typeface="Times New Roman" panose="02020603050405020304" pitchFamily="18" charset="0"/>
              </a:rPr>
              <a:t>, you might think that the perfect system or the ideal final result has </a:t>
            </a:r>
            <a:r>
              <a:rPr lang="en-US" sz="2000" spc="-30" dirty="0">
                <a:solidFill>
                  <a:srgbClr val="231F20"/>
                </a:solidFill>
                <a:effectLst/>
                <a:latin typeface="Times New Roman" panose="02020603050405020304" pitchFamily="18" charset="0"/>
                <a:ea typeface="Times New Roman" panose="02020603050405020304" pitchFamily="18" charset="0"/>
              </a:rPr>
              <a:t>been achieved. This achievement, however, is </a:t>
            </a:r>
            <a:r>
              <a:rPr lang="en-US" sz="2000" spc="-30" dirty="0">
                <a:solidFill>
                  <a:srgbClr val="FF0000"/>
                </a:solidFill>
                <a:effectLst/>
                <a:latin typeface="Times New Roman" panose="02020603050405020304" pitchFamily="18" charset="0"/>
                <a:ea typeface="Times New Roman" panose="02020603050405020304" pitchFamily="18" charset="0"/>
              </a:rPr>
              <a:t>relative and temporary</a:t>
            </a:r>
            <a:r>
              <a:rPr lang="en-US" sz="2000" spc="-30" dirty="0">
                <a:solidFill>
                  <a:srgbClr val="231F20"/>
                </a:solidFill>
                <a:effectLst/>
                <a:latin typeface="Times New Roman" panose="02020603050405020304" pitchFamily="18" charset="0"/>
                <a:ea typeface="Times New Roman" panose="02020603050405020304" pitchFamily="18" charset="0"/>
              </a:rPr>
              <a:t>. </a:t>
            </a:r>
          </a:p>
          <a:p>
            <a:pPr marL="495300" marR="233045" indent="-285750" algn="just">
              <a:lnSpc>
                <a:spcPct val="115000"/>
              </a:lnSpc>
              <a:spcBef>
                <a:spcPts val="5"/>
              </a:spcBef>
              <a:spcAft>
                <a:spcPts val="0"/>
              </a:spcAft>
              <a:buFont typeface="Arial" panose="020B0604020202020204" pitchFamily="34" charset="0"/>
              <a:buChar char="•"/>
            </a:pPr>
            <a:r>
              <a:rPr lang="en-US" sz="2000" spc="-30" dirty="0">
                <a:solidFill>
                  <a:srgbClr val="231F20"/>
                </a:solidFill>
                <a:effectLst/>
                <a:latin typeface="Times New Roman" panose="02020603050405020304" pitchFamily="18" charset="0"/>
                <a:ea typeface="Times New Roman" panose="02020603050405020304" pitchFamily="18" charset="0"/>
              </a:rPr>
              <a:t>New tradeoffs </a:t>
            </a:r>
            <a:r>
              <a:rPr lang="en-US" sz="2000" dirty="0">
                <a:solidFill>
                  <a:srgbClr val="231F20"/>
                </a:solidFill>
                <a:effectLst/>
                <a:latin typeface="Times New Roman" panose="02020603050405020304" pitchFamily="18" charset="0"/>
                <a:ea typeface="Times New Roman" panose="02020603050405020304" pitchFamily="18" charset="0"/>
              </a:rPr>
              <a:t>appear soon, either in the system itself or in other systems that are affected by</a:t>
            </a:r>
            <a:r>
              <a:rPr lang="en-US" sz="2000" spc="20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it.</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Every</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new</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generation</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of</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transistors</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has</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occupied</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less</a:t>
            </a:r>
            <a:r>
              <a:rPr lang="en-US" sz="2000" spc="-70"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space</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and</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consumed</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less </a:t>
            </a:r>
            <a:r>
              <a:rPr lang="en-US" sz="2000" spc="-10" dirty="0">
                <a:solidFill>
                  <a:srgbClr val="0070C0"/>
                </a:solidFill>
                <a:effectLst/>
                <a:latin typeface="Times New Roman" panose="02020603050405020304" pitchFamily="18" charset="0"/>
                <a:ea typeface="Times New Roman" panose="02020603050405020304" pitchFamily="18" charset="0"/>
              </a:rPr>
              <a:t>energy</a:t>
            </a:r>
            <a:r>
              <a:rPr lang="en-US" sz="2000" spc="-55"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than</a:t>
            </a:r>
            <a:r>
              <a:rPr lang="en-US" sz="2000" spc="-55"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the</a:t>
            </a:r>
            <a:r>
              <a:rPr lang="en-US" sz="2000" spc="-55"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previous</a:t>
            </a:r>
            <a:r>
              <a:rPr lang="en-US" sz="2000" spc="-55"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one,</a:t>
            </a:r>
            <a:r>
              <a:rPr lang="en-US" sz="2000" spc="-55"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but</a:t>
            </a:r>
            <a:r>
              <a:rPr lang="en-US" sz="2000" spc="-55"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the</a:t>
            </a:r>
            <a:r>
              <a:rPr lang="en-US" sz="2000" spc="-55"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higher</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density</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of</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transistors</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on</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the</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new</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chips</a:t>
            </a:r>
            <a:r>
              <a:rPr lang="en-US" sz="2000" spc="-10"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requires</a:t>
            </a:r>
            <a:r>
              <a:rPr lang="en-US" sz="2000" spc="-70"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more</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and</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more</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complex</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systems</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for</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connection</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and</a:t>
            </a:r>
            <a:r>
              <a:rPr lang="en-US" sz="2000" spc="-70"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for</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heat</a:t>
            </a:r>
            <a:r>
              <a:rPr lang="en-US" sz="2000" spc="-65"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dissipation. </a:t>
            </a:r>
          </a:p>
          <a:p>
            <a:pPr marL="495300" marR="233045" indent="-285750" algn="just">
              <a:lnSpc>
                <a:spcPct val="115000"/>
              </a:lnSpc>
              <a:spcBef>
                <a:spcPts val="5"/>
              </a:spcBef>
              <a:spcAft>
                <a:spcPts val="0"/>
              </a:spcAft>
              <a:buFont typeface="Arial" panose="020B0604020202020204" pitchFamily="34" charset="0"/>
              <a:buChar char="•"/>
            </a:pP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electric</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car</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eliminates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petrochemical</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pollution,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but</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increases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problem</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 battery production and disposal.</a:t>
            </a:r>
            <a:endParaRPr lang="en-IN" sz="2000" dirty="0">
              <a:effectLst/>
              <a:latin typeface="Times New Roman" panose="02020603050405020304" pitchFamily="18" charset="0"/>
              <a:ea typeface="Times New Roman" panose="02020603050405020304" pitchFamily="18" charset="0"/>
            </a:endParaRPr>
          </a:p>
        </p:txBody>
      </p:sp>
      <p:grpSp>
        <p:nvGrpSpPr>
          <p:cNvPr id="4" name="Group 3">
            <a:extLst>
              <a:ext uri="{FF2B5EF4-FFF2-40B4-BE49-F238E27FC236}">
                <a16:creationId xmlns:a16="http://schemas.microsoft.com/office/drawing/2014/main" id="{167B8986-177C-2B97-590F-C680032BB16E}"/>
              </a:ext>
            </a:extLst>
          </p:cNvPr>
          <p:cNvGrpSpPr>
            <a:grpSpLocks/>
          </p:cNvGrpSpPr>
          <p:nvPr/>
        </p:nvGrpSpPr>
        <p:grpSpPr>
          <a:xfrm>
            <a:off x="6823587" y="845574"/>
            <a:ext cx="5083277" cy="4984955"/>
            <a:chOff x="0" y="0"/>
            <a:chExt cx="4267200" cy="2408701"/>
          </a:xfrm>
        </p:grpSpPr>
        <p:pic>
          <p:nvPicPr>
            <p:cNvPr id="5" name="Image 143">
              <a:extLst>
                <a:ext uri="{FF2B5EF4-FFF2-40B4-BE49-F238E27FC236}">
                  <a16:creationId xmlns:a16="http://schemas.microsoft.com/office/drawing/2014/main" id="{E4C66BBA-F5E8-7C1E-3C5B-2AC3F15625A5}"/>
                </a:ext>
              </a:extLst>
            </p:cNvPr>
            <p:cNvPicPr/>
            <p:nvPr/>
          </p:nvPicPr>
          <p:blipFill>
            <a:blip r:embed="rId3" cstate="print"/>
            <a:stretch>
              <a:fillRect/>
            </a:stretch>
          </p:blipFill>
          <p:spPr>
            <a:xfrm>
              <a:off x="533400" y="0"/>
              <a:ext cx="3200400" cy="2357101"/>
            </a:xfrm>
            <a:prstGeom prst="rect">
              <a:avLst/>
            </a:prstGeom>
          </p:spPr>
        </p:pic>
        <p:sp>
          <p:nvSpPr>
            <p:cNvPr id="6" name="Graphic 144">
              <a:extLst>
                <a:ext uri="{FF2B5EF4-FFF2-40B4-BE49-F238E27FC236}">
                  <a16:creationId xmlns:a16="http://schemas.microsoft.com/office/drawing/2014/main" id="{3B7A2F6B-E042-907B-A520-E0A923FF4934}"/>
                </a:ext>
              </a:extLst>
            </p:cNvPr>
            <p:cNvSpPr/>
            <p:nvPr/>
          </p:nvSpPr>
          <p:spPr>
            <a:xfrm>
              <a:off x="0" y="2407431"/>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sp>
          <p:nvSpPr>
            <p:cNvPr id="7" name="Textbox 145">
              <a:extLst>
                <a:ext uri="{FF2B5EF4-FFF2-40B4-BE49-F238E27FC236}">
                  <a16:creationId xmlns:a16="http://schemas.microsoft.com/office/drawing/2014/main" id="{C89EEF1D-2999-C53C-7176-9DC8242389BF}"/>
                </a:ext>
              </a:extLst>
            </p:cNvPr>
            <p:cNvSpPr txBox="1"/>
            <p:nvPr/>
          </p:nvSpPr>
          <p:spPr>
            <a:xfrm>
              <a:off x="636968" y="131184"/>
              <a:ext cx="205104"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Tool</a:t>
              </a:r>
              <a:endParaRPr lang="en-IN" sz="1100">
                <a:effectLst/>
                <a:latin typeface="Times New Roman" panose="02020603050405020304" pitchFamily="18" charset="0"/>
                <a:ea typeface="Times New Roman" panose="02020603050405020304" pitchFamily="18" charset="0"/>
              </a:endParaRPr>
            </a:p>
          </p:txBody>
        </p:sp>
        <p:sp>
          <p:nvSpPr>
            <p:cNvPr id="8" name="Textbox 146">
              <a:extLst>
                <a:ext uri="{FF2B5EF4-FFF2-40B4-BE49-F238E27FC236}">
                  <a16:creationId xmlns:a16="http://schemas.microsoft.com/office/drawing/2014/main" id="{B1E97A1D-9EE2-48C4-2A9B-DEA1A44DE2B8}"/>
                </a:ext>
              </a:extLst>
            </p:cNvPr>
            <p:cNvSpPr txBox="1"/>
            <p:nvPr/>
          </p:nvSpPr>
          <p:spPr>
            <a:xfrm>
              <a:off x="1361692" y="124808"/>
              <a:ext cx="300990" cy="101600"/>
            </a:xfrm>
            <a:prstGeom prst="rect">
              <a:avLst/>
            </a:prstGeom>
          </p:spPr>
          <p:txBody>
            <a:bodyPr wrap="square" lIns="0" tIns="0" rIns="0" bIns="0" rtlCol="0">
              <a:noAutofit/>
            </a:bodyPr>
            <a:lstStyle/>
            <a:p>
              <a:pPr>
                <a:lnSpc>
                  <a:spcPts val="775"/>
                </a:lnSpc>
              </a:pPr>
              <a:r>
                <a:rPr lang="en-US" sz="800" spc="-10">
                  <a:solidFill>
                    <a:srgbClr val="231F20"/>
                  </a:solidFill>
                  <a:effectLst/>
                  <a:latin typeface="Times New Roman" panose="02020603050405020304" pitchFamily="18" charset="0"/>
                  <a:ea typeface="Times New Roman" panose="02020603050405020304" pitchFamily="18" charset="0"/>
                </a:rPr>
                <a:t>Object</a:t>
              </a:r>
              <a:endParaRPr lang="en-IN" sz="1100">
                <a:effectLst/>
                <a:latin typeface="Times New Roman" panose="02020603050405020304" pitchFamily="18" charset="0"/>
                <a:ea typeface="Times New Roman" panose="02020603050405020304" pitchFamily="18" charset="0"/>
              </a:endParaRPr>
            </a:p>
          </p:txBody>
        </p:sp>
        <p:sp>
          <p:nvSpPr>
            <p:cNvPr id="9" name="Textbox 147">
              <a:extLst>
                <a:ext uri="{FF2B5EF4-FFF2-40B4-BE49-F238E27FC236}">
                  <a16:creationId xmlns:a16="http://schemas.microsoft.com/office/drawing/2014/main" id="{244F7526-CCAF-70BA-FADB-2FC645177BA2}"/>
                </a:ext>
              </a:extLst>
            </p:cNvPr>
            <p:cNvSpPr txBox="1"/>
            <p:nvPr/>
          </p:nvSpPr>
          <p:spPr>
            <a:xfrm>
              <a:off x="629495" y="875771"/>
              <a:ext cx="220345"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Edge</a:t>
              </a:r>
              <a:endParaRPr lang="en-IN" sz="1100">
                <a:effectLst/>
                <a:latin typeface="Times New Roman" panose="02020603050405020304" pitchFamily="18" charset="0"/>
                <a:ea typeface="Times New Roman" panose="02020603050405020304" pitchFamily="18" charset="0"/>
              </a:endParaRPr>
            </a:p>
          </p:txBody>
        </p:sp>
        <p:sp>
          <p:nvSpPr>
            <p:cNvPr id="10" name="Textbox 148">
              <a:extLst>
                <a:ext uri="{FF2B5EF4-FFF2-40B4-BE49-F238E27FC236}">
                  <a16:creationId xmlns:a16="http://schemas.microsoft.com/office/drawing/2014/main" id="{972A1C04-88BE-38DE-A4B5-CD37EF56A344}"/>
                </a:ext>
              </a:extLst>
            </p:cNvPr>
            <p:cNvSpPr txBox="1"/>
            <p:nvPr/>
          </p:nvSpPr>
          <p:spPr>
            <a:xfrm>
              <a:off x="1348353" y="889933"/>
              <a:ext cx="328295" cy="88900"/>
            </a:xfrm>
            <a:prstGeom prst="rect">
              <a:avLst/>
            </a:prstGeom>
          </p:spPr>
          <p:txBody>
            <a:bodyPr wrap="square" lIns="0" tIns="0" rIns="0" bIns="0" rtlCol="0">
              <a:noAutofit/>
            </a:bodyPr>
            <a:lstStyle/>
            <a:p>
              <a:pPr>
                <a:lnSpc>
                  <a:spcPts val="680"/>
                </a:lnSpc>
              </a:pPr>
              <a:r>
                <a:rPr lang="en-US" sz="700" spc="-10">
                  <a:solidFill>
                    <a:srgbClr val="231F20"/>
                  </a:solidFill>
                  <a:effectLst/>
                  <a:latin typeface="Times New Roman" panose="02020603050405020304" pitchFamily="18" charset="0"/>
                  <a:ea typeface="Times New Roman" panose="02020603050405020304" pitchFamily="18" charset="0"/>
                </a:rPr>
                <a:t>Material</a:t>
              </a:r>
              <a:endParaRPr lang="en-IN" sz="1100">
                <a:effectLst/>
                <a:latin typeface="Times New Roman" panose="02020603050405020304" pitchFamily="18" charset="0"/>
                <a:ea typeface="Times New Roman" panose="02020603050405020304" pitchFamily="18" charset="0"/>
              </a:endParaRPr>
            </a:p>
          </p:txBody>
        </p:sp>
        <p:sp>
          <p:nvSpPr>
            <p:cNvPr id="11" name="Textbox 149">
              <a:extLst>
                <a:ext uri="{FF2B5EF4-FFF2-40B4-BE49-F238E27FC236}">
                  <a16:creationId xmlns:a16="http://schemas.microsoft.com/office/drawing/2014/main" id="{22A3A2DB-6276-4816-BF0A-00C209162D22}"/>
                </a:ext>
              </a:extLst>
            </p:cNvPr>
            <p:cNvSpPr txBox="1"/>
            <p:nvPr/>
          </p:nvSpPr>
          <p:spPr>
            <a:xfrm>
              <a:off x="2621796" y="883633"/>
              <a:ext cx="220345"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Edge</a:t>
              </a:r>
              <a:endParaRPr lang="en-IN" sz="1100">
                <a:effectLst/>
                <a:latin typeface="Times New Roman" panose="02020603050405020304" pitchFamily="18" charset="0"/>
                <a:ea typeface="Times New Roman" panose="02020603050405020304" pitchFamily="18" charset="0"/>
              </a:endParaRPr>
            </a:p>
          </p:txBody>
        </p:sp>
        <p:sp>
          <p:nvSpPr>
            <p:cNvPr id="12" name="Textbox 150">
              <a:extLst>
                <a:ext uri="{FF2B5EF4-FFF2-40B4-BE49-F238E27FC236}">
                  <a16:creationId xmlns:a16="http://schemas.microsoft.com/office/drawing/2014/main" id="{40B6F4E5-00D6-B7BA-7529-6806C15DAE1D}"/>
                </a:ext>
              </a:extLst>
            </p:cNvPr>
            <p:cNvSpPr txBox="1"/>
            <p:nvPr/>
          </p:nvSpPr>
          <p:spPr>
            <a:xfrm>
              <a:off x="3381561" y="893206"/>
              <a:ext cx="328295" cy="88900"/>
            </a:xfrm>
            <a:prstGeom prst="rect">
              <a:avLst/>
            </a:prstGeom>
          </p:spPr>
          <p:txBody>
            <a:bodyPr wrap="square" lIns="0" tIns="0" rIns="0" bIns="0" rtlCol="0">
              <a:noAutofit/>
            </a:bodyPr>
            <a:lstStyle/>
            <a:p>
              <a:pPr>
                <a:lnSpc>
                  <a:spcPts val="680"/>
                </a:lnSpc>
              </a:pPr>
              <a:r>
                <a:rPr lang="en-US" sz="700" spc="-10">
                  <a:solidFill>
                    <a:srgbClr val="231F20"/>
                  </a:solidFill>
                  <a:effectLst/>
                  <a:latin typeface="Times New Roman" panose="02020603050405020304" pitchFamily="18" charset="0"/>
                  <a:ea typeface="Times New Roman" panose="02020603050405020304" pitchFamily="18" charset="0"/>
                </a:rPr>
                <a:t>Material</a:t>
              </a:r>
              <a:endParaRPr lang="en-IN" sz="1100">
                <a:effectLst/>
                <a:latin typeface="Times New Roman" panose="02020603050405020304" pitchFamily="18" charset="0"/>
                <a:ea typeface="Times New Roman" panose="02020603050405020304" pitchFamily="18" charset="0"/>
              </a:endParaRPr>
            </a:p>
          </p:txBody>
        </p:sp>
        <p:sp>
          <p:nvSpPr>
            <p:cNvPr id="13" name="Textbox 151">
              <a:extLst>
                <a:ext uri="{FF2B5EF4-FFF2-40B4-BE49-F238E27FC236}">
                  <a16:creationId xmlns:a16="http://schemas.microsoft.com/office/drawing/2014/main" id="{0ED60258-BC97-F5E7-9142-FB57D9306DD2}"/>
                </a:ext>
              </a:extLst>
            </p:cNvPr>
            <p:cNvSpPr txBox="1"/>
            <p:nvPr/>
          </p:nvSpPr>
          <p:spPr>
            <a:xfrm>
              <a:off x="1377133" y="1600378"/>
              <a:ext cx="269875"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Cargo</a:t>
              </a:r>
              <a:endParaRPr lang="en-IN" sz="1100">
                <a:effectLst/>
                <a:latin typeface="Times New Roman" panose="02020603050405020304" pitchFamily="18" charset="0"/>
                <a:ea typeface="Times New Roman" panose="02020603050405020304" pitchFamily="18" charset="0"/>
              </a:endParaRPr>
            </a:p>
          </p:txBody>
        </p:sp>
        <p:sp>
          <p:nvSpPr>
            <p:cNvPr id="14" name="Textbox 152">
              <a:extLst>
                <a:ext uri="{FF2B5EF4-FFF2-40B4-BE49-F238E27FC236}">
                  <a16:creationId xmlns:a16="http://schemas.microsoft.com/office/drawing/2014/main" id="{27F6645E-F91B-2B85-FF8D-57F87C13B5C0}"/>
                </a:ext>
              </a:extLst>
            </p:cNvPr>
            <p:cNvSpPr txBox="1"/>
            <p:nvPr/>
          </p:nvSpPr>
          <p:spPr>
            <a:xfrm>
              <a:off x="644484" y="1815783"/>
              <a:ext cx="168910" cy="101600"/>
            </a:xfrm>
            <a:prstGeom prst="rect">
              <a:avLst/>
            </a:prstGeom>
          </p:spPr>
          <p:txBody>
            <a:bodyPr wrap="square" lIns="0" tIns="0" rIns="0" bIns="0" rtlCol="0">
              <a:noAutofit/>
            </a:bodyPr>
            <a:lstStyle/>
            <a:p>
              <a:pPr>
                <a:lnSpc>
                  <a:spcPts val="775"/>
                </a:lnSpc>
              </a:pPr>
              <a:r>
                <a:rPr lang="en-US" sz="800" spc="-25">
                  <a:solidFill>
                    <a:srgbClr val="231F20"/>
                  </a:solidFill>
                  <a:effectLst/>
                  <a:latin typeface="Times New Roman" panose="02020603050405020304" pitchFamily="18" charset="0"/>
                  <a:ea typeface="Times New Roman" panose="02020603050405020304" pitchFamily="18" charset="0"/>
                </a:rPr>
                <a:t>Car</a:t>
              </a:r>
              <a:endParaRPr lang="en-IN" sz="1100">
                <a:effectLst/>
                <a:latin typeface="Times New Roman" panose="02020603050405020304" pitchFamily="18" charset="0"/>
                <a:ea typeface="Times New Roman" panose="02020603050405020304" pitchFamily="18" charset="0"/>
              </a:endParaRPr>
            </a:p>
          </p:txBody>
        </p:sp>
        <p:sp>
          <p:nvSpPr>
            <p:cNvPr id="15" name="Textbox 153">
              <a:extLst>
                <a:ext uri="{FF2B5EF4-FFF2-40B4-BE49-F238E27FC236}">
                  <a16:creationId xmlns:a16="http://schemas.microsoft.com/office/drawing/2014/main" id="{90074BE1-C060-9DDF-B960-093148F9C558}"/>
                </a:ext>
              </a:extLst>
            </p:cNvPr>
            <p:cNvSpPr txBox="1"/>
            <p:nvPr/>
          </p:nvSpPr>
          <p:spPr>
            <a:xfrm>
              <a:off x="1396692" y="2132648"/>
              <a:ext cx="230504"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Road</a:t>
              </a:r>
              <a:endParaRPr lang="en-IN" sz="11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378777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57D898-8E44-1F02-D18C-C61F89A0ED69}"/>
              </a:ext>
            </a:extLst>
          </p:cNvPr>
          <p:cNvSpPr txBox="1"/>
          <p:nvPr/>
        </p:nvSpPr>
        <p:spPr>
          <a:xfrm>
            <a:off x="167148" y="228252"/>
            <a:ext cx="11779046" cy="6497420"/>
          </a:xfrm>
          <a:prstGeom prst="rect">
            <a:avLst/>
          </a:prstGeom>
          <a:noFill/>
        </p:spPr>
        <p:txBody>
          <a:bodyPr wrap="square">
            <a:spAutoFit/>
          </a:bodyPr>
          <a:lstStyle/>
          <a:p>
            <a:pPr lvl="2">
              <a:spcBef>
                <a:spcPts val="5"/>
              </a:spcBef>
              <a:buClr>
                <a:srgbClr val="231F20"/>
              </a:buClr>
              <a:buSzPts val="1250"/>
              <a:tabLst>
                <a:tab pos="664845" algn="l"/>
              </a:tabLst>
            </a:pPr>
            <a:r>
              <a:rPr lang="en-US" b="1" i="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FEATURES </a:t>
            </a:r>
          </a:p>
          <a:p>
            <a:pPr lvl="2">
              <a:spcBef>
                <a:spcPts val="5"/>
              </a:spcBef>
              <a:buClr>
                <a:srgbClr val="231F20"/>
              </a:buClr>
              <a:buSzPts val="1250"/>
              <a:tabLst>
                <a:tab pos="664845" algn="l"/>
              </a:tabLst>
            </a:pPr>
            <a:endParaRPr lang="en-US" b="1" i="1"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lvl="2" algn="just">
              <a:spcBef>
                <a:spcPts val="5"/>
              </a:spcBef>
              <a:buClr>
                <a:srgbClr val="231F20"/>
              </a:buClr>
              <a:buSzPts val="1250"/>
              <a:tabLst>
                <a:tab pos="664845" algn="l"/>
              </a:tabLst>
            </a:pP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Features and actions can describe tradeoffs. It is simplest to describe features. Most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often,</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development</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product</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means</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improvement</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features.</a:t>
            </a:r>
            <a:r>
              <a:rPr lang="en-US" spc="-6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Usually,</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6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user</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does</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not</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need</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product</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itself,</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but</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needs</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features.</a:t>
            </a:r>
            <a:endPar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2" algn="just">
              <a:spcBef>
                <a:spcPts val="5"/>
              </a:spcBef>
              <a:buClr>
                <a:srgbClr val="231F20"/>
              </a:buClr>
              <a:buSzPts val="1250"/>
              <a:tabLst>
                <a:tab pos="664845" algn="l"/>
              </a:tabLst>
            </a:pP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we</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improve</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muffler</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conventional</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lawnmower</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powered</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by</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internal</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combustion</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engine?</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List</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features</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1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muffler:</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600200" lvl="3" indent="-228600" algn="just">
              <a:spcBef>
                <a:spcPts val="1045"/>
              </a:spcBef>
              <a:spcAft>
                <a:spcPts val="0"/>
              </a:spcAft>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Dimensions</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Weight</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Noise</a:t>
            </a:r>
            <a:r>
              <a:rPr lang="en-US" spc="-5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absorption</a:t>
            </a:r>
            <a:r>
              <a:rPr lang="en-US" spc="-4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capacity</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pc="-3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Ease</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3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of</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3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manufacture</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Form,</a:t>
            </a:r>
            <a:r>
              <a:rPr lang="en-US" spc="-7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outer</a:t>
            </a:r>
            <a:r>
              <a:rPr lang="en-US" spc="-6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appearance</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209550" marR="234315" indent="190500" algn="just">
              <a:lnSpc>
                <a:spcPct val="106000"/>
              </a:lnSpc>
              <a:spcBef>
                <a:spcPts val="1105"/>
              </a:spcBef>
              <a:spcAft>
                <a:spcPts val="0"/>
              </a:spcAft>
            </a:pP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How</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we</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thin</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out</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carrot</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seedlings</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small</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home</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garden?</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List</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features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 the thinning technology:</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657350" lvl="3" indent="-285750" algn="just">
              <a:lnSpc>
                <a:spcPts val="1455"/>
              </a:lnSpc>
              <a:spcBef>
                <a:spcPts val="1085"/>
              </a:spcBef>
              <a:spcAft>
                <a:spcPts val="0"/>
              </a:spcAft>
              <a:buClr>
                <a:srgbClr val="231F20"/>
              </a:buClr>
              <a:buSzPts val="1050"/>
              <a:buFont typeface="Wingdings" panose="05000000000000000000" pitchFamily="2" charset="2"/>
              <a:buChar char="q"/>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Speed</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57350" lvl="3" indent="-285750" algn="just">
              <a:lnSpc>
                <a:spcPts val="1295"/>
              </a:lnSpc>
              <a:buClr>
                <a:srgbClr val="231F20"/>
              </a:buClr>
              <a:buSzPts val="1050"/>
              <a:buFont typeface="Wingdings" panose="05000000000000000000" pitchFamily="2" charset="2"/>
              <a:buChar char="q"/>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Precision</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57350" lvl="3" indent="-285750" algn="just">
              <a:lnSpc>
                <a:spcPts val="1455"/>
              </a:lnSpc>
              <a:buClr>
                <a:srgbClr val="231F20"/>
              </a:buClr>
              <a:buSzPts val="1050"/>
              <a:buFont typeface="Wingdings" panose="05000000000000000000" pitchFamily="2" charset="2"/>
              <a:buChar char="q"/>
              <a:tabLst>
                <a:tab pos="513715" algn="l"/>
              </a:tabLst>
            </a:pP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Ergonomic</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level</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209550" indent="190500" algn="just">
              <a:lnSpc>
                <a:spcPct val="106000"/>
              </a:lnSpc>
              <a:spcBef>
                <a:spcPts val="1105"/>
              </a:spcBef>
              <a:spcAft>
                <a:spcPts val="0"/>
              </a:spcAft>
            </a:pP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We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spoken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latch</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mechanism.</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improve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pin?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List</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features of the pin:</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600200" lvl="3" indent="-228600" algn="just">
              <a:lnSpc>
                <a:spcPts val="1455"/>
              </a:lnSpc>
              <a:spcBef>
                <a:spcPts val="1085"/>
              </a:spcBef>
              <a:spcAft>
                <a:spcPts val="0"/>
              </a:spcAft>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Dimensions</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lnSpc>
                <a:spcPts val="1295"/>
              </a:lnSpc>
              <a:buClr>
                <a:srgbClr val="231F20"/>
              </a:buClr>
              <a:buSzPts val="1050"/>
              <a:buFont typeface="Lucida Sans Unicode" panose="020B0602030504020204" pitchFamily="34" charset="0"/>
              <a:buChar char="■"/>
              <a:tabLst>
                <a:tab pos="513715" algn="l"/>
              </a:tabLst>
            </a:pP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Form</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lnSpc>
                <a:spcPts val="1295"/>
              </a:lnSpc>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Surface</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quality,</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manufacturing</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precision</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lnSpc>
                <a:spcPts val="1295"/>
              </a:lnSpc>
              <a:buClr>
                <a:srgbClr val="231F20"/>
              </a:buClr>
              <a:buSzPts val="1050"/>
              <a:buFont typeface="Lucida Sans Unicode" panose="020B0602030504020204" pitchFamily="34" charset="0"/>
              <a:buChar char="■"/>
              <a:tabLst>
                <a:tab pos="513715" algn="l"/>
              </a:tabLst>
            </a:pPr>
            <a:r>
              <a:rPr lang="en-US" spc="-3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Ease</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3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of</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3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manufacture</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lnSpc>
                <a:spcPts val="1295"/>
              </a:lnSpc>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Ease</a:t>
            </a:r>
            <a:r>
              <a:rPr lang="en-US" spc="-5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of</a:t>
            </a:r>
            <a:r>
              <a:rPr lang="en-US" spc="-4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locking</a:t>
            </a:r>
            <a:r>
              <a:rPr lang="en-US" spc="-4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and</a:t>
            </a:r>
            <a:r>
              <a:rPr lang="en-US" spc="-4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opening</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lvl="3" indent="-228600" algn="just">
              <a:lnSpc>
                <a:spcPts val="1455"/>
              </a:lnSpc>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Reliability</a:t>
            </a:r>
          </a:p>
          <a:p>
            <a:pPr lvl="3">
              <a:lnSpc>
                <a:spcPts val="1455"/>
              </a:lnSpc>
              <a:buClr>
                <a:srgbClr val="231F20"/>
              </a:buClr>
              <a:buSzPts val="1050"/>
              <a:tabLst>
                <a:tab pos="513715" algn="l"/>
              </a:tabLst>
            </a:pP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p:txBody>
      </p:sp>
    </p:spTree>
    <p:extLst>
      <p:ext uri="{BB962C8B-B14F-4D97-AF65-F5344CB8AC3E}">
        <p14:creationId xmlns:p14="http://schemas.microsoft.com/office/powerpoint/2010/main" val="66994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0B1685-220B-583B-9C70-5C54122D8988}"/>
              </a:ext>
            </a:extLst>
          </p:cNvPr>
          <p:cNvSpPr txBox="1"/>
          <p:nvPr/>
        </p:nvSpPr>
        <p:spPr>
          <a:xfrm>
            <a:off x="2330245" y="267619"/>
            <a:ext cx="6223819" cy="369332"/>
          </a:xfrm>
          <a:prstGeom prst="rect">
            <a:avLst/>
          </a:prstGeom>
          <a:noFill/>
        </p:spPr>
        <p:txBody>
          <a:bodyPr wrap="square">
            <a:spAutoFit/>
          </a:bodyPr>
          <a:lstStyle/>
          <a:p>
            <a:pPr lvl="2" algn="ctr">
              <a:buClr>
                <a:srgbClr val="231F20"/>
              </a:buClr>
              <a:buSzPts val="1250"/>
              <a:tabLst>
                <a:tab pos="665480" algn="l"/>
              </a:tabLst>
            </a:pP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The</a:t>
            </a:r>
            <a:r>
              <a:rPr lang="en-US" sz="1800" b="1" i="1" spc="-4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Tradeoff</a:t>
            </a:r>
            <a:r>
              <a:rPr lang="en-US" sz="1800" b="1" i="1" spc="-4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between</a:t>
            </a:r>
            <a:r>
              <a:rPr lang="en-US" sz="1800" b="1" i="1" spc="-4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Features</a:t>
            </a:r>
            <a:endParaRPr lang="en-IN" sz="1800" b="1" i="1" spc="-7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5" name="TextBox 4">
            <a:extLst>
              <a:ext uri="{FF2B5EF4-FFF2-40B4-BE49-F238E27FC236}">
                <a16:creationId xmlns:a16="http://schemas.microsoft.com/office/drawing/2014/main" id="{57DA534D-FA15-BBC6-4356-3CA861283553}"/>
              </a:ext>
            </a:extLst>
          </p:cNvPr>
          <p:cNvSpPr txBox="1"/>
          <p:nvPr/>
        </p:nvSpPr>
        <p:spPr>
          <a:xfrm>
            <a:off x="560439" y="820914"/>
            <a:ext cx="6096000" cy="923330"/>
          </a:xfrm>
          <a:prstGeom prst="rect">
            <a:avLst/>
          </a:prstGeom>
          <a:noFill/>
        </p:spPr>
        <p:txBody>
          <a:bodyPr wrap="square">
            <a:spAutoFit/>
          </a:bodyPr>
          <a:lstStyle/>
          <a:p>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tradeoff</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between</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tool</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and</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object</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shows</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where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problem</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lies.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useful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 </a:t>
            </a:r>
            <a:r>
              <a:rPr lang="en-US" sz="1800" spc="-20" dirty="0">
                <a:solidFill>
                  <a:srgbClr val="231F20"/>
                </a:solidFill>
                <a:effectLst/>
                <a:latin typeface="Times New Roman" panose="02020603050405020304" pitchFamily="18" charset="0"/>
                <a:ea typeface="Times New Roman" panose="02020603050405020304" pitchFamily="18" charset="0"/>
              </a:rPr>
              <a:t>express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tradeoff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conflict</a:t>
            </a:r>
            <a:r>
              <a:rPr lang="en-US" sz="1800" spc="-3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between</a:t>
            </a:r>
            <a:r>
              <a:rPr lang="en-US" sz="1800" spc="-3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two</a:t>
            </a:r>
            <a:r>
              <a:rPr lang="en-US" sz="1800" spc="-3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features.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When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velocity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car </a:t>
            </a:r>
            <a:r>
              <a:rPr lang="en-US" sz="1800" spc="-10" dirty="0">
                <a:solidFill>
                  <a:srgbClr val="231F20"/>
                </a:solidFill>
                <a:effectLst/>
                <a:latin typeface="Times New Roman" panose="02020603050405020304" pitchFamily="18" charset="0"/>
                <a:ea typeface="Times New Roman" panose="02020603050405020304" pitchFamily="18" charset="0"/>
              </a:rPr>
              <a:t>increases,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safety</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worsens.</a:t>
            </a:r>
            <a:r>
              <a:rPr lang="en-US" sz="1800" spc="-40" dirty="0">
                <a:solidFill>
                  <a:srgbClr val="231F20"/>
                </a:solidFill>
                <a:effectLst/>
                <a:latin typeface="Times New Roman" panose="02020603050405020304" pitchFamily="18" charset="0"/>
                <a:ea typeface="Times New Roman" panose="02020603050405020304" pitchFamily="18" charset="0"/>
              </a:rPr>
              <a:t> </a:t>
            </a:r>
            <a:endParaRPr lang="en-IN" dirty="0"/>
          </a:p>
        </p:txBody>
      </p:sp>
      <p:sp>
        <p:nvSpPr>
          <p:cNvPr id="7" name="TextBox 6">
            <a:extLst>
              <a:ext uri="{FF2B5EF4-FFF2-40B4-BE49-F238E27FC236}">
                <a16:creationId xmlns:a16="http://schemas.microsoft.com/office/drawing/2014/main" id="{664F3E0B-AEB1-FD75-A721-7D7318B77579}"/>
              </a:ext>
            </a:extLst>
          </p:cNvPr>
          <p:cNvSpPr txBox="1"/>
          <p:nvPr/>
        </p:nvSpPr>
        <p:spPr>
          <a:xfrm>
            <a:off x="313510" y="1970195"/>
            <a:ext cx="6096000" cy="660309"/>
          </a:xfrm>
          <a:prstGeom prst="rect">
            <a:avLst/>
          </a:prstGeom>
          <a:noFill/>
        </p:spPr>
        <p:txBody>
          <a:bodyPr wrap="square">
            <a:spAutoFit/>
          </a:bodyPr>
          <a:lstStyle/>
          <a:p>
            <a:pPr marL="208915" marR="233680" indent="190500" algn="just">
              <a:lnSpc>
                <a:spcPct val="106000"/>
              </a:lnSpc>
              <a:spcBef>
                <a:spcPts val="20"/>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When</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velocity</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car</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increases,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 consumption of fuel also increases.</a:t>
            </a:r>
            <a:endParaRPr lang="en-IN" sz="1800" dirty="0">
              <a:effectLst/>
              <a:latin typeface="Times New Roman" panose="02020603050405020304" pitchFamily="18" charset="0"/>
              <a:ea typeface="Times New Roman" panose="02020603050405020304" pitchFamily="18" charset="0"/>
            </a:endParaRPr>
          </a:p>
        </p:txBody>
      </p:sp>
      <p:grpSp>
        <p:nvGrpSpPr>
          <p:cNvPr id="8" name="Group 7">
            <a:extLst>
              <a:ext uri="{FF2B5EF4-FFF2-40B4-BE49-F238E27FC236}">
                <a16:creationId xmlns:a16="http://schemas.microsoft.com/office/drawing/2014/main" id="{DB976B01-F609-285B-04B0-3AADEE366916}"/>
              </a:ext>
            </a:extLst>
          </p:cNvPr>
          <p:cNvGrpSpPr>
            <a:grpSpLocks/>
          </p:cNvGrpSpPr>
          <p:nvPr/>
        </p:nvGrpSpPr>
        <p:grpSpPr>
          <a:xfrm>
            <a:off x="6971071" y="1277836"/>
            <a:ext cx="4267200" cy="1664669"/>
            <a:chOff x="0" y="13038"/>
            <a:chExt cx="4267200" cy="1664669"/>
          </a:xfrm>
        </p:grpSpPr>
        <p:pic>
          <p:nvPicPr>
            <p:cNvPr id="9" name="Image 155">
              <a:extLst>
                <a:ext uri="{FF2B5EF4-FFF2-40B4-BE49-F238E27FC236}">
                  <a16:creationId xmlns:a16="http://schemas.microsoft.com/office/drawing/2014/main" id="{B7B870A6-A06F-36B1-5F67-711BBB47F596}"/>
                </a:ext>
              </a:extLst>
            </p:cNvPr>
            <p:cNvPicPr/>
            <p:nvPr/>
          </p:nvPicPr>
          <p:blipFill>
            <a:blip r:embed="rId2" cstate="print"/>
            <a:stretch>
              <a:fillRect/>
            </a:stretch>
          </p:blipFill>
          <p:spPr>
            <a:xfrm>
              <a:off x="838200" y="13038"/>
              <a:ext cx="2590800" cy="1626107"/>
            </a:xfrm>
            <a:prstGeom prst="rect">
              <a:avLst/>
            </a:prstGeom>
          </p:spPr>
        </p:pic>
        <p:sp>
          <p:nvSpPr>
            <p:cNvPr id="10" name="Graphic 156">
              <a:extLst>
                <a:ext uri="{FF2B5EF4-FFF2-40B4-BE49-F238E27FC236}">
                  <a16:creationId xmlns:a16="http://schemas.microsoft.com/office/drawing/2014/main" id="{CB8ACFFF-CA5D-C618-90A2-A9ED49C8D310}"/>
                </a:ext>
              </a:extLst>
            </p:cNvPr>
            <p:cNvSpPr/>
            <p:nvPr/>
          </p:nvSpPr>
          <p:spPr>
            <a:xfrm>
              <a:off x="0" y="1676437"/>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2" name="TextBox 11">
            <a:extLst>
              <a:ext uri="{FF2B5EF4-FFF2-40B4-BE49-F238E27FC236}">
                <a16:creationId xmlns:a16="http://schemas.microsoft.com/office/drawing/2014/main" id="{FF8B4BA3-58CC-0662-A4EF-0EB0301E862E}"/>
              </a:ext>
            </a:extLst>
          </p:cNvPr>
          <p:cNvSpPr txBox="1"/>
          <p:nvPr/>
        </p:nvSpPr>
        <p:spPr>
          <a:xfrm>
            <a:off x="313510" y="2792082"/>
            <a:ext cx="6096000" cy="1501821"/>
          </a:xfrm>
          <a:prstGeom prst="rect">
            <a:avLst/>
          </a:prstGeom>
          <a:noFill/>
        </p:spPr>
        <p:txBody>
          <a:bodyPr wrap="square">
            <a:spAutoFit/>
          </a:bodyPr>
          <a:lstStyle/>
          <a:p>
            <a:pPr marL="209550" marR="233045" indent="190500" algn="just">
              <a:lnSpc>
                <a:spcPct val="103000"/>
              </a:lnSpc>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use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features</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to</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describe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current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state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of</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system</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can use them to describe the system that we want. If there is a conflict between the features</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tradeoff,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TRIZ</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remove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tradeoff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create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new, improved system.</a:t>
            </a:r>
            <a:endParaRPr lang="en-IN" sz="1800" dirty="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2513F3DF-9ED0-74E6-A00A-A4DCEB50F38A}"/>
              </a:ext>
            </a:extLst>
          </p:cNvPr>
          <p:cNvSpPr txBox="1"/>
          <p:nvPr/>
        </p:nvSpPr>
        <p:spPr>
          <a:xfrm>
            <a:off x="442450" y="4605904"/>
            <a:ext cx="11139949" cy="1216487"/>
          </a:xfrm>
          <a:prstGeom prst="rect">
            <a:avLst/>
          </a:prstGeom>
          <a:noFill/>
        </p:spPr>
        <p:txBody>
          <a:bodyPr wrap="square">
            <a:spAutoFit/>
          </a:bodyPr>
          <a:lstStyle/>
          <a:p>
            <a:pPr marL="209550" marR="234315" indent="190500" algn="just">
              <a:lnSpc>
                <a:spcPct val="103000"/>
              </a:lnSpc>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What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function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water </a:t>
            </a:r>
            <a:r>
              <a:rPr lang="en-US" sz="1800" dirty="0">
                <a:solidFill>
                  <a:srgbClr val="231F20"/>
                </a:solidFill>
                <a:effectLst/>
                <a:latin typeface="Times New Roman" panose="02020603050405020304" pitchFamily="18" charset="0"/>
                <a:ea typeface="Times New Roman" panose="02020603050405020304" pitchFamily="18" charset="0"/>
              </a:rPr>
              <a:t>tap?</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control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water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flow?</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“Control”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extremely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general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verb</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does not tell how to detect the function of delivery of water. “To stop water” or “to </a:t>
            </a:r>
            <a:r>
              <a:rPr lang="en-US" sz="1800" spc="-10" dirty="0">
                <a:solidFill>
                  <a:srgbClr val="231F20"/>
                </a:solidFill>
                <a:effectLst/>
                <a:latin typeface="Times New Roman" panose="02020603050405020304" pitchFamily="18" charset="0"/>
                <a:ea typeface="Times New Roman" panose="02020603050405020304" pitchFamily="18" charset="0"/>
              </a:rPr>
              <a:t>regulate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water”</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both</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define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only</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one-half</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function.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contrast,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one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easily list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essential</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features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water</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tap:</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water</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flow,</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reliability,</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ease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decorative </a:t>
            </a:r>
            <a:r>
              <a:rPr lang="en-US" sz="1800" dirty="0">
                <a:solidFill>
                  <a:srgbClr val="231F20"/>
                </a:solidFill>
                <a:effectLst/>
                <a:latin typeface="Times New Roman" panose="02020603050405020304" pitchFamily="18" charset="0"/>
                <a:ea typeface="Times New Roman" panose="02020603050405020304" pitchFamily="18" charset="0"/>
              </a:rPr>
              <a:t>appearance,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others.</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Therefore,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will</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features</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rather</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than</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functions</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 most of our examples.</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16695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971360-40BF-90EE-778A-5A8D3165B3A3}"/>
              </a:ext>
            </a:extLst>
          </p:cNvPr>
          <p:cNvSpPr txBox="1"/>
          <p:nvPr/>
        </p:nvSpPr>
        <p:spPr>
          <a:xfrm>
            <a:off x="286374" y="191866"/>
            <a:ext cx="6096000" cy="369332"/>
          </a:xfrm>
          <a:prstGeom prst="rect">
            <a:avLst/>
          </a:prstGeom>
          <a:noFill/>
        </p:spPr>
        <p:txBody>
          <a:bodyPr wrap="square">
            <a:spAutoFit/>
          </a:bodyPr>
          <a:lstStyle/>
          <a:p>
            <a:pPr lvl="2">
              <a:spcBef>
                <a:spcPts val="695"/>
              </a:spcBef>
              <a:spcAft>
                <a:spcPts val="0"/>
              </a:spcAft>
              <a:buClr>
                <a:srgbClr val="231F20"/>
              </a:buClr>
              <a:buSzPts val="1250"/>
              <a:tabLst>
                <a:tab pos="665480" algn="l"/>
              </a:tabLst>
            </a:pP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WHERE</a:t>
            </a:r>
            <a:r>
              <a:rPr lang="en-US" sz="1800" b="1" i="1" spc="-2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DOES</a:t>
            </a:r>
            <a:r>
              <a:rPr lang="en-US" sz="1800" b="1" i="1" spc="-2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THE</a:t>
            </a:r>
            <a:r>
              <a:rPr lang="en-US" sz="1800" b="1" i="1" spc="-1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TRADEOFF</a:t>
            </a:r>
            <a:r>
              <a:rPr lang="en-US" sz="1800" b="1" i="1" spc="-2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APPEAR?</a:t>
            </a:r>
            <a:endParaRPr lang="en-IN" sz="1800" b="1" i="1" spc="-7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15" name="TextBox 14">
            <a:extLst>
              <a:ext uri="{FF2B5EF4-FFF2-40B4-BE49-F238E27FC236}">
                <a16:creationId xmlns:a16="http://schemas.microsoft.com/office/drawing/2014/main" id="{EF6CD50E-504E-5002-5E52-63B3E4953E4A}"/>
              </a:ext>
            </a:extLst>
          </p:cNvPr>
          <p:cNvSpPr txBox="1"/>
          <p:nvPr/>
        </p:nvSpPr>
        <p:spPr>
          <a:xfrm>
            <a:off x="6566773" y="336561"/>
            <a:ext cx="6096000" cy="369332"/>
          </a:xfrm>
          <a:prstGeom prst="rect">
            <a:avLst/>
          </a:prstGeom>
          <a:noFill/>
        </p:spPr>
        <p:txBody>
          <a:bodyPr wrap="square">
            <a:spAutoFit/>
          </a:bodyPr>
          <a:lstStyle/>
          <a:p>
            <a:pPr marL="963295">
              <a:tabLst>
                <a:tab pos="2800985" algn="l"/>
              </a:tabLst>
            </a:pPr>
            <a:r>
              <a:rPr lang="en-US" sz="1800" dirty="0">
                <a:solidFill>
                  <a:srgbClr val="231F20"/>
                </a:solidFill>
                <a:effectLst/>
                <a:latin typeface="Times New Roman" panose="02020603050405020304" pitchFamily="18" charset="0"/>
                <a:ea typeface="Times New Roman" panose="02020603050405020304" pitchFamily="18" charset="0"/>
              </a:rPr>
              <a:t>Old</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design</a:t>
            </a:r>
            <a:r>
              <a:rPr lang="en-US" sz="1800" dirty="0">
                <a:solidFill>
                  <a:srgbClr val="231F20"/>
                </a:solidFill>
                <a:effectLst/>
                <a:latin typeface="Times New Roman" panose="02020603050405020304" pitchFamily="18" charset="0"/>
                <a:ea typeface="Times New Roman" panose="02020603050405020304" pitchFamily="18" charset="0"/>
              </a:rPr>
              <a:t>	New</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design</a:t>
            </a:r>
            <a:endParaRPr lang="en-IN" sz="3200" dirty="0">
              <a:effectLst/>
              <a:latin typeface="Times New Roman" panose="02020603050405020304" pitchFamily="18" charset="0"/>
              <a:ea typeface="Times New Roman" panose="02020603050405020304" pitchFamily="18" charset="0"/>
            </a:endParaRPr>
          </a:p>
        </p:txBody>
      </p:sp>
      <p:sp>
        <p:nvSpPr>
          <p:cNvPr id="22" name="TextBox 21">
            <a:extLst>
              <a:ext uri="{FF2B5EF4-FFF2-40B4-BE49-F238E27FC236}">
                <a16:creationId xmlns:a16="http://schemas.microsoft.com/office/drawing/2014/main" id="{9B5B7A33-5027-6A49-A5E0-1BC563A08CB6}"/>
              </a:ext>
            </a:extLst>
          </p:cNvPr>
          <p:cNvSpPr txBox="1"/>
          <p:nvPr/>
        </p:nvSpPr>
        <p:spPr>
          <a:xfrm>
            <a:off x="417110" y="2587024"/>
            <a:ext cx="6261985" cy="1015663"/>
          </a:xfrm>
          <a:prstGeom prst="rect">
            <a:avLst/>
          </a:prstGeom>
          <a:noFill/>
        </p:spPr>
        <p:txBody>
          <a:bodyPr wrap="square">
            <a:spAutoFit/>
          </a:bodyPr>
          <a:lstStyle/>
          <a:p>
            <a:pPr algn="just"/>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muffler</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of</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lawnmower</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is</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a</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system</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containing</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at</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least</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two</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subsystems:</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a casing</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and</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porous</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absorbing</a:t>
            </a:r>
            <a:r>
              <a:rPr lang="en-US" sz="2000" spc="-4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material.</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muffler</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itself</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is</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a</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part</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of</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lawnmower</a:t>
            </a:r>
            <a:endParaRPr lang="en-IN" sz="2000" dirty="0"/>
          </a:p>
        </p:txBody>
      </p:sp>
      <p:sp>
        <p:nvSpPr>
          <p:cNvPr id="24" name="TextBox 23">
            <a:extLst>
              <a:ext uri="{FF2B5EF4-FFF2-40B4-BE49-F238E27FC236}">
                <a16:creationId xmlns:a16="http://schemas.microsoft.com/office/drawing/2014/main" id="{2255D9A3-A22D-DABC-1BF4-395290F11000}"/>
              </a:ext>
            </a:extLst>
          </p:cNvPr>
          <p:cNvSpPr txBox="1"/>
          <p:nvPr/>
        </p:nvSpPr>
        <p:spPr>
          <a:xfrm>
            <a:off x="453523" y="3785792"/>
            <a:ext cx="6225572" cy="1323439"/>
          </a:xfrm>
          <a:prstGeom prst="rect">
            <a:avLst/>
          </a:prstGeom>
          <a:noFill/>
        </p:spPr>
        <p:txBody>
          <a:bodyPr wrap="square">
            <a:spAutoFit/>
          </a:bodyPr>
          <a:lstStyle/>
          <a:p>
            <a:pPr algn="just"/>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level</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muffler:</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lower</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the</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level</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of</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noise,</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the</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thicker</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the</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layer</a:t>
            </a:r>
            <a:r>
              <a:rPr lang="en-US" sz="2000" spc="-50" dirty="0">
                <a:solidFill>
                  <a:srgbClr val="0070C0"/>
                </a:solidFill>
                <a:effectLst/>
                <a:latin typeface="Times New Roman" panose="02020603050405020304" pitchFamily="18" charset="0"/>
                <a:ea typeface="Times New Roman" panose="02020603050405020304" pitchFamily="18" charset="0"/>
              </a:rPr>
              <a:t> </a:t>
            </a:r>
            <a:r>
              <a:rPr lang="en-US" sz="2000" spc="-10" dirty="0">
                <a:solidFill>
                  <a:srgbClr val="0070C0"/>
                </a:solidFill>
                <a:effectLst/>
                <a:latin typeface="Times New Roman" panose="02020603050405020304" pitchFamily="18" charset="0"/>
                <a:ea typeface="Times New Roman" panose="02020603050405020304" pitchFamily="18" charset="0"/>
              </a:rPr>
              <a:t>of </a:t>
            </a:r>
            <a:r>
              <a:rPr lang="en-US" sz="2000" dirty="0">
                <a:solidFill>
                  <a:srgbClr val="0070C0"/>
                </a:solidFill>
                <a:effectLst/>
                <a:latin typeface="Times New Roman" panose="02020603050405020304" pitchFamily="18" charset="0"/>
                <a:ea typeface="Times New Roman" panose="02020603050405020304" pitchFamily="18" charset="0"/>
              </a:rPr>
              <a:t>porous</a:t>
            </a:r>
            <a:r>
              <a:rPr lang="en-US" sz="2000" spc="-70" dirty="0">
                <a:solidFill>
                  <a:srgbClr val="0070C0"/>
                </a:solidFill>
                <a:effectLst/>
                <a:latin typeface="Times New Roman" panose="02020603050405020304" pitchFamily="18" charset="0"/>
                <a:ea typeface="Times New Roman" panose="02020603050405020304" pitchFamily="18" charset="0"/>
              </a:rPr>
              <a:t> </a:t>
            </a:r>
            <a:r>
              <a:rPr lang="en-US" sz="2000" dirty="0">
                <a:solidFill>
                  <a:srgbClr val="0070C0"/>
                </a:solidFill>
                <a:effectLst/>
                <a:latin typeface="Times New Roman" panose="02020603050405020304" pitchFamily="18" charset="0"/>
                <a:ea typeface="Times New Roman" panose="02020603050405020304" pitchFamily="18" charset="0"/>
              </a:rPr>
              <a:t>material</a:t>
            </a:r>
            <a:r>
              <a:rPr lang="en-US" sz="2000" dirty="0">
                <a:solidFill>
                  <a:srgbClr val="231F20"/>
                </a:solidFill>
                <a:effectLst/>
                <a:latin typeface="Times New Roman" panose="02020603050405020304" pitchFamily="18" charset="0"/>
                <a:ea typeface="Times New Roman" panose="02020603050405020304" pitchFamily="18" charset="0"/>
              </a:rPr>
              <a: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One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possible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way</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decrease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noise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without</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thickening</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 </a:t>
            </a:r>
            <a:r>
              <a:rPr lang="en-US" sz="2000" spc="-10" dirty="0">
                <a:solidFill>
                  <a:srgbClr val="231F20"/>
                </a:solidFill>
                <a:effectLst/>
                <a:latin typeface="Times New Roman" panose="02020603050405020304" pitchFamily="18" charset="0"/>
                <a:ea typeface="Times New Roman" panose="02020603050405020304" pitchFamily="18" charset="0"/>
              </a:rPr>
              <a:t>muffler</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is</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using</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noise</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cancellation</a:t>
            </a:r>
            <a:endParaRPr lang="en-IN" sz="2000" dirty="0"/>
          </a:p>
        </p:txBody>
      </p:sp>
      <p:sp>
        <p:nvSpPr>
          <p:cNvPr id="26" name="TextBox 25">
            <a:extLst>
              <a:ext uri="{FF2B5EF4-FFF2-40B4-BE49-F238E27FC236}">
                <a16:creationId xmlns:a16="http://schemas.microsoft.com/office/drawing/2014/main" id="{92034983-7E55-C511-E8F7-7F74D769BF99}"/>
              </a:ext>
            </a:extLst>
          </p:cNvPr>
          <p:cNvSpPr txBox="1"/>
          <p:nvPr/>
        </p:nvSpPr>
        <p:spPr>
          <a:xfrm>
            <a:off x="551845" y="5292336"/>
            <a:ext cx="6127250" cy="1323439"/>
          </a:xfrm>
          <a:prstGeom prst="rect">
            <a:avLst/>
          </a:prstGeom>
          <a:noFill/>
        </p:spPr>
        <p:txBody>
          <a:bodyPr wrap="square">
            <a:spAutoFit/>
          </a:bodyPr>
          <a:lstStyle/>
          <a:p>
            <a:pPr algn="just"/>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level</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lawnmower:</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This</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system</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contains</a:t>
            </a:r>
            <a:r>
              <a:rPr lang="en-US" sz="2000" spc="-2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casing,</a:t>
            </a:r>
            <a:r>
              <a:rPr lang="en-US" sz="2000" spc="-2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engine,</a:t>
            </a:r>
            <a:r>
              <a:rPr lang="en-US" sz="2000" spc="-2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exhaust </a:t>
            </a:r>
            <a:r>
              <a:rPr lang="en-US" sz="2000" spc="-30" dirty="0">
                <a:solidFill>
                  <a:srgbClr val="FF0000"/>
                </a:solidFill>
                <a:effectLst/>
                <a:latin typeface="Times New Roman" panose="02020603050405020304" pitchFamily="18" charset="0"/>
                <a:ea typeface="Times New Roman" panose="02020603050405020304" pitchFamily="18" charset="0"/>
              </a:rPr>
              <a:t>tube, muffler, </a:t>
            </a:r>
            <a:r>
              <a:rPr lang="en-US" sz="2000" spc="-30" dirty="0">
                <a:solidFill>
                  <a:srgbClr val="231F20"/>
                </a:solidFill>
                <a:effectLst/>
                <a:latin typeface="Times New Roman" panose="02020603050405020304" pitchFamily="18" charset="0"/>
                <a:ea typeface="Times New Roman" panose="02020603050405020304" pitchFamily="18" charset="0"/>
              </a:rPr>
              <a:t>and other parts of the lawnmower. If noise is decreased using the </a:t>
            </a:r>
            <a:r>
              <a:rPr lang="en-US" sz="2000" spc="-20" dirty="0">
                <a:solidFill>
                  <a:srgbClr val="231F20"/>
                </a:solidFill>
                <a:effectLst/>
                <a:latin typeface="Times New Roman" panose="02020603050405020304" pitchFamily="18" charset="0"/>
                <a:ea typeface="Times New Roman" panose="02020603050405020304" pitchFamily="18" charset="0"/>
              </a:rPr>
              <a:t>muffler,</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lawnmower</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becomes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more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complex.</a:t>
            </a:r>
            <a:r>
              <a:rPr lang="en-US" sz="2000" spc="-40" dirty="0">
                <a:solidFill>
                  <a:srgbClr val="231F20"/>
                </a:solidFill>
                <a:effectLst/>
                <a:latin typeface="Times New Roman" panose="02020603050405020304" pitchFamily="18" charset="0"/>
                <a:ea typeface="Times New Roman" panose="02020603050405020304" pitchFamily="18" charset="0"/>
              </a:rPr>
              <a:t> </a:t>
            </a:r>
            <a:endParaRPr lang="en-IN" sz="2000" dirty="0"/>
          </a:p>
        </p:txBody>
      </p:sp>
      <p:grpSp>
        <p:nvGrpSpPr>
          <p:cNvPr id="32" name="Group 31">
            <a:extLst>
              <a:ext uri="{FF2B5EF4-FFF2-40B4-BE49-F238E27FC236}">
                <a16:creationId xmlns:a16="http://schemas.microsoft.com/office/drawing/2014/main" id="{D81B1A55-E7C1-E456-569C-E0B7FE173244}"/>
              </a:ext>
            </a:extLst>
          </p:cNvPr>
          <p:cNvGrpSpPr>
            <a:grpSpLocks/>
          </p:cNvGrpSpPr>
          <p:nvPr/>
        </p:nvGrpSpPr>
        <p:grpSpPr>
          <a:xfrm>
            <a:off x="7131232" y="705893"/>
            <a:ext cx="4267200" cy="997942"/>
            <a:chOff x="0" y="0"/>
            <a:chExt cx="4267200" cy="997942"/>
          </a:xfrm>
        </p:grpSpPr>
        <p:pic>
          <p:nvPicPr>
            <p:cNvPr id="33" name="Image 161">
              <a:extLst>
                <a:ext uri="{FF2B5EF4-FFF2-40B4-BE49-F238E27FC236}">
                  <a16:creationId xmlns:a16="http://schemas.microsoft.com/office/drawing/2014/main" id="{30FFC3F8-94BF-5D9A-4EAA-F850059CD340}"/>
                </a:ext>
              </a:extLst>
            </p:cNvPr>
            <p:cNvPicPr/>
            <p:nvPr/>
          </p:nvPicPr>
          <p:blipFill>
            <a:blip r:embed="rId2" cstate="print"/>
            <a:stretch>
              <a:fillRect/>
            </a:stretch>
          </p:blipFill>
          <p:spPr>
            <a:xfrm>
              <a:off x="753618" y="0"/>
              <a:ext cx="2759964" cy="946330"/>
            </a:xfrm>
            <a:prstGeom prst="rect">
              <a:avLst/>
            </a:prstGeom>
          </p:spPr>
        </p:pic>
        <p:sp>
          <p:nvSpPr>
            <p:cNvPr id="34" name="Graphic 162">
              <a:extLst>
                <a:ext uri="{FF2B5EF4-FFF2-40B4-BE49-F238E27FC236}">
                  <a16:creationId xmlns:a16="http://schemas.microsoft.com/office/drawing/2014/main" id="{F20447E8-3272-9A14-E268-123916685673}"/>
                </a:ext>
              </a:extLst>
            </p:cNvPr>
            <p:cNvSpPr/>
            <p:nvPr/>
          </p:nvSpPr>
          <p:spPr>
            <a:xfrm>
              <a:off x="0" y="996672"/>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pic>
        <p:nvPicPr>
          <p:cNvPr id="1026" name="Picture 2" descr="Monoculture Crops: Is Monocropping Harmful to the Environment ...">
            <a:extLst>
              <a:ext uri="{FF2B5EF4-FFF2-40B4-BE49-F238E27FC236}">
                <a16:creationId xmlns:a16="http://schemas.microsoft.com/office/drawing/2014/main" id="{14DF1F65-BDFE-7B38-D237-CB81F373BA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3627" y="1924050"/>
            <a:ext cx="4514850" cy="3009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57BBAB0-3783-32D6-E57F-F2D0B42A99DA}"/>
              </a:ext>
            </a:extLst>
          </p:cNvPr>
          <p:cNvSpPr txBox="1"/>
          <p:nvPr/>
        </p:nvSpPr>
        <p:spPr>
          <a:xfrm>
            <a:off x="417111" y="648032"/>
            <a:ext cx="6385890" cy="193899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problem statement is like the answers to a journalist’s questions: </a:t>
            </a:r>
            <a:r>
              <a:rPr lang="en-US" sz="2000" dirty="0">
                <a:solidFill>
                  <a:srgbClr val="FF0000"/>
                </a:solidFill>
                <a:latin typeface="Times New Roman" panose="02020603050405020304" pitchFamily="18" charset="0"/>
                <a:cs typeface="Times New Roman" panose="02020603050405020304" pitchFamily="18" charset="0"/>
              </a:rPr>
              <a:t>who, what, where, when, why, and how. </a:t>
            </a:r>
            <a:r>
              <a:rPr lang="en-US" sz="2000" dirty="0">
                <a:latin typeface="Times New Roman" panose="02020603050405020304" pitchFamily="18" charset="0"/>
                <a:cs typeface="Times New Roman" panose="02020603050405020304" pitchFamily="18" charset="0"/>
              </a:rPr>
              <a:t>Answering the questions may reveal the tradeoffs. The </a:t>
            </a:r>
            <a:r>
              <a:rPr lang="en-US" sz="2000" dirty="0">
                <a:solidFill>
                  <a:srgbClr val="FF0000"/>
                </a:solidFill>
                <a:latin typeface="Times New Roman" panose="02020603050405020304" pitchFamily="18" charset="0"/>
                <a:cs typeface="Times New Roman" panose="02020603050405020304" pitchFamily="18" charset="0"/>
              </a:rPr>
              <a:t>level of the system is important, too. </a:t>
            </a:r>
            <a:r>
              <a:rPr lang="en-US" sz="2000" dirty="0">
                <a:latin typeface="Times New Roman" panose="02020603050405020304" pitchFamily="18" charset="0"/>
                <a:cs typeface="Times New Roman" panose="02020603050405020304" pitchFamily="18" charset="0"/>
              </a:rPr>
              <a:t>The system contains some parts of lower level and is itself a part of the higher-level system or macrosystem</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9AC04B5-F85E-013A-02AE-8FB23DE07DCA}"/>
              </a:ext>
            </a:extLst>
          </p:cNvPr>
          <p:cNvSpPr txBox="1"/>
          <p:nvPr/>
        </p:nvSpPr>
        <p:spPr>
          <a:xfrm>
            <a:off x="7222662" y="4969170"/>
            <a:ext cx="5440111" cy="646331"/>
          </a:xfrm>
          <a:prstGeom prst="rect">
            <a:avLst/>
          </a:prstGeom>
          <a:noFill/>
        </p:spPr>
        <p:txBody>
          <a:bodyPr wrap="square">
            <a:spAutoFit/>
          </a:bodyPr>
          <a:lstStyle/>
          <a:p>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level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garden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yard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park):</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system</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contains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least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lawnmower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grass.</a:t>
            </a:r>
            <a:endParaRPr lang="en-IN" dirty="0"/>
          </a:p>
        </p:txBody>
      </p:sp>
    </p:spTree>
    <p:extLst>
      <p:ext uri="{BB962C8B-B14F-4D97-AF65-F5344CB8AC3E}">
        <p14:creationId xmlns:p14="http://schemas.microsoft.com/office/powerpoint/2010/main" val="2956651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3CCBA1A4-8954-70FC-F494-029E01A5396B}"/>
              </a:ext>
            </a:extLst>
          </p:cNvPr>
          <p:cNvGrpSpPr>
            <a:grpSpLocks/>
          </p:cNvGrpSpPr>
          <p:nvPr/>
        </p:nvGrpSpPr>
        <p:grpSpPr>
          <a:xfrm>
            <a:off x="6882581" y="2113070"/>
            <a:ext cx="4267200" cy="1587107"/>
            <a:chOff x="0" y="31164"/>
            <a:chExt cx="4267200" cy="1587107"/>
          </a:xfrm>
        </p:grpSpPr>
        <p:pic>
          <p:nvPicPr>
            <p:cNvPr id="17" name="Image 174">
              <a:extLst>
                <a:ext uri="{FF2B5EF4-FFF2-40B4-BE49-F238E27FC236}">
                  <a16:creationId xmlns:a16="http://schemas.microsoft.com/office/drawing/2014/main" id="{C0AE1675-77DF-7EC9-A1D5-8A0CD0B5CB60}"/>
                </a:ext>
              </a:extLst>
            </p:cNvPr>
            <p:cNvPicPr/>
            <p:nvPr/>
          </p:nvPicPr>
          <p:blipFill>
            <a:blip r:embed="rId2" cstate="print"/>
            <a:stretch>
              <a:fillRect/>
            </a:stretch>
          </p:blipFill>
          <p:spPr>
            <a:xfrm>
              <a:off x="762000" y="31164"/>
              <a:ext cx="2743200" cy="1566671"/>
            </a:xfrm>
            <a:prstGeom prst="rect">
              <a:avLst/>
            </a:prstGeom>
          </p:spPr>
        </p:pic>
        <p:sp>
          <p:nvSpPr>
            <p:cNvPr id="18" name="Graphic 175">
              <a:extLst>
                <a:ext uri="{FF2B5EF4-FFF2-40B4-BE49-F238E27FC236}">
                  <a16:creationId xmlns:a16="http://schemas.microsoft.com/office/drawing/2014/main" id="{F0DDF78A-3984-B539-8B79-5ED627E74765}"/>
                </a:ext>
              </a:extLst>
            </p:cNvPr>
            <p:cNvSpPr/>
            <p:nvPr/>
          </p:nvSpPr>
          <p:spPr>
            <a:xfrm>
              <a:off x="0" y="1617001"/>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28" name="TextBox 27">
            <a:extLst>
              <a:ext uri="{FF2B5EF4-FFF2-40B4-BE49-F238E27FC236}">
                <a16:creationId xmlns:a16="http://schemas.microsoft.com/office/drawing/2014/main" id="{8ED394D3-1394-03BA-CE1B-43D3881A6067}"/>
              </a:ext>
            </a:extLst>
          </p:cNvPr>
          <p:cNvSpPr txBox="1"/>
          <p:nvPr/>
        </p:nvSpPr>
        <p:spPr>
          <a:xfrm>
            <a:off x="943898" y="806571"/>
            <a:ext cx="10491018" cy="923330"/>
          </a:xfrm>
          <a:prstGeom prst="rect">
            <a:avLst/>
          </a:prstGeom>
          <a:noFill/>
        </p:spPr>
        <p:txBody>
          <a:bodyPr wrap="square">
            <a:spAutoFit/>
          </a:bodyPr>
          <a:lstStyle/>
          <a:p>
            <a:pPr algn="just"/>
            <a:r>
              <a:rPr lang="en-US" sz="1800" dirty="0">
                <a:solidFill>
                  <a:srgbClr val="231F20"/>
                </a:solidFill>
                <a:effectLst/>
                <a:latin typeface="Times New Roman" panose="02020603050405020304" pitchFamily="18" charset="0"/>
                <a:ea typeface="Times New Roman" panose="02020603050405020304" pitchFamily="18" charset="0"/>
              </a:rPr>
              <a:t>Carrots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cultivated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small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home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garden.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 initial problem is </a:t>
            </a:r>
            <a:r>
              <a:rPr lang="en-US" sz="1800" dirty="0">
                <a:solidFill>
                  <a:srgbClr val="FF0000"/>
                </a:solidFill>
                <a:effectLst/>
                <a:latin typeface="Times New Roman" panose="02020603050405020304" pitchFamily="18" charset="0"/>
                <a:ea typeface="Times New Roman" panose="02020603050405020304" pitchFamily="18" charset="0"/>
              </a:rPr>
              <a:t>how to make the thinning of carrot plants easier.</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Thinning is necessary</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so</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that</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there</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will</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be</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enough</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space</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between</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plants</a:t>
            </a:r>
            <a:r>
              <a:rPr lang="en-US" sz="1800" spc="-5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they</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mature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 allow</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each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plant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get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enough</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nutrients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water.</a:t>
            </a:r>
            <a:r>
              <a:rPr lang="en-US" sz="1800" spc="-30" dirty="0">
                <a:solidFill>
                  <a:srgbClr val="231F20"/>
                </a:solidFill>
                <a:effectLst/>
                <a:latin typeface="Times New Roman" panose="02020603050405020304" pitchFamily="18" charset="0"/>
                <a:ea typeface="Times New Roman" panose="02020603050405020304" pitchFamily="18" charset="0"/>
              </a:rPr>
              <a:t> </a:t>
            </a:r>
            <a:endParaRPr lang="en-IN" dirty="0"/>
          </a:p>
        </p:txBody>
      </p:sp>
      <p:sp>
        <p:nvSpPr>
          <p:cNvPr id="5" name="TextBox 4">
            <a:extLst>
              <a:ext uri="{FF2B5EF4-FFF2-40B4-BE49-F238E27FC236}">
                <a16:creationId xmlns:a16="http://schemas.microsoft.com/office/drawing/2014/main" id="{B7764227-5A5D-D822-4E13-BFF7FF5C5778}"/>
              </a:ext>
            </a:extLst>
          </p:cNvPr>
          <p:cNvSpPr txBox="1"/>
          <p:nvPr/>
        </p:nvSpPr>
        <p:spPr>
          <a:xfrm>
            <a:off x="3008671" y="233145"/>
            <a:ext cx="6096000" cy="400110"/>
          </a:xfrm>
          <a:prstGeom prst="rect">
            <a:avLst/>
          </a:prstGeom>
          <a:noFill/>
        </p:spPr>
        <p:txBody>
          <a:bodyPr wrap="square">
            <a:spAutoFit/>
          </a:bodyPr>
          <a:lstStyle/>
          <a:p>
            <a:pPr lvl="2">
              <a:buClr>
                <a:srgbClr val="231F20"/>
              </a:buClr>
              <a:buSzPts val="1250"/>
              <a:tabLst>
                <a:tab pos="664845" algn="l"/>
              </a:tabLst>
            </a:pPr>
            <a:r>
              <a:rPr lang="en-US" sz="20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When</a:t>
            </a:r>
            <a:r>
              <a:rPr lang="en-US" sz="2000" b="1" i="1" spc="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20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Does</a:t>
            </a:r>
            <a:r>
              <a:rPr lang="en-US" sz="2000" b="1" i="1" spc="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20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the</a:t>
            </a:r>
            <a:r>
              <a:rPr lang="en-US" sz="2000" b="1" i="1" spc="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20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Tradeoff</a:t>
            </a:r>
            <a:r>
              <a:rPr lang="en-US" sz="2000" b="1" i="1" spc="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20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Appear?</a:t>
            </a:r>
            <a:endParaRPr lang="en-IN" sz="2000" b="1" i="1" spc="-7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6" name="TextBox 5">
            <a:extLst>
              <a:ext uri="{FF2B5EF4-FFF2-40B4-BE49-F238E27FC236}">
                <a16:creationId xmlns:a16="http://schemas.microsoft.com/office/drawing/2014/main" id="{71AB8C47-59B9-921B-45B5-6A57642E1FB3}"/>
              </a:ext>
            </a:extLst>
          </p:cNvPr>
          <p:cNvSpPr txBox="1"/>
          <p:nvPr/>
        </p:nvSpPr>
        <p:spPr>
          <a:xfrm>
            <a:off x="-334296" y="1825023"/>
            <a:ext cx="6096000" cy="3336298"/>
          </a:xfrm>
          <a:prstGeom prst="rect">
            <a:avLst/>
          </a:prstGeom>
          <a:noFill/>
        </p:spPr>
        <p:txBody>
          <a:bodyPr wrap="square">
            <a:spAutoFit/>
          </a:bodyPr>
          <a:lstStyle/>
          <a:p>
            <a:pPr marL="1600200" marR="232410" lvl="3" indent="-228600" algn="just">
              <a:buClr>
                <a:srgbClr val="231F20"/>
              </a:buClr>
              <a:buSzPts val="1050"/>
              <a:buFont typeface="Lucida Sans Unicode" panose="020B0602030504020204" pitchFamily="34" charset="0"/>
              <a:buChar char="■"/>
              <a:tabLst>
                <a:tab pos="514350" algn="l"/>
              </a:tabLst>
            </a:pPr>
            <a:r>
              <a:rPr lang="en-US" sz="1800" spc="0" dirty="0">
                <a:solidFill>
                  <a:srgbClr val="231F20"/>
                </a:solidFill>
                <a:effectLst/>
                <a:latin typeface="Times New Roman" panose="02020603050405020304" pitchFamily="18" charset="0"/>
                <a:ea typeface="Lucida Sans Unicode" panose="020B0602030504020204" pitchFamily="34" charset="0"/>
              </a:rPr>
              <a:t>Seeding:</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If</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every</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seed</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is</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planted</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precisely</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in</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the</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right</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place,</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no</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thinning</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is </a:t>
            </a:r>
            <a:r>
              <a:rPr lang="en-US" sz="1800" spc="-10" dirty="0">
                <a:solidFill>
                  <a:srgbClr val="231F20"/>
                </a:solidFill>
                <a:effectLst/>
                <a:latin typeface="Times New Roman" panose="02020603050405020304" pitchFamily="18" charset="0"/>
                <a:ea typeface="Lucida Sans Unicode" panose="020B0602030504020204" pitchFamily="34" charset="0"/>
              </a:rPr>
              <a:t>needed.</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If</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one</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plants</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seeds</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very</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simply</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by</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hand,</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much</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time</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is</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needed.</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Time </a:t>
            </a:r>
            <a:r>
              <a:rPr lang="en-US" sz="1800" spc="-20" dirty="0">
                <a:solidFill>
                  <a:srgbClr val="231F20"/>
                </a:solidFill>
                <a:effectLst/>
                <a:latin typeface="Times New Roman" panose="02020603050405020304" pitchFamily="18" charset="0"/>
                <a:ea typeface="Lucida Sans Unicode" panose="020B0602030504020204" pitchFamily="34" charset="0"/>
              </a:rPr>
              <a:t>can</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be</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saved</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using</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seeding</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equipment,</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but</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then</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the</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drawback</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is</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the</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existence </a:t>
            </a:r>
            <a:r>
              <a:rPr lang="en-US" sz="1800" spc="0" dirty="0">
                <a:solidFill>
                  <a:srgbClr val="231F20"/>
                </a:solidFill>
                <a:effectLst/>
                <a:latin typeface="Times New Roman" panose="02020603050405020304" pitchFamily="18" charset="0"/>
                <a:ea typeface="Lucida Sans Unicode" panose="020B0602030504020204" pitchFamily="34" charset="0"/>
              </a:rPr>
              <a:t>of the equipment, its cost, storage, maintenance, and such.</a:t>
            </a:r>
          </a:p>
          <a:p>
            <a:pPr marR="232410" lvl="3" algn="just">
              <a:buClr>
                <a:srgbClr val="231F20"/>
              </a:buClr>
              <a:buSzPts val="1050"/>
              <a:tabLst>
                <a:tab pos="514350" algn="l"/>
              </a:tabLst>
            </a:pPr>
            <a:endParaRPr lang="en-IN" sz="2000" spc="0" dirty="0">
              <a:effectLst/>
              <a:latin typeface="Times New Roman" panose="02020603050405020304" pitchFamily="18" charset="0"/>
              <a:ea typeface="Lucida Sans Unicode" panose="020B0602030504020204" pitchFamily="34" charset="0"/>
            </a:endParaRPr>
          </a:p>
          <a:p>
            <a:pPr marL="1600200" marR="233045" lvl="3" indent="-228600" algn="just">
              <a:lnSpc>
                <a:spcPct val="90000"/>
              </a:lnSpc>
              <a:buClr>
                <a:srgbClr val="231F20"/>
              </a:buClr>
              <a:buSzPts val="1050"/>
              <a:buFont typeface="Lucida Sans Unicode" panose="020B0602030504020204" pitchFamily="34" charset="0"/>
              <a:buChar char="■"/>
              <a:tabLst>
                <a:tab pos="514350" algn="l"/>
              </a:tabLst>
            </a:pPr>
            <a:r>
              <a:rPr lang="en-US" sz="1800" spc="-10" dirty="0">
                <a:solidFill>
                  <a:srgbClr val="231F20"/>
                </a:solidFill>
                <a:effectLst/>
                <a:latin typeface="Times New Roman" panose="02020603050405020304" pitchFamily="18" charset="0"/>
                <a:ea typeface="Lucida Sans Unicode" panose="020B0602030504020204" pitchFamily="34" charset="0"/>
              </a:rPr>
              <a:t>Thinning:</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The</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same</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tradeoff</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as</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in</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seeding</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thinning</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can</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be</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mechanized</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in </a:t>
            </a:r>
            <a:r>
              <a:rPr lang="en-US" sz="1800" spc="0" dirty="0">
                <a:solidFill>
                  <a:srgbClr val="231F20"/>
                </a:solidFill>
                <a:effectLst/>
                <a:latin typeface="Times New Roman" panose="02020603050405020304" pitchFamily="18" charset="0"/>
                <a:ea typeface="Lucida Sans Unicode" panose="020B0602030504020204" pitchFamily="34" charset="0"/>
              </a:rPr>
              <a:t>some</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way</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and</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time</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saved,</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but</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the</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system</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becomes</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complex.</a:t>
            </a:r>
            <a:endParaRPr lang="en-IN" sz="2000" spc="0" dirty="0">
              <a:effectLst/>
              <a:latin typeface="Times New Roman" panose="02020603050405020304" pitchFamily="18" charset="0"/>
              <a:ea typeface="Lucida Sans Unicode" panose="020B0602030504020204" pitchFamily="34" charset="0"/>
            </a:endParaRPr>
          </a:p>
        </p:txBody>
      </p:sp>
      <p:sp>
        <p:nvSpPr>
          <p:cNvPr id="3" name="TextBox 2">
            <a:extLst>
              <a:ext uri="{FF2B5EF4-FFF2-40B4-BE49-F238E27FC236}">
                <a16:creationId xmlns:a16="http://schemas.microsoft.com/office/drawing/2014/main" id="{C380701C-7BD9-6241-AF0B-A7F468E8BE91}"/>
              </a:ext>
            </a:extLst>
          </p:cNvPr>
          <p:cNvSpPr txBox="1"/>
          <p:nvPr/>
        </p:nvSpPr>
        <p:spPr>
          <a:xfrm>
            <a:off x="943898" y="5267903"/>
            <a:ext cx="10599173" cy="646331"/>
          </a:xfrm>
          <a:prstGeom prst="rect">
            <a:avLst/>
          </a:prstGeom>
          <a:noFill/>
        </p:spPr>
        <p:txBody>
          <a:bodyPr wrap="square">
            <a:spAutoFit/>
          </a:bodyPr>
          <a:lstStyle/>
          <a:p>
            <a:r>
              <a:rPr lang="en-US" sz="1800" dirty="0">
                <a:solidFill>
                  <a:srgbClr val="231F20"/>
                </a:solidFill>
                <a:effectLst/>
                <a:latin typeface="Times New Roman" panose="02020603050405020304" pitchFamily="18" charset="0"/>
                <a:ea typeface="Times New Roman" panose="02020603050405020304" pitchFamily="18" charset="0"/>
              </a:rPr>
              <a:t>There is one beautiful solution that makes seeding simple and thinning unnecessary. Seeds are fixed on a biodegradable tape. </a:t>
            </a:r>
            <a:endParaRPr lang="en-IN" dirty="0"/>
          </a:p>
        </p:txBody>
      </p:sp>
      <p:sp>
        <p:nvSpPr>
          <p:cNvPr id="7" name="TextBox 6">
            <a:extLst>
              <a:ext uri="{FF2B5EF4-FFF2-40B4-BE49-F238E27FC236}">
                <a16:creationId xmlns:a16="http://schemas.microsoft.com/office/drawing/2014/main" id="{3F045DF3-9C50-FDCA-AD4F-6308DDA15B64}"/>
              </a:ext>
            </a:extLst>
          </p:cNvPr>
          <p:cNvSpPr txBox="1"/>
          <p:nvPr/>
        </p:nvSpPr>
        <p:spPr>
          <a:xfrm>
            <a:off x="943898" y="5934670"/>
            <a:ext cx="10491018" cy="646331"/>
          </a:xfrm>
          <a:prstGeom prst="rect">
            <a:avLst/>
          </a:prstGeom>
          <a:noFill/>
        </p:spPr>
        <p:txBody>
          <a:bodyPr wrap="square">
            <a:spAutoFit/>
          </a:bodyPr>
          <a:lstStyle/>
          <a:p>
            <a:r>
              <a:rPr lang="en-US" sz="1800" spc="-20" dirty="0">
                <a:solidFill>
                  <a:srgbClr val="231F20"/>
                </a:solidFill>
                <a:effectLst/>
                <a:latin typeface="Times New Roman" panose="02020603050405020304" pitchFamily="18" charset="0"/>
                <a:ea typeface="Times New Roman" panose="02020603050405020304" pitchFamily="18" charset="0"/>
              </a:rPr>
              <a:t>Sometimes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good</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solution</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found</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in</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another</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stage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of</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the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process</a:t>
            </a:r>
            <a:r>
              <a:rPr lang="en-US" sz="1800" spc="-20" dirty="0">
                <a:solidFill>
                  <a:srgbClr val="231F20"/>
                </a:solidFill>
                <a:effectLst/>
                <a:latin typeface="Times New Roman" panose="02020603050405020304" pitchFamily="18" charset="0"/>
                <a:ea typeface="Times New Roman" panose="02020603050405020304" pitchFamily="18" charset="0"/>
              </a:rPr>
              <a: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That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why </a:t>
            </a:r>
            <a:r>
              <a:rPr lang="en-US" sz="1800" dirty="0">
                <a:solidFill>
                  <a:srgbClr val="231F20"/>
                </a:solidFill>
                <a:effectLst/>
                <a:latin typeface="Times New Roman" panose="02020603050405020304" pitchFamily="18" charset="0"/>
                <a:ea typeface="Times New Roman" panose="02020603050405020304" pitchFamily="18" charset="0"/>
              </a:rPr>
              <a:t>it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useful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formulate</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tradeoffs</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different</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process</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stages.</a:t>
            </a:r>
            <a:r>
              <a:rPr lang="en-US" sz="1800" spc="-30" dirty="0">
                <a:solidFill>
                  <a:srgbClr val="FF0000"/>
                </a:solidFill>
                <a:effectLst/>
                <a:latin typeface="Times New Roman" panose="02020603050405020304" pitchFamily="18" charset="0"/>
                <a:ea typeface="Times New Roman" panose="02020603050405020304" pitchFamily="18" charset="0"/>
              </a:rPr>
              <a:t> </a:t>
            </a:r>
            <a:endParaRPr lang="en-IN" dirty="0">
              <a:solidFill>
                <a:srgbClr val="FF0000"/>
              </a:solidFill>
            </a:endParaRPr>
          </a:p>
        </p:txBody>
      </p:sp>
    </p:spTree>
    <p:extLst>
      <p:ext uri="{BB962C8B-B14F-4D97-AF65-F5344CB8AC3E}">
        <p14:creationId xmlns:p14="http://schemas.microsoft.com/office/powerpoint/2010/main" val="2515621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29246F-4EB7-06C7-4BBA-EC041A52A8A3}"/>
              </a:ext>
            </a:extLst>
          </p:cNvPr>
          <p:cNvSpPr txBox="1"/>
          <p:nvPr/>
        </p:nvSpPr>
        <p:spPr>
          <a:xfrm>
            <a:off x="-659295" y="127840"/>
            <a:ext cx="9296400" cy="363497"/>
          </a:xfrm>
          <a:prstGeom prst="rect">
            <a:avLst/>
          </a:prstGeom>
          <a:noFill/>
        </p:spPr>
        <p:txBody>
          <a:bodyPr wrap="square">
            <a:spAutoFit/>
          </a:bodyPr>
          <a:lstStyle/>
          <a:p>
            <a:pPr marR="1571625" lvl="2">
              <a:lnSpc>
                <a:spcPct val="105000"/>
              </a:lnSpc>
              <a:spcAft>
                <a:spcPts val="0"/>
              </a:spcAft>
              <a:buClr>
                <a:srgbClr val="231F20"/>
              </a:buClr>
              <a:buSzPts val="1250"/>
              <a:tabLst>
                <a:tab pos="664845" algn="l"/>
                <a:tab pos="666750" algn="l"/>
              </a:tabLst>
            </a:pPr>
            <a:r>
              <a:rPr lang="en-US" sz="1800" b="1" i="1" spc="-4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How</a:t>
            </a:r>
            <a:r>
              <a:rPr lang="en-US" sz="1800" b="1" i="1" spc="-5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4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to</a:t>
            </a:r>
            <a:r>
              <a:rPr lang="en-US" sz="1800" b="1" i="1" spc="-5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4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Decide</a:t>
            </a:r>
            <a:r>
              <a:rPr lang="en-US" sz="1800" b="1" i="1" spc="-5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4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Whether</a:t>
            </a:r>
            <a:r>
              <a:rPr lang="en-US" sz="1800" b="1" i="1" spc="-5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4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to</a:t>
            </a:r>
            <a:r>
              <a:rPr lang="en-US" b="1" i="1" spc="-50" dirty="0">
                <a:solidFill>
                  <a:srgbClr val="231F20"/>
                </a:solidFill>
                <a:latin typeface="Trebuchet MS" panose="020B0603020202020204" pitchFamily="34" charset="0"/>
                <a:ea typeface="Trebuchet MS" panose="020B0603020202020204" pitchFamily="34" charset="0"/>
                <a:cs typeface="Trebuchet MS" panose="020B0603020202020204" pitchFamily="34" charset="0"/>
              </a:rPr>
              <a:t> </a:t>
            </a:r>
            <a:r>
              <a:rPr lang="en-US" sz="1800" b="1" i="1" spc="-4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Develop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the</a:t>
            </a:r>
            <a:r>
              <a:rPr lang="en-US" sz="1800" b="1" i="1" spc="-8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System</a:t>
            </a:r>
            <a:r>
              <a:rPr lang="en-US" sz="1800" b="1" i="1" spc="-8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or</a:t>
            </a:r>
            <a:r>
              <a:rPr lang="en-US" sz="1800" b="1" i="1" spc="-8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Remove</a:t>
            </a:r>
            <a:r>
              <a:rPr lang="en-US" sz="1800" b="1" i="1" spc="-8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It</a:t>
            </a:r>
            <a:endParaRPr lang="en-IN" sz="1800" b="1" i="1" spc="-7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5" name="TextBox 4">
            <a:extLst>
              <a:ext uri="{FF2B5EF4-FFF2-40B4-BE49-F238E27FC236}">
                <a16:creationId xmlns:a16="http://schemas.microsoft.com/office/drawing/2014/main" id="{20436633-B3DE-70CF-92AF-36CB5653D0AF}"/>
              </a:ext>
            </a:extLst>
          </p:cNvPr>
          <p:cNvSpPr txBox="1"/>
          <p:nvPr/>
        </p:nvSpPr>
        <p:spPr>
          <a:xfrm>
            <a:off x="393291" y="1261468"/>
            <a:ext cx="6096000" cy="2308324"/>
          </a:xfrm>
          <a:prstGeom prst="rect">
            <a:avLst/>
          </a:prstGeom>
          <a:noFill/>
        </p:spPr>
        <p:txBody>
          <a:bodyPr wrap="square">
            <a:spAutoFit/>
          </a:bodyPr>
          <a:lstStyle/>
          <a:p>
            <a:pPr algn="just">
              <a:spcBef>
                <a:spcPts val="1135"/>
              </a:spcBef>
            </a:pP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elimination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part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operation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means,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most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cases,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some useful</a:t>
            </a:r>
            <a:r>
              <a:rPr lang="en-US" sz="1800" spc="-6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features</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and</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functions</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will</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disappear</a:t>
            </a:r>
            <a:r>
              <a:rPr lang="en-US" sz="1800" spc="-10" dirty="0">
                <a:solidFill>
                  <a:srgbClr val="231F20"/>
                </a:solidFill>
                <a:effectLst/>
                <a:latin typeface="Times New Roman" panose="02020603050405020304" pitchFamily="18" charset="0"/>
                <a:ea typeface="Times New Roman" panose="02020603050405020304" pitchFamily="18" charset="0"/>
              </a:rPr>
              <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suggesting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removal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part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process,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have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created</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tradeoff.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we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can</a:t>
            </a:r>
            <a:r>
              <a:rPr lang="en-US" sz="1800" spc="-6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formulate</a:t>
            </a:r>
            <a:r>
              <a:rPr lang="en-US" sz="1800" spc="-6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6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tradeoff</a:t>
            </a:r>
            <a:r>
              <a:rPr lang="en-US" sz="180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explicitly</a:t>
            </a:r>
            <a:r>
              <a:rPr lang="en-US" sz="1800" spc="-20" dirty="0">
                <a:solidFill>
                  <a:srgbClr val="231F20"/>
                </a:solidFill>
                <a:effectLst/>
                <a:latin typeface="Times New Roman" panose="02020603050405020304" pitchFamily="18" charset="0"/>
                <a:ea typeface="Times New Roman" panose="02020603050405020304" pitchFamily="18" charset="0"/>
              </a:rPr>
              <a: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resolve</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tradeoff</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so</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that</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the</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system</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will</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have</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fewer</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parts</a:t>
            </a:r>
            <a:r>
              <a:rPr lang="en-US" sz="1800" spc="-2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spc="-20" dirty="0">
                <a:solidFill>
                  <a:schemeClr val="accent1">
                    <a:lumMod val="75000"/>
                  </a:schemeClr>
                </a:solidFill>
                <a:effectLst/>
                <a:latin typeface="Times New Roman" panose="02020603050405020304" pitchFamily="18" charset="0"/>
                <a:ea typeface="Times New Roman" panose="02020603050405020304" pitchFamily="18" charset="0"/>
              </a:rPr>
              <a:t>and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operations</a:t>
            </a:r>
            <a:r>
              <a:rPr lang="en-US" sz="1800" spc="-7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and</a:t>
            </a:r>
            <a:r>
              <a:rPr lang="en-US" sz="18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more</a:t>
            </a:r>
            <a:r>
              <a:rPr lang="en-US" sz="18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useful</a:t>
            </a:r>
            <a:r>
              <a:rPr lang="en-US" sz="1800" spc="-6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1800" dirty="0">
                <a:solidFill>
                  <a:schemeClr val="accent1">
                    <a:lumMod val="75000"/>
                  </a:schemeClr>
                </a:solidFill>
                <a:effectLst/>
                <a:latin typeface="Times New Roman" panose="02020603050405020304" pitchFamily="18" charset="0"/>
                <a:ea typeface="Times New Roman" panose="02020603050405020304" pitchFamily="18" charset="0"/>
              </a:rPr>
              <a:t>features</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will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have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significantly</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improved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 Conventional thinking often stops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before considering this kind of</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tradeoff.</a:t>
            </a:r>
            <a:endParaRPr lang="en-IN" sz="1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287A34C2-E1F1-6E94-BA1B-3095EFC06310}"/>
              </a:ext>
            </a:extLst>
          </p:cNvPr>
          <p:cNvSpPr txBox="1"/>
          <p:nvPr/>
        </p:nvSpPr>
        <p:spPr>
          <a:xfrm>
            <a:off x="167148" y="4350119"/>
            <a:ext cx="6322143" cy="1673792"/>
          </a:xfrm>
          <a:prstGeom prst="rect">
            <a:avLst/>
          </a:prstGeom>
          <a:noFill/>
        </p:spPr>
        <p:txBody>
          <a:bodyPr wrap="square">
            <a:spAutoFit/>
          </a:bodyPr>
          <a:lstStyle/>
          <a:p>
            <a:pPr marL="209550" marR="232410" indent="190500" algn="just">
              <a:lnSpc>
                <a:spcPct val="105000"/>
              </a:lnSpc>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Removing</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component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operation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not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always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possible.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Often,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some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other </a:t>
            </a:r>
            <a:r>
              <a:rPr lang="en-US" sz="1800" dirty="0">
                <a:solidFill>
                  <a:srgbClr val="231F20"/>
                </a:solidFill>
                <a:effectLst/>
                <a:latin typeface="Times New Roman" panose="02020603050405020304" pitchFamily="18" charset="0"/>
                <a:ea typeface="Times New Roman" panose="02020603050405020304" pitchFamily="18" charset="0"/>
              </a:rPr>
              <a:t>solution for the tradeoff is needed, but this method, </a:t>
            </a:r>
            <a:r>
              <a:rPr lang="en-US" sz="1800" dirty="0">
                <a:solidFill>
                  <a:srgbClr val="FF0000"/>
                </a:solidFill>
                <a:effectLst/>
                <a:latin typeface="Times New Roman" panose="02020603050405020304" pitchFamily="18" charset="0"/>
                <a:ea typeface="Times New Roman" panose="02020603050405020304" pitchFamily="18" charset="0"/>
              </a:rPr>
              <a:t>thinking about what would happen</a:t>
            </a:r>
            <a:r>
              <a:rPr lang="en-US" sz="1800" spc="-7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if</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we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removed</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component</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operation,</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helps</a:t>
            </a:r>
            <a:r>
              <a:rPr lang="en-US" sz="1800" spc="-7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to</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find</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real</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problem.</a:t>
            </a:r>
            <a:endParaRPr lang="en-IN" sz="1800" dirty="0">
              <a:solidFill>
                <a:srgbClr val="FF0000"/>
              </a:solidFill>
              <a:effectLst/>
              <a:latin typeface="Times New Roman" panose="02020603050405020304" pitchFamily="18" charset="0"/>
              <a:ea typeface="Times New Roman" panose="02020603050405020304" pitchFamily="18" charset="0"/>
            </a:endParaRPr>
          </a:p>
          <a:p>
            <a:pPr>
              <a:spcBef>
                <a:spcPts val="1125"/>
              </a:spcBef>
            </a:pPr>
            <a:r>
              <a:rPr lang="en-US" sz="1800" dirty="0">
                <a:solidFill>
                  <a:srgbClr val="FF0000"/>
                </a:solidFill>
                <a:effectLst/>
                <a:latin typeface="Times New Roman" panose="02020603050405020304" pitchFamily="18" charset="0"/>
                <a:ea typeface="Times New Roman" panose="02020603050405020304" pitchFamily="18" charset="0"/>
              </a:rPr>
              <a:t> </a:t>
            </a:r>
            <a:endParaRPr lang="en-IN" sz="1800" dirty="0">
              <a:solidFill>
                <a:srgbClr val="FF0000"/>
              </a:solidFill>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1FADBA9D-0095-EC70-6AF3-D342A0D4D385}"/>
              </a:ext>
            </a:extLst>
          </p:cNvPr>
          <p:cNvSpPr txBox="1"/>
          <p:nvPr/>
        </p:nvSpPr>
        <p:spPr>
          <a:xfrm>
            <a:off x="6263149" y="200638"/>
            <a:ext cx="6096000" cy="369332"/>
          </a:xfrm>
          <a:prstGeom prst="rect">
            <a:avLst/>
          </a:prstGeom>
          <a:noFill/>
        </p:spPr>
        <p:txBody>
          <a:bodyPr wrap="square">
            <a:spAutoFit/>
          </a:bodyPr>
          <a:lstStyle/>
          <a:p>
            <a:pPr marL="1143000" lvl="2" indent="-228600">
              <a:buClr>
                <a:srgbClr val="231F20"/>
              </a:buClr>
              <a:buSzPts val="1250"/>
              <a:buFont typeface="Trebuchet MS" panose="020B0603020202020204" pitchFamily="34" charset="0"/>
              <a:buAutoNum type="arabicPeriod"/>
              <a:tabLst>
                <a:tab pos="665480" algn="l"/>
              </a:tabLst>
            </a:pP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How</a:t>
            </a:r>
            <a:r>
              <a:rPr lang="en-US" sz="1800" b="1" i="1" spc="-1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to</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Identify</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the</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Right</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Problems</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to</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Solve</a:t>
            </a:r>
            <a:endParaRPr lang="en-IN" sz="1800" b="1" i="1" spc="-7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11" name="TextBox 10">
            <a:extLst>
              <a:ext uri="{FF2B5EF4-FFF2-40B4-BE49-F238E27FC236}">
                <a16:creationId xmlns:a16="http://schemas.microsoft.com/office/drawing/2014/main" id="{6991D04E-050E-1DBF-4736-F04CA0DC6435}"/>
              </a:ext>
            </a:extLst>
          </p:cNvPr>
          <p:cNvSpPr txBox="1"/>
          <p:nvPr/>
        </p:nvSpPr>
        <p:spPr>
          <a:xfrm>
            <a:off x="6754761" y="738584"/>
            <a:ext cx="5191433" cy="1346331"/>
          </a:xfrm>
          <a:prstGeom prst="rect">
            <a:avLst/>
          </a:prstGeom>
          <a:noFill/>
        </p:spPr>
        <p:txBody>
          <a:bodyPr wrap="square">
            <a:spAutoFit/>
          </a:bodyPr>
          <a:lstStyle/>
          <a:p>
            <a:pPr marL="209550" marR="234315" indent="190500" algn="just">
              <a:lnSpc>
                <a:spcPct val="115000"/>
              </a:lnSpc>
              <a:spcAft>
                <a:spcPts val="0"/>
              </a:spcAft>
            </a:pPr>
            <a:r>
              <a:rPr lang="en-US" dirty="0">
                <a:solidFill>
                  <a:srgbClr val="231F20"/>
                </a:solidFill>
                <a:effectLst/>
                <a:latin typeface="Times New Roman" panose="02020603050405020304" pitchFamily="18" charset="0"/>
                <a:ea typeface="Times New Roman" panose="02020603050405020304" pitchFamily="18" charset="0"/>
              </a:rPr>
              <a:t>Finding the best problem to work on means</a:t>
            </a:r>
            <a:r>
              <a:rPr lang="en-US" spc="-3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selecting</a:t>
            </a:r>
            <a:r>
              <a:rPr lang="en-US" spc="-30"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a</a:t>
            </a:r>
            <a:r>
              <a:rPr lang="en-US" spc="-30" dirty="0">
                <a:solidFill>
                  <a:srgbClr val="FF0000"/>
                </a:solidFill>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relevant</a:t>
            </a:r>
            <a:r>
              <a:rPr lang="en-US" spc="-30"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conflict</a:t>
            </a:r>
            <a:r>
              <a:rPr lang="en-US" spc="-30"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from</a:t>
            </a:r>
            <a:r>
              <a:rPr lang="en-US" spc="-30"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many</a:t>
            </a:r>
            <a:r>
              <a:rPr lang="en-US" spc="-30"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tradeoffs</a:t>
            </a:r>
            <a:r>
              <a:rPr lang="en-US" dirty="0">
                <a:solidFill>
                  <a:srgbClr val="231F20"/>
                </a:solidFill>
                <a:effectLst/>
                <a:latin typeface="Times New Roman" panose="02020603050405020304" pitchFamily="18" charset="0"/>
                <a:ea typeface="Times New Roman" panose="02020603050405020304" pitchFamily="18" charset="0"/>
              </a:rPr>
              <a:t>.</a:t>
            </a:r>
            <a:r>
              <a:rPr lang="en-IN" dirty="0">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First, consider the available time and resources. In principle, there are many alternatives</a:t>
            </a:r>
            <a:endParaRPr lang="en-IN" dirty="0"/>
          </a:p>
        </p:txBody>
      </p:sp>
      <p:sp>
        <p:nvSpPr>
          <p:cNvPr id="13" name="TextBox 12">
            <a:extLst>
              <a:ext uri="{FF2B5EF4-FFF2-40B4-BE49-F238E27FC236}">
                <a16:creationId xmlns:a16="http://schemas.microsoft.com/office/drawing/2014/main" id="{0D1F8C69-DEA3-C37E-3C06-68A79357E2EC}"/>
              </a:ext>
            </a:extLst>
          </p:cNvPr>
          <p:cNvSpPr txBox="1"/>
          <p:nvPr/>
        </p:nvSpPr>
        <p:spPr>
          <a:xfrm>
            <a:off x="6833420" y="4455276"/>
            <a:ext cx="5191432" cy="1477328"/>
          </a:xfrm>
          <a:prstGeom prst="rect">
            <a:avLst/>
          </a:prstGeom>
          <a:noFill/>
        </p:spPr>
        <p:txBody>
          <a:bodyPr wrap="square">
            <a:spAutoFit/>
          </a:bodyPr>
          <a:lstStyle/>
          <a:p>
            <a:pPr algn="just"/>
            <a:r>
              <a:rPr lang="en-US" sz="1800" dirty="0">
                <a:solidFill>
                  <a:srgbClr val="231F20"/>
                </a:solidFill>
                <a:effectLst/>
                <a:latin typeface="Times New Roman" panose="02020603050405020304" pitchFamily="18" charset="0"/>
                <a:ea typeface="Times New Roman" panose="02020603050405020304" pitchFamily="18" charset="0"/>
              </a:rPr>
              <a:t>State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problem</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seems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 </a:t>
            </a:r>
            <a:r>
              <a:rPr lang="en-US" sz="1800" spc="-20" dirty="0">
                <a:solidFill>
                  <a:schemeClr val="accent1"/>
                </a:solidFill>
                <a:effectLst/>
                <a:latin typeface="Times New Roman" panose="02020603050405020304" pitchFamily="18" charset="0"/>
                <a:ea typeface="Times New Roman" panose="02020603050405020304" pitchFamily="18" charset="0"/>
              </a:rPr>
              <a:t>most</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reasonable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based</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on</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existing</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knowledge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and</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try</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to</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solve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it.</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During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attempt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get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solution,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new</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obstacles,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well</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new</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opportunities,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will</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appear.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This </a:t>
            </a:r>
            <a:r>
              <a:rPr lang="en-US" sz="1800" spc="-20" dirty="0">
                <a:solidFill>
                  <a:srgbClr val="231F20"/>
                </a:solidFill>
                <a:effectLst/>
                <a:latin typeface="Times New Roman" panose="02020603050405020304" pitchFamily="18" charset="0"/>
                <a:ea typeface="Times New Roman" panose="02020603050405020304" pitchFamily="18" charset="0"/>
              </a:rPr>
              <a:t>new</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knowledge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allows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modify</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problem</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statement.</a:t>
            </a:r>
            <a:r>
              <a:rPr lang="en-US" sz="1800" spc="-35" dirty="0">
                <a:solidFill>
                  <a:srgbClr val="231F20"/>
                </a:solidFill>
                <a:effectLst/>
                <a:latin typeface="Times New Roman" panose="02020603050405020304" pitchFamily="18" charset="0"/>
                <a:ea typeface="Times New Roman" panose="02020603050405020304" pitchFamily="18" charset="0"/>
              </a:rPr>
              <a:t> </a:t>
            </a:r>
            <a:endParaRPr lang="en-IN" dirty="0"/>
          </a:p>
        </p:txBody>
      </p:sp>
      <p:sp>
        <p:nvSpPr>
          <p:cNvPr id="15" name="TextBox 14">
            <a:extLst>
              <a:ext uri="{FF2B5EF4-FFF2-40B4-BE49-F238E27FC236}">
                <a16:creationId xmlns:a16="http://schemas.microsoft.com/office/drawing/2014/main" id="{33AA9DC8-A8E1-3F6F-664C-2061D00683D5}"/>
              </a:ext>
            </a:extLst>
          </p:cNvPr>
          <p:cNvSpPr txBox="1"/>
          <p:nvPr/>
        </p:nvSpPr>
        <p:spPr>
          <a:xfrm>
            <a:off x="6754761" y="2215912"/>
            <a:ext cx="5191433" cy="1878976"/>
          </a:xfrm>
          <a:prstGeom prst="rect">
            <a:avLst/>
          </a:prstGeom>
          <a:noFill/>
        </p:spPr>
        <p:txBody>
          <a:bodyPr wrap="square">
            <a:spAutoFit/>
          </a:bodyPr>
          <a:lstStyle/>
          <a:p>
            <a:pPr marL="209550" marR="232410" indent="190500" algn="just">
              <a:lnSpc>
                <a:spcPct val="115000"/>
              </a:lnSpc>
              <a:spcAft>
                <a:spcPts val="0"/>
              </a:spcAft>
            </a:pPr>
            <a:r>
              <a:rPr lang="en-US" spc="-30" dirty="0">
                <a:solidFill>
                  <a:srgbClr val="231F20"/>
                </a:solidFill>
                <a:effectLst/>
                <a:latin typeface="Times New Roman" panose="02020603050405020304" pitchFamily="18" charset="0"/>
                <a:ea typeface="Times New Roman" panose="02020603050405020304" pitchFamily="18" charset="0"/>
              </a:rPr>
              <a:t>Sometimes </a:t>
            </a:r>
            <a:r>
              <a:rPr lang="en-US" spc="-30" dirty="0">
                <a:solidFill>
                  <a:schemeClr val="accent1"/>
                </a:solidFill>
                <a:effectLst/>
                <a:latin typeface="Times New Roman" panose="02020603050405020304" pitchFamily="18" charset="0"/>
                <a:ea typeface="Times New Roman" panose="02020603050405020304" pitchFamily="18" charset="0"/>
              </a:rPr>
              <a:t>one can solve the problem by going to the past (see the example of carrot </a:t>
            </a:r>
            <a:r>
              <a:rPr lang="en-US" dirty="0">
                <a:solidFill>
                  <a:schemeClr val="accent1"/>
                </a:solidFill>
                <a:effectLst/>
                <a:latin typeface="Times New Roman" panose="02020603050405020304" pitchFamily="18" charset="0"/>
                <a:ea typeface="Times New Roman" panose="02020603050405020304" pitchFamily="18" charset="0"/>
              </a:rPr>
              <a:t>cultivation) or to the future </a:t>
            </a:r>
            <a:r>
              <a:rPr lang="en-US" dirty="0">
                <a:solidFill>
                  <a:srgbClr val="231F20"/>
                </a:solidFill>
                <a:effectLst/>
                <a:latin typeface="Times New Roman" panose="02020603050405020304" pitchFamily="18" charset="0"/>
                <a:ea typeface="Times New Roman" panose="02020603050405020304" pitchFamily="18" charset="0"/>
              </a:rPr>
              <a:t>and sometimes not.</a:t>
            </a:r>
            <a:endParaRPr lang="en-IN" dirty="0">
              <a:effectLst/>
              <a:latin typeface="Times New Roman" panose="02020603050405020304" pitchFamily="18" charset="0"/>
              <a:ea typeface="Times New Roman" panose="02020603050405020304" pitchFamily="18" charset="0"/>
            </a:endParaRPr>
          </a:p>
          <a:p>
            <a:pPr algn="just"/>
            <a:r>
              <a:rPr lang="en-US" spc="-10" dirty="0">
                <a:solidFill>
                  <a:srgbClr val="231F20"/>
                </a:solidFill>
                <a:effectLst/>
                <a:latin typeface="Times New Roman" panose="02020603050405020304" pitchFamily="18" charset="0"/>
                <a:ea typeface="Times New Roman" panose="02020603050405020304" pitchFamily="18" charset="0"/>
              </a:rPr>
              <a:t>	Second,</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problem</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appears</a:t>
            </a:r>
            <a:r>
              <a:rPr lang="en-US" spc="-20"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between</a:t>
            </a:r>
            <a:r>
              <a:rPr lang="en-US" spc="-20"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certain</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components.</a:t>
            </a:r>
            <a:r>
              <a:rPr lang="en-US" spc="-2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That</a:t>
            </a:r>
            <a:r>
              <a:rPr lang="en-US" spc="-2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simplifies</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the </a:t>
            </a:r>
            <a:r>
              <a:rPr lang="en-US" spc="-20" dirty="0">
                <a:solidFill>
                  <a:srgbClr val="231F20"/>
                </a:solidFill>
                <a:effectLst/>
                <a:latin typeface="Times New Roman" panose="02020603050405020304" pitchFamily="18" charset="0"/>
                <a:ea typeface="Times New Roman" panose="02020603050405020304" pitchFamily="18" charset="0"/>
              </a:rPr>
              <a:t>choice</a:t>
            </a:r>
            <a:r>
              <a:rPr lang="en-US" spc="-5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of</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problem.</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You</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simply</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select</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components</a:t>
            </a:r>
            <a:r>
              <a:rPr lang="en-US" spc="-5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touched</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by</a:t>
            </a:r>
            <a:r>
              <a:rPr lang="en-US" spc="-4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problems</a:t>
            </a:r>
            <a:endParaRPr lang="en-IN" dirty="0"/>
          </a:p>
        </p:txBody>
      </p:sp>
    </p:spTree>
    <p:extLst>
      <p:ext uri="{BB962C8B-B14F-4D97-AF65-F5344CB8AC3E}">
        <p14:creationId xmlns:p14="http://schemas.microsoft.com/office/powerpoint/2010/main" val="2520602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3771CC-2212-F949-F194-B1254D842D5C}"/>
              </a:ext>
            </a:extLst>
          </p:cNvPr>
          <p:cNvGrpSpPr>
            <a:grpSpLocks/>
          </p:cNvGrpSpPr>
          <p:nvPr/>
        </p:nvGrpSpPr>
        <p:grpSpPr>
          <a:xfrm>
            <a:off x="6619461" y="516994"/>
            <a:ext cx="5347252" cy="5903683"/>
            <a:chOff x="0" y="0"/>
            <a:chExt cx="4267200" cy="3500412"/>
          </a:xfrm>
        </p:grpSpPr>
        <p:pic>
          <p:nvPicPr>
            <p:cNvPr id="3" name="Image 209">
              <a:extLst>
                <a:ext uri="{FF2B5EF4-FFF2-40B4-BE49-F238E27FC236}">
                  <a16:creationId xmlns:a16="http://schemas.microsoft.com/office/drawing/2014/main" id="{AD75BCEF-D9CD-287F-AC6A-23672E855F79}"/>
                </a:ext>
              </a:extLst>
            </p:cNvPr>
            <p:cNvPicPr/>
            <p:nvPr/>
          </p:nvPicPr>
          <p:blipFill>
            <a:blip r:embed="rId2" cstate="print"/>
            <a:stretch>
              <a:fillRect/>
            </a:stretch>
          </p:blipFill>
          <p:spPr>
            <a:xfrm>
              <a:off x="381000" y="0"/>
              <a:ext cx="3505200" cy="3448811"/>
            </a:xfrm>
            <a:prstGeom prst="rect">
              <a:avLst/>
            </a:prstGeom>
          </p:spPr>
        </p:pic>
        <p:sp>
          <p:nvSpPr>
            <p:cNvPr id="4" name="Graphic 210">
              <a:extLst>
                <a:ext uri="{FF2B5EF4-FFF2-40B4-BE49-F238E27FC236}">
                  <a16:creationId xmlns:a16="http://schemas.microsoft.com/office/drawing/2014/main" id="{36551853-594D-AD4A-9FF1-97C8C8CD04BD}"/>
                </a:ext>
              </a:extLst>
            </p:cNvPr>
            <p:cNvSpPr/>
            <p:nvPr/>
          </p:nvSpPr>
          <p:spPr>
            <a:xfrm>
              <a:off x="0" y="3499142"/>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6" name="TextBox 5">
            <a:extLst>
              <a:ext uri="{FF2B5EF4-FFF2-40B4-BE49-F238E27FC236}">
                <a16:creationId xmlns:a16="http://schemas.microsoft.com/office/drawing/2014/main" id="{D89F5879-6684-05D4-E38E-4B59D2C3F21A}"/>
              </a:ext>
            </a:extLst>
          </p:cNvPr>
          <p:cNvSpPr txBox="1"/>
          <p:nvPr/>
        </p:nvSpPr>
        <p:spPr>
          <a:xfrm>
            <a:off x="304800" y="516995"/>
            <a:ext cx="6096000" cy="369332"/>
          </a:xfrm>
          <a:prstGeom prst="rect">
            <a:avLst/>
          </a:prstGeom>
          <a:noFill/>
        </p:spPr>
        <p:txBody>
          <a:bodyPr wrap="square">
            <a:spAutoFit/>
          </a:bodyPr>
          <a:lstStyle/>
          <a:p>
            <a:pPr marL="742950" lvl="1" indent="-285750">
              <a:spcBef>
                <a:spcPts val="640"/>
              </a:spcBef>
              <a:buClr>
                <a:srgbClr val="231F20"/>
              </a:buClr>
              <a:buSzPts val="1400"/>
              <a:buFont typeface="Trebuchet MS" panose="020B0603020202020204" pitchFamily="34" charset="0"/>
              <a:buAutoNum type="arabicPeriod"/>
              <a:tabLst>
                <a:tab pos="666115" algn="l"/>
              </a:tabLst>
            </a:pPr>
            <a:r>
              <a:rPr lang="en-US" sz="1800" b="1" spc="-9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From</a:t>
            </a:r>
            <a:r>
              <a:rPr lang="en-US" sz="1800" b="1" spc="-1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spc="-9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the</a:t>
            </a:r>
            <a:r>
              <a:rPr lang="en-US" sz="1800" b="1" spc="-1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spc="-9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Problem</a:t>
            </a:r>
            <a:r>
              <a:rPr lang="en-US" sz="1800" b="1" spc="-1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spc="-9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to</a:t>
            </a:r>
            <a:r>
              <a:rPr lang="en-US" sz="1800" b="1" spc="-1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spc="-9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the</a:t>
            </a:r>
            <a:r>
              <a:rPr lang="en-US" sz="1800" b="1" spc="-1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Tradeoff</a:t>
            </a:r>
            <a:endParaRPr lang="en-IN" sz="1800" b="1" spc="-9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8" name="TextBox 7">
            <a:extLst>
              <a:ext uri="{FF2B5EF4-FFF2-40B4-BE49-F238E27FC236}">
                <a16:creationId xmlns:a16="http://schemas.microsoft.com/office/drawing/2014/main" id="{2285EA46-CC8F-2376-2A08-214B71F84CF3}"/>
              </a:ext>
            </a:extLst>
          </p:cNvPr>
          <p:cNvSpPr txBox="1"/>
          <p:nvPr/>
        </p:nvSpPr>
        <p:spPr>
          <a:xfrm>
            <a:off x="766916" y="1273507"/>
            <a:ext cx="6096000" cy="3713389"/>
          </a:xfrm>
          <a:prstGeom prst="rect">
            <a:avLst/>
          </a:prstGeom>
          <a:noFill/>
        </p:spPr>
        <p:txBody>
          <a:bodyPr wrap="square">
            <a:spAutoFit/>
          </a:bodyPr>
          <a:lstStyle/>
          <a:p>
            <a:pPr marL="209550" marR="234315" algn="just">
              <a:lnSpc>
                <a:spcPct val="107000"/>
              </a:lnSpc>
              <a:spcBef>
                <a:spcPts val="610"/>
              </a:spcBef>
              <a:spcAft>
                <a:spcPts val="0"/>
              </a:spcAft>
            </a:pPr>
            <a:r>
              <a:rPr lang="en-US" sz="2000" spc="-20" dirty="0">
                <a:solidFill>
                  <a:srgbClr val="231F20"/>
                </a:solidFill>
                <a:effectLst/>
                <a:latin typeface="Times New Roman" panose="02020603050405020304" pitchFamily="18" charset="0"/>
                <a:ea typeface="Times New Roman" panose="02020603050405020304" pitchFamily="18" charset="0"/>
              </a:rPr>
              <a:t>There</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are</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five</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steps</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for</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clarification </a:t>
            </a:r>
            <a:r>
              <a:rPr lang="en-US" sz="2000" dirty="0">
                <a:solidFill>
                  <a:srgbClr val="231F20"/>
                </a:solidFill>
                <a:effectLst/>
                <a:latin typeface="Times New Roman" panose="02020603050405020304" pitchFamily="18" charset="0"/>
                <a:ea typeface="Times New Roman" panose="02020603050405020304" pitchFamily="18" charset="0"/>
              </a:rPr>
              <a:t>of a problem:</a:t>
            </a:r>
            <a:endParaRPr lang="en-IN" sz="2000" dirty="0">
              <a:effectLst/>
              <a:latin typeface="Times New Roman" panose="02020603050405020304" pitchFamily="18" charset="0"/>
              <a:ea typeface="Times New Roman" panose="02020603050405020304" pitchFamily="18" charset="0"/>
            </a:endParaRPr>
          </a:p>
          <a:p>
            <a:pPr marL="342900" marR="233680" lvl="0" indent="-342900" algn="just">
              <a:lnSpc>
                <a:spcPct val="150000"/>
              </a:lnSpc>
              <a:spcBef>
                <a:spcPts val="615"/>
              </a:spcBef>
              <a:spcAft>
                <a:spcPts val="0"/>
              </a:spcAft>
              <a:buClr>
                <a:srgbClr val="231F20"/>
              </a:buClr>
              <a:buSzPts val="1050"/>
              <a:buFont typeface="Times New Roman" panose="02020603050405020304" pitchFamily="18" charset="0"/>
              <a:buAutoNum type="arabicPeriod"/>
              <a:tabLst>
                <a:tab pos="513080" algn="l"/>
                <a:tab pos="514350" algn="l"/>
              </a:tabLst>
            </a:pPr>
            <a:r>
              <a:rPr lang="en-US" sz="2000" spc="-35" dirty="0">
                <a:solidFill>
                  <a:srgbClr val="231F20"/>
                </a:solidFill>
                <a:effectLst/>
                <a:latin typeface="Times New Roman" panose="02020603050405020304" pitchFamily="18" charset="0"/>
                <a:ea typeface="Times New Roman" panose="02020603050405020304" pitchFamily="18" charset="0"/>
              </a:rPr>
              <a:t>Describe</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FF0000"/>
                </a:solidFill>
                <a:effectLst/>
                <a:latin typeface="Times New Roman" panose="02020603050405020304" pitchFamily="18" charset="0"/>
                <a:ea typeface="Times New Roman" panose="02020603050405020304" pitchFamily="18" charset="0"/>
              </a:rPr>
              <a:t>pairs</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spc="-35" dirty="0">
                <a:solidFill>
                  <a:srgbClr val="FF0000"/>
                </a:solidFill>
                <a:effectLst/>
                <a:latin typeface="Times New Roman" panose="02020603050405020304" pitchFamily="18" charset="0"/>
                <a:ea typeface="Times New Roman" panose="02020603050405020304" pitchFamily="18" charset="0"/>
              </a:rPr>
              <a:t>of</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spc="-35" dirty="0">
                <a:solidFill>
                  <a:srgbClr val="FF0000"/>
                </a:solidFill>
                <a:effectLst/>
                <a:latin typeface="Times New Roman" panose="02020603050405020304" pitchFamily="18" charset="0"/>
                <a:ea typeface="Times New Roman" panose="02020603050405020304" pitchFamily="18" charset="0"/>
              </a:rPr>
              <a:t>tools</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spc="-35" dirty="0">
                <a:solidFill>
                  <a:srgbClr val="FF0000"/>
                </a:solidFill>
                <a:effectLst/>
                <a:latin typeface="Times New Roman" panose="02020603050405020304" pitchFamily="18" charset="0"/>
                <a:ea typeface="Times New Roman" panose="02020603050405020304" pitchFamily="18" charset="0"/>
              </a:rPr>
              <a:t>and</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spc="-35" dirty="0">
                <a:solidFill>
                  <a:srgbClr val="FF0000"/>
                </a:solidFill>
                <a:effectLst/>
                <a:latin typeface="Times New Roman" panose="02020603050405020304" pitchFamily="18" charset="0"/>
                <a:ea typeface="Times New Roman" panose="02020603050405020304" pitchFamily="18" charset="0"/>
              </a:rPr>
              <a:t>objects</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and</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the</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action</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that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links</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them.</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Select</a:t>
            </a:r>
            <a:r>
              <a:rPr lang="en-US" sz="2000" spc="-65" dirty="0">
                <a:solidFill>
                  <a:srgbClr val="231F20"/>
                </a:solidFill>
                <a:effectLst/>
                <a:latin typeface="Times New Roman" panose="02020603050405020304" pitchFamily="18" charset="0"/>
                <a:ea typeface="Times New Roman" panose="02020603050405020304" pitchFamily="18" charset="0"/>
              </a:rPr>
              <a:t> </a:t>
            </a:r>
            <a:r>
              <a:rPr lang="en-US" sz="2000" spc="-35" dirty="0">
                <a:solidFill>
                  <a:srgbClr val="231F20"/>
                </a:solidFill>
                <a:effectLst/>
                <a:latin typeface="Times New Roman" panose="02020603050405020304" pitchFamily="18" charset="0"/>
                <a:ea typeface="Times New Roman" panose="02020603050405020304" pitchFamily="18" charset="0"/>
              </a:rPr>
              <a:t>one pair. Explain why you picked this tool and object.</a:t>
            </a:r>
            <a:endParaRPr lang="en-IN" sz="2000" spc="-35" dirty="0">
              <a:effectLst/>
              <a:latin typeface="Times New Roman" panose="02020603050405020304" pitchFamily="18" charset="0"/>
              <a:ea typeface="Times New Roman" panose="02020603050405020304" pitchFamily="18" charset="0"/>
            </a:endParaRPr>
          </a:p>
          <a:p>
            <a:pPr marL="342900" lvl="0" indent="-342900" algn="just">
              <a:lnSpc>
                <a:spcPct val="150000"/>
              </a:lnSpc>
              <a:buClr>
                <a:srgbClr val="231F20"/>
              </a:buClr>
              <a:buSzPts val="1050"/>
              <a:buFont typeface="Times New Roman" panose="02020603050405020304" pitchFamily="18" charset="0"/>
              <a:buAutoNum type="arabicPeriod"/>
              <a:tabLst>
                <a:tab pos="513715" algn="l"/>
              </a:tabLst>
            </a:pPr>
            <a:r>
              <a:rPr lang="en-US" sz="2000" spc="-20" dirty="0">
                <a:solidFill>
                  <a:srgbClr val="231F20"/>
                </a:solidFill>
                <a:effectLst/>
                <a:latin typeface="Times New Roman" panose="02020603050405020304" pitchFamily="18" charset="0"/>
                <a:ea typeface="Times New Roman" panose="02020603050405020304" pitchFamily="18" charset="0"/>
              </a:rPr>
              <a:t>Describe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features</a:t>
            </a:r>
            <a:r>
              <a:rPr lang="en-US" sz="2000" spc="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and</a:t>
            </a:r>
            <a:r>
              <a:rPr lang="en-US" sz="2000" spc="10"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conflicts</a:t>
            </a:r>
            <a:r>
              <a:rPr lang="en-US" sz="2000" spc="5"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between</a:t>
            </a:r>
            <a:r>
              <a:rPr lang="en-US" sz="2000" spc="10" dirty="0">
                <a:solidFill>
                  <a:srgbClr val="FF0000"/>
                </a:solidFill>
                <a:effectLst/>
                <a:latin typeface="Times New Roman" panose="02020603050405020304" pitchFamily="18" charset="0"/>
                <a:ea typeface="Times New Roman" panose="02020603050405020304" pitchFamily="18" charset="0"/>
              </a:rPr>
              <a:t> </a:t>
            </a:r>
            <a:r>
              <a:rPr lang="en-US" sz="2000" spc="-20" dirty="0">
                <a:solidFill>
                  <a:srgbClr val="FF0000"/>
                </a:solidFill>
                <a:effectLst/>
                <a:latin typeface="Times New Roman" panose="02020603050405020304" pitchFamily="18" charset="0"/>
                <a:ea typeface="Times New Roman" panose="02020603050405020304" pitchFamily="18" charset="0"/>
              </a:rPr>
              <a:t>them</a:t>
            </a:r>
            <a:r>
              <a:rPr lang="en-US" sz="2000" spc="-20" dirty="0">
                <a:solidFill>
                  <a:srgbClr val="231F20"/>
                </a:solidFill>
                <a:effectLst/>
                <a:latin typeface="Times New Roman" panose="02020603050405020304" pitchFamily="18" charset="0"/>
                <a:ea typeface="Times New Roman" panose="02020603050405020304" pitchFamily="18" charset="0"/>
              </a:rPr>
              <a:t>.</a:t>
            </a:r>
            <a:endParaRPr lang="en-IN" sz="2000" spc="-35"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90"/>
              </a:spcBef>
              <a:spcAft>
                <a:spcPts val="0"/>
              </a:spcAft>
              <a:buClr>
                <a:srgbClr val="231F20"/>
              </a:buClr>
              <a:buSzPts val="1050"/>
              <a:buFont typeface="Times New Roman" panose="02020603050405020304" pitchFamily="18" charset="0"/>
              <a:buAutoNum type="arabicPeriod"/>
              <a:tabLst>
                <a:tab pos="513080" algn="l"/>
              </a:tabLst>
            </a:pPr>
            <a:r>
              <a:rPr lang="en-US" sz="2000" spc="-30" dirty="0">
                <a:solidFill>
                  <a:srgbClr val="231F20"/>
                </a:solidFill>
                <a:effectLst/>
                <a:latin typeface="Times New Roman" panose="02020603050405020304" pitchFamily="18" charset="0"/>
                <a:ea typeface="Times New Roman" panose="02020603050405020304" pitchFamily="18" charset="0"/>
              </a:rPr>
              <a:t>Select</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spc="-30" dirty="0">
                <a:solidFill>
                  <a:srgbClr val="231F20"/>
                </a:solidFill>
                <a:effectLst/>
                <a:latin typeface="Times New Roman" panose="02020603050405020304" pitchFamily="18" charset="0"/>
                <a:ea typeface="Times New Roman" panose="02020603050405020304" pitchFamily="18" charset="0"/>
              </a:rPr>
              <a:t>one</a:t>
            </a:r>
            <a:r>
              <a:rPr lang="en-US" sz="2000" spc="-5" dirty="0">
                <a:solidFill>
                  <a:srgbClr val="231F20"/>
                </a:solidFill>
                <a:effectLst/>
                <a:latin typeface="Times New Roman" panose="02020603050405020304" pitchFamily="18" charset="0"/>
                <a:ea typeface="Times New Roman" panose="02020603050405020304" pitchFamily="18" charset="0"/>
              </a:rPr>
              <a:t> </a:t>
            </a:r>
            <a:r>
              <a:rPr lang="en-US" sz="2000" spc="-30" dirty="0">
                <a:solidFill>
                  <a:srgbClr val="231F20"/>
                </a:solidFill>
                <a:effectLst/>
                <a:latin typeface="Times New Roman" panose="02020603050405020304" pitchFamily="18" charset="0"/>
                <a:ea typeface="Times New Roman" panose="02020603050405020304" pitchFamily="18" charset="0"/>
              </a:rPr>
              <a:t>tradeoff.</a:t>
            </a:r>
            <a:endParaRPr lang="en-IN" sz="2000" spc="-35"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95"/>
              </a:spcBef>
              <a:spcAft>
                <a:spcPts val="0"/>
              </a:spcAft>
              <a:buClr>
                <a:srgbClr val="231F20"/>
              </a:buClr>
              <a:buSzPts val="1050"/>
              <a:buFont typeface="Times New Roman" panose="02020603050405020304" pitchFamily="18" charset="0"/>
              <a:buAutoNum type="arabicPeriod"/>
              <a:tabLst>
                <a:tab pos="513715" algn="l"/>
              </a:tabLst>
            </a:pPr>
            <a:r>
              <a:rPr lang="en-US" sz="2000" spc="-10" dirty="0">
                <a:solidFill>
                  <a:srgbClr val="231F20"/>
                </a:solidFill>
                <a:effectLst/>
                <a:latin typeface="Times New Roman" panose="02020603050405020304" pitchFamily="18" charset="0"/>
                <a:ea typeface="Times New Roman" panose="02020603050405020304" pitchFamily="18" charset="0"/>
              </a:rPr>
              <a:t>Explain</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why</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you</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identified</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this</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tradeoff.</a:t>
            </a:r>
            <a:endParaRPr lang="en-IN" sz="2000" spc="-35" dirty="0">
              <a:effectLst/>
              <a:latin typeface="Times New Roman" panose="02020603050405020304" pitchFamily="18" charset="0"/>
              <a:ea typeface="Times New Roman" panose="02020603050405020304" pitchFamily="18" charset="0"/>
            </a:endParaRPr>
          </a:p>
          <a:p>
            <a:pPr marL="342900" lvl="0" indent="-342900" algn="just">
              <a:lnSpc>
                <a:spcPct val="150000"/>
              </a:lnSpc>
              <a:spcBef>
                <a:spcPts val="90"/>
              </a:spcBef>
              <a:spcAft>
                <a:spcPts val="0"/>
              </a:spcAft>
              <a:buClr>
                <a:srgbClr val="231F20"/>
              </a:buClr>
              <a:buSzPts val="1050"/>
              <a:buFont typeface="Times New Roman" panose="02020603050405020304" pitchFamily="18" charset="0"/>
              <a:buAutoNum type="arabicPeriod"/>
              <a:tabLst>
                <a:tab pos="513715" algn="l"/>
              </a:tabLst>
            </a:pPr>
            <a:r>
              <a:rPr lang="en-US" sz="2000" spc="-10" dirty="0">
                <a:solidFill>
                  <a:srgbClr val="231F20"/>
                </a:solidFill>
                <a:effectLst/>
                <a:latin typeface="Times New Roman" panose="02020603050405020304" pitchFamily="18" charset="0"/>
                <a:ea typeface="Times New Roman" panose="02020603050405020304" pitchFamily="18" charset="0"/>
              </a:rPr>
              <a:t>Describe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tradeoff</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graphically</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in</a:t>
            </a:r>
            <a:r>
              <a:rPr lang="en-US" sz="2000" spc="-3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words</a:t>
            </a:r>
            <a:r>
              <a:rPr lang="en-US" sz="1800" spc="-10" dirty="0">
                <a:solidFill>
                  <a:srgbClr val="231F20"/>
                </a:solidFill>
                <a:effectLst/>
                <a:latin typeface="Times New Roman" panose="02020603050405020304" pitchFamily="18" charset="0"/>
                <a:ea typeface="Times New Roman" panose="02020603050405020304" pitchFamily="18" charset="0"/>
              </a:rPr>
              <a:t>.</a:t>
            </a:r>
            <a:endParaRPr lang="en-IN" sz="2000" spc="-35"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210796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441FBF-20D1-9AFF-6B68-38E4D2FC816A}"/>
              </a:ext>
            </a:extLst>
          </p:cNvPr>
          <p:cNvSpPr txBox="1"/>
          <p:nvPr/>
        </p:nvSpPr>
        <p:spPr>
          <a:xfrm>
            <a:off x="3148033" y="315389"/>
            <a:ext cx="6096000" cy="400110"/>
          </a:xfrm>
          <a:prstGeom prst="rect">
            <a:avLst/>
          </a:prstGeom>
          <a:noFill/>
        </p:spPr>
        <p:txBody>
          <a:bodyPr wrap="square">
            <a:spAutoFit/>
          </a:bodyPr>
          <a:lstStyle/>
          <a:p>
            <a:pPr algn="ctr"/>
            <a:r>
              <a:rPr lang="en-US" sz="2000" b="1" spc="-70">
                <a:solidFill>
                  <a:srgbClr val="231F20"/>
                </a:solidFill>
                <a:effectLst/>
                <a:latin typeface="Times New Roman" panose="02020603050405020304" pitchFamily="18" charset="0"/>
                <a:ea typeface="Times New Roman" panose="02020603050405020304" pitchFamily="18" charset="0"/>
              </a:rPr>
              <a:t>Inherent</a:t>
            </a:r>
            <a:r>
              <a:rPr lang="en-US" sz="2000" b="1" spc="-160">
                <a:solidFill>
                  <a:srgbClr val="231F20"/>
                </a:solidFill>
                <a:effectLst/>
                <a:latin typeface="Times New Roman" panose="02020603050405020304" pitchFamily="18" charset="0"/>
                <a:ea typeface="Times New Roman" panose="02020603050405020304" pitchFamily="18" charset="0"/>
              </a:rPr>
              <a:t> </a:t>
            </a:r>
            <a:r>
              <a:rPr lang="en-US" sz="2000" b="1" spc="-70">
                <a:solidFill>
                  <a:srgbClr val="231F20"/>
                </a:solidFill>
                <a:effectLst/>
                <a:latin typeface="Times New Roman" panose="02020603050405020304" pitchFamily="18" charset="0"/>
                <a:ea typeface="Times New Roman" panose="02020603050405020304" pitchFamily="18" charset="0"/>
              </a:rPr>
              <a:t>Contradiction</a:t>
            </a:r>
            <a:endParaRPr lang="en-IN" sz="2000" b="1" dirty="0"/>
          </a:p>
        </p:txBody>
      </p:sp>
      <p:sp>
        <p:nvSpPr>
          <p:cNvPr id="4" name="TextBox 3">
            <a:extLst>
              <a:ext uri="{FF2B5EF4-FFF2-40B4-BE49-F238E27FC236}">
                <a16:creationId xmlns:a16="http://schemas.microsoft.com/office/drawing/2014/main" id="{5AFAC18D-4B9D-06F7-DDEF-408498225B84}"/>
              </a:ext>
            </a:extLst>
          </p:cNvPr>
          <p:cNvSpPr txBox="1"/>
          <p:nvPr/>
        </p:nvSpPr>
        <p:spPr>
          <a:xfrm>
            <a:off x="389697" y="971825"/>
            <a:ext cx="11219207" cy="1477328"/>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a:t>
            </a:r>
            <a:r>
              <a:rPr lang="en-US" dirty="0">
                <a:solidFill>
                  <a:schemeClr val="accent1"/>
                </a:solidFill>
                <a:latin typeface="Times New Roman" panose="02020603050405020304" pitchFamily="18" charset="0"/>
                <a:cs typeface="Times New Roman" panose="02020603050405020304" pitchFamily="18" charset="0"/>
              </a:rPr>
              <a:t>crazier the conflict you imagine, the better solution you get </a:t>
            </a:r>
            <a:r>
              <a:rPr lang="en-US" dirty="0">
                <a:latin typeface="Times New Roman" panose="02020603050405020304" pitchFamily="18" charset="0"/>
                <a:cs typeface="Times New Roman" panose="02020603050405020304" pitchFamily="18" charset="0"/>
              </a:rPr>
              <a:t>the formulation of the inherent contradiction helps to get the best solutions because it helps find the key problem.</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There are always many problems and tradeoffs, </a:t>
            </a:r>
            <a:r>
              <a:rPr lang="en-US" dirty="0">
                <a:solidFill>
                  <a:schemeClr val="accent1"/>
                </a:solidFill>
                <a:latin typeface="Times New Roman" panose="02020603050405020304" pitchFamily="18" charset="0"/>
                <a:cs typeface="Times New Roman" panose="02020603050405020304" pitchFamily="18" charset="0"/>
              </a:rPr>
              <a:t>but not all problems are equally important. </a:t>
            </a:r>
            <a:r>
              <a:rPr lang="en-US" dirty="0">
                <a:latin typeface="Times New Roman" panose="02020603050405020304" pitchFamily="18" charset="0"/>
                <a:cs typeface="Times New Roman" panose="02020603050405020304" pitchFamily="18" charset="0"/>
              </a:rPr>
              <a:t>One problem is key. The solution of this problem leads to the solution of other</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0D009E5-97E8-D9F3-C654-8A2928248318}"/>
              </a:ext>
            </a:extLst>
          </p:cNvPr>
          <p:cNvSpPr txBox="1"/>
          <p:nvPr/>
        </p:nvSpPr>
        <p:spPr>
          <a:xfrm>
            <a:off x="389696" y="2802691"/>
            <a:ext cx="11219207" cy="92333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How to formulate the inherent contradiction? </a:t>
            </a:r>
          </a:p>
          <a:p>
            <a:pPr algn="just"/>
            <a:r>
              <a:rPr lang="en-US" dirty="0">
                <a:solidFill>
                  <a:srgbClr val="FF0000"/>
                </a:solidFill>
                <a:latin typeface="Times New Roman" panose="02020603050405020304" pitchFamily="18" charset="0"/>
                <a:cs typeface="Times New Roman" panose="02020603050405020304" pitchFamily="18" charset="0"/>
              </a:rPr>
              <a:t>Instead of the two conflicting features </a:t>
            </a:r>
            <a:r>
              <a:rPr lang="en-US" dirty="0">
                <a:latin typeface="Times New Roman" panose="02020603050405020304" pitchFamily="18" charset="0"/>
                <a:cs typeface="Times New Roman" panose="02020603050405020304" pitchFamily="18" charset="0"/>
              </a:rPr>
              <a:t>that we worked with when we used the tradeoffs, we will have only </a:t>
            </a:r>
            <a:r>
              <a:rPr lang="en-US" dirty="0">
                <a:solidFill>
                  <a:srgbClr val="FF0000"/>
                </a:solidFill>
                <a:latin typeface="Times New Roman" panose="02020603050405020304" pitchFamily="18" charset="0"/>
                <a:cs typeface="Times New Roman" panose="02020603050405020304" pitchFamily="18" charset="0"/>
              </a:rPr>
              <a:t>one feature with incompatible values</a:t>
            </a:r>
            <a:r>
              <a:rPr lang="en-US" dirty="0">
                <a:latin typeface="Times New Roman" panose="02020603050405020304" pitchFamily="18" charset="0"/>
                <a:cs typeface="Times New Roman" panose="02020603050405020304" pitchFamily="18" charset="0"/>
              </a:rPr>
              <a:t> (big–small, many–few, long–short, much–little)</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0289711-BBD5-D922-DF1D-BE43359E17D2}"/>
              </a:ext>
            </a:extLst>
          </p:cNvPr>
          <p:cNvSpPr txBox="1"/>
          <p:nvPr/>
        </p:nvSpPr>
        <p:spPr>
          <a:xfrm>
            <a:off x="310184" y="3878778"/>
            <a:ext cx="11298719" cy="92333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Second, we describe </a:t>
            </a:r>
            <a:r>
              <a:rPr lang="en-US" dirty="0">
                <a:solidFill>
                  <a:srgbClr val="FF0000"/>
                </a:solidFill>
                <a:latin typeface="Times New Roman" panose="02020603050405020304" pitchFamily="18" charset="0"/>
                <a:cs typeface="Times New Roman" panose="02020603050405020304" pitchFamily="18" charset="0"/>
              </a:rPr>
              <a:t>how to intensify the contradiction </a:t>
            </a:r>
            <a:r>
              <a:rPr lang="en-US" dirty="0">
                <a:latin typeface="Times New Roman" panose="02020603050405020304" pitchFamily="18" charset="0"/>
                <a:cs typeface="Times New Roman" panose="02020603050405020304" pitchFamily="18" charset="0"/>
              </a:rPr>
              <a:t>further. Often the contradiction can be made sharper, even more bizarre, which will help point the way to good solutions. The third section presents examples of how to go from the </a:t>
            </a:r>
            <a:r>
              <a:rPr lang="en-US" dirty="0">
                <a:solidFill>
                  <a:srgbClr val="FF0000"/>
                </a:solidFill>
                <a:latin typeface="Times New Roman" panose="02020603050405020304" pitchFamily="18" charset="0"/>
                <a:cs typeface="Times New Roman" panose="02020603050405020304" pitchFamily="18" charset="0"/>
              </a:rPr>
              <a:t>visible drawback to the intensified inherent contradiction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3B45D4F-D44C-B8F2-B9BE-077A2E372EFA}"/>
              </a:ext>
            </a:extLst>
          </p:cNvPr>
          <p:cNvSpPr txBox="1"/>
          <p:nvPr/>
        </p:nvSpPr>
        <p:spPr>
          <a:xfrm>
            <a:off x="389695" y="4986005"/>
            <a:ext cx="10339368" cy="369332"/>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Real problems frequently are not simple, and there are conflicts within each object, as well as between them.</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DDEF3DE-C414-FE99-AD2D-CCDF74733CAB}"/>
              </a:ext>
            </a:extLst>
          </p:cNvPr>
          <p:cNvSpPr txBox="1"/>
          <p:nvPr/>
        </p:nvSpPr>
        <p:spPr>
          <a:xfrm>
            <a:off x="389695" y="5539234"/>
            <a:ext cx="11219207" cy="369332"/>
          </a:xfrm>
          <a:prstGeom prst="rect">
            <a:avLst/>
          </a:prstGeom>
          <a:noFill/>
        </p:spPr>
        <p:txBody>
          <a:bodyPr wrap="square">
            <a:spAutoFit/>
          </a:bodyPr>
          <a:lstStyle/>
          <a:p>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solution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inherent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contradiction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removes </a:t>
            </a:r>
            <a:r>
              <a:rPr lang="en-US" sz="1800" dirty="0">
                <a:solidFill>
                  <a:srgbClr val="231F20"/>
                </a:solidFill>
                <a:effectLst/>
                <a:latin typeface="Times New Roman" panose="02020603050405020304" pitchFamily="18" charset="0"/>
                <a:ea typeface="Times New Roman" panose="02020603050405020304" pitchFamily="18" charset="0"/>
              </a:rPr>
              <a:t>many problems and gets many benefits at one stroke.</a:t>
            </a:r>
            <a:endParaRPr lang="en-IN" dirty="0"/>
          </a:p>
        </p:txBody>
      </p:sp>
    </p:spTree>
    <p:extLst>
      <p:ext uri="{BB962C8B-B14F-4D97-AF65-F5344CB8AC3E}">
        <p14:creationId xmlns:p14="http://schemas.microsoft.com/office/powerpoint/2010/main" val="3590999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8A9202-010B-AE00-4A75-D3C9D1ADF47D}"/>
              </a:ext>
            </a:extLst>
          </p:cNvPr>
          <p:cNvSpPr txBox="1"/>
          <p:nvPr/>
        </p:nvSpPr>
        <p:spPr>
          <a:xfrm>
            <a:off x="2619788" y="202504"/>
            <a:ext cx="7428671"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HOW TO FORMULATE THE INHERENT CONTRADICTION</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2CFA676-EE3C-B874-1D7F-5C98C410E8A1}"/>
              </a:ext>
            </a:extLst>
          </p:cNvPr>
          <p:cNvSpPr txBox="1"/>
          <p:nvPr/>
        </p:nvSpPr>
        <p:spPr>
          <a:xfrm>
            <a:off x="755374" y="829773"/>
            <a:ext cx="10863469"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Real problems frequently are not simple, and there are conflicts within each object, as well as between them</a:t>
            </a:r>
            <a:endParaRPr lang="en-IN"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68DB0622-F13B-4136-3D2D-86266280F242}"/>
              </a:ext>
            </a:extLst>
          </p:cNvPr>
          <p:cNvGrpSpPr>
            <a:grpSpLocks/>
          </p:cNvGrpSpPr>
          <p:nvPr/>
        </p:nvGrpSpPr>
        <p:grpSpPr>
          <a:xfrm>
            <a:off x="3877918" y="1904144"/>
            <a:ext cx="4267200" cy="1270800"/>
            <a:chOff x="0" y="0"/>
            <a:chExt cx="4267200" cy="1270800"/>
          </a:xfrm>
        </p:grpSpPr>
        <p:pic>
          <p:nvPicPr>
            <p:cNvPr id="7" name="Image 227">
              <a:extLst>
                <a:ext uri="{FF2B5EF4-FFF2-40B4-BE49-F238E27FC236}">
                  <a16:creationId xmlns:a16="http://schemas.microsoft.com/office/drawing/2014/main" id="{C73E5129-B54E-9B71-D2DD-6B834A2751B2}"/>
                </a:ext>
              </a:extLst>
            </p:cNvPr>
            <p:cNvPicPr/>
            <p:nvPr/>
          </p:nvPicPr>
          <p:blipFill>
            <a:blip r:embed="rId2" cstate="print"/>
            <a:stretch>
              <a:fillRect/>
            </a:stretch>
          </p:blipFill>
          <p:spPr>
            <a:xfrm>
              <a:off x="800100" y="0"/>
              <a:ext cx="2667000" cy="1219200"/>
            </a:xfrm>
            <a:prstGeom prst="rect">
              <a:avLst/>
            </a:prstGeom>
          </p:spPr>
        </p:pic>
        <p:sp>
          <p:nvSpPr>
            <p:cNvPr id="8" name="Graphic 228">
              <a:extLst>
                <a:ext uri="{FF2B5EF4-FFF2-40B4-BE49-F238E27FC236}">
                  <a16:creationId xmlns:a16="http://schemas.microsoft.com/office/drawing/2014/main" id="{4DB830D2-7855-9574-4967-2FA46EAFC42B}"/>
                </a:ext>
              </a:extLst>
            </p:cNvPr>
            <p:cNvSpPr/>
            <p:nvPr/>
          </p:nvSpPr>
          <p:spPr>
            <a:xfrm>
              <a:off x="0" y="1269530"/>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sp>
          <p:nvSpPr>
            <p:cNvPr id="9" name="Textbox 229">
              <a:extLst>
                <a:ext uri="{FF2B5EF4-FFF2-40B4-BE49-F238E27FC236}">
                  <a16:creationId xmlns:a16="http://schemas.microsoft.com/office/drawing/2014/main" id="{9BD7057F-1EE5-C584-B81D-686BC6C7FA6E}"/>
                </a:ext>
              </a:extLst>
            </p:cNvPr>
            <p:cNvSpPr txBox="1"/>
            <p:nvPr/>
          </p:nvSpPr>
          <p:spPr>
            <a:xfrm>
              <a:off x="1224986" y="39676"/>
              <a:ext cx="205104" cy="101600"/>
            </a:xfrm>
            <a:prstGeom prst="rect">
              <a:avLst/>
            </a:prstGeom>
          </p:spPr>
          <p:txBody>
            <a:bodyPr wrap="square" lIns="0" tIns="0" rIns="0" bIns="0" rtlCol="0">
              <a:noAutofit/>
            </a:bodyPr>
            <a:lstStyle/>
            <a:p>
              <a:pPr>
                <a:lnSpc>
                  <a:spcPts val="775"/>
                </a:lnSpc>
              </a:pPr>
              <a:r>
                <a:rPr lang="en-US" sz="800" spc="-20">
                  <a:solidFill>
                    <a:srgbClr val="231F20"/>
                  </a:solidFill>
                  <a:effectLst/>
                  <a:latin typeface="Times New Roman" panose="02020603050405020304" pitchFamily="18" charset="0"/>
                  <a:ea typeface="Times New Roman" panose="02020603050405020304" pitchFamily="18" charset="0"/>
                </a:rPr>
                <a:t>Tool</a:t>
              </a:r>
              <a:endParaRPr lang="en-IN" sz="1100">
                <a:effectLst/>
                <a:latin typeface="Times New Roman" panose="02020603050405020304" pitchFamily="18" charset="0"/>
                <a:ea typeface="Times New Roman" panose="02020603050405020304" pitchFamily="18" charset="0"/>
              </a:endParaRPr>
            </a:p>
          </p:txBody>
        </p:sp>
        <p:sp>
          <p:nvSpPr>
            <p:cNvPr id="10" name="Textbox 230">
              <a:extLst>
                <a:ext uri="{FF2B5EF4-FFF2-40B4-BE49-F238E27FC236}">
                  <a16:creationId xmlns:a16="http://schemas.microsoft.com/office/drawing/2014/main" id="{C9E70FAA-0ADC-3D7D-E892-4EBB5FBBE62B}"/>
                </a:ext>
              </a:extLst>
            </p:cNvPr>
            <p:cNvSpPr txBox="1"/>
            <p:nvPr/>
          </p:nvSpPr>
          <p:spPr>
            <a:xfrm>
              <a:off x="2805404" y="39676"/>
              <a:ext cx="300990" cy="101600"/>
            </a:xfrm>
            <a:prstGeom prst="rect">
              <a:avLst/>
            </a:prstGeom>
          </p:spPr>
          <p:txBody>
            <a:bodyPr wrap="square" lIns="0" tIns="0" rIns="0" bIns="0" rtlCol="0">
              <a:noAutofit/>
            </a:bodyPr>
            <a:lstStyle/>
            <a:p>
              <a:pPr>
                <a:lnSpc>
                  <a:spcPts val="775"/>
                </a:lnSpc>
              </a:pPr>
              <a:r>
                <a:rPr lang="en-US" sz="800" spc="-10">
                  <a:solidFill>
                    <a:srgbClr val="231F20"/>
                  </a:solidFill>
                  <a:effectLst/>
                  <a:latin typeface="Times New Roman" panose="02020603050405020304" pitchFamily="18" charset="0"/>
                  <a:ea typeface="Times New Roman" panose="02020603050405020304" pitchFamily="18" charset="0"/>
                </a:rPr>
                <a:t>Object</a:t>
              </a:r>
              <a:endParaRPr lang="en-IN" sz="1100">
                <a:effectLst/>
                <a:latin typeface="Times New Roman" panose="02020603050405020304" pitchFamily="18" charset="0"/>
                <a:ea typeface="Times New Roman" panose="02020603050405020304" pitchFamily="18" charset="0"/>
              </a:endParaRPr>
            </a:p>
          </p:txBody>
        </p:sp>
      </p:grpSp>
      <p:sp>
        <p:nvSpPr>
          <p:cNvPr id="12" name="TextBox 11">
            <a:extLst>
              <a:ext uri="{FF2B5EF4-FFF2-40B4-BE49-F238E27FC236}">
                <a16:creationId xmlns:a16="http://schemas.microsoft.com/office/drawing/2014/main" id="{4B77C59B-64EC-D925-CFC2-1E2FCF8A80DF}"/>
              </a:ext>
            </a:extLst>
          </p:cNvPr>
          <p:cNvSpPr txBox="1"/>
          <p:nvPr/>
        </p:nvSpPr>
        <p:spPr>
          <a:xfrm>
            <a:off x="2962690" y="3369309"/>
            <a:ext cx="6097656" cy="307777"/>
          </a:xfrm>
          <a:prstGeom prst="rect">
            <a:avLst/>
          </a:prstGeom>
          <a:noFill/>
        </p:spPr>
        <p:txBody>
          <a:bodyPr wrap="square">
            <a:spAutoFit/>
          </a:bodyPr>
          <a:lstStyle/>
          <a:p>
            <a:pPr algn="ct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Conflicts</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within</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between</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components.</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35854C7-8DAD-E20F-B505-C97A389E1D30}"/>
              </a:ext>
            </a:extLst>
          </p:cNvPr>
          <p:cNvSpPr txBox="1"/>
          <p:nvPr/>
        </p:nvSpPr>
        <p:spPr>
          <a:xfrm>
            <a:off x="639587" y="3915790"/>
            <a:ext cx="10979256" cy="646331"/>
          </a:xfrm>
          <a:prstGeom prst="rect">
            <a:avLst/>
          </a:prstGeom>
          <a:noFill/>
        </p:spPr>
        <p:txBody>
          <a:bodyPr wrap="square">
            <a:spAutoFit/>
          </a:bodyPr>
          <a:lstStyle/>
          <a:p>
            <a:pPr algn="just"/>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Tradeoffs</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(between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components)</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may</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difficult</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solve</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directly</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because</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components</a:t>
            </a:r>
            <a:r>
              <a:rPr lang="en-US"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should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two</a:t>
            </a:r>
            <a:r>
              <a:rPr lang="en-US" spc="-7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opposite</a:t>
            </a:r>
            <a:r>
              <a:rPr lang="en-US" spc="-7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properties</a:t>
            </a:r>
            <a:endParaRPr lang="en-IN" dirty="0">
              <a:solidFill>
                <a:srgbClr val="FF0000"/>
              </a:solidFill>
            </a:endParaRPr>
          </a:p>
        </p:txBody>
      </p:sp>
      <p:sp>
        <p:nvSpPr>
          <p:cNvPr id="16" name="TextBox 15">
            <a:extLst>
              <a:ext uri="{FF2B5EF4-FFF2-40B4-BE49-F238E27FC236}">
                <a16:creationId xmlns:a16="http://schemas.microsoft.com/office/drawing/2014/main" id="{E7F6C962-A2B1-EF59-0C46-9F7E5A70B46D}"/>
              </a:ext>
            </a:extLst>
          </p:cNvPr>
          <p:cNvSpPr txBox="1"/>
          <p:nvPr/>
        </p:nvSpPr>
        <p:spPr>
          <a:xfrm>
            <a:off x="327992" y="4688822"/>
            <a:ext cx="11171580" cy="645818"/>
          </a:xfrm>
          <a:prstGeom prst="rect">
            <a:avLst/>
          </a:prstGeom>
          <a:noFill/>
        </p:spPr>
        <p:txBody>
          <a:bodyPr wrap="square">
            <a:spAutoFit/>
          </a:bodyPr>
          <a:lstStyle/>
          <a:p>
            <a:pPr marL="209550" marR="234315" indent="190500" algn="just">
              <a:lnSpc>
                <a:spcPct val="103000"/>
              </a:lnSpc>
              <a:spcAft>
                <a:spcPts val="0"/>
              </a:spcAft>
            </a:pPr>
            <a:r>
              <a:rPr lang="en-US" sz="1800" spc="-30" dirty="0">
                <a:solidFill>
                  <a:srgbClr val="231F20"/>
                </a:solidFill>
                <a:effectLst/>
                <a:latin typeface="Times New Roman" panose="02020603050405020304" pitchFamily="18" charset="0"/>
                <a:ea typeface="Times New Roman" panose="02020603050405020304" pitchFamily="18" charset="0"/>
              </a:rPr>
              <a:t>Generally,</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improve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feature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A,</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an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element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should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have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a</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certain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property,</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but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to </a:t>
            </a:r>
            <a:r>
              <a:rPr lang="en-US" sz="1800" spc="-10" dirty="0">
                <a:solidFill>
                  <a:srgbClr val="231F20"/>
                </a:solidFill>
                <a:effectLst/>
                <a:latin typeface="Times New Roman" panose="02020603050405020304" pitchFamily="18" charset="0"/>
                <a:ea typeface="Times New Roman" panose="02020603050405020304" pitchFamily="18" charset="0"/>
              </a:rPr>
              <a:t>improve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feature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same</a:t>
            </a:r>
            <a:r>
              <a:rPr lang="en-US" spc="-55" dirty="0">
                <a:solidFill>
                  <a:srgbClr val="231F20"/>
                </a:solidFill>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element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should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have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opposite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property.</a:t>
            </a:r>
            <a:endParaRPr lang="en-IN" sz="1800" dirty="0">
              <a:effectLst/>
              <a:latin typeface="Times New Roman" panose="02020603050405020304" pitchFamily="18" charset="0"/>
              <a:ea typeface="Times New Roman" panose="02020603050405020304" pitchFamily="18" charset="0"/>
            </a:endParaRPr>
          </a:p>
        </p:txBody>
      </p:sp>
      <p:sp>
        <p:nvSpPr>
          <p:cNvPr id="18" name="TextBox 17">
            <a:extLst>
              <a:ext uri="{FF2B5EF4-FFF2-40B4-BE49-F238E27FC236}">
                <a16:creationId xmlns:a16="http://schemas.microsoft.com/office/drawing/2014/main" id="{C1A3F339-767C-ACD2-E7C4-CAC17A77E992}"/>
              </a:ext>
            </a:extLst>
          </p:cNvPr>
          <p:cNvSpPr txBox="1"/>
          <p:nvPr/>
        </p:nvSpPr>
        <p:spPr>
          <a:xfrm>
            <a:off x="639587" y="5428062"/>
            <a:ext cx="10979256" cy="120032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Just the </a:t>
            </a:r>
            <a:r>
              <a:rPr lang="en-US" dirty="0">
                <a:solidFill>
                  <a:srgbClr val="FF0000"/>
                </a:solidFill>
                <a:latin typeface="Times New Roman" panose="02020603050405020304" pitchFamily="18" charset="0"/>
                <a:cs typeface="Times New Roman" panose="02020603050405020304" pitchFamily="18" charset="0"/>
              </a:rPr>
              <a:t>formulation of the inherent contradiction</a:t>
            </a:r>
            <a:r>
              <a:rPr lang="en-US" dirty="0">
                <a:latin typeface="Times New Roman" panose="02020603050405020304" pitchFamily="18" charset="0"/>
                <a:cs typeface="Times New Roman" panose="02020603050405020304" pitchFamily="18" charset="0"/>
              </a:rPr>
              <a:t>, incompatible values of the same parameter, </a:t>
            </a:r>
            <a:r>
              <a:rPr lang="en-US" dirty="0">
                <a:solidFill>
                  <a:srgbClr val="FF0000"/>
                </a:solidFill>
                <a:latin typeface="Times New Roman" panose="02020603050405020304" pitchFamily="18" charset="0"/>
                <a:cs typeface="Times New Roman" panose="02020603050405020304" pitchFamily="18" charset="0"/>
              </a:rPr>
              <a:t>can guide us to ideas for solutions</a:t>
            </a:r>
            <a:r>
              <a:rPr lang="en-US" dirty="0">
                <a:latin typeface="Times New Roman" panose="02020603050405020304" pitchFamily="18" charset="0"/>
                <a:cs typeface="Times New Roman" panose="02020603050405020304" pitchFamily="18" charset="0"/>
              </a:rPr>
              <a:t>, as we can see in our examples. In the lawnmower noise problem, we had a tradeoff: if noise absorption improves, the size of the muffler increases. We can easily formulate the inherent contradiction “big muffler–small muffler.”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79223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C30DD2-6ECD-EC8B-2449-513C9F78830D}"/>
              </a:ext>
            </a:extLst>
          </p:cNvPr>
          <p:cNvSpPr txBox="1"/>
          <p:nvPr/>
        </p:nvSpPr>
        <p:spPr>
          <a:xfrm>
            <a:off x="424898" y="327098"/>
            <a:ext cx="6097656" cy="2081339"/>
          </a:xfrm>
          <a:prstGeom prst="rect">
            <a:avLst/>
          </a:prstGeom>
          <a:noFill/>
        </p:spPr>
        <p:txBody>
          <a:bodyPr wrap="square">
            <a:spAutoFit/>
          </a:bodyPr>
          <a:lstStyle/>
          <a:p>
            <a:pPr algn="just"/>
            <a:r>
              <a:rPr lang="en-US" sz="1800" dirty="0">
                <a:solidFill>
                  <a:srgbClr val="231F20"/>
                </a:solidFill>
                <a:effectLst/>
                <a:latin typeface="Times New Roman" panose="02020603050405020304" pitchFamily="18" charset="0"/>
                <a:ea typeface="Times New Roman" panose="02020603050405020304" pitchFamily="18" charset="0"/>
              </a:rPr>
              <a:t>Using</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water</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fight</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fires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technical</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more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water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more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equipment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needed.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If</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fire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put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out, </a:t>
            </a:r>
            <a:r>
              <a:rPr lang="en-US" sz="1800" spc="-10" dirty="0">
                <a:solidFill>
                  <a:schemeClr val="accent1"/>
                </a:solidFill>
                <a:effectLst/>
                <a:latin typeface="Times New Roman" panose="02020603050405020304" pitchFamily="18" charset="0"/>
                <a:ea typeface="Times New Roman" panose="02020603050405020304" pitchFamily="18" charset="0"/>
              </a:rPr>
              <a:t>large</a:t>
            </a:r>
            <a:r>
              <a:rPr lang="en-US" sz="1800" spc="-6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amounts</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of</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water</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can</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damage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the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parts</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of</a:t>
            </a:r>
            <a:r>
              <a:rPr lang="en-US" sz="1800" spc="-6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the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building</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that</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were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not</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damaged </a:t>
            </a:r>
            <a:r>
              <a:rPr lang="en-US" sz="1800" dirty="0">
                <a:solidFill>
                  <a:schemeClr val="accent1"/>
                </a:solidFill>
                <a:effectLst/>
                <a:latin typeface="Times New Roman" panose="02020603050405020304" pitchFamily="18" charset="0"/>
                <a:ea typeface="Times New Roman" panose="02020603050405020304" pitchFamily="18" charset="0"/>
              </a:rPr>
              <a:t>by</a:t>
            </a:r>
            <a:r>
              <a:rPr lang="en-US" sz="1800" spc="-7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fire.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some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cases,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water</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does</a:t>
            </a:r>
            <a:r>
              <a:rPr lang="en-US" sz="1800" spc="-7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more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damage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than</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fire.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inherent contradiction is </a:t>
            </a:r>
            <a:r>
              <a:rPr lang="en-US" sz="1800" dirty="0">
                <a:solidFill>
                  <a:srgbClr val="FF0000"/>
                </a:solidFill>
                <a:effectLst/>
                <a:latin typeface="Times New Roman" panose="02020603050405020304" pitchFamily="18" charset="0"/>
                <a:ea typeface="Times New Roman" panose="02020603050405020304" pitchFamily="18" charset="0"/>
              </a:rPr>
              <a:t>“much water–little water.”</a:t>
            </a:r>
            <a:endParaRPr lang="en-IN" sz="1800" dirty="0">
              <a:solidFill>
                <a:srgbClr val="FF0000"/>
              </a:solidFill>
              <a:effectLst/>
              <a:latin typeface="Times New Roman" panose="02020603050405020304" pitchFamily="18" charset="0"/>
              <a:ea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E363409F-F11D-56A2-3E9C-A94F9CA13F67}"/>
              </a:ext>
            </a:extLst>
          </p:cNvPr>
          <p:cNvSpPr txBox="1"/>
          <p:nvPr/>
        </p:nvSpPr>
        <p:spPr>
          <a:xfrm>
            <a:off x="424898" y="2443301"/>
            <a:ext cx="6097656" cy="2031325"/>
          </a:xfrm>
          <a:prstGeom prst="rect">
            <a:avLst/>
          </a:prstGeom>
          <a:noFill/>
        </p:spPr>
        <p:txBody>
          <a:bodyPr wrap="square">
            <a:spAutoFit/>
          </a:bodyPr>
          <a:lstStyle/>
          <a:p>
            <a:pPr algn="just"/>
            <a:r>
              <a:rPr lang="en-US" spc="-10" dirty="0">
                <a:solidFill>
                  <a:srgbClr val="FF0000"/>
                </a:solidFill>
                <a:effectLst/>
                <a:latin typeface="Times New Roman" panose="02020603050405020304" pitchFamily="18" charset="0"/>
                <a:ea typeface="Times New Roman" panose="02020603050405020304" pitchFamily="18" charset="0"/>
              </a:rPr>
              <a:t>Water</a:t>
            </a:r>
            <a:r>
              <a:rPr lang="en-US" spc="-30" dirty="0">
                <a:solidFill>
                  <a:srgbClr val="FF0000"/>
                </a:solidFill>
                <a:effectLst/>
                <a:latin typeface="Times New Roman" panose="02020603050405020304" pitchFamily="18" charset="0"/>
                <a:ea typeface="Times New Roman" panose="02020603050405020304" pitchFamily="18" charset="0"/>
              </a:rPr>
              <a:t> </a:t>
            </a:r>
            <a:r>
              <a:rPr lang="en-US" spc="-10" dirty="0">
                <a:solidFill>
                  <a:srgbClr val="FF0000"/>
                </a:solidFill>
                <a:effectLst/>
                <a:latin typeface="Times New Roman" panose="02020603050405020304" pitchFamily="18" charset="0"/>
                <a:ea typeface="Times New Roman" panose="02020603050405020304" pitchFamily="18" charset="0"/>
              </a:rPr>
              <a:t>is</a:t>
            </a:r>
            <a:r>
              <a:rPr lang="en-US" spc="-30" dirty="0">
                <a:solidFill>
                  <a:srgbClr val="FF0000"/>
                </a:solidFill>
                <a:effectLst/>
                <a:latin typeface="Times New Roman" panose="02020603050405020304" pitchFamily="18" charset="0"/>
                <a:ea typeface="Times New Roman" panose="02020603050405020304" pitchFamily="18" charset="0"/>
              </a:rPr>
              <a:t> </a:t>
            </a:r>
            <a:r>
              <a:rPr lang="en-US" spc="-10" dirty="0">
                <a:solidFill>
                  <a:srgbClr val="FF0000"/>
                </a:solidFill>
                <a:effectLst/>
                <a:latin typeface="Times New Roman" panose="02020603050405020304" pitchFamily="18" charset="0"/>
                <a:ea typeface="Times New Roman" panose="02020603050405020304" pitchFamily="18" charset="0"/>
              </a:rPr>
              <a:t>atom</a:t>
            </a:r>
            <a:r>
              <a:rPr lang="en-US" dirty="0">
                <a:solidFill>
                  <a:srgbClr val="FF0000"/>
                </a:solidFill>
                <a:effectLst/>
                <a:latin typeface="Times New Roman" panose="02020603050405020304" pitchFamily="18" charset="0"/>
                <a:ea typeface="Times New Roman" panose="02020603050405020304" pitchFamily="18" charset="0"/>
              </a:rPr>
              <a:t>ized</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and</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sprayed</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in</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very</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small</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micro drops,</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or</a:t>
            </a:r>
            <a:r>
              <a:rPr lang="en-US" spc="-4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mist</a:t>
            </a:r>
            <a:r>
              <a:rPr lang="en-US" dirty="0">
                <a:solidFill>
                  <a:srgbClr val="231F20"/>
                </a:solidFill>
                <a:effectLst/>
                <a:latin typeface="Times New Roman" panose="02020603050405020304" pitchFamily="18" charset="0"/>
                <a:ea typeface="Times New Roman" panose="02020603050405020304" pitchFamily="18" charset="0"/>
              </a:rPr>
              <a:t>.</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Much</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less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water</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needed</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to extinguish the fire and there is much less damage caused by the water itself. Of course, there is the new contradiction in the complexity of the </a:t>
            </a:r>
            <a:r>
              <a:rPr lang="en-US" dirty="0">
                <a:solidFill>
                  <a:srgbClr val="FF0000"/>
                </a:solidFill>
                <a:effectLst/>
                <a:latin typeface="Times New Roman" panose="02020603050405020304" pitchFamily="18" charset="0"/>
                <a:ea typeface="Times New Roman" panose="02020603050405020304" pitchFamily="18" charset="0"/>
              </a:rPr>
              <a:t>atomizing equipment.</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That</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contradiction</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partially</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eliminated</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by</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virtue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decreased</a:t>
            </a:r>
            <a:r>
              <a:rPr lang="en-US" spc="-6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water</a:t>
            </a:r>
            <a:r>
              <a:rPr lang="en-US" spc="-6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flow and</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high</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pressure the</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size</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of</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tubes</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and</a:t>
            </a:r>
            <a:r>
              <a:rPr lang="en-US" spc="-2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other</a:t>
            </a:r>
            <a:r>
              <a:rPr lang="en-US" spc="-2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equipment</a:t>
            </a:r>
            <a:r>
              <a:rPr lang="en-US" spc="-2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can</a:t>
            </a:r>
            <a:r>
              <a:rPr lang="en-US" spc="-2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be</a:t>
            </a:r>
            <a:r>
              <a:rPr lang="en-US" spc="-2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decreased</a:t>
            </a:r>
            <a:endParaRPr lang="en-IN" dirty="0"/>
          </a:p>
        </p:txBody>
      </p:sp>
      <p:sp>
        <p:nvSpPr>
          <p:cNvPr id="7" name="TextBox 6">
            <a:extLst>
              <a:ext uri="{FF2B5EF4-FFF2-40B4-BE49-F238E27FC236}">
                <a16:creationId xmlns:a16="http://schemas.microsoft.com/office/drawing/2014/main" id="{3F9086D4-CC35-D302-C18E-2BCF50B8DE37}"/>
              </a:ext>
            </a:extLst>
          </p:cNvPr>
          <p:cNvSpPr txBox="1"/>
          <p:nvPr/>
        </p:nvSpPr>
        <p:spPr>
          <a:xfrm>
            <a:off x="506896" y="4727858"/>
            <a:ext cx="6214440" cy="1477328"/>
          </a:xfrm>
          <a:prstGeom prst="rect">
            <a:avLst/>
          </a:prstGeom>
          <a:noFill/>
        </p:spPr>
        <p:txBody>
          <a:bodyPr wrap="square">
            <a:spAutoFit/>
          </a:bodyPr>
          <a:lstStyle/>
          <a:p>
            <a:pPr algn="just"/>
            <a:r>
              <a:rPr lang="en-US" sz="1800" dirty="0">
                <a:solidFill>
                  <a:srgbClr val="231F20"/>
                </a:solidFill>
                <a:effectLst/>
                <a:latin typeface="Times New Roman" panose="02020603050405020304" pitchFamily="18" charset="0"/>
                <a:ea typeface="Times New Roman" panose="02020603050405020304" pitchFamily="18" charset="0"/>
              </a:rPr>
              <a:t>The </a:t>
            </a:r>
            <a:r>
              <a:rPr lang="en-US" sz="1800" dirty="0">
                <a:solidFill>
                  <a:schemeClr val="accent1"/>
                </a:solidFill>
                <a:effectLst/>
                <a:latin typeface="Times New Roman" panose="02020603050405020304" pitchFamily="18" charset="0"/>
                <a:ea typeface="Times New Roman" panose="02020603050405020304" pitchFamily="18" charset="0"/>
              </a:rPr>
              <a:t>same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volume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of</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water</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gives</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8000</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times</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more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drops</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than</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conventional</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sprinkler and</a:t>
            </a:r>
            <a:r>
              <a:rPr lang="en-US" sz="1800" spc="-3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200</a:t>
            </a:r>
            <a:r>
              <a:rPr lang="en-US" sz="1800" spc="-2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times</a:t>
            </a:r>
            <a:r>
              <a:rPr lang="en-US" sz="1800" spc="-2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more</a:t>
            </a:r>
            <a:r>
              <a:rPr lang="en-US" sz="1800" spc="-2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than</a:t>
            </a:r>
            <a:r>
              <a:rPr lang="en-US" sz="1800" spc="-2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low-pressure</a:t>
            </a:r>
            <a:r>
              <a:rPr lang="en-US" sz="1800" spc="-2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mist</a:t>
            </a:r>
            <a:r>
              <a:rPr lang="en-US" sz="1800" spc="-2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equipment</a:t>
            </a:r>
            <a:r>
              <a:rPr lang="en-US" spc="-20" dirty="0">
                <a:solidFill>
                  <a:schemeClr val="accent1"/>
                </a:solidFill>
                <a:latin typeface="Times New Roman" panose="02020603050405020304" pitchFamily="18" charset="0"/>
                <a:ea typeface="Times New Roman" panose="02020603050405020304" pitchFamily="18" charset="0"/>
              </a:rPr>
              <a:t>.</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Because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 </a:t>
            </a:r>
            <a:r>
              <a:rPr lang="en-US" sz="1800" spc="-10" dirty="0">
                <a:solidFill>
                  <a:srgbClr val="231F20"/>
                </a:solidFill>
                <a:effectLst/>
                <a:latin typeface="Times New Roman" panose="02020603050405020304" pitchFamily="18" charset="0"/>
                <a:ea typeface="Times New Roman" panose="02020603050405020304" pitchFamily="18" charset="0"/>
              </a:rPr>
              <a:t>extinguishing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efficiency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depends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mainly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number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drops,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pipe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sizes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be </a:t>
            </a:r>
            <a:r>
              <a:rPr lang="en-US" sz="1800" dirty="0">
                <a:solidFill>
                  <a:srgbClr val="231F20"/>
                </a:solidFill>
                <a:effectLst/>
                <a:latin typeface="Times New Roman" panose="02020603050405020304" pitchFamily="18" charset="0"/>
                <a:ea typeface="Times New Roman" panose="02020603050405020304" pitchFamily="18" charset="0"/>
              </a:rPr>
              <a:t>radically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decreased.</a:t>
            </a:r>
            <a:r>
              <a:rPr lang="en-US" sz="1800" spc="-55" dirty="0">
                <a:solidFill>
                  <a:srgbClr val="231F20"/>
                </a:solidFill>
                <a:effectLst/>
                <a:latin typeface="Times New Roman" panose="02020603050405020304" pitchFamily="18" charset="0"/>
                <a:ea typeface="Times New Roman" panose="02020603050405020304" pitchFamily="18" charset="0"/>
              </a:rPr>
              <a:t> </a:t>
            </a:r>
            <a:endParaRPr lang="en-IN" dirty="0"/>
          </a:p>
        </p:txBody>
      </p:sp>
      <p:grpSp>
        <p:nvGrpSpPr>
          <p:cNvPr id="8" name="Group 7">
            <a:extLst>
              <a:ext uri="{FF2B5EF4-FFF2-40B4-BE49-F238E27FC236}">
                <a16:creationId xmlns:a16="http://schemas.microsoft.com/office/drawing/2014/main" id="{92F3F31B-5328-A9D2-7B26-F8C677CAA989}"/>
              </a:ext>
            </a:extLst>
          </p:cNvPr>
          <p:cNvGrpSpPr>
            <a:grpSpLocks/>
          </p:cNvGrpSpPr>
          <p:nvPr/>
        </p:nvGrpSpPr>
        <p:grpSpPr>
          <a:xfrm>
            <a:off x="6920117" y="1923942"/>
            <a:ext cx="5006839" cy="2659867"/>
            <a:chOff x="0" y="0"/>
            <a:chExt cx="4267200" cy="1257084"/>
          </a:xfrm>
        </p:grpSpPr>
        <p:pic>
          <p:nvPicPr>
            <p:cNvPr id="9" name="Image 232">
              <a:extLst>
                <a:ext uri="{FF2B5EF4-FFF2-40B4-BE49-F238E27FC236}">
                  <a16:creationId xmlns:a16="http://schemas.microsoft.com/office/drawing/2014/main" id="{4260518E-D88D-2CE9-00BD-6FA7CEB28BAA}"/>
                </a:ext>
              </a:extLst>
            </p:cNvPr>
            <p:cNvPicPr/>
            <p:nvPr/>
          </p:nvPicPr>
          <p:blipFill>
            <a:blip r:embed="rId2" cstate="print"/>
            <a:stretch>
              <a:fillRect/>
            </a:stretch>
          </p:blipFill>
          <p:spPr>
            <a:xfrm>
              <a:off x="762000" y="0"/>
              <a:ext cx="2743200" cy="1205483"/>
            </a:xfrm>
            <a:prstGeom prst="rect">
              <a:avLst/>
            </a:prstGeom>
          </p:spPr>
        </p:pic>
        <p:sp>
          <p:nvSpPr>
            <p:cNvPr id="10" name="Graphic 233">
              <a:extLst>
                <a:ext uri="{FF2B5EF4-FFF2-40B4-BE49-F238E27FC236}">
                  <a16:creationId xmlns:a16="http://schemas.microsoft.com/office/drawing/2014/main" id="{80047ED1-478B-25EE-FA6D-CE58D1986360}"/>
                </a:ext>
              </a:extLst>
            </p:cNvPr>
            <p:cNvSpPr/>
            <p:nvPr/>
          </p:nvSpPr>
          <p:spPr>
            <a:xfrm>
              <a:off x="0" y="1255814"/>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2" name="TextBox 11">
            <a:extLst>
              <a:ext uri="{FF2B5EF4-FFF2-40B4-BE49-F238E27FC236}">
                <a16:creationId xmlns:a16="http://schemas.microsoft.com/office/drawing/2014/main" id="{69C5704D-B4F6-FD31-77C5-49D49496EEB3}"/>
              </a:ext>
            </a:extLst>
          </p:cNvPr>
          <p:cNvSpPr txBox="1"/>
          <p:nvPr/>
        </p:nvSpPr>
        <p:spPr>
          <a:xfrm>
            <a:off x="6522554" y="4864413"/>
            <a:ext cx="6097656" cy="307777"/>
          </a:xfrm>
          <a:prstGeom prst="rect">
            <a:avLst/>
          </a:prstGeom>
          <a:noFill/>
        </p:spPr>
        <p:txBody>
          <a:bodyPr wrap="square">
            <a:spAutoFit/>
          </a:bodyPr>
          <a:lstStyle/>
          <a:p>
            <a:pPr marL="209550" algn="ctr">
              <a:spcBef>
                <a:spcPts val="370"/>
              </a:spcBef>
              <a:spcAft>
                <a:spcPts val="0"/>
              </a:spcAft>
            </a:pP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conflict</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“much</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water–little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water”</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resolved.</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6734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1F4474-A23C-6DE5-6FBA-6F73E1B4BE4F}"/>
              </a:ext>
            </a:extLst>
          </p:cNvPr>
          <p:cNvSpPr txBox="1"/>
          <p:nvPr/>
        </p:nvSpPr>
        <p:spPr>
          <a:xfrm>
            <a:off x="971550" y="629701"/>
            <a:ext cx="6097656" cy="369332"/>
          </a:xfrm>
          <a:prstGeom prst="rect">
            <a:avLst/>
          </a:prstGeom>
          <a:noFill/>
        </p:spPr>
        <p:txBody>
          <a:bodyPr wrap="square">
            <a:spAutoFit/>
          </a:bodyPr>
          <a:lstStyle/>
          <a:p>
            <a:pPr marL="1143000" lvl="2" indent="-228600">
              <a:spcBef>
                <a:spcPts val="735"/>
              </a:spcBef>
              <a:buClr>
                <a:srgbClr val="231F20"/>
              </a:buClr>
              <a:buSzPts val="1250"/>
              <a:buFont typeface="Trebuchet MS" panose="020B0603020202020204" pitchFamily="34" charset="0"/>
              <a:buAutoNum type="arabicPeriod"/>
              <a:tabLst>
                <a:tab pos="664845" algn="l"/>
              </a:tabLst>
            </a:pP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Present</a:t>
            </a:r>
            <a:r>
              <a:rPr lang="en-US" sz="1800" b="1" i="1" spc="-3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7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and</a:t>
            </a:r>
            <a:r>
              <a:rPr lang="en-US" sz="1800" b="1" i="1" spc="-3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 </a:t>
            </a:r>
            <a:r>
              <a:rPr lang="en-US" sz="1800" b="1" i="1" spc="-10"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Absent</a:t>
            </a:r>
            <a:endParaRPr lang="en-IN" sz="1800" b="1" i="1" spc="-7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5" name="TextBox 4">
            <a:extLst>
              <a:ext uri="{FF2B5EF4-FFF2-40B4-BE49-F238E27FC236}">
                <a16:creationId xmlns:a16="http://schemas.microsoft.com/office/drawing/2014/main" id="{50534E1A-77CF-8F36-3177-AC43A53F911F}"/>
              </a:ext>
            </a:extLst>
          </p:cNvPr>
          <p:cNvSpPr txBox="1"/>
          <p:nvPr/>
        </p:nvSpPr>
        <p:spPr>
          <a:xfrm>
            <a:off x="792646" y="1188230"/>
            <a:ext cx="4733511" cy="1200329"/>
          </a:xfrm>
          <a:prstGeom prst="rect">
            <a:avLst/>
          </a:prstGeom>
          <a:noFill/>
        </p:spPr>
        <p:txBody>
          <a:bodyPr wrap="square">
            <a:spAutoFit/>
          </a:bodyPr>
          <a:lstStyle/>
          <a:p>
            <a:pPr algn="just"/>
            <a:r>
              <a:rPr lang="en-US" sz="1800" dirty="0">
                <a:solidFill>
                  <a:srgbClr val="231F20"/>
                </a:solidFill>
                <a:effectLst/>
                <a:latin typeface="Times New Roman" panose="02020603050405020304" pitchFamily="18" charset="0"/>
                <a:ea typeface="Times New Roman" panose="02020603050405020304" pitchFamily="18" charset="0"/>
              </a:rPr>
              <a:t>One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important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group</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inherent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contradictions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made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up</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situations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which </a:t>
            </a:r>
            <a:r>
              <a:rPr lang="en-US" sz="1800" dirty="0">
                <a:solidFill>
                  <a:srgbClr val="FF0000"/>
                </a:solidFill>
                <a:effectLst/>
                <a:latin typeface="Times New Roman" panose="02020603050405020304" pitchFamily="18" charset="0"/>
                <a:ea typeface="Times New Roman" panose="02020603050405020304" pitchFamily="18" charset="0"/>
              </a:rPr>
              <a:t>the object should be present to get some useful feature and absent to keep the </a:t>
            </a:r>
            <a:r>
              <a:rPr lang="en-US" sz="1800" spc="-20" dirty="0">
                <a:solidFill>
                  <a:srgbClr val="FF0000"/>
                </a:solidFill>
                <a:effectLst/>
                <a:latin typeface="Times New Roman" panose="02020603050405020304" pitchFamily="18" charset="0"/>
                <a:ea typeface="Times New Roman" panose="02020603050405020304" pitchFamily="18" charset="0"/>
              </a:rPr>
              <a:t>system simple.</a:t>
            </a:r>
            <a:endParaRPr lang="en-IN" dirty="0">
              <a:solidFill>
                <a:srgbClr val="FF0000"/>
              </a:solidFill>
            </a:endParaRPr>
          </a:p>
        </p:txBody>
      </p:sp>
      <p:sp>
        <p:nvSpPr>
          <p:cNvPr id="7" name="TextBox 6">
            <a:extLst>
              <a:ext uri="{FF2B5EF4-FFF2-40B4-BE49-F238E27FC236}">
                <a16:creationId xmlns:a16="http://schemas.microsoft.com/office/drawing/2014/main" id="{3381AD39-5789-CEDD-349C-DB5AA7DFE5F5}"/>
              </a:ext>
            </a:extLst>
          </p:cNvPr>
          <p:cNvSpPr txBox="1"/>
          <p:nvPr/>
        </p:nvSpPr>
        <p:spPr>
          <a:xfrm>
            <a:off x="-584003" y="2327546"/>
            <a:ext cx="6430617" cy="2321148"/>
          </a:xfrm>
          <a:prstGeom prst="rect">
            <a:avLst/>
          </a:prstGeom>
          <a:noFill/>
        </p:spPr>
        <p:txBody>
          <a:bodyPr wrap="square">
            <a:spAutoFit/>
          </a:bodyPr>
          <a:lstStyle/>
          <a:p>
            <a:pPr marL="1600200" marR="233045" lvl="3" indent="-228600" algn="just">
              <a:spcBef>
                <a:spcPts val="1165"/>
              </a:spcBef>
              <a:spcAft>
                <a:spcPts val="0"/>
              </a:spcAft>
              <a:buClr>
                <a:srgbClr val="231F20"/>
              </a:buClr>
              <a:buSzPts val="1050"/>
              <a:buFont typeface="Lucida Sans Unicode" panose="020B0602030504020204" pitchFamily="34" charset="0"/>
              <a:buChar char="■"/>
              <a:tabLst>
                <a:tab pos="514350" algn="l"/>
              </a:tabLst>
            </a:pP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Tradeoff:</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spare</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tire</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in</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the</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car</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increases</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reliability</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but</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occupies</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space </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a:p>
            <a:pPr marL="1600200" marR="234315" lvl="3" indent="-228600" algn="just">
              <a:spcBef>
                <a:spcPts val="60"/>
              </a:spcBef>
              <a:spcAft>
                <a:spcPts val="0"/>
              </a:spcAft>
              <a:buClr>
                <a:srgbClr val="231F20"/>
              </a:buClr>
              <a:buSzPts val="1050"/>
              <a:buFont typeface="Lucida Sans Unicode" panose="020B0602030504020204" pitchFamily="34" charset="0"/>
              <a:buChar char="■"/>
              <a:tabLst>
                <a:tab pos="514350" algn="l"/>
              </a:tabLst>
            </a:pP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Inherent</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contradiction:</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spare</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tire</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should</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be</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present</a:t>
            </a:r>
            <a:r>
              <a:rPr lang="en-US" spc="-2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i="1"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and</a:t>
            </a:r>
            <a:r>
              <a:rPr lang="en-US" i="1"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absent.</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One</a:t>
            </a:r>
            <a:r>
              <a:rPr lang="en-US" spc="-3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bea</a:t>
            </a:r>
            <a:r>
              <a:rPr lang="en-US" spc="-10" dirty="0">
                <a:solidFill>
                  <a:srgbClr val="231F20"/>
                </a:solidFill>
                <a:latin typeface="Times New Roman" panose="02020603050405020304" pitchFamily="18" charset="0"/>
                <a:ea typeface="Lucida Sans Unicode" panose="020B0602030504020204" pitchFamily="34" charset="0"/>
                <a:cs typeface="Times New Roman" panose="02020603050405020304" pitchFamily="18" charset="0"/>
              </a:rPr>
              <a:t>u</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tiful</a:t>
            </a:r>
            <a:r>
              <a:rPr lang="en-US" spc="-2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solution</a:t>
            </a:r>
            <a:r>
              <a:rPr lang="en-US" spc="-2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is</a:t>
            </a:r>
            <a:r>
              <a:rPr lang="en-US" spc="-2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to</a:t>
            </a:r>
            <a:r>
              <a:rPr lang="en-US" spc="-25"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use</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the</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normal</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tire</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as</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the</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spare</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by</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making</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it</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able</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to</a:t>
            </a:r>
            <a:r>
              <a:rPr lang="en-US" spc="-25"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2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survive </a:t>
            </a:r>
            <a:r>
              <a:rPr lang="en-US" spc="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a</a:t>
            </a:r>
            <a:r>
              <a:rPr lang="en-US" spc="-1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blowout</a:t>
            </a:r>
            <a:r>
              <a:rPr lang="en-US" spc="-10" dirty="0">
                <a:solidFill>
                  <a:srgbClr val="FF000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(inherent</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contradiction</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solved),</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rather</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than</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making</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the</a:t>
            </a:r>
            <a:r>
              <a:rPr lang="en-US" spc="-1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separate spare</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tire</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smaller,</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as</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in</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some</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cars</a:t>
            </a:r>
            <a:r>
              <a:rPr lang="en-US" spc="-4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 </a:t>
            </a:r>
            <a:r>
              <a:rPr lang="en-US" spc="0" dirty="0">
                <a:solidFill>
                  <a:srgbClr val="231F20"/>
                </a:solidFill>
                <a:effectLst/>
                <a:latin typeface="Times New Roman" panose="02020603050405020304" pitchFamily="18" charset="0"/>
                <a:ea typeface="Lucida Sans Unicode" panose="020B0602030504020204" pitchFamily="34" charset="0"/>
                <a:cs typeface="Times New Roman" panose="02020603050405020304" pitchFamily="18" charset="0"/>
              </a:rPr>
              <a:t>(compromise).</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EC9EE78-FF9C-DD1C-042F-F903C1004782}"/>
              </a:ext>
            </a:extLst>
          </p:cNvPr>
          <p:cNvSpPr txBox="1"/>
          <p:nvPr/>
        </p:nvSpPr>
        <p:spPr>
          <a:xfrm>
            <a:off x="5387009" y="530015"/>
            <a:ext cx="6361042" cy="369332"/>
          </a:xfrm>
          <a:prstGeom prst="rect">
            <a:avLst/>
          </a:prstGeom>
          <a:noFill/>
        </p:spPr>
        <p:txBody>
          <a:bodyPr wrap="square">
            <a:spAutoFit/>
          </a:bodyPr>
          <a:lstStyle/>
          <a:p>
            <a:pPr lvl="1" algn="ctr">
              <a:buClr>
                <a:srgbClr val="231F20"/>
              </a:buClr>
              <a:buSzPts val="1400"/>
              <a:tabLst>
                <a:tab pos="666115" algn="l"/>
              </a:tabLst>
            </a:pPr>
            <a:r>
              <a:rPr lang="en-US" sz="1800" b="1"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How</a:t>
            </a:r>
            <a:r>
              <a:rPr lang="en-US" sz="1800" b="1"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800" b="1"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to</a:t>
            </a:r>
            <a:r>
              <a:rPr lang="en-US" sz="1800" b="1"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800" b="1"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Intensify</a:t>
            </a:r>
            <a:r>
              <a:rPr lang="en-US" sz="1800" b="1" spc="-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800" b="1"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the</a:t>
            </a:r>
            <a:r>
              <a:rPr lang="en-US" sz="1800" b="1"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800" b="1"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Inherent</a:t>
            </a:r>
            <a:r>
              <a:rPr lang="en-US" sz="1800" b="1" spc="-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1800" b="1"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Contradiction</a:t>
            </a:r>
            <a:endParaRPr lang="en-IN" sz="1800" b="1" spc="-95" dirty="0">
              <a:effectLst/>
              <a:latin typeface="Times New Roman" panose="02020603050405020304" pitchFamily="18" charset="0"/>
              <a:ea typeface="Trebuchet MS" panose="020B0603020202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645BEC53-02A0-591A-D09B-6A78C478BD2C}"/>
              </a:ext>
            </a:extLst>
          </p:cNvPr>
          <p:cNvSpPr txBox="1"/>
          <p:nvPr/>
        </p:nvSpPr>
        <p:spPr>
          <a:xfrm>
            <a:off x="5869057" y="1188230"/>
            <a:ext cx="6097656" cy="1200329"/>
          </a:xfrm>
          <a:prstGeom prst="rect">
            <a:avLst/>
          </a:prstGeom>
          <a:noFill/>
        </p:spPr>
        <p:txBody>
          <a:bodyPr wrap="square">
            <a:spAutoFit/>
          </a:bodyPr>
          <a:lstStyle/>
          <a:p>
            <a:pPr algn="just"/>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sometimes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make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internal</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conflict</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we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just</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formulated</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much</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stronger. </a:t>
            </a:r>
            <a:r>
              <a:rPr lang="en-US" sz="1800" dirty="0">
                <a:solidFill>
                  <a:srgbClr val="231F20"/>
                </a:solidFill>
                <a:effectLst/>
                <a:latin typeface="Times New Roman" panose="02020603050405020304" pitchFamily="18" charset="0"/>
                <a:ea typeface="Times New Roman" panose="02020603050405020304" pitchFamily="18" charset="0"/>
              </a:rPr>
              <a:t>This will make the problem seem unsolvable you might think this is a bizarre technique,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lead</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great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solutions.</a:t>
            </a:r>
            <a:endParaRPr lang="en-IN" dirty="0"/>
          </a:p>
        </p:txBody>
      </p:sp>
      <p:sp>
        <p:nvSpPr>
          <p:cNvPr id="13" name="TextBox 12">
            <a:extLst>
              <a:ext uri="{FF2B5EF4-FFF2-40B4-BE49-F238E27FC236}">
                <a16:creationId xmlns:a16="http://schemas.microsoft.com/office/drawing/2014/main" id="{7519D0B0-DB85-40C1-86AF-59EA9A796756}"/>
              </a:ext>
            </a:extLst>
          </p:cNvPr>
          <p:cNvSpPr txBox="1"/>
          <p:nvPr/>
        </p:nvSpPr>
        <p:spPr>
          <a:xfrm>
            <a:off x="5594075" y="2449931"/>
            <a:ext cx="6450494" cy="2044149"/>
          </a:xfrm>
          <a:prstGeom prst="rect">
            <a:avLst/>
          </a:prstGeom>
          <a:noFill/>
        </p:spPr>
        <p:txBody>
          <a:bodyPr wrap="square">
            <a:spAutoFit/>
          </a:bodyPr>
          <a:lstStyle/>
          <a:p>
            <a:pPr marL="342900" marR="233045" lvl="0" indent="-342900">
              <a:buClr>
                <a:srgbClr val="231F20"/>
              </a:buClr>
              <a:buSzPts val="1050"/>
              <a:buFont typeface="Lucida Sans Unicode" panose="020B0602030504020204" pitchFamily="34" charset="0"/>
              <a:buChar char="■"/>
              <a:tabLst>
                <a:tab pos="514350" algn="l"/>
              </a:tabLst>
            </a:pPr>
            <a:r>
              <a:rPr lang="en-US" spc="-20" dirty="0">
                <a:solidFill>
                  <a:srgbClr val="231F20"/>
                </a:solidFill>
                <a:latin typeface="Times New Roman" panose="02020603050405020304" pitchFamily="18" charset="0"/>
                <a:ea typeface="Lucida Sans Unicode" panose="020B0602030504020204" pitchFamily="34" charset="0"/>
              </a:rPr>
              <a:t>The</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airplane</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is</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heavier</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than</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air</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(more</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dense)</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yet,</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in</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some</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sense,</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lighter</a:t>
            </a:r>
            <a:r>
              <a:rPr lang="en-US" sz="1800" spc="-7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(thanks </a:t>
            </a:r>
            <a:r>
              <a:rPr lang="en-US" sz="1800" spc="0" dirty="0">
                <a:solidFill>
                  <a:srgbClr val="231F20"/>
                </a:solidFill>
                <a:effectLst/>
                <a:latin typeface="Times New Roman" panose="02020603050405020304" pitchFamily="18" charset="0"/>
                <a:ea typeface="Lucida Sans Unicode" panose="020B0602030504020204" pitchFamily="34" charset="0"/>
              </a:rPr>
              <a:t>to the lifting force).</a:t>
            </a:r>
            <a:endParaRPr lang="en-IN" sz="2000" spc="0" dirty="0">
              <a:effectLst/>
              <a:latin typeface="Times New Roman" panose="02020603050405020304" pitchFamily="18" charset="0"/>
              <a:ea typeface="Lucida Sans Unicode" panose="020B0602030504020204" pitchFamily="34" charset="0"/>
            </a:endParaRPr>
          </a:p>
          <a:p>
            <a:pPr marL="342900" lvl="0" indent="-342900">
              <a:buClr>
                <a:srgbClr val="231F20"/>
              </a:buClr>
              <a:buSzPts val="1050"/>
              <a:buFont typeface="Lucida Sans Unicode" panose="020B0602030504020204" pitchFamily="34" charset="0"/>
              <a:buChar char="■"/>
              <a:tabLst>
                <a:tab pos="513715" algn="l"/>
              </a:tabLst>
            </a:pPr>
            <a:r>
              <a:rPr lang="en-US" sz="1800" spc="0" dirty="0">
                <a:solidFill>
                  <a:srgbClr val="231F20"/>
                </a:solidFill>
                <a:effectLst/>
                <a:latin typeface="Times New Roman" panose="02020603050405020304" pitchFamily="18" charset="0"/>
                <a:ea typeface="Lucida Sans Unicode" panose="020B0602030504020204" pitchFamily="34" charset="0"/>
              </a:rPr>
              <a:t>The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transistor</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can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be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conductor</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and</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insulator</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at</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different</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times.</a:t>
            </a:r>
            <a:endParaRPr lang="en-IN" sz="2000" spc="0" dirty="0">
              <a:effectLst/>
              <a:latin typeface="Times New Roman" panose="02020603050405020304" pitchFamily="18" charset="0"/>
              <a:ea typeface="Lucida Sans Unicode" panose="020B0602030504020204" pitchFamily="34" charset="0"/>
            </a:endParaRPr>
          </a:p>
          <a:p>
            <a:pPr marL="342900" marR="232410" lvl="0" indent="-342900">
              <a:buClr>
                <a:srgbClr val="231F20"/>
              </a:buClr>
              <a:buSzPts val="1050"/>
              <a:buFont typeface="Lucida Sans Unicode" panose="020B0602030504020204" pitchFamily="34" charset="0"/>
              <a:buChar char="■"/>
              <a:tabLst>
                <a:tab pos="514350" algn="l"/>
              </a:tabLst>
            </a:pPr>
            <a:r>
              <a:rPr lang="en-US" sz="1800" spc="0" dirty="0">
                <a:solidFill>
                  <a:srgbClr val="231F20"/>
                </a:solidFill>
                <a:effectLst/>
                <a:latin typeface="Times New Roman" panose="02020603050405020304" pitchFamily="18" charset="0"/>
                <a:ea typeface="Lucida Sans Unicode" panose="020B0602030504020204" pitchFamily="34" charset="0"/>
              </a:rPr>
              <a:t>Biodegradable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materials</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are</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present</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and</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exist</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(at</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certain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times)</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and</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become absent and nonexistent (at other times).</a:t>
            </a:r>
            <a:endParaRPr lang="en-IN" sz="2000" spc="0" dirty="0">
              <a:effectLst/>
              <a:latin typeface="Times New Roman" panose="02020603050405020304" pitchFamily="18" charset="0"/>
              <a:ea typeface="Lucida Sans Unicode" panose="020B0602030504020204" pitchFamily="34" charset="0"/>
            </a:endParaRPr>
          </a:p>
          <a:p>
            <a:pPr>
              <a:spcBef>
                <a:spcPts val="100"/>
              </a:spcBef>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FE5343DA-322A-C314-0DC4-0DBE0F639426}"/>
              </a:ext>
            </a:extLst>
          </p:cNvPr>
          <p:cNvSpPr txBox="1"/>
          <p:nvPr/>
        </p:nvSpPr>
        <p:spPr>
          <a:xfrm>
            <a:off x="5620578" y="4317839"/>
            <a:ext cx="6293127" cy="1541128"/>
          </a:xfrm>
          <a:prstGeom prst="rect">
            <a:avLst/>
          </a:prstGeom>
          <a:noFill/>
        </p:spPr>
        <p:txBody>
          <a:bodyPr wrap="square">
            <a:spAutoFit/>
          </a:bodyPr>
          <a:lstStyle/>
          <a:p>
            <a:pPr marL="209550" marR="234315" indent="190500" algn="just">
              <a:lnSpc>
                <a:spcPct val="106000"/>
              </a:lnSpc>
              <a:spcBef>
                <a:spcPts val="5"/>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These</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show</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how</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TRIZ</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technique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forcing</a:t>
            </a:r>
            <a:r>
              <a:rPr lang="en-US" sz="1800" spc="-7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contradiction</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to the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extreme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can</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be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technique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for</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breakthrough.</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Analyzing</a:t>
            </a:r>
            <a:r>
              <a:rPr lang="en-US" sz="1800" spc="-2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the</a:t>
            </a:r>
            <a:r>
              <a:rPr lang="en-US" sz="1800" spc="-2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extreme</a:t>
            </a:r>
            <a:r>
              <a:rPr lang="en-US" sz="1800" spc="-2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contradiction</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helps</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one</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break</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out</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of</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conventional</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thinking</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into</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the</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realm</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of</a:t>
            </a:r>
            <a:r>
              <a:rPr lang="en-US" sz="1800" spc="-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ideas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 get rid of the contradiction and solve the problem.</a:t>
            </a:r>
            <a:endParaRPr lang="en-IN" sz="1800" dirty="0">
              <a:effectLst/>
              <a:latin typeface="Times New Roman" panose="02020603050405020304" pitchFamily="18" charset="0"/>
              <a:ea typeface="Times New Roman" panose="02020603050405020304" pitchFamily="18" charset="0"/>
            </a:endParaRPr>
          </a:p>
        </p:txBody>
      </p:sp>
      <p:sp>
        <p:nvSpPr>
          <p:cNvPr id="17" name="TextBox 16">
            <a:extLst>
              <a:ext uri="{FF2B5EF4-FFF2-40B4-BE49-F238E27FC236}">
                <a16:creationId xmlns:a16="http://schemas.microsoft.com/office/drawing/2014/main" id="{4D4778FD-D5C0-052A-5ADA-11F1B9ECAB58}"/>
              </a:ext>
            </a:extLst>
          </p:cNvPr>
          <p:cNvSpPr txBox="1"/>
          <p:nvPr/>
        </p:nvSpPr>
        <p:spPr>
          <a:xfrm>
            <a:off x="5869057" y="5966451"/>
            <a:ext cx="6202016" cy="646331"/>
          </a:xfrm>
          <a:prstGeom prst="rect">
            <a:avLst/>
          </a:prstGeom>
          <a:noFill/>
        </p:spPr>
        <p:txBody>
          <a:bodyPr wrap="square">
            <a:spAutoFit/>
          </a:bodyPr>
          <a:lstStyle/>
          <a:p>
            <a:r>
              <a:rPr lang="en-US" sz="1800" dirty="0">
                <a:solidFill>
                  <a:srgbClr val="231F20"/>
                </a:solidFill>
                <a:effectLst/>
                <a:latin typeface="Times New Roman" panose="02020603050405020304" pitchFamily="18" charset="0"/>
                <a:ea typeface="Times New Roman" panose="02020603050405020304" pitchFamily="18" charset="0"/>
              </a:rPr>
              <a:t>If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you</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have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existing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solution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problem</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needs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minor</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improvement,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go</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ahead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improve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a:t>
            </a:r>
            <a:endParaRPr lang="en-IN" dirty="0"/>
          </a:p>
        </p:txBody>
      </p:sp>
      <p:pic>
        <p:nvPicPr>
          <p:cNvPr id="3074" name="Picture 2" descr="AquaBells Dumbbells Water Weights - AquaBells Dumbbells - AB2AB2 ...">
            <a:extLst>
              <a:ext uri="{FF2B5EF4-FFF2-40B4-BE49-F238E27FC236}">
                <a16:creationId xmlns:a16="http://schemas.microsoft.com/office/drawing/2014/main" id="{660B45B6-C68F-ED91-2321-CF4CAD813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278" y="4648694"/>
            <a:ext cx="3759689" cy="1824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258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73D1752-33DA-9C26-16B9-EAEB87D7DCCC}"/>
              </a:ext>
            </a:extLst>
          </p:cNvPr>
          <p:cNvGraphicFramePr>
            <a:graphicFrameLocks noGrp="1"/>
          </p:cNvGraphicFramePr>
          <p:nvPr>
            <p:extLst>
              <p:ext uri="{D42A27DB-BD31-4B8C-83A1-F6EECF244321}">
                <p14:modId xmlns:p14="http://schemas.microsoft.com/office/powerpoint/2010/main" val="784689377"/>
              </p:ext>
            </p:extLst>
          </p:nvPr>
        </p:nvGraphicFramePr>
        <p:xfrm>
          <a:off x="781877" y="787710"/>
          <a:ext cx="4962940" cy="5472038"/>
        </p:xfrm>
        <a:graphic>
          <a:graphicData uri="http://schemas.openxmlformats.org/drawingml/2006/table">
            <a:tbl>
              <a:tblPr firstRow="1" firstCol="1" lastRow="1" lastCol="1" bandRow="1" bandCol="1">
                <a:tableStyleId>{5C22544A-7EE6-4342-B048-85BDC9FD1C3A}</a:tableStyleId>
              </a:tblPr>
              <a:tblGrid>
                <a:gridCol w="2481470">
                  <a:extLst>
                    <a:ext uri="{9D8B030D-6E8A-4147-A177-3AD203B41FA5}">
                      <a16:colId xmlns:a16="http://schemas.microsoft.com/office/drawing/2014/main" val="185577027"/>
                    </a:ext>
                  </a:extLst>
                </a:gridCol>
                <a:gridCol w="2481470">
                  <a:extLst>
                    <a:ext uri="{9D8B030D-6E8A-4147-A177-3AD203B41FA5}">
                      <a16:colId xmlns:a16="http://schemas.microsoft.com/office/drawing/2014/main" val="2211301683"/>
                    </a:ext>
                  </a:extLst>
                </a:gridCol>
              </a:tblGrid>
              <a:tr h="938571">
                <a:tc>
                  <a:txBody>
                    <a:bodyPr/>
                    <a:lstStyle/>
                    <a:p>
                      <a:pPr marL="659765">
                        <a:spcBef>
                          <a:spcPts val="165"/>
                        </a:spcBef>
                        <a:spcAft>
                          <a:spcPts val="0"/>
                        </a:spcAft>
                      </a:pPr>
                      <a:r>
                        <a:rPr lang="en-US" sz="1800" spc="-10" dirty="0">
                          <a:effectLst/>
                          <a:latin typeface="Times New Roman" panose="02020603050405020304" pitchFamily="18" charset="0"/>
                          <a:cs typeface="Times New Roman" panose="02020603050405020304" pitchFamily="18" charset="0"/>
                        </a:rPr>
                        <a:t>Modeling</a:t>
                      </a:r>
                      <a:r>
                        <a:rPr lang="en-US" sz="180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Steps</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127000">
                        <a:spcBef>
                          <a:spcPts val="165"/>
                        </a:spcBef>
                        <a:spcAft>
                          <a:spcPts val="0"/>
                        </a:spcAft>
                      </a:pPr>
                      <a:r>
                        <a:rPr lang="en-US" sz="1800" spc="-10" dirty="0">
                          <a:effectLst/>
                          <a:latin typeface="Times New Roman" panose="02020603050405020304" pitchFamily="18" charset="0"/>
                          <a:cs typeface="Times New Roman" panose="02020603050405020304" pitchFamily="18" charset="0"/>
                        </a:rPr>
                        <a:t>Example:</a:t>
                      </a:r>
                      <a:r>
                        <a:rPr lang="en-US" sz="1800" spc="1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Reduce</a:t>
                      </a:r>
                      <a:r>
                        <a:rPr lang="en-US" sz="1800" spc="1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Lawnmower</a:t>
                      </a:r>
                      <a:r>
                        <a:rPr lang="en-US" sz="1800" spc="10" dirty="0">
                          <a:effectLst/>
                          <a:latin typeface="Times New Roman" panose="02020603050405020304" pitchFamily="18" charset="0"/>
                          <a:cs typeface="Times New Roman" panose="02020603050405020304" pitchFamily="18" charset="0"/>
                        </a:rPr>
                        <a:t> </a:t>
                      </a:r>
                      <a:r>
                        <a:rPr lang="en-US" sz="1800" spc="-20" dirty="0">
                          <a:effectLst/>
                          <a:latin typeface="Times New Roman" panose="02020603050405020304" pitchFamily="18" charset="0"/>
                          <a:cs typeface="Times New Roman" panose="02020603050405020304" pitchFamily="18" charset="0"/>
                        </a:rPr>
                        <a:t>Noise</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790847787"/>
                  </a:ext>
                </a:extLst>
              </a:tr>
              <a:tr h="677650">
                <a:tc>
                  <a:txBody>
                    <a:bodyPr/>
                    <a:lstStyle/>
                    <a:p>
                      <a:pPr marL="50800">
                        <a:spcBef>
                          <a:spcPts val="165"/>
                        </a:spcBef>
                        <a:spcAft>
                          <a:spcPts val="0"/>
                        </a:spcAft>
                      </a:pPr>
                      <a:r>
                        <a:rPr lang="en-US" sz="1800" dirty="0">
                          <a:effectLst/>
                          <a:latin typeface="Times New Roman" panose="02020603050405020304" pitchFamily="18" charset="0"/>
                          <a:cs typeface="Times New Roman" panose="02020603050405020304" pitchFamily="18" charset="0"/>
                        </a:rPr>
                        <a:t>Visible</a:t>
                      </a:r>
                      <a:r>
                        <a:rPr lang="en-US" sz="1800" spc="-4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drawback</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50800">
                        <a:spcBef>
                          <a:spcPts val="165"/>
                        </a:spcBef>
                        <a:spcAft>
                          <a:spcPts val="0"/>
                        </a:spcAft>
                      </a:pPr>
                      <a:r>
                        <a:rPr lang="en-US" sz="1800" dirty="0">
                          <a:effectLst/>
                          <a:latin typeface="Times New Roman" panose="02020603050405020304" pitchFamily="18" charset="0"/>
                          <a:cs typeface="Times New Roman" panose="02020603050405020304" pitchFamily="18" charset="0"/>
                        </a:rPr>
                        <a:t>The</a:t>
                      </a:r>
                      <a:r>
                        <a:rPr lang="en-US" sz="1800" spc="-5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lawnmower</a:t>
                      </a:r>
                      <a:r>
                        <a:rPr lang="en-US" sz="1800" spc="-4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is</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too</a:t>
                      </a:r>
                      <a:r>
                        <a:rPr lang="en-US" sz="1800" spc="-4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noisy</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3800795451"/>
                  </a:ext>
                </a:extLst>
              </a:tr>
              <a:tr h="1827903">
                <a:tc>
                  <a:txBody>
                    <a:bodyPr/>
                    <a:lstStyle/>
                    <a:p>
                      <a:pPr marL="101600" indent="-50800">
                        <a:lnSpc>
                          <a:spcPct val="110000"/>
                        </a:lnSpc>
                        <a:spcBef>
                          <a:spcPts val="165"/>
                        </a:spcBef>
                        <a:spcAft>
                          <a:spcPts val="0"/>
                        </a:spcAft>
                      </a:pPr>
                      <a:r>
                        <a:rPr lang="en-US" sz="1800" dirty="0">
                          <a:effectLst/>
                          <a:latin typeface="Times New Roman" panose="02020603050405020304" pitchFamily="18" charset="0"/>
                          <a:cs typeface="Times New Roman" panose="02020603050405020304" pitchFamily="18" charset="0"/>
                        </a:rPr>
                        <a:t>Tradeoff:</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the</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conflict</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between</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two </a:t>
                      </a:r>
                      <a:r>
                        <a:rPr lang="en-US" sz="1800" spc="-10" dirty="0">
                          <a:effectLst/>
                          <a:latin typeface="Times New Roman" panose="02020603050405020304" pitchFamily="18" charset="0"/>
                          <a:cs typeface="Times New Roman" panose="02020603050405020304" pitchFamily="18" charset="0"/>
                        </a:rPr>
                        <a:t>features</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101600" indent="-50800">
                        <a:lnSpc>
                          <a:spcPts val="1150"/>
                        </a:lnSpc>
                        <a:spcBef>
                          <a:spcPts val="50"/>
                        </a:spcBef>
                        <a:spcAft>
                          <a:spcPts val="0"/>
                        </a:spcAft>
                      </a:pPr>
                      <a:endParaRPr lang="en-US" sz="1800" dirty="0">
                        <a:effectLst/>
                        <a:latin typeface="Times New Roman" panose="02020603050405020304" pitchFamily="18" charset="0"/>
                        <a:cs typeface="Times New Roman" panose="02020603050405020304" pitchFamily="18" charset="0"/>
                      </a:endParaRPr>
                    </a:p>
                    <a:p>
                      <a:pPr marL="101600" indent="-50800">
                        <a:lnSpc>
                          <a:spcPct val="150000"/>
                        </a:lnSpc>
                        <a:spcBef>
                          <a:spcPts val="50"/>
                        </a:spcBef>
                        <a:spcAft>
                          <a:spcPts val="0"/>
                        </a:spcAft>
                      </a:pPr>
                      <a:r>
                        <a:rPr lang="en-US" sz="1800" dirty="0">
                          <a:effectLst/>
                          <a:latin typeface="Times New Roman" panose="02020603050405020304" pitchFamily="18" charset="0"/>
                          <a:cs typeface="Times New Roman" panose="02020603050405020304" pitchFamily="18" charset="0"/>
                        </a:rPr>
                        <a:t>When</a:t>
                      </a:r>
                      <a:r>
                        <a:rPr lang="en-US" sz="1800" spc="-6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noise</a:t>
                      </a:r>
                      <a:r>
                        <a:rPr lang="en-US" sz="1800" spc="-6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absorption</a:t>
                      </a:r>
                      <a:r>
                        <a:rPr lang="en-US" sz="1800" spc="-6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improves,</a:t>
                      </a:r>
                      <a:r>
                        <a:rPr lang="en-US" sz="1800" spc="-6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the size of muffler and number of parts </a:t>
                      </a:r>
                      <a:r>
                        <a:rPr lang="en-US" sz="1800" spc="-10" dirty="0">
                          <a:effectLst/>
                          <a:latin typeface="Times New Roman" panose="02020603050405020304" pitchFamily="18" charset="0"/>
                          <a:cs typeface="Times New Roman" panose="02020603050405020304" pitchFamily="18" charset="0"/>
                        </a:rPr>
                        <a:t>increase</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866983051"/>
                  </a:ext>
                </a:extLst>
              </a:tr>
              <a:tr h="677650">
                <a:tc>
                  <a:txBody>
                    <a:bodyPr/>
                    <a:lstStyle/>
                    <a:p>
                      <a:pPr marL="50800">
                        <a:spcBef>
                          <a:spcPts val="165"/>
                        </a:spcBef>
                        <a:spcAft>
                          <a:spcPts val="0"/>
                        </a:spcAft>
                      </a:pPr>
                      <a:r>
                        <a:rPr lang="en-US" sz="1800" dirty="0">
                          <a:effectLst/>
                          <a:latin typeface="Times New Roman" panose="02020603050405020304" pitchFamily="18" charset="0"/>
                          <a:cs typeface="Times New Roman" panose="02020603050405020304" pitchFamily="18" charset="0"/>
                        </a:rPr>
                        <a:t>Inherent</a:t>
                      </a:r>
                      <a:r>
                        <a:rPr lang="en-US" sz="1800" spc="8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contradiction</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50800">
                        <a:spcBef>
                          <a:spcPts val="165"/>
                        </a:spcBef>
                        <a:spcAft>
                          <a:spcPts val="0"/>
                        </a:spcAft>
                      </a:pPr>
                      <a:r>
                        <a:rPr lang="en-US" sz="1800" dirty="0">
                          <a:effectLst/>
                          <a:latin typeface="Times New Roman" panose="02020603050405020304" pitchFamily="18" charset="0"/>
                          <a:cs typeface="Times New Roman" panose="02020603050405020304" pitchFamily="18" charset="0"/>
                        </a:rPr>
                        <a:t>Big</a:t>
                      </a:r>
                      <a:r>
                        <a:rPr lang="en-US" sz="1800" spc="7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muffler–small</a:t>
                      </a:r>
                      <a:r>
                        <a:rPr lang="en-US" sz="1800" spc="8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muffler</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3402013834"/>
                  </a:ext>
                </a:extLst>
              </a:tr>
              <a:tr h="1252776">
                <a:tc>
                  <a:txBody>
                    <a:bodyPr/>
                    <a:lstStyle/>
                    <a:p>
                      <a:pPr marL="101600" indent="-50800">
                        <a:lnSpc>
                          <a:spcPts val="1150"/>
                        </a:lnSpc>
                        <a:spcBef>
                          <a:spcPts val="50"/>
                        </a:spcBef>
                        <a:spcAft>
                          <a:spcPts val="0"/>
                        </a:spcAft>
                      </a:pPr>
                      <a:endParaRPr lang="en-US" sz="1800" spc="-10" dirty="0">
                        <a:effectLst/>
                        <a:latin typeface="Times New Roman" panose="02020603050405020304" pitchFamily="18" charset="0"/>
                        <a:cs typeface="Times New Roman" panose="02020603050405020304" pitchFamily="18" charset="0"/>
                      </a:endParaRPr>
                    </a:p>
                    <a:p>
                      <a:pPr marL="101600" indent="-50800" algn="l">
                        <a:lnSpc>
                          <a:spcPct val="150000"/>
                        </a:lnSpc>
                        <a:spcBef>
                          <a:spcPts val="50"/>
                        </a:spcBef>
                        <a:spcAft>
                          <a:spcPts val="0"/>
                        </a:spcAft>
                      </a:pPr>
                      <a:r>
                        <a:rPr lang="en-US" sz="1800" spc="-10" dirty="0">
                          <a:effectLst/>
                          <a:latin typeface="Times New Roman" panose="02020603050405020304" pitchFamily="18" charset="0"/>
                          <a:cs typeface="Times New Roman" panose="02020603050405020304" pitchFamily="18" charset="0"/>
                        </a:rPr>
                        <a:t>Intensified</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inherent</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contradiction</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(if</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it </a:t>
                      </a:r>
                      <a:r>
                        <a:rPr lang="en-US" sz="1800" dirty="0">
                          <a:effectLst/>
                          <a:latin typeface="Times New Roman" panose="02020603050405020304" pitchFamily="18" charset="0"/>
                          <a:cs typeface="Times New Roman" panose="02020603050405020304" pitchFamily="18" charset="0"/>
                        </a:rPr>
                        <a:t>can be intensified)</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50800">
                        <a:spcBef>
                          <a:spcPts val="165"/>
                        </a:spcBef>
                        <a:spcAft>
                          <a:spcPts val="0"/>
                        </a:spcAft>
                      </a:pPr>
                      <a:r>
                        <a:rPr lang="en-US" sz="1800" dirty="0">
                          <a:effectLst/>
                          <a:latin typeface="Times New Roman" panose="02020603050405020304" pitchFamily="18" charset="0"/>
                          <a:cs typeface="Times New Roman" panose="02020603050405020304" pitchFamily="18" charset="0"/>
                        </a:rPr>
                        <a:t>Big</a:t>
                      </a:r>
                      <a:r>
                        <a:rPr lang="en-US" sz="1800" spc="11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muffler–no</a:t>
                      </a:r>
                      <a:r>
                        <a:rPr lang="en-US" sz="1800" spc="115"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muffler</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3404462508"/>
                  </a:ext>
                </a:extLst>
              </a:tr>
            </a:tbl>
          </a:graphicData>
        </a:graphic>
      </p:graphicFrame>
      <p:graphicFrame>
        <p:nvGraphicFramePr>
          <p:cNvPr id="3" name="Table 2">
            <a:extLst>
              <a:ext uri="{FF2B5EF4-FFF2-40B4-BE49-F238E27FC236}">
                <a16:creationId xmlns:a16="http://schemas.microsoft.com/office/drawing/2014/main" id="{4C612E58-5DA8-24DC-23DA-1A5434A48B77}"/>
              </a:ext>
            </a:extLst>
          </p:cNvPr>
          <p:cNvGraphicFramePr>
            <a:graphicFrameLocks noGrp="1"/>
          </p:cNvGraphicFramePr>
          <p:nvPr>
            <p:extLst>
              <p:ext uri="{D42A27DB-BD31-4B8C-83A1-F6EECF244321}">
                <p14:modId xmlns:p14="http://schemas.microsoft.com/office/powerpoint/2010/main" val="2939350824"/>
              </p:ext>
            </p:extLst>
          </p:nvPr>
        </p:nvGraphicFramePr>
        <p:xfrm>
          <a:off x="6887817" y="787710"/>
          <a:ext cx="4850296" cy="5472037"/>
        </p:xfrm>
        <a:graphic>
          <a:graphicData uri="http://schemas.openxmlformats.org/drawingml/2006/table">
            <a:tbl>
              <a:tblPr firstRow="1" firstCol="1" lastRow="1" lastCol="1" bandRow="1" bandCol="1">
                <a:tableStyleId>{5C22544A-7EE6-4342-B048-85BDC9FD1C3A}</a:tableStyleId>
              </a:tblPr>
              <a:tblGrid>
                <a:gridCol w="2425148">
                  <a:extLst>
                    <a:ext uri="{9D8B030D-6E8A-4147-A177-3AD203B41FA5}">
                      <a16:colId xmlns:a16="http://schemas.microsoft.com/office/drawing/2014/main" val="4108819971"/>
                    </a:ext>
                  </a:extLst>
                </a:gridCol>
                <a:gridCol w="2425148">
                  <a:extLst>
                    <a:ext uri="{9D8B030D-6E8A-4147-A177-3AD203B41FA5}">
                      <a16:colId xmlns:a16="http://schemas.microsoft.com/office/drawing/2014/main" val="1947485538"/>
                    </a:ext>
                  </a:extLst>
                </a:gridCol>
              </a:tblGrid>
              <a:tr h="817037">
                <a:tc>
                  <a:txBody>
                    <a:bodyPr/>
                    <a:lstStyle/>
                    <a:p>
                      <a:pPr marL="659765">
                        <a:lnSpc>
                          <a:spcPct val="100000"/>
                        </a:lnSpc>
                        <a:spcBef>
                          <a:spcPts val="165"/>
                        </a:spcBef>
                        <a:spcAft>
                          <a:spcPts val="0"/>
                        </a:spcAft>
                      </a:pPr>
                      <a:r>
                        <a:rPr lang="en-US" sz="1800" spc="-10" dirty="0">
                          <a:effectLst/>
                          <a:latin typeface="Times New Roman" panose="02020603050405020304" pitchFamily="18" charset="0"/>
                          <a:cs typeface="Times New Roman" panose="02020603050405020304" pitchFamily="18" charset="0"/>
                        </a:rPr>
                        <a:t>Modeling</a:t>
                      </a:r>
                      <a:r>
                        <a:rPr lang="en-US" sz="180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Steps</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74295">
                        <a:lnSpc>
                          <a:spcPct val="100000"/>
                        </a:lnSpc>
                        <a:spcBef>
                          <a:spcPts val="165"/>
                        </a:spcBef>
                        <a:spcAft>
                          <a:spcPts val="0"/>
                        </a:spcAft>
                      </a:pPr>
                      <a:r>
                        <a:rPr lang="en-US" sz="1800" dirty="0">
                          <a:effectLst/>
                          <a:latin typeface="Times New Roman" panose="02020603050405020304" pitchFamily="18" charset="0"/>
                          <a:cs typeface="Times New Roman" panose="02020603050405020304" pitchFamily="18" charset="0"/>
                        </a:rPr>
                        <a:t>Example:</a:t>
                      </a:r>
                      <a:r>
                        <a:rPr lang="en-US" sz="1800" spc="-6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Make</a:t>
                      </a:r>
                      <a:r>
                        <a:rPr lang="en-US" sz="1800" spc="-5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It</a:t>
                      </a:r>
                      <a:r>
                        <a:rPr lang="en-US" sz="1800" spc="-5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Easy</a:t>
                      </a:r>
                      <a:r>
                        <a:rPr lang="en-US" sz="1800" spc="-5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to</a:t>
                      </a:r>
                      <a:r>
                        <a:rPr lang="en-US" sz="1800" spc="-5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Grow</a:t>
                      </a:r>
                      <a:r>
                        <a:rPr lang="en-US" sz="1800" spc="-55"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Carrots</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3333082703"/>
                  </a:ext>
                </a:extLst>
              </a:tr>
              <a:tr h="817037">
                <a:tc>
                  <a:txBody>
                    <a:bodyPr/>
                    <a:lstStyle/>
                    <a:p>
                      <a:pPr marL="50800">
                        <a:lnSpc>
                          <a:spcPct val="100000"/>
                        </a:lnSpc>
                        <a:spcBef>
                          <a:spcPts val="165"/>
                        </a:spcBef>
                        <a:spcAft>
                          <a:spcPts val="0"/>
                        </a:spcAft>
                      </a:pPr>
                      <a:r>
                        <a:rPr lang="en-US" sz="1800">
                          <a:effectLst/>
                          <a:latin typeface="Times New Roman" panose="02020603050405020304" pitchFamily="18" charset="0"/>
                          <a:cs typeface="Times New Roman" panose="02020603050405020304" pitchFamily="18" charset="0"/>
                        </a:rPr>
                        <a:t>Visible</a:t>
                      </a:r>
                      <a:r>
                        <a:rPr lang="en-US" sz="1800" spc="-40">
                          <a:effectLst/>
                          <a:latin typeface="Times New Roman" panose="02020603050405020304" pitchFamily="18" charset="0"/>
                          <a:cs typeface="Times New Roman" panose="02020603050405020304" pitchFamily="18" charset="0"/>
                        </a:rPr>
                        <a:t> </a:t>
                      </a:r>
                      <a:r>
                        <a:rPr lang="en-US" sz="1800" spc="-10">
                          <a:effectLst/>
                          <a:latin typeface="Times New Roman" panose="02020603050405020304" pitchFamily="18" charset="0"/>
                          <a:cs typeface="Times New Roman" panose="02020603050405020304" pitchFamily="18" charset="0"/>
                        </a:rPr>
                        <a:t>drawback</a:t>
                      </a:r>
                      <a:endParaRPr lang="en-IN" sz="180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50800">
                        <a:lnSpc>
                          <a:spcPct val="100000"/>
                        </a:lnSpc>
                        <a:spcBef>
                          <a:spcPts val="165"/>
                        </a:spcBef>
                        <a:spcAft>
                          <a:spcPts val="0"/>
                        </a:spcAft>
                      </a:pPr>
                      <a:r>
                        <a:rPr lang="en-US" sz="1800" dirty="0">
                          <a:effectLst/>
                          <a:latin typeface="Times New Roman" panose="02020603050405020304" pitchFamily="18" charset="0"/>
                          <a:cs typeface="Times New Roman" panose="02020603050405020304" pitchFamily="18" charset="0"/>
                        </a:rPr>
                        <a:t>Thinning</a:t>
                      </a:r>
                      <a:r>
                        <a:rPr lang="en-US" sz="1800" spc="-5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of</a:t>
                      </a:r>
                      <a:r>
                        <a:rPr lang="en-US" sz="1800" spc="-5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carrots</a:t>
                      </a:r>
                      <a:r>
                        <a:rPr lang="en-US" sz="1800" spc="-5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is</a:t>
                      </a:r>
                      <a:r>
                        <a:rPr lang="en-US" sz="1800" spc="-5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an</a:t>
                      </a:r>
                      <a:r>
                        <a:rPr lang="en-US" sz="1800" spc="-5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arduous</a:t>
                      </a:r>
                      <a:r>
                        <a:rPr lang="en-US" sz="1800" spc="-50" dirty="0">
                          <a:effectLst/>
                          <a:latin typeface="Times New Roman" panose="02020603050405020304" pitchFamily="18" charset="0"/>
                          <a:cs typeface="Times New Roman" panose="02020603050405020304" pitchFamily="18" charset="0"/>
                        </a:rPr>
                        <a:t> </a:t>
                      </a:r>
                      <a:r>
                        <a:rPr lang="en-US" sz="1800" spc="-25" dirty="0">
                          <a:effectLst/>
                          <a:latin typeface="Times New Roman" panose="02020603050405020304" pitchFamily="18" charset="0"/>
                          <a:cs typeface="Times New Roman" panose="02020603050405020304" pitchFamily="18" charset="0"/>
                        </a:rPr>
                        <a:t>job</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4246670217"/>
                  </a:ext>
                </a:extLst>
              </a:tr>
              <a:tr h="1510463">
                <a:tc>
                  <a:txBody>
                    <a:bodyPr/>
                    <a:lstStyle/>
                    <a:p>
                      <a:pPr marL="101600" indent="-50800">
                        <a:lnSpc>
                          <a:spcPct val="100000"/>
                        </a:lnSpc>
                        <a:spcBef>
                          <a:spcPts val="50"/>
                        </a:spcBef>
                        <a:spcAft>
                          <a:spcPts val="0"/>
                        </a:spcAft>
                      </a:pPr>
                      <a:endParaRPr lang="en-US" sz="1800" dirty="0">
                        <a:effectLst/>
                        <a:latin typeface="Times New Roman" panose="02020603050405020304" pitchFamily="18" charset="0"/>
                        <a:cs typeface="Times New Roman" panose="02020603050405020304" pitchFamily="18" charset="0"/>
                      </a:endParaRPr>
                    </a:p>
                    <a:p>
                      <a:pPr marL="101600" indent="-50800">
                        <a:lnSpc>
                          <a:spcPct val="100000"/>
                        </a:lnSpc>
                        <a:spcBef>
                          <a:spcPts val="50"/>
                        </a:spcBef>
                        <a:spcAft>
                          <a:spcPts val="0"/>
                        </a:spcAft>
                      </a:pPr>
                      <a:r>
                        <a:rPr lang="en-US" sz="1800" dirty="0">
                          <a:effectLst/>
                          <a:latin typeface="Times New Roman" panose="02020603050405020304" pitchFamily="18" charset="0"/>
                          <a:cs typeface="Times New Roman" panose="02020603050405020304" pitchFamily="18" charset="0"/>
                        </a:rPr>
                        <a:t>Tradeoff:</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the</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conflict</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between</a:t>
                      </a:r>
                      <a:r>
                        <a:rPr lang="en-US" sz="1800" spc="-4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two </a:t>
                      </a:r>
                      <a:r>
                        <a:rPr lang="en-US" sz="1800" spc="-10" dirty="0">
                          <a:effectLst/>
                          <a:latin typeface="Times New Roman" panose="02020603050405020304" pitchFamily="18" charset="0"/>
                          <a:cs typeface="Times New Roman" panose="02020603050405020304" pitchFamily="18" charset="0"/>
                        </a:rPr>
                        <a:t>features</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101600" indent="-50800">
                        <a:lnSpc>
                          <a:spcPct val="100000"/>
                        </a:lnSpc>
                        <a:spcBef>
                          <a:spcPts val="50"/>
                        </a:spcBef>
                        <a:spcAft>
                          <a:spcPts val="0"/>
                        </a:spcAft>
                      </a:pPr>
                      <a:endParaRPr lang="en-US" sz="1800" dirty="0">
                        <a:effectLst/>
                        <a:latin typeface="Times New Roman" panose="02020603050405020304" pitchFamily="18" charset="0"/>
                        <a:cs typeface="Times New Roman" panose="02020603050405020304" pitchFamily="18" charset="0"/>
                      </a:endParaRPr>
                    </a:p>
                    <a:p>
                      <a:pPr marL="101600" indent="-50800">
                        <a:lnSpc>
                          <a:spcPct val="100000"/>
                        </a:lnSpc>
                        <a:spcBef>
                          <a:spcPts val="50"/>
                        </a:spcBef>
                        <a:spcAft>
                          <a:spcPts val="0"/>
                        </a:spcAft>
                      </a:pPr>
                      <a:r>
                        <a:rPr lang="en-US" sz="1800" dirty="0">
                          <a:effectLst/>
                          <a:latin typeface="Times New Roman" panose="02020603050405020304" pitchFamily="18" charset="0"/>
                          <a:cs typeface="Times New Roman" panose="02020603050405020304" pitchFamily="18" charset="0"/>
                        </a:rPr>
                        <a:t>The more precisely carrot seeds are planted, the slower the speed</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1864896964"/>
                  </a:ext>
                </a:extLst>
              </a:tr>
              <a:tr h="817037">
                <a:tc>
                  <a:txBody>
                    <a:bodyPr/>
                    <a:lstStyle/>
                    <a:p>
                      <a:pPr marL="50800">
                        <a:lnSpc>
                          <a:spcPct val="100000"/>
                        </a:lnSpc>
                        <a:spcBef>
                          <a:spcPts val="165"/>
                        </a:spcBef>
                        <a:spcAft>
                          <a:spcPts val="0"/>
                        </a:spcAft>
                      </a:pPr>
                      <a:r>
                        <a:rPr lang="en-US" sz="1800">
                          <a:effectLst/>
                          <a:latin typeface="Times New Roman" panose="02020603050405020304" pitchFamily="18" charset="0"/>
                          <a:cs typeface="Times New Roman" panose="02020603050405020304" pitchFamily="18" charset="0"/>
                        </a:rPr>
                        <a:t>Inherent</a:t>
                      </a:r>
                      <a:r>
                        <a:rPr lang="en-US" sz="1800" spc="80">
                          <a:effectLst/>
                          <a:latin typeface="Times New Roman" panose="02020603050405020304" pitchFamily="18" charset="0"/>
                          <a:cs typeface="Times New Roman" panose="02020603050405020304" pitchFamily="18" charset="0"/>
                        </a:rPr>
                        <a:t> </a:t>
                      </a:r>
                      <a:r>
                        <a:rPr lang="en-US" sz="1800" spc="-10">
                          <a:effectLst/>
                          <a:latin typeface="Times New Roman" panose="02020603050405020304" pitchFamily="18" charset="0"/>
                          <a:cs typeface="Times New Roman" panose="02020603050405020304" pitchFamily="18" charset="0"/>
                        </a:rPr>
                        <a:t>contradiction</a:t>
                      </a:r>
                      <a:endParaRPr lang="en-IN" sz="180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50800">
                        <a:lnSpc>
                          <a:spcPct val="100000"/>
                        </a:lnSpc>
                        <a:spcBef>
                          <a:spcPts val="165"/>
                        </a:spcBef>
                        <a:spcAft>
                          <a:spcPts val="0"/>
                        </a:spcAft>
                      </a:pPr>
                      <a:r>
                        <a:rPr lang="en-US" sz="1800" dirty="0">
                          <a:effectLst/>
                          <a:latin typeface="Times New Roman" panose="02020603050405020304" pitchFamily="18" charset="0"/>
                          <a:cs typeface="Times New Roman" panose="02020603050405020304" pitchFamily="18" charset="0"/>
                        </a:rPr>
                        <a:t>Many seeds–few </a:t>
                      </a:r>
                      <a:r>
                        <a:rPr lang="en-US" sz="1800" spc="-10" dirty="0">
                          <a:effectLst/>
                          <a:latin typeface="Times New Roman" panose="02020603050405020304" pitchFamily="18" charset="0"/>
                          <a:cs typeface="Times New Roman" panose="02020603050405020304" pitchFamily="18" charset="0"/>
                        </a:rPr>
                        <a:t>seeds</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479863390"/>
                  </a:ext>
                </a:extLst>
              </a:tr>
              <a:tr h="1510463">
                <a:tc>
                  <a:txBody>
                    <a:bodyPr/>
                    <a:lstStyle/>
                    <a:p>
                      <a:pPr marL="101600" indent="-50800">
                        <a:lnSpc>
                          <a:spcPct val="100000"/>
                        </a:lnSpc>
                        <a:spcBef>
                          <a:spcPts val="50"/>
                        </a:spcBef>
                        <a:spcAft>
                          <a:spcPts val="0"/>
                        </a:spcAft>
                      </a:pPr>
                      <a:endParaRPr lang="en-US" sz="1800" spc="-10" dirty="0">
                        <a:effectLst/>
                        <a:latin typeface="Times New Roman" panose="02020603050405020304" pitchFamily="18" charset="0"/>
                        <a:cs typeface="Times New Roman" panose="02020603050405020304" pitchFamily="18" charset="0"/>
                      </a:endParaRPr>
                    </a:p>
                    <a:p>
                      <a:pPr marL="101600" indent="-50800">
                        <a:lnSpc>
                          <a:spcPct val="100000"/>
                        </a:lnSpc>
                        <a:spcBef>
                          <a:spcPts val="50"/>
                        </a:spcBef>
                        <a:spcAft>
                          <a:spcPts val="0"/>
                        </a:spcAft>
                      </a:pPr>
                      <a:r>
                        <a:rPr lang="en-US" sz="1800" spc="-10" dirty="0">
                          <a:effectLst/>
                          <a:latin typeface="Times New Roman" panose="02020603050405020304" pitchFamily="18" charset="0"/>
                          <a:cs typeface="Times New Roman" panose="02020603050405020304" pitchFamily="18" charset="0"/>
                        </a:rPr>
                        <a:t>Intensified</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inherent</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contradiction</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(if</a:t>
                      </a:r>
                      <a:r>
                        <a:rPr lang="en-US" sz="1800" spc="-30" dirty="0">
                          <a:effectLst/>
                          <a:latin typeface="Times New Roman" panose="02020603050405020304" pitchFamily="18" charset="0"/>
                          <a:cs typeface="Times New Roman" panose="02020603050405020304" pitchFamily="18" charset="0"/>
                        </a:rPr>
                        <a:t> </a:t>
                      </a:r>
                      <a:r>
                        <a:rPr lang="en-US" sz="1800" spc="-10" dirty="0">
                          <a:effectLst/>
                          <a:latin typeface="Times New Roman" panose="02020603050405020304" pitchFamily="18" charset="0"/>
                          <a:cs typeface="Times New Roman" panose="02020603050405020304" pitchFamily="18" charset="0"/>
                        </a:rPr>
                        <a:t>it </a:t>
                      </a:r>
                      <a:r>
                        <a:rPr lang="en-US" sz="1800" dirty="0">
                          <a:effectLst/>
                          <a:latin typeface="Times New Roman" panose="02020603050405020304" pitchFamily="18" charset="0"/>
                          <a:cs typeface="Times New Roman" panose="02020603050405020304" pitchFamily="18" charset="0"/>
                        </a:rPr>
                        <a:t>can be intensified)</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tc>
                  <a:txBody>
                    <a:bodyPr/>
                    <a:lstStyle/>
                    <a:p>
                      <a:pPr marL="50800">
                        <a:lnSpc>
                          <a:spcPct val="100000"/>
                        </a:lnSpc>
                        <a:spcBef>
                          <a:spcPts val="165"/>
                        </a:spcBef>
                        <a:spcAft>
                          <a:spcPts val="0"/>
                        </a:spcAft>
                      </a:pPr>
                      <a:r>
                        <a:rPr lang="en-US" sz="1800" dirty="0">
                          <a:effectLst/>
                          <a:latin typeface="Times New Roman" panose="02020603050405020304" pitchFamily="18" charset="0"/>
                          <a:cs typeface="Times New Roman" panose="02020603050405020304" pitchFamily="18" charset="0"/>
                        </a:rPr>
                        <a:t>Very</a:t>
                      </a:r>
                      <a:r>
                        <a:rPr lang="en-US" sz="1800" spc="-35"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many</a:t>
                      </a:r>
                      <a:r>
                        <a:rPr lang="en-US" sz="1800" spc="-30"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seeds–one</a:t>
                      </a:r>
                      <a:r>
                        <a:rPr lang="en-US" sz="1800" spc="-35" dirty="0">
                          <a:effectLst/>
                          <a:latin typeface="Times New Roman" panose="02020603050405020304" pitchFamily="18" charset="0"/>
                          <a:cs typeface="Times New Roman" panose="02020603050405020304" pitchFamily="18" charset="0"/>
                        </a:rPr>
                        <a:t> </a:t>
                      </a:r>
                      <a:r>
                        <a:rPr lang="en-US" sz="1800" spc="-20" dirty="0">
                          <a:effectLst/>
                          <a:latin typeface="Times New Roman" panose="02020603050405020304" pitchFamily="18" charset="0"/>
                          <a:cs typeface="Times New Roman" panose="02020603050405020304" pitchFamily="18" charset="0"/>
                        </a:rPr>
                        <a:t>seed</a:t>
                      </a:r>
                      <a:endParaRPr lang="en-IN" sz="1800" dirty="0">
                        <a:effectLst/>
                        <a:latin typeface="Times New Roman" panose="02020603050405020304" pitchFamily="18" charset="0"/>
                        <a:ea typeface="Arial MT"/>
                        <a:cs typeface="Times New Roman" panose="02020603050405020304" pitchFamily="18" charset="0"/>
                      </a:endParaRPr>
                    </a:p>
                  </a:txBody>
                  <a:tcPr marL="0" marR="0" marT="0" marB="0"/>
                </a:tc>
                <a:extLst>
                  <a:ext uri="{0D108BD9-81ED-4DB2-BD59-A6C34878D82A}">
                    <a16:rowId xmlns:a16="http://schemas.microsoft.com/office/drawing/2014/main" val="1959012628"/>
                  </a:ext>
                </a:extLst>
              </a:tr>
            </a:tbl>
          </a:graphicData>
        </a:graphic>
      </p:graphicFrame>
      <p:sp>
        <p:nvSpPr>
          <p:cNvPr id="5" name="TextBox 4">
            <a:extLst>
              <a:ext uri="{FF2B5EF4-FFF2-40B4-BE49-F238E27FC236}">
                <a16:creationId xmlns:a16="http://schemas.microsoft.com/office/drawing/2014/main" id="{64D4BA16-D556-591C-D590-98A6BEB3AF83}"/>
              </a:ext>
            </a:extLst>
          </p:cNvPr>
          <p:cNvSpPr txBox="1"/>
          <p:nvPr/>
        </p:nvSpPr>
        <p:spPr>
          <a:xfrm>
            <a:off x="6964846" y="153265"/>
            <a:ext cx="5101258" cy="369332"/>
          </a:xfrm>
          <a:prstGeom prst="rect">
            <a:avLst/>
          </a:prstGeom>
          <a:noFill/>
        </p:spPr>
        <p:txBody>
          <a:bodyPr wrap="square">
            <a:spAutoFit/>
          </a:bodyPr>
          <a:lstStyle/>
          <a:p>
            <a:pPr algn="ct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Cultivating</a:t>
            </a:r>
            <a:r>
              <a:rPr lang="en-US" sz="18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Carrots:</a:t>
            </a:r>
            <a:r>
              <a:rPr lang="en-US" sz="18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Intensifying</a:t>
            </a:r>
            <a:r>
              <a:rPr lang="en-US" sz="18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Contradiction</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87CC695-10A9-7238-5AC9-E4FF53379DF4}"/>
              </a:ext>
            </a:extLst>
          </p:cNvPr>
          <p:cNvSpPr txBox="1"/>
          <p:nvPr/>
        </p:nvSpPr>
        <p:spPr>
          <a:xfrm>
            <a:off x="214519" y="153265"/>
            <a:ext cx="6097656" cy="369332"/>
          </a:xfrm>
          <a:prstGeom prst="rect">
            <a:avLst/>
          </a:prstGeom>
          <a:noFill/>
        </p:spPr>
        <p:txBody>
          <a:bodyPr wrap="square">
            <a:spAutoFit/>
          </a:bodyPr>
          <a:lstStyle/>
          <a:p>
            <a:pPr algn="ct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Reducing</a:t>
            </a:r>
            <a:r>
              <a:rPr lang="en-US" sz="18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Lawnmower</a:t>
            </a:r>
            <a:r>
              <a:rPr lang="en-US" sz="18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Noise:</a:t>
            </a:r>
            <a:r>
              <a:rPr lang="en-US" sz="18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Intensifying</a:t>
            </a:r>
            <a:r>
              <a:rPr lang="en-US" sz="18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Contradiction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68218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TRIZ + TOC">
            <a:extLst>
              <a:ext uri="{FF2B5EF4-FFF2-40B4-BE49-F238E27FC236}">
                <a16:creationId xmlns:a16="http://schemas.microsoft.com/office/drawing/2014/main" id="{9D69134C-9B54-37EE-DC36-D5F960ECA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226" y="255639"/>
            <a:ext cx="9989574" cy="6253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77931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RIZ">
            <a:extLst>
              <a:ext uri="{FF2B5EF4-FFF2-40B4-BE49-F238E27FC236}">
                <a16:creationId xmlns:a16="http://schemas.microsoft.com/office/drawing/2014/main" id="{39A33890-0B4F-90A5-B475-96DB479F42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755" y="363794"/>
            <a:ext cx="10785987" cy="6223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4993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E8F050-EE06-3603-C1CF-B21CD4D553B6}"/>
              </a:ext>
            </a:extLst>
          </p:cNvPr>
          <p:cNvSpPr txBox="1"/>
          <p:nvPr/>
        </p:nvSpPr>
        <p:spPr>
          <a:xfrm>
            <a:off x="1386348" y="367702"/>
            <a:ext cx="9360310" cy="428451"/>
          </a:xfrm>
          <a:prstGeom prst="rect">
            <a:avLst/>
          </a:prstGeom>
          <a:noFill/>
        </p:spPr>
        <p:txBody>
          <a:bodyPr wrap="square">
            <a:spAutoFit/>
          </a:bodyPr>
          <a:lstStyle/>
          <a:p>
            <a:pPr marL="209550" marR="234315" algn="ctr">
              <a:lnSpc>
                <a:spcPct val="91000"/>
              </a:lnSpc>
              <a:spcBef>
                <a:spcPts val="705"/>
              </a:spcBef>
            </a:pPr>
            <a:r>
              <a:rPr lang="en-US" sz="2400" b="1"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Principles for Innovation: </a:t>
            </a:r>
            <a:r>
              <a:rPr lang="en-US" sz="2400" b="1"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40</a:t>
            </a:r>
            <a:r>
              <a:rPr lang="en-US" sz="2400" b="1" kern="0" spc="-19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2400" b="1"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Ways</a:t>
            </a:r>
            <a:r>
              <a:rPr lang="en-US" sz="2400" b="1" kern="0" spc="-18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2400" b="1"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to</a:t>
            </a:r>
            <a:r>
              <a:rPr lang="en-US" sz="2400" b="1" kern="0" spc="-18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n-US" sz="2400" b="1"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Create</a:t>
            </a:r>
            <a:r>
              <a:rPr lang="en-IN" sz="2400" b="1" kern="0" spc="-40" dirty="0">
                <a:latin typeface="Times New Roman" panose="02020603050405020304" pitchFamily="18" charset="0"/>
                <a:ea typeface="Trebuchet MS" panose="020B0603020202020204" pitchFamily="34" charset="0"/>
                <a:cs typeface="Times New Roman" panose="02020603050405020304" pitchFamily="18" charset="0"/>
              </a:rPr>
              <a:t> </a:t>
            </a:r>
            <a:r>
              <a:rPr lang="en-US" sz="2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Good</a:t>
            </a:r>
            <a:r>
              <a:rPr lang="en-US" sz="2400" b="1"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Solutions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F5556E3-069C-7297-7D45-BAC94AF51261}"/>
              </a:ext>
            </a:extLst>
          </p:cNvPr>
          <p:cNvSpPr txBox="1"/>
          <p:nvPr/>
        </p:nvSpPr>
        <p:spPr>
          <a:xfrm>
            <a:off x="424898" y="1247218"/>
            <a:ext cx="11342204" cy="1292662"/>
          </a:xfrm>
          <a:prstGeom prst="rect">
            <a:avLst/>
          </a:prstGeom>
          <a:noFill/>
        </p:spPr>
        <p:txBody>
          <a:bodyPr wrap="square">
            <a:spAutoFit/>
          </a:bodyPr>
          <a:lstStyle/>
          <a:p>
            <a:pPr algn="just"/>
            <a:r>
              <a:rPr lang="en-US" sz="2000" dirty="0">
                <a:solidFill>
                  <a:srgbClr val="231F20"/>
                </a:solidFill>
                <a:latin typeface="Times New Roman" panose="02020603050405020304" pitchFamily="18" charset="0"/>
                <a:ea typeface="Times New Roman" panose="02020603050405020304" pitchFamily="18" charset="0"/>
              </a:rPr>
              <a:t>U</a:t>
            </a:r>
            <a:r>
              <a:rPr lang="en-US" sz="2000" dirty="0">
                <a:solidFill>
                  <a:srgbClr val="231F20"/>
                </a:solidFill>
                <a:effectLst/>
                <a:latin typeface="Times New Roman" panose="02020603050405020304" pitchFamily="18" charset="0"/>
                <a:ea typeface="Times New Roman" panose="02020603050405020304" pitchFamily="18" charset="0"/>
              </a:rPr>
              <a:t>nderstanding</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common</a:t>
            </a:r>
            <a:r>
              <a:rPr lang="en-US" sz="2000" spc="-2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features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good</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solutions</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is</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crucial</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to</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enhancement</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creativity. One</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obvious</a:t>
            </a:r>
            <a:r>
              <a:rPr lang="en-US" sz="2000" spc="-3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conclusion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to</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simply</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make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list</a:t>
            </a:r>
            <a:r>
              <a:rPr lang="en-US" sz="2000" spc="-4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of</a:t>
            </a:r>
            <a:r>
              <a:rPr lang="en-US" sz="2000" spc="-4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the</a:t>
            </a:r>
            <a:r>
              <a:rPr lang="en-US" sz="2000" spc="-4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most</a:t>
            </a:r>
            <a:r>
              <a:rPr lang="en-US" sz="2000" spc="-4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important</a:t>
            </a:r>
            <a:r>
              <a:rPr lang="en-US" sz="2000" spc="-4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features</a:t>
            </a:r>
            <a:r>
              <a:rPr lang="en-US" sz="2000" spc="-4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use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list</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for </a:t>
            </a:r>
            <a:r>
              <a:rPr lang="en-US" sz="2000" dirty="0">
                <a:solidFill>
                  <a:srgbClr val="231F20"/>
                </a:solidFill>
                <a:effectLst/>
                <a:latin typeface="Times New Roman" panose="02020603050405020304" pitchFamily="18" charset="0"/>
                <a:ea typeface="Times New Roman" panose="02020603050405020304" pitchFamily="18" charset="0"/>
              </a:rPr>
              <a:t>generating bright ideas and successful products.</a:t>
            </a:r>
            <a:endParaRPr lang="en-IN" sz="2000" dirty="0">
              <a:effectLst/>
              <a:latin typeface="Times New Roman" panose="02020603050405020304" pitchFamily="18" charset="0"/>
              <a:ea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528FBFEF-7928-89B2-936F-769E5854DD3F}"/>
              </a:ext>
            </a:extLst>
          </p:cNvPr>
          <p:cNvSpPr txBox="1"/>
          <p:nvPr/>
        </p:nvSpPr>
        <p:spPr>
          <a:xfrm>
            <a:off x="493724" y="2767280"/>
            <a:ext cx="11342204" cy="1323439"/>
          </a:xfrm>
          <a:prstGeom prst="rect">
            <a:avLst/>
          </a:prstGeom>
          <a:noFill/>
        </p:spPr>
        <p:txBody>
          <a:bodyPr wrap="square">
            <a:spAutoFit/>
          </a:bodyPr>
          <a:lstStyle/>
          <a:p>
            <a:pPr algn="just"/>
            <a:r>
              <a:rPr lang="en-US" sz="2000" spc="-10" dirty="0">
                <a:solidFill>
                  <a:srgbClr val="FF0000"/>
                </a:solidFill>
                <a:effectLst/>
                <a:latin typeface="Times New Roman" panose="02020603050405020304" pitchFamily="18" charset="0"/>
                <a:ea typeface="Times New Roman" panose="02020603050405020304" pitchFamily="18" charset="0"/>
              </a:rPr>
              <a:t>Good</a:t>
            </a:r>
            <a:r>
              <a:rPr lang="en-US" sz="2000" spc="-6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generic</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solutions</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across</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industries</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have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been</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studied</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as</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part</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development</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TRIZ.</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err="1">
                <a:solidFill>
                  <a:srgbClr val="231F20"/>
                </a:solidFill>
                <a:effectLst/>
                <a:latin typeface="Times New Roman" panose="02020603050405020304" pitchFamily="18" charset="0"/>
                <a:ea typeface="Times New Roman" panose="02020603050405020304" pitchFamily="18" charset="0"/>
              </a:rPr>
              <a:t>Altshuller</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his</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researchers</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collected</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examples</a:t>
            </a:r>
            <a:r>
              <a:rPr lang="en-US" sz="2000" spc="-6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repeated</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use </a:t>
            </a:r>
            <a:r>
              <a:rPr lang="en-US" sz="2000" dirty="0">
                <a:solidFill>
                  <a:srgbClr val="FF0000"/>
                </a:solidFill>
                <a:effectLst/>
                <a:latin typeface="Times New Roman" panose="02020603050405020304" pitchFamily="18" charset="0"/>
                <a:ea typeface="Times New Roman" panose="02020603050405020304" pitchFamily="18" charset="0"/>
              </a:rPr>
              <a:t>of</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the</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same</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solutions</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from</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patent</a:t>
            </a:r>
            <a:r>
              <a:rPr lang="en-US" sz="2000" spc="-5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information</a:t>
            </a:r>
            <a:r>
              <a:rPr lang="en-US" sz="2000" dirty="0">
                <a:solidFill>
                  <a:srgbClr val="231F20"/>
                </a:solidFill>
                <a:effectLst/>
                <a:latin typeface="Times New Roman" panose="02020603050405020304" pitchFamily="18" charset="0"/>
                <a:ea typeface="Times New Roman" panose="02020603050405020304" pitchFamily="18" charset="0"/>
              </a:rPr>
              <a:t>.</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After</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painstaking</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work,</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55"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information</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on</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tens</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thousands</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of</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good</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solutions</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was</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boiled</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down</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40</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principles in the early 1970s.</a:t>
            </a:r>
            <a:endParaRPr lang="en-IN" sz="2000" dirty="0"/>
          </a:p>
        </p:txBody>
      </p:sp>
      <p:sp>
        <p:nvSpPr>
          <p:cNvPr id="9" name="TextBox 8">
            <a:extLst>
              <a:ext uri="{FF2B5EF4-FFF2-40B4-BE49-F238E27FC236}">
                <a16:creationId xmlns:a16="http://schemas.microsoft.com/office/drawing/2014/main" id="{92773C83-0E28-F3CB-748C-6271BD0A4A95}"/>
              </a:ext>
            </a:extLst>
          </p:cNvPr>
          <p:cNvSpPr txBox="1"/>
          <p:nvPr/>
        </p:nvSpPr>
        <p:spPr>
          <a:xfrm>
            <a:off x="280780" y="4641225"/>
            <a:ext cx="11630439" cy="1058047"/>
          </a:xfrm>
          <a:prstGeom prst="rect">
            <a:avLst/>
          </a:prstGeom>
          <a:noFill/>
        </p:spPr>
        <p:txBody>
          <a:bodyPr wrap="square">
            <a:spAutoFit/>
          </a:bodyPr>
          <a:lstStyle/>
          <a:p>
            <a:pPr marL="209550" marR="233680" indent="190500" algn="just">
              <a:lnSpc>
                <a:spcPct val="107000"/>
              </a:lnSpc>
              <a:spcAft>
                <a:spcPts val="0"/>
              </a:spcAft>
            </a:pP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7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efficiency</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of</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the</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40</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principles</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increases</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when</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they</a:t>
            </a:r>
            <a:r>
              <a:rPr lang="en-US" sz="2000" spc="-70"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are</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used</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together</a:t>
            </a:r>
            <a:r>
              <a:rPr lang="en-US" sz="2000" spc="-65" dirty="0">
                <a:solidFill>
                  <a:srgbClr val="FF0000"/>
                </a:solidFill>
                <a:effectLst/>
                <a:latin typeface="Times New Roman" panose="02020603050405020304" pitchFamily="18" charset="0"/>
                <a:ea typeface="Times New Roman" panose="02020603050405020304" pitchFamily="18" charset="0"/>
              </a:rPr>
              <a:t> </a:t>
            </a:r>
            <a:r>
              <a:rPr lang="en-US" sz="2000" dirty="0">
                <a:solidFill>
                  <a:srgbClr val="FF0000"/>
                </a:solidFill>
                <a:effectLst/>
                <a:latin typeface="Times New Roman" panose="02020603050405020304" pitchFamily="18" charset="0"/>
                <a:ea typeface="Times New Roman" panose="02020603050405020304" pitchFamily="18" charset="0"/>
              </a:rPr>
              <a:t>with </a:t>
            </a:r>
            <a:r>
              <a:rPr lang="en-US" sz="2000" spc="-10" dirty="0">
                <a:solidFill>
                  <a:srgbClr val="FF0000"/>
                </a:solidFill>
                <a:effectLst/>
                <a:latin typeface="Times New Roman" panose="02020603050405020304" pitchFamily="18" charset="0"/>
                <a:ea typeface="Times New Roman" panose="02020603050405020304" pitchFamily="18" charset="0"/>
              </a:rPr>
              <a:t>other</a:t>
            </a:r>
            <a:r>
              <a:rPr lang="en-US" sz="2000" spc="-40" dirty="0">
                <a:solidFill>
                  <a:srgbClr val="FF0000"/>
                </a:solidFill>
                <a:effectLst/>
                <a:latin typeface="Times New Roman" panose="02020603050405020304" pitchFamily="18" charset="0"/>
                <a:ea typeface="Times New Roman" panose="02020603050405020304" pitchFamily="18" charset="0"/>
              </a:rPr>
              <a:t> </a:t>
            </a:r>
            <a:r>
              <a:rPr lang="en-US" sz="2000" spc="-10" dirty="0">
                <a:solidFill>
                  <a:srgbClr val="FF0000"/>
                </a:solidFill>
                <a:effectLst/>
                <a:latin typeface="Times New Roman" panose="02020603050405020304" pitchFamily="18" charset="0"/>
                <a:ea typeface="Times New Roman" panose="02020603050405020304" pitchFamily="18" charset="0"/>
              </a:rPr>
              <a:t>tools</a:t>
            </a:r>
            <a:r>
              <a:rPr lang="en-US" sz="2000" spc="-10" dirty="0">
                <a:solidFill>
                  <a:srgbClr val="231F20"/>
                </a:solidFill>
                <a:effectLst/>
                <a:latin typeface="Times New Roman" panose="02020603050405020304" pitchFamily="18" charset="0"/>
                <a:ea typeface="Times New Roman" panose="02020603050405020304" pitchFamily="18" charset="0"/>
              </a:rPr>
              <a:t>.</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Patterns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of</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evolution,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ideality,</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and</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contradiction</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analysis</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may</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give</a:t>
            </a:r>
            <a:r>
              <a:rPr lang="en-US" sz="2000" spc="-40" dirty="0">
                <a:solidFill>
                  <a:srgbClr val="231F20"/>
                </a:solidFill>
                <a:effectLst/>
                <a:latin typeface="Times New Roman" panose="02020603050405020304" pitchFamily="18" charset="0"/>
                <a:ea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rPr>
              <a:t>the </a:t>
            </a:r>
            <a:r>
              <a:rPr lang="en-US" sz="2000" spc="-20" dirty="0">
                <a:solidFill>
                  <a:srgbClr val="231F20"/>
                </a:solidFill>
                <a:effectLst/>
                <a:latin typeface="Times New Roman" panose="02020603050405020304" pitchFamily="18" charset="0"/>
                <a:ea typeface="Times New Roman" panose="02020603050405020304" pitchFamily="18" charset="0"/>
              </a:rPr>
              <a:t>same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solutions</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or</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may</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give</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different</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solutions</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from</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the</a:t>
            </a:r>
            <a:r>
              <a:rPr lang="en-US" sz="2000" spc="-50"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40</a:t>
            </a:r>
            <a:r>
              <a:rPr lang="en-US" sz="2000" spc="-45" dirty="0">
                <a:solidFill>
                  <a:srgbClr val="231F20"/>
                </a:solidFill>
                <a:effectLst/>
                <a:latin typeface="Times New Roman" panose="02020603050405020304" pitchFamily="18" charset="0"/>
                <a:ea typeface="Times New Roman" panose="02020603050405020304" pitchFamily="18" charset="0"/>
              </a:rPr>
              <a:t> </a:t>
            </a:r>
            <a:r>
              <a:rPr lang="en-US" sz="2000" spc="-20" dirty="0">
                <a:solidFill>
                  <a:srgbClr val="231F20"/>
                </a:solidFill>
                <a:effectLst/>
                <a:latin typeface="Times New Roman" panose="02020603050405020304" pitchFamily="18" charset="0"/>
                <a:ea typeface="Times New Roman" panose="02020603050405020304" pitchFamily="18" charset="0"/>
              </a:rPr>
              <a:t>principles considerable </a:t>
            </a:r>
            <a:r>
              <a:rPr lang="en-US" sz="2000" dirty="0">
                <a:solidFill>
                  <a:srgbClr val="231F20"/>
                </a:solidFill>
                <a:effectLst/>
                <a:latin typeface="Times New Roman" panose="02020603050405020304" pitchFamily="18" charset="0"/>
                <a:ea typeface="Times New Roman" panose="02020603050405020304" pitchFamily="18" charset="0"/>
              </a:rPr>
              <a:t>overlap</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is</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quite</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common.</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The</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tools</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strengthen</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and</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enrich</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each</a:t>
            </a:r>
            <a:r>
              <a:rPr lang="en-US" sz="2000" spc="-10" dirty="0">
                <a:solidFill>
                  <a:srgbClr val="231F20"/>
                </a:solidFill>
                <a:effectLst/>
                <a:latin typeface="Times New Roman" panose="02020603050405020304" pitchFamily="18" charset="0"/>
                <a:ea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rPr>
              <a:t>other.</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21301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PT - WHAT IS “TRIZ” ? PowerPoint Presentation, free download - ID:1746828">
            <a:extLst>
              <a:ext uri="{FF2B5EF4-FFF2-40B4-BE49-F238E27FC236}">
                <a16:creationId xmlns:a16="http://schemas.microsoft.com/office/drawing/2014/main" id="{4102DD69-BFB0-3254-F681-09AB1547E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206" y="471948"/>
            <a:ext cx="9724104" cy="5476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248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0E98BB-A573-D6B5-7363-A3434CD849BF}"/>
              </a:ext>
            </a:extLst>
          </p:cNvPr>
          <p:cNvSpPr txBox="1"/>
          <p:nvPr/>
        </p:nvSpPr>
        <p:spPr>
          <a:xfrm>
            <a:off x="613742" y="471316"/>
            <a:ext cx="6097656" cy="369332"/>
          </a:xfrm>
          <a:prstGeom prst="rect">
            <a:avLst/>
          </a:prstGeom>
          <a:noFill/>
        </p:spPr>
        <p:txBody>
          <a:bodyPr wrap="square">
            <a:spAutoFit/>
          </a:bodyPr>
          <a:lstStyle/>
          <a:p>
            <a:pPr marL="742950" lvl="1" indent="-285750">
              <a:buClr>
                <a:srgbClr val="231F20"/>
              </a:buClr>
              <a:buSzPts val="1400"/>
              <a:buFont typeface="Trebuchet MS" panose="020B0603020202020204" pitchFamily="34" charset="0"/>
              <a:buAutoNum type="arabicPeriod"/>
              <a:tabLst>
                <a:tab pos="742950" algn="l"/>
              </a:tabLst>
            </a:pPr>
            <a:r>
              <a:rPr lang="en-US" sz="1800" b="1" spc="-95" dirty="0">
                <a:solidFill>
                  <a:srgbClr val="231F20"/>
                </a:solidFill>
                <a:effectLst/>
                <a:latin typeface="Trebuchet MS" panose="020B0603020202020204" pitchFamily="34" charset="0"/>
                <a:ea typeface="Trebuchet MS" panose="020B0603020202020204" pitchFamily="34" charset="0"/>
                <a:cs typeface="Trebuchet MS" panose="020B0603020202020204" pitchFamily="34" charset="0"/>
              </a:rPr>
              <a:t>Segmentation</a:t>
            </a:r>
            <a:endParaRPr lang="en-IN" sz="1800" b="1" spc="-95" dirty="0">
              <a:effectLst/>
              <a:latin typeface="Trebuchet MS" panose="020B0603020202020204" pitchFamily="34" charset="0"/>
              <a:ea typeface="Trebuchet MS" panose="020B0603020202020204" pitchFamily="34" charset="0"/>
              <a:cs typeface="Trebuchet MS" panose="020B0603020202020204" pitchFamily="34" charset="0"/>
            </a:endParaRPr>
          </a:p>
        </p:txBody>
      </p:sp>
      <p:sp>
        <p:nvSpPr>
          <p:cNvPr id="5" name="TextBox 4">
            <a:extLst>
              <a:ext uri="{FF2B5EF4-FFF2-40B4-BE49-F238E27FC236}">
                <a16:creationId xmlns:a16="http://schemas.microsoft.com/office/drawing/2014/main" id="{AC3CD233-F74A-B01B-0DC0-EFFCF905B920}"/>
              </a:ext>
            </a:extLst>
          </p:cNvPr>
          <p:cNvSpPr txBox="1"/>
          <p:nvPr/>
        </p:nvSpPr>
        <p:spPr>
          <a:xfrm>
            <a:off x="534228" y="1397602"/>
            <a:ext cx="6097656" cy="1200329"/>
          </a:xfrm>
          <a:prstGeom prst="rect">
            <a:avLst/>
          </a:prstGeom>
          <a:noFill/>
        </p:spPr>
        <p:txBody>
          <a:bodyPr wrap="square">
            <a:spAutoFit/>
          </a:bodyPr>
          <a:lstStyle/>
          <a:p>
            <a:pPr algn="just"/>
            <a:r>
              <a:rPr lang="en-US" sz="1800" b="1" i="1" spc="-20" dirty="0">
                <a:solidFill>
                  <a:srgbClr val="231F20"/>
                </a:solidFill>
                <a:effectLst/>
                <a:latin typeface="Times New Roman" panose="02020603050405020304" pitchFamily="18" charset="0"/>
                <a:ea typeface="Times New Roman" panose="02020603050405020304" pitchFamily="18" charset="0"/>
              </a:rPr>
              <a:t>Segmentation. </a:t>
            </a:r>
            <a:r>
              <a:rPr lang="en-US" sz="1800" spc="-20" dirty="0">
                <a:solidFill>
                  <a:srgbClr val="231F20"/>
                </a:solidFill>
                <a:effectLst/>
                <a:latin typeface="Times New Roman" panose="02020603050405020304" pitchFamily="18" charset="0"/>
                <a:ea typeface="Times New Roman" panose="02020603050405020304" pitchFamily="18" charset="0"/>
              </a:rPr>
              <a:t>Fragmentation. </a:t>
            </a:r>
            <a:r>
              <a:rPr lang="en-US" sz="1800" spc="-20" dirty="0">
                <a:solidFill>
                  <a:srgbClr val="FF0000"/>
                </a:solidFill>
                <a:effectLst/>
                <a:latin typeface="Times New Roman" panose="02020603050405020304" pitchFamily="18" charset="0"/>
                <a:ea typeface="Times New Roman" panose="02020603050405020304" pitchFamily="18" charset="0"/>
              </a:rPr>
              <a:t>Transition to microlevel</a:t>
            </a:r>
            <a:r>
              <a:rPr lang="en-US" sz="1800" spc="-20" dirty="0">
                <a:solidFill>
                  <a:srgbClr val="231F20"/>
                </a:solidFill>
                <a:effectLst/>
                <a:latin typeface="Times New Roman" panose="02020603050405020304" pitchFamily="18" charset="0"/>
                <a:ea typeface="Times New Roman" panose="02020603050405020304" pitchFamily="18" charset="0"/>
              </a:rPr>
              <a:t>.</a:t>
            </a:r>
            <a:endParaRPr lang="en-US" spc="-20" dirty="0">
              <a:solidFill>
                <a:srgbClr val="231F20"/>
              </a:solidFill>
              <a:latin typeface="Times New Roman" panose="02020603050405020304" pitchFamily="18" charset="0"/>
              <a:ea typeface="Times New Roman" panose="02020603050405020304" pitchFamily="18" charset="0"/>
            </a:endParaRPr>
          </a:p>
          <a:p>
            <a:pPr algn="just"/>
            <a:r>
              <a:rPr lang="en-US" sz="1800" spc="-20" dirty="0">
                <a:solidFill>
                  <a:srgbClr val="231F20"/>
                </a:solidFill>
                <a:effectLst/>
                <a:latin typeface="Times New Roman" panose="02020603050405020304" pitchFamily="18" charset="0"/>
                <a:ea typeface="Times New Roman" panose="02020603050405020304" pitchFamily="18" charset="0"/>
              </a:rPr>
              <a:t>	 Divide an object or system </a:t>
            </a:r>
            <a:r>
              <a:rPr lang="en-US" sz="1800" spc="-10" dirty="0">
                <a:solidFill>
                  <a:srgbClr val="231F20"/>
                </a:solidFill>
                <a:effectLst/>
                <a:latin typeface="Times New Roman" panose="02020603050405020304" pitchFamily="18" charset="0"/>
                <a:ea typeface="Times New Roman" panose="02020603050405020304" pitchFamily="18" charset="0"/>
              </a:rPr>
              <a:t>into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independent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parts.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Make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easy</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disassemble.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Increase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degree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 </a:t>
            </a:r>
            <a:r>
              <a:rPr lang="en-US" sz="1800" dirty="0">
                <a:solidFill>
                  <a:srgbClr val="231F20"/>
                </a:solidFill>
                <a:effectLst/>
                <a:latin typeface="Times New Roman" panose="02020603050405020304" pitchFamily="18" charset="0"/>
                <a:ea typeface="Times New Roman" panose="02020603050405020304" pitchFamily="18" charset="0"/>
              </a:rPr>
              <a:t>fragmentation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segmentation</a:t>
            </a:r>
            <a:endParaRPr lang="en-IN" dirty="0"/>
          </a:p>
        </p:txBody>
      </p:sp>
      <p:sp>
        <p:nvSpPr>
          <p:cNvPr id="7" name="TextBox 6">
            <a:extLst>
              <a:ext uri="{FF2B5EF4-FFF2-40B4-BE49-F238E27FC236}">
                <a16:creationId xmlns:a16="http://schemas.microsoft.com/office/drawing/2014/main" id="{45220F6C-89EF-8F35-84B2-4CF992978C51}"/>
              </a:ext>
            </a:extLst>
          </p:cNvPr>
          <p:cNvSpPr txBox="1"/>
          <p:nvPr/>
        </p:nvSpPr>
        <p:spPr>
          <a:xfrm>
            <a:off x="534228" y="2916992"/>
            <a:ext cx="6097656" cy="646331"/>
          </a:xfrm>
          <a:prstGeom prst="rect">
            <a:avLst/>
          </a:prstGeom>
          <a:noFill/>
        </p:spPr>
        <p:txBody>
          <a:bodyPr wrap="square">
            <a:spAutoFit/>
          </a:bodyPr>
          <a:lstStyle/>
          <a:p>
            <a:r>
              <a:rPr lang="en-US" sz="1800" spc="-20" dirty="0">
                <a:solidFill>
                  <a:srgbClr val="231F20"/>
                </a:solidFill>
                <a:effectLst/>
                <a:latin typeface="Times New Roman" panose="02020603050405020304" pitchFamily="18" charset="0"/>
                <a:ea typeface="Times New Roman" panose="02020603050405020304" pitchFamily="18" charset="0"/>
              </a:rPr>
              <a:t>It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helps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“combine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the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incom</a:t>
            </a:r>
            <a:r>
              <a:rPr lang="en-US" sz="1800" dirty="0">
                <a:solidFill>
                  <a:srgbClr val="FF0000"/>
                </a:solidFill>
                <a:effectLst/>
                <a:latin typeface="Times New Roman" panose="02020603050405020304" pitchFamily="18" charset="0"/>
                <a:ea typeface="Times New Roman" panose="02020603050405020304" pitchFamily="18" charset="0"/>
              </a:rPr>
              <a:t>patible</a:t>
            </a:r>
            <a:r>
              <a:rPr lang="en-US" sz="1800" dirty="0">
                <a:solidFill>
                  <a:srgbClr val="231F20"/>
                </a:solidFill>
                <a:effectLst/>
                <a:latin typeface="Times New Roman" panose="02020603050405020304" pitchFamily="18" charset="0"/>
                <a:ea typeface="Times New Roman" panose="02020603050405020304" pitchFamily="18" charset="0"/>
              </a:rPr>
              <a:t>” and meet contradictory requirements in many different problems</a:t>
            </a:r>
            <a:endParaRPr lang="en-IN" dirty="0"/>
          </a:p>
        </p:txBody>
      </p:sp>
      <p:grpSp>
        <p:nvGrpSpPr>
          <p:cNvPr id="8" name="Group 7">
            <a:extLst>
              <a:ext uri="{FF2B5EF4-FFF2-40B4-BE49-F238E27FC236}">
                <a16:creationId xmlns:a16="http://schemas.microsoft.com/office/drawing/2014/main" id="{F0A62300-03B7-1D88-1A99-D629E97F2D1F}"/>
              </a:ext>
            </a:extLst>
          </p:cNvPr>
          <p:cNvGrpSpPr>
            <a:grpSpLocks/>
          </p:cNvGrpSpPr>
          <p:nvPr/>
        </p:nvGrpSpPr>
        <p:grpSpPr>
          <a:xfrm>
            <a:off x="6814930" y="1248066"/>
            <a:ext cx="4267200" cy="1499400"/>
            <a:chOff x="0" y="0"/>
            <a:chExt cx="4267200" cy="1499400"/>
          </a:xfrm>
        </p:grpSpPr>
        <p:pic>
          <p:nvPicPr>
            <p:cNvPr id="9" name="Image 450">
              <a:extLst>
                <a:ext uri="{FF2B5EF4-FFF2-40B4-BE49-F238E27FC236}">
                  <a16:creationId xmlns:a16="http://schemas.microsoft.com/office/drawing/2014/main" id="{C857CEB1-3AFF-67BE-8109-F899BC9D3B9F}"/>
                </a:ext>
              </a:extLst>
            </p:cNvPr>
            <p:cNvPicPr/>
            <p:nvPr/>
          </p:nvPicPr>
          <p:blipFill>
            <a:blip r:embed="rId2" cstate="print"/>
            <a:stretch>
              <a:fillRect/>
            </a:stretch>
          </p:blipFill>
          <p:spPr>
            <a:xfrm>
              <a:off x="609600" y="0"/>
              <a:ext cx="3048000" cy="1447800"/>
            </a:xfrm>
            <a:prstGeom prst="rect">
              <a:avLst/>
            </a:prstGeom>
          </p:spPr>
        </p:pic>
        <p:sp>
          <p:nvSpPr>
            <p:cNvPr id="10" name="Graphic 451">
              <a:extLst>
                <a:ext uri="{FF2B5EF4-FFF2-40B4-BE49-F238E27FC236}">
                  <a16:creationId xmlns:a16="http://schemas.microsoft.com/office/drawing/2014/main" id="{4CADDDBA-78A5-9C91-7B30-C64A37ED086F}"/>
                </a:ext>
              </a:extLst>
            </p:cNvPr>
            <p:cNvSpPr/>
            <p:nvPr/>
          </p:nvSpPr>
          <p:spPr>
            <a:xfrm>
              <a:off x="0" y="1498130"/>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2" name="TextBox 11">
            <a:extLst>
              <a:ext uri="{FF2B5EF4-FFF2-40B4-BE49-F238E27FC236}">
                <a16:creationId xmlns:a16="http://schemas.microsoft.com/office/drawing/2014/main" id="{9B4877AC-B5DA-FD38-957B-8BADABDC49C2}"/>
              </a:ext>
            </a:extLst>
          </p:cNvPr>
          <p:cNvSpPr txBox="1"/>
          <p:nvPr/>
        </p:nvSpPr>
        <p:spPr>
          <a:xfrm>
            <a:off x="6631884" y="2801663"/>
            <a:ext cx="4949687" cy="307777"/>
          </a:xfrm>
          <a:prstGeom prst="rect">
            <a:avLst/>
          </a:prstGeom>
          <a:noFill/>
        </p:spPr>
        <p:txBody>
          <a:bodyPr wrap="square">
            <a:spAutoFit/>
          </a:bodyPr>
          <a:lstStyle/>
          <a:p>
            <a:pPr algn="ct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Principle</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1:</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Segmentation.</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Divide</a:t>
            </a:r>
            <a:r>
              <a:rPr lang="en-US" sz="1400" b="1" spc="-4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system</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into</a:t>
            </a:r>
            <a:r>
              <a:rPr lang="en-US" sz="1400" b="1" spc="-4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parts.</a:t>
            </a:r>
            <a:endParaRPr lang="en-IN" sz="1400" dirty="0"/>
          </a:p>
        </p:txBody>
      </p:sp>
      <p:sp>
        <p:nvSpPr>
          <p:cNvPr id="14" name="TextBox 13">
            <a:extLst>
              <a:ext uri="{FF2B5EF4-FFF2-40B4-BE49-F238E27FC236}">
                <a16:creationId xmlns:a16="http://schemas.microsoft.com/office/drawing/2014/main" id="{7BEABD31-49A2-50EB-7329-ED11AFC26648}"/>
              </a:ext>
            </a:extLst>
          </p:cNvPr>
          <p:cNvSpPr txBox="1"/>
          <p:nvPr/>
        </p:nvSpPr>
        <p:spPr>
          <a:xfrm>
            <a:off x="5567570" y="3596895"/>
            <a:ext cx="6097656" cy="1111586"/>
          </a:xfrm>
          <a:prstGeom prst="rect">
            <a:avLst/>
          </a:prstGeom>
          <a:noFill/>
        </p:spPr>
        <p:txBody>
          <a:bodyPr wrap="square">
            <a:spAutoFit/>
          </a:bodyPr>
          <a:lstStyle/>
          <a:p>
            <a:pPr marL="1600200" marR="233680" lvl="3" indent="-228600" algn="just">
              <a:lnSpc>
                <a:spcPct val="92000"/>
              </a:lnSpc>
              <a:buClr>
                <a:srgbClr val="231F20"/>
              </a:buClr>
              <a:buSzPts val="1050"/>
              <a:buFont typeface="Lucida Sans Unicode" panose="020B0602030504020204" pitchFamily="34" charset="0"/>
              <a:buChar char="■"/>
              <a:tabLst>
                <a:tab pos="514350" algn="l"/>
              </a:tabLst>
            </a:pPr>
            <a:r>
              <a:rPr lang="en-US" sz="1800" spc="0" dirty="0">
                <a:solidFill>
                  <a:srgbClr val="231F20"/>
                </a:solidFill>
                <a:effectLst/>
                <a:latin typeface="Times New Roman" panose="02020603050405020304" pitchFamily="18" charset="0"/>
                <a:ea typeface="Lucida Sans Unicode" panose="020B0602030504020204" pitchFamily="34" charset="0"/>
              </a:rPr>
              <a:t>Segmentation</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is</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good</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and</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often</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accessible</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way</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to</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use</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resources.</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The</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system</a:t>
            </a:r>
            <a:r>
              <a:rPr lang="en-US" sz="1800" spc="-1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can </a:t>
            </a:r>
            <a:r>
              <a:rPr lang="en-US" sz="1800" spc="-30" dirty="0">
                <a:solidFill>
                  <a:srgbClr val="231F20"/>
                </a:solidFill>
                <a:effectLst/>
                <a:latin typeface="Times New Roman" panose="02020603050405020304" pitchFamily="18" charset="0"/>
                <a:ea typeface="Lucida Sans Unicode" panose="020B0602030504020204" pitchFamily="34" charset="0"/>
              </a:rPr>
              <a:t>be divided into smaller parts. New components and substances are not needed.</a:t>
            </a:r>
            <a:endParaRPr lang="en-IN" sz="2000" spc="0" dirty="0">
              <a:effectLst/>
              <a:latin typeface="Times New Roman" panose="02020603050405020304" pitchFamily="18" charset="0"/>
              <a:ea typeface="Lucida Sans Unicode" panose="020B0602030504020204" pitchFamily="34" charset="0"/>
            </a:endParaRPr>
          </a:p>
        </p:txBody>
      </p:sp>
      <p:sp>
        <p:nvSpPr>
          <p:cNvPr id="11" name="TextBox 10">
            <a:extLst>
              <a:ext uri="{FF2B5EF4-FFF2-40B4-BE49-F238E27FC236}">
                <a16:creationId xmlns:a16="http://schemas.microsoft.com/office/drawing/2014/main" id="{0ECD4300-262F-5A3D-3719-18E12E952BD5}"/>
              </a:ext>
            </a:extLst>
          </p:cNvPr>
          <p:cNvSpPr txBox="1"/>
          <p:nvPr/>
        </p:nvSpPr>
        <p:spPr>
          <a:xfrm>
            <a:off x="-72060" y="3882384"/>
            <a:ext cx="6631885" cy="2031325"/>
          </a:xfrm>
          <a:prstGeom prst="rect">
            <a:avLst/>
          </a:prstGeom>
          <a:noFill/>
        </p:spPr>
        <p:txBody>
          <a:bodyPr wrap="square">
            <a:spAutoFit/>
          </a:bodyPr>
          <a:lstStyle/>
          <a:p>
            <a:pPr marL="1600200" marR="233045" lvl="3" indent="-228600" algn="just">
              <a:spcBef>
                <a:spcPts val="1205"/>
              </a:spcBef>
              <a:spcAft>
                <a:spcPts val="0"/>
              </a:spcAft>
              <a:buClr>
                <a:srgbClr val="231F20"/>
              </a:buClr>
              <a:buSzPts val="1050"/>
              <a:buFont typeface="Lucida Sans Unicode" panose="020B0602030504020204" pitchFamily="34" charset="0"/>
              <a:buChar char="■"/>
              <a:tabLst>
                <a:tab pos="514350" algn="l"/>
              </a:tabLst>
            </a:pPr>
            <a:r>
              <a:rPr lang="en-US" sz="1800" spc="0" dirty="0">
                <a:solidFill>
                  <a:srgbClr val="231F20"/>
                </a:solidFill>
                <a:effectLst/>
                <a:latin typeface="Times New Roman" panose="02020603050405020304" pitchFamily="18" charset="0"/>
                <a:ea typeface="Lucida Sans Unicode" panose="020B0602030504020204" pitchFamily="34" charset="0"/>
              </a:rPr>
              <a:t>More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effective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firefighting</a:t>
            </a:r>
            <a:r>
              <a:rPr lang="en-US" sz="1800" spc="-7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(good) </a:t>
            </a:r>
            <a:r>
              <a:rPr lang="en-US" sz="1800" spc="-10" dirty="0">
                <a:solidFill>
                  <a:srgbClr val="231F20"/>
                </a:solidFill>
                <a:effectLst/>
                <a:latin typeface="Times New Roman" panose="02020603050405020304" pitchFamily="18" charset="0"/>
                <a:ea typeface="Lucida Sans Unicode" panose="020B0602030504020204" pitchFamily="34" charset="0"/>
              </a:rPr>
              <a:t>requires</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more</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water</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and</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causes</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water</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damage</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(bad).</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Water</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is</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necessary</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and,</a:t>
            </a:r>
            <a:r>
              <a:rPr lang="en-US" sz="1800" dirty="0">
                <a:solidFill>
                  <a:srgbClr val="231F20"/>
                </a:solidFill>
                <a:effectLst/>
                <a:latin typeface="Times New Roman" panose="02020603050405020304" pitchFamily="18" charset="0"/>
                <a:ea typeface="Times New Roman" panose="02020603050405020304" pitchFamily="18" charset="0"/>
              </a:rPr>
              <a:t> at the same time, there should be no water. Let us segment water to small </a:t>
            </a:r>
            <a:r>
              <a:rPr lang="en-US" sz="1800" spc="-10" dirty="0">
                <a:solidFill>
                  <a:srgbClr val="231F20"/>
                </a:solidFill>
                <a:effectLst/>
                <a:latin typeface="Times New Roman" panose="02020603050405020304" pitchFamily="18" charset="0"/>
                <a:ea typeface="Times New Roman" panose="02020603050405020304" pitchFamily="18" charset="0"/>
              </a:rPr>
              <a:t>droplets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increase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degree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fragmentation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mist.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Mist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sup</a:t>
            </a:r>
            <a:r>
              <a:rPr lang="en-US" sz="1800" spc="-30" dirty="0">
                <a:solidFill>
                  <a:srgbClr val="231F20"/>
                </a:solidFill>
                <a:effectLst/>
                <a:latin typeface="Times New Roman" panose="02020603050405020304" pitchFamily="18" charset="0"/>
                <a:ea typeface="Times New Roman" panose="02020603050405020304" pitchFamily="18" charset="0"/>
              </a:rPr>
              <a:t>press fire effectively, using a very small amount of water.</a:t>
            </a:r>
            <a:endParaRPr lang="en-IN" sz="2000" spc="0" dirty="0">
              <a:effectLst/>
              <a:latin typeface="Times New Roman" panose="02020603050405020304" pitchFamily="18" charset="0"/>
              <a:ea typeface="Lucida Sans Unicode" panose="020B0602030504020204" pitchFamily="34" charset="0"/>
            </a:endParaRPr>
          </a:p>
        </p:txBody>
      </p:sp>
    </p:spTree>
    <p:extLst>
      <p:ext uri="{BB962C8B-B14F-4D97-AF65-F5344CB8AC3E}">
        <p14:creationId xmlns:p14="http://schemas.microsoft.com/office/powerpoint/2010/main" val="1542146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FAA90C-D748-9E67-8B9D-D5DE32B7E207}"/>
              </a:ext>
            </a:extLst>
          </p:cNvPr>
          <p:cNvSpPr txBox="1"/>
          <p:nvPr/>
        </p:nvSpPr>
        <p:spPr>
          <a:xfrm>
            <a:off x="947531" y="548022"/>
            <a:ext cx="4787348" cy="5632311"/>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segmentation principle has many applications in business. The segmentation of the market is a common practice and a commonly used term. Most big corporations have segmented themselves into business units or profit.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a:t>
            </a:r>
            <a:r>
              <a:rPr lang="en-US" sz="2000" dirty="0">
                <a:solidFill>
                  <a:srgbClr val="FF0000"/>
                </a:solidFill>
                <a:latin typeface="Times New Roman" panose="02020603050405020304" pitchFamily="18" charset="0"/>
                <a:cs typeface="Times New Roman" panose="02020603050405020304" pitchFamily="18" charset="0"/>
              </a:rPr>
              <a:t>corporation should be small to be flexible and big to have enough resources for production and marketing. </a:t>
            </a:r>
            <a:r>
              <a:rPr lang="en-US" sz="2000" dirty="0">
                <a:latin typeface="Times New Roman" panose="02020603050405020304" pitchFamily="18" charset="0"/>
                <a:cs typeface="Times New Roman" panose="02020603050405020304" pitchFamily="18" charset="0"/>
              </a:rPr>
              <a:t>To be small and big at the same time, a huge company is divided into subsidiaries, profit centers, or other units working relatively independently.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ABB and the Gore Corporation are exemplary they </a:t>
            </a:r>
            <a:r>
              <a:rPr lang="en-US" sz="2000" dirty="0">
                <a:solidFill>
                  <a:schemeClr val="accent1"/>
                </a:solidFill>
                <a:latin typeface="Times New Roman" panose="02020603050405020304" pitchFamily="18" charset="0"/>
                <a:cs typeface="Times New Roman" panose="02020603050405020304" pitchFamily="18" charset="0"/>
              </a:rPr>
              <a:t>create a new organization whenever an existing part of the company exceeds 150 people</a:t>
            </a:r>
            <a:endParaRPr lang="en-IN" sz="2000" dirty="0">
              <a:solidFill>
                <a:schemeClr val="accent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6335338-48CC-5F57-E93C-0573A8C18F20}"/>
              </a:ext>
            </a:extLst>
          </p:cNvPr>
          <p:cNvSpPr txBox="1"/>
          <p:nvPr/>
        </p:nvSpPr>
        <p:spPr>
          <a:xfrm>
            <a:off x="6917636" y="445389"/>
            <a:ext cx="4532242"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large job can be broken into many smaller jobs (called “a work breakdown structure in project     management”). </a:t>
            </a:r>
          </a:p>
          <a:p>
            <a:pPr algn="just"/>
            <a:r>
              <a:rPr lang="en-US" sz="2000" dirty="0">
                <a:latin typeface="Times New Roman" panose="02020603050405020304" pitchFamily="18" charset="0"/>
                <a:cs typeface="Times New Roman" panose="02020603050405020304" pitchFamily="18" charset="0"/>
              </a:rPr>
              <a:t>The JIT (just-in-time or Kanban) system uses the concept of segmentation to an extreme it replaces the idea of mass production with the idea that the most efficient production system can produce a single unit just as easily as multiple units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DF43C44-FC2D-4A53-2898-662ED67EBAF8}"/>
              </a:ext>
            </a:extLst>
          </p:cNvPr>
          <p:cNvPicPr>
            <a:picLocks noChangeAspect="1"/>
          </p:cNvPicPr>
          <p:nvPr/>
        </p:nvPicPr>
        <p:blipFill>
          <a:blip r:embed="rId2"/>
          <a:stretch>
            <a:fillRect/>
          </a:stretch>
        </p:blipFill>
        <p:spPr>
          <a:xfrm>
            <a:off x="7086601" y="3697357"/>
            <a:ext cx="4532243" cy="2623930"/>
          </a:xfrm>
          <a:prstGeom prst="rect">
            <a:avLst/>
          </a:prstGeom>
        </p:spPr>
      </p:pic>
    </p:spTree>
    <p:extLst>
      <p:ext uri="{BB962C8B-B14F-4D97-AF65-F5344CB8AC3E}">
        <p14:creationId xmlns:p14="http://schemas.microsoft.com/office/powerpoint/2010/main" val="28072327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ectric Vehicle Battery Cells Explained | Laserax">
            <a:extLst>
              <a:ext uri="{FF2B5EF4-FFF2-40B4-BE49-F238E27FC236}">
                <a16:creationId xmlns:a16="http://schemas.microsoft.com/office/drawing/2014/main" id="{3C0FB32B-6900-D39E-5C0E-5F8BF5298A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809" y="1059242"/>
            <a:ext cx="5814391" cy="47395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9F873D4-A960-9B81-3DCB-D9B364554565}"/>
              </a:ext>
            </a:extLst>
          </p:cNvPr>
          <p:cNvPicPr>
            <a:picLocks noChangeAspect="1"/>
          </p:cNvPicPr>
          <p:nvPr/>
        </p:nvPicPr>
        <p:blipFill>
          <a:blip r:embed="rId3"/>
          <a:stretch>
            <a:fillRect/>
          </a:stretch>
        </p:blipFill>
        <p:spPr>
          <a:xfrm>
            <a:off x="7054218" y="377949"/>
            <a:ext cx="3731769" cy="2257096"/>
          </a:xfrm>
          <a:prstGeom prst="rect">
            <a:avLst/>
          </a:prstGeom>
        </p:spPr>
      </p:pic>
      <p:pic>
        <p:nvPicPr>
          <p:cNvPr id="2" name="Picture 2" descr="The Materials Used in the Design of Aircraft Wings">
            <a:extLst>
              <a:ext uri="{FF2B5EF4-FFF2-40B4-BE49-F238E27FC236}">
                <a16:creationId xmlns:a16="http://schemas.microsoft.com/office/drawing/2014/main" id="{9FDD0F67-D242-4481-0E79-49000AEC0E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895" y="3323303"/>
            <a:ext cx="5078413"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7713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7E5D0A-C745-AB51-D431-01C209FDDBDC}"/>
              </a:ext>
            </a:extLst>
          </p:cNvPr>
          <p:cNvSpPr txBox="1"/>
          <p:nvPr/>
        </p:nvSpPr>
        <p:spPr>
          <a:xfrm>
            <a:off x="573985" y="691923"/>
            <a:ext cx="5806937" cy="1754326"/>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2. SEPARATION:</a:t>
            </a:r>
          </a:p>
          <a:p>
            <a:pPr algn="just"/>
            <a:endParaRPr lang="en-US" b="1" dirty="0">
              <a:latin typeface="Times New Roman" panose="02020603050405020304" pitchFamily="18" charset="0"/>
              <a:cs typeface="Times New Roman" panose="02020603050405020304" pitchFamily="18" charset="0"/>
            </a:endParaRPr>
          </a:p>
          <a:p>
            <a:pPr algn="just"/>
            <a:r>
              <a:rPr lang="en-US" dirty="0">
                <a:solidFill>
                  <a:srgbClr val="FF0000"/>
                </a:solidFill>
                <a:latin typeface="Times New Roman" panose="02020603050405020304" pitchFamily="18" charset="0"/>
                <a:cs typeface="Times New Roman" panose="02020603050405020304" pitchFamily="18" charset="0"/>
              </a:rPr>
              <a:t>Separate the only necessary part (or property) or remove an interfering part or property from an object or system</a:t>
            </a:r>
            <a:r>
              <a:rPr lang="en-US" dirty="0">
                <a:latin typeface="Times New Roman" panose="02020603050405020304" pitchFamily="18" charset="0"/>
                <a:cs typeface="Times New Roman" panose="02020603050405020304" pitchFamily="18" charset="0"/>
              </a:rPr>
              <a:t>. We usually need only a part of the system or some property or feature</a:t>
            </a:r>
            <a:endParaRPr lang="en-IN"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8B0294D3-7D48-B5FB-B8FA-E577657A3B6C}"/>
              </a:ext>
            </a:extLst>
          </p:cNvPr>
          <p:cNvGrpSpPr>
            <a:grpSpLocks/>
          </p:cNvGrpSpPr>
          <p:nvPr/>
        </p:nvGrpSpPr>
        <p:grpSpPr>
          <a:xfrm>
            <a:off x="6814930" y="1101639"/>
            <a:ext cx="4267200" cy="934893"/>
            <a:chOff x="0" y="0"/>
            <a:chExt cx="4267200" cy="935520"/>
          </a:xfrm>
        </p:grpSpPr>
        <p:pic>
          <p:nvPicPr>
            <p:cNvPr id="5" name="Image 453">
              <a:extLst>
                <a:ext uri="{FF2B5EF4-FFF2-40B4-BE49-F238E27FC236}">
                  <a16:creationId xmlns:a16="http://schemas.microsoft.com/office/drawing/2014/main" id="{5C8CC698-FCAF-856D-B623-A1ACCA311982}"/>
                </a:ext>
              </a:extLst>
            </p:cNvPr>
            <p:cNvPicPr/>
            <p:nvPr/>
          </p:nvPicPr>
          <p:blipFill>
            <a:blip r:embed="rId2" cstate="print"/>
            <a:stretch>
              <a:fillRect/>
            </a:stretch>
          </p:blipFill>
          <p:spPr>
            <a:xfrm>
              <a:off x="982980" y="0"/>
              <a:ext cx="2301239" cy="883919"/>
            </a:xfrm>
            <a:prstGeom prst="rect">
              <a:avLst/>
            </a:prstGeom>
          </p:spPr>
        </p:pic>
        <p:sp>
          <p:nvSpPr>
            <p:cNvPr id="6" name="Graphic 454">
              <a:extLst>
                <a:ext uri="{FF2B5EF4-FFF2-40B4-BE49-F238E27FC236}">
                  <a16:creationId xmlns:a16="http://schemas.microsoft.com/office/drawing/2014/main" id="{0430B5DB-DE82-A2CD-D97F-4FCBDC0DF9F8}"/>
                </a:ext>
              </a:extLst>
            </p:cNvPr>
            <p:cNvSpPr/>
            <p:nvPr/>
          </p:nvSpPr>
          <p:spPr>
            <a:xfrm>
              <a:off x="0" y="934250"/>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dirty="0"/>
            </a:p>
          </p:txBody>
        </p:sp>
      </p:grpSp>
      <p:sp>
        <p:nvSpPr>
          <p:cNvPr id="8" name="TextBox 7">
            <a:extLst>
              <a:ext uri="{FF2B5EF4-FFF2-40B4-BE49-F238E27FC236}">
                <a16:creationId xmlns:a16="http://schemas.microsoft.com/office/drawing/2014/main" id="{0B081FCA-A286-2D9C-BF4A-7DBC1E483285}"/>
              </a:ext>
            </a:extLst>
          </p:cNvPr>
          <p:cNvSpPr txBox="1"/>
          <p:nvPr/>
        </p:nvSpPr>
        <p:spPr>
          <a:xfrm>
            <a:off x="6490253" y="2160969"/>
            <a:ext cx="4760844" cy="307777"/>
          </a:xfrm>
          <a:prstGeom prst="rect">
            <a:avLst/>
          </a:prstGeom>
          <a:noFill/>
        </p:spPr>
        <p:txBody>
          <a:bodyPr wrap="square">
            <a:spAutoFit/>
          </a:bodyPr>
          <a:lstStyle/>
          <a:p>
            <a:pPr algn="ct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Separate</a:t>
            </a:r>
            <a:r>
              <a:rPr lang="en-US" sz="14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a:t>
            </a:r>
            <a:r>
              <a:rPr lang="en-US" sz="1400" b="1" spc="1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part</a:t>
            </a:r>
            <a:r>
              <a:rPr lang="en-US" sz="1400" b="1" spc="1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or</a:t>
            </a:r>
            <a:r>
              <a:rPr lang="en-US" sz="1400" b="1" spc="1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property</a:t>
            </a:r>
            <a:r>
              <a:rPr lang="en-US" sz="1400" b="1" spc="1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from</a:t>
            </a:r>
            <a:r>
              <a:rPr lang="en-US" sz="1400" b="1" spc="1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a:t>
            </a:r>
            <a:r>
              <a:rPr lang="en-US" sz="1400" b="1" spc="1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system</a:t>
            </a:r>
            <a:endParaRPr lang="en-IN" sz="1400" dirty="0"/>
          </a:p>
        </p:txBody>
      </p:sp>
      <p:sp>
        <p:nvSpPr>
          <p:cNvPr id="10" name="TextBox 9">
            <a:extLst>
              <a:ext uri="{FF2B5EF4-FFF2-40B4-BE49-F238E27FC236}">
                <a16:creationId xmlns:a16="http://schemas.microsoft.com/office/drawing/2014/main" id="{5D1B948B-D5FA-A7B7-B680-2E8B42E57A93}"/>
              </a:ext>
            </a:extLst>
          </p:cNvPr>
          <p:cNvSpPr txBox="1"/>
          <p:nvPr/>
        </p:nvSpPr>
        <p:spPr>
          <a:xfrm>
            <a:off x="573984" y="2708918"/>
            <a:ext cx="5707545" cy="3103029"/>
          </a:xfrm>
          <a:prstGeom prst="rect">
            <a:avLst/>
          </a:prstGeom>
          <a:noFill/>
        </p:spPr>
        <p:txBody>
          <a:bodyPr wrap="square">
            <a:spAutoFit/>
          </a:bodyPr>
          <a:lstStyle/>
          <a:p>
            <a:pPr marL="209550" marR="232410" indent="190500" algn="just">
              <a:lnSpc>
                <a:spcPct val="106000"/>
              </a:lnSpc>
              <a:spcAft>
                <a:spcPts val="0"/>
              </a:spcAft>
            </a:pPr>
            <a:r>
              <a:rPr lang="en-US" spc="-20" dirty="0">
                <a:solidFill>
                  <a:srgbClr val="231F20"/>
                </a:solidFill>
                <a:latin typeface="Times New Roman" panose="02020603050405020304" pitchFamily="18" charset="0"/>
                <a:ea typeface="Times New Roman" panose="02020603050405020304" pitchFamily="18" charset="0"/>
              </a:rPr>
              <a:t>N</a:t>
            </a:r>
            <a:r>
              <a:rPr lang="en-US" sz="1800" spc="-20" dirty="0">
                <a:solidFill>
                  <a:srgbClr val="231F20"/>
                </a:solidFill>
                <a:effectLst/>
                <a:latin typeface="Times New Roman" panose="02020603050405020304" pitchFamily="18" charset="0"/>
                <a:ea typeface="Times New Roman" panose="02020603050405020304" pitchFamily="18" charset="0"/>
              </a:rPr>
              <a:t>ew</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shared-use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schemes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are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emerging,</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least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experimental level.</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user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buys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right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use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car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bicycle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for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certain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time.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These </a:t>
            </a:r>
            <a:r>
              <a:rPr lang="en-US" sz="1800" spc="-10" dirty="0">
                <a:solidFill>
                  <a:srgbClr val="231F20"/>
                </a:solidFill>
                <a:effectLst/>
                <a:latin typeface="Times New Roman" panose="02020603050405020304" pitchFamily="18" charset="0"/>
                <a:ea typeface="Times New Roman" panose="02020603050405020304" pitchFamily="18" charset="0"/>
              </a:rPr>
              <a:t>experiments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give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transportation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capacity,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individual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routes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schedules,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comfort,</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prestige,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certain</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lifestyle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many</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other</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features,</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but</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i="1" spc="-10" dirty="0">
                <a:solidFill>
                  <a:srgbClr val="FF0000"/>
                </a:solidFill>
                <a:effectLst/>
                <a:latin typeface="Times New Roman" panose="02020603050405020304" pitchFamily="18" charset="0"/>
                <a:ea typeface="Times New Roman" panose="02020603050405020304" pitchFamily="18" charset="0"/>
              </a:rPr>
              <a:t>separate</a:t>
            </a:r>
            <a:r>
              <a:rPr lang="en-US" sz="1800" i="1" spc="-2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the</a:t>
            </a:r>
            <a:r>
              <a:rPr lang="en-US" sz="1800" spc="-2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use</a:t>
            </a:r>
            <a:r>
              <a:rPr lang="en-US" sz="1800" spc="-2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of</a:t>
            </a:r>
            <a:r>
              <a:rPr lang="en-US" sz="1800" spc="-2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the</a:t>
            </a:r>
            <a:r>
              <a:rPr lang="en-IN" dirty="0">
                <a:solidFill>
                  <a:srgbClr val="FF0000"/>
                </a:solidFill>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automobile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from</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the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ownership,</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care,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and</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cost</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of</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ton</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of</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metal</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and</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plastic</a:t>
            </a:r>
            <a:r>
              <a:rPr lang="en-US" sz="1800" spc="-20" dirty="0">
                <a:solidFill>
                  <a:srgbClr val="231F20"/>
                </a:solidFill>
                <a:effectLst/>
                <a:latin typeface="Times New Roman" panose="02020603050405020304" pitchFamily="18" charset="0"/>
                <a:ea typeface="Times New Roman" panose="02020603050405020304" pitchFamily="18" charset="0"/>
              </a:rPr>
              <a: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proponents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these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new</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schemes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claim</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that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customer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can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actually</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have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many</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cars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by not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owning</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any.</a:t>
            </a:r>
            <a:endParaRPr lang="en-IN" dirty="0"/>
          </a:p>
        </p:txBody>
      </p:sp>
      <p:sp>
        <p:nvSpPr>
          <p:cNvPr id="12" name="TextBox 11">
            <a:extLst>
              <a:ext uri="{FF2B5EF4-FFF2-40B4-BE49-F238E27FC236}">
                <a16:creationId xmlns:a16="http://schemas.microsoft.com/office/drawing/2014/main" id="{8CCA6A2C-92BC-E0A9-A7FC-14CBC4E90A5D}"/>
              </a:ext>
            </a:extLst>
          </p:cNvPr>
          <p:cNvSpPr txBox="1"/>
          <p:nvPr/>
        </p:nvSpPr>
        <p:spPr>
          <a:xfrm>
            <a:off x="6096000" y="3021617"/>
            <a:ext cx="5910470" cy="953915"/>
          </a:xfrm>
          <a:prstGeom prst="rect">
            <a:avLst/>
          </a:prstGeom>
          <a:noFill/>
        </p:spPr>
        <p:txBody>
          <a:bodyPr wrap="square">
            <a:spAutoFit/>
          </a:bodyPr>
          <a:lstStyle/>
          <a:p>
            <a:pPr marL="209550" marR="232410" indent="190500" algn="just">
              <a:lnSpc>
                <a:spcPct val="106000"/>
              </a:lnSpc>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ASP</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(application</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provider)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new business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concept many</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companies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do</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own</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their</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own</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software,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rent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 needed from a provider.</a:t>
            </a:r>
            <a:endParaRPr lang="en-IN" sz="1800" dirty="0">
              <a:effectLst/>
              <a:latin typeface="Times New Roman" panose="02020603050405020304" pitchFamily="18" charset="0"/>
              <a:ea typeface="Times New Roman" panose="02020603050405020304" pitchFamily="18" charset="0"/>
            </a:endParaRPr>
          </a:p>
        </p:txBody>
      </p:sp>
      <p:pic>
        <p:nvPicPr>
          <p:cNvPr id="1026" name="Picture 2" descr="Isbike Bike Sharing System of Spark, Istanbul Editorial Stock Photo ...">
            <a:extLst>
              <a:ext uri="{FF2B5EF4-FFF2-40B4-BE49-F238E27FC236}">
                <a16:creationId xmlns:a16="http://schemas.microsoft.com/office/drawing/2014/main" id="{85CEB6BF-E88E-1A22-DFE6-B0C60725FB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4930" y="4130214"/>
            <a:ext cx="4514850" cy="2377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51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000+ Great Street Lights Photos · Pexels · Free Stock Photos">
            <a:extLst>
              <a:ext uri="{FF2B5EF4-FFF2-40B4-BE49-F238E27FC236}">
                <a16:creationId xmlns:a16="http://schemas.microsoft.com/office/drawing/2014/main" id="{7AF7F19C-2574-7A40-E77D-2237E8CFC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186813"/>
            <a:ext cx="5083277" cy="296934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ll About Traffic Lights: Traffic Light Size, Weight, and More - In The ...">
            <a:extLst>
              <a:ext uri="{FF2B5EF4-FFF2-40B4-BE49-F238E27FC236}">
                <a16:creationId xmlns:a16="http://schemas.microsoft.com/office/drawing/2014/main" id="{5E760F1F-2440-860F-C19D-30F589DEEC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90" y="186813"/>
            <a:ext cx="5083277" cy="284152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Kathipara Bridge | This is the new bridge comming up in Guin… | Flickr">
            <a:extLst>
              <a:ext uri="{FF2B5EF4-FFF2-40B4-BE49-F238E27FC236}">
                <a16:creationId xmlns:a16="http://schemas.microsoft.com/office/drawing/2014/main" id="{427B39FC-9677-AF00-B805-BD86828F9B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799" y="3524863"/>
            <a:ext cx="5093110" cy="314632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76.8&quot; Luxury Convertible Storage Sofa Leather Cotton&amp;linen Upholstered ...">
            <a:extLst>
              <a:ext uri="{FF2B5EF4-FFF2-40B4-BE49-F238E27FC236}">
                <a16:creationId xmlns:a16="http://schemas.microsoft.com/office/drawing/2014/main" id="{947D7398-6BF7-AE52-46F1-EC895DBFD3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9290" y="3524863"/>
            <a:ext cx="5083276" cy="2969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9176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7C9891-60CF-CE7A-2DFC-0BC70657EEB3}"/>
              </a:ext>
            </a:extLst>
          </p:cNvPr>
          <p:cNvSpPr txBox="1"/>
          <p:nvPr/>
        </p:nvSpPr>
        <p:spPr>
          <a:xfrm>
            <a:off x="524289" y="721092"/>
            <a:ext cx="6097656" cy="1785104"/>
          </a:xfrm>
          <a:prstGeom prst="rect">
            <a:avLst/>
          </a:prstGeom>
          <a:noFill/>
        </p:spPr>
        <p:txBody>
          <a:bodyPr wrap="square">
            <a:spAutoFit/>
          </a:bodyPr>
          <a:lstStyle/>
          <a:p>
            <a:r>
              <a:rPr lang="en-US" sz="2000" b="1" dirty="0">
                <a:solidFill>
                  <a:srgbClr val="231F20"/>
                </a:solidFill>
                <a:effectLst/>
                <a:latin typeface="Times New Roman" panose="02020603050405020304" pitchFamily="18" charset="0"/>
                <a:ea typeface="Times New Roman" panose="02020603050405020304" pitchFamily="18" charset="0"/>
              </a:rPr>
              <a:t>3.Multifunctionality</a:t>
            </a:r>
            <a:r>
              <a:rPr lang="en-US" sz="2000" b="1" spc="65" dirty="0">
                <a:solidFill>
                  <a:srgbClr val="231F20"/>
                </a:solidFill>
                <a:effectLst/>
                <a:latin typeface="Times New Roman" panose="02020603050405020304" pitchFamily="18" charset="0"/>
                <a:ea typeface="Times New Roman" panose="02020603050405020304" pitchFamily="18" charset="0"/>
              </a:rPr>
              <a:t> </a:t>
            </a:r>
            <a:r>
              <a:rPr lang="en-US" sz="2000" b="1" dirty="0">
                <a:solidFill>
                  <a:srgbClr val="231F20"/>
                </a:solidFill>
                <a:effectLst/>
                <a:latin typeface="Times New Roman" panose="02020603050405020304" pitchFamily="18" charset="0"/>
                <a:ea typeface="Times New Roman" panose="02020603050405020304" pitchFamily="18" charset="0"/>
              </a:rPr>
              <a:t>or</a:t>
            </a:r>
            <a:r>
              <a:rPr lang="en-US" sz="2000" b="1" spc="65" dirty="0">
                <a:solidFill>
                  <a:srgbClr val="231F20"/>
                </a:solidFill>
                <a:effectLst/>
                <a:latin typeface="Times New Roman" panose="02020603050405020304" pitchFamily="18" charset="0"/>
                <a:ea typeface="Times New Roman" panose="02020603050405020304" pitchFamily="18" charset="0"/>
              </a:rPr>
              <a:t> </a:t>
            </a:r>
            <a:r>
              <a:rPr lang="en-US" sz="2000" b="1" dirty="0">
                <a:solidFill>
                  <a:srgbClr val="231F20"/>
                </a:solidFill>
                <a:effectLst/>
                <a:latin typeface="Times New Roman" panose="02020603050405020304" pitchFamily="18" charset="0"/>
                <a:ea typeface="Times New Roman" panose="02020603050405020304" pitchFamily="18" charset="0"/>
              </a:rPr>
              <a:t>universality:</a:t>
            </a:r>
          </a:p>
          <a:p>
            <a:endParaRPr lang="en-US" dirty="0">
              <a:solidFill>
                <a:srgbClr val="231F20"/>
              </a:solidFill>
              <a:latin typeface="Times New Roman" panose="02020603050405020304" pitchFamily="18" charset="0"/>
              <a:ea typeface="Times New Roman" panose="02020603050405020304" pitchFamily="18" charset="0"/>
            </a:endParaRPr>
          </a:p>
          <a:p>
            <a:pPr algn="just"/>
            <a:r>
              <a:rPr lang="en-US" sz="1800" dirty="0">
                <a:solidFill>
                  <a:srgbClr val="FF0000"/>
                </a:solidFill>
                <a:effectLst/>
                <a:latin typeface="Times New Roman" panose="02020603050405020304" pitchFamily="18" charset="0"/>
                <a:ea typeface="Times New Roman" panose="02020603050405020304" pitchFamily="18" charset="0"/>
              </a:rPr>
              <a:t>Make</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part</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of</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an</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object</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system</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perform multiple</a:t>
            </a:r>
            <a:r>
              <a:rPr lang="en-US" sz="1800" spc="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functions</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eliminate</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need</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other</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parts. The</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number of parts and operations decreases and useful features and functions are retained. </a:t>
            </a:r>
            <a:endParaRPr lang="en-IN" dirty="0"/>
          </a:p>
        </p:txBody>
      </p:sp>
      <p:grpSp>
        <p:nvGrpSpPr>
          <p:cNvPr id="4" name="Group 3">
            <a:extLst>
              <a:ext uri="{FF2B5EF4-FFF2-40B4-BE49-F238E27FC236}">
                <a16:creationId xmlns:a16="http://schemas.microsoft.com/office/drawing/2014/main" id="{94081385-1A44-2323-984C-E9FD7A22A76A}"/>
              </a:ext>
            </a:extLst>
          </p:cNvPr>
          <p:cNvGrpSpPr>
            <a:grpSpLocks/>
          </p:cNvGrpSpPr>
          <p:nvPr/>
        </p:nvGrpSpPr>
        <p:grpSpPr>
          <a:xfrm>
            <a:off x="7172740" y="1117076"/>
            <a:ext cx="4267200" cy="1173264"/>
            <a:chOff x="0" y="0"/>
            <a:chExt cx="4267200" cy="1173264"/>
          </a:xfrm>
        </p:grpSpPr>
        <p:pic>
          <p:nvPicPr>
            <p:cNvPr id="5" name="Image 465">
              <a:extLst>
                <a:ext uri="{FF2B5EF4-FFF2-40B4-BE49-F238E27FC236}">
                  <a16:creationId xmlns:a16="http://schemas.microsoft.com/office/drawing/2014/main" id="{847E4302-2A6D-8643-F0F2-6CF674A93253}"/>
                </a:ext>
              </a:extLst>
            </p:cNvPr>
            <p:cNvPicPr/>
            <p:nvPr/>
          </p:nvPicPr>
          <p:blipFill>
            <a:blip r:embed="rId2" cstate="print"/>
            <a:stretch>
              <a:fillRect/>
            </a:stretch>
          </p:blipFill>
          <p:spPr>
            <a:xfrm>
              <a:off x="899160" y="0"/>
              <a:ext cx="2468879" cy="1121663"/>
            </a:xfrm>
            <a:prstGeom prst="rect">
              <a:avLst/>
            </a:prstGeom>
          </p:spPr>
        </p:pic>
        <p:sp>
          <p:nvSpPr>
            <p:cNvPr id="6" name="Graphic 466">
              <a:extLst>
                <a:ext uri="{FF2B5EF4-FFF2-40B4-BE49-F238E27FC236}">
                  <a16:creationId xmlns:a16="http://schemas.microsoft.com/office/drawing/2014/main" id="{63E981EA-D361-CFCD-B27D-C35CA87ECA5F}"/>
                </a:ext>
              </a:extLst>
            </p:cNvPr>
            <p:cNvSpPr/>
            <p:nvPr/>
          </p:nvSpPr>
          <p:spPr>
            <a:xfrm>
              <a:off x="0" y="1171994"/>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dirty="0"/>
            </a:p>
          </p:txBody>
        </p:sp>
      </p:grpSp>
      <p:sp>
        <p:nvSpPr>
          <p:cNvPr id="8" name="TextBox 7">
            <a:extLst>
              <a:ext uri="{FF2B5EF4-FFF2-40B4-BE49-F238E27FC236}">
                <a16:creationId xmlns:a16="http://schemas.microsoft.com/office/drawing/2014/main" id="{B9BDD004-2CF8-E007-A92C-BA3AFA4EE9A8}"/>
              </a:ext>
            </a:extLst>
          </p:cNvPr>
          <p:cNvSpPr txBox="1"/>
          <p:nvPr/>
        </p:nvSpPr>
        <p:spPr>
          <a:xfrm>
            <a:off x="6257511" y="2423873"/>
            <a:ext cx="6097656" cy="300723"/>
          </a:xfrm>
          <a:prstGeom prst="rect">
            <a:avLst/>
          </a:prstGeom>
          <a:noFill/>
        </p:spPr>
        <p:txBody>
          <a:bodyPr wrap="square">
            <a:spAutoFit/>
          </a:bodyPr>
          <a:lstStyle/>
          <a:p>
            <a:pPr marL="209550" marR="234315" algn="ctr">
              <a:lnSpc>
                <a:spcPct val="103000"/>
              </a:lnSpc>
              <a:spcBef>
                <a:spcPts val="505"/>
              </a:spcBef>
              <a:spcAft>
                <a:spcPts val="0"/>
              </a:spcAft>
            </a:pPr>
            <a:r>
              <a:rPr lang="en-US" sz="1400" b="1" dirty="0">
                <a:solidFill>
                  <a:srgbClr val="231F20"/>
                </a:solidFill>
                <a:effectLst/>
                <a:latin typeface="Trebuchet MS" panose="020B0603020202020204" pitchFamily="34" charset="0"/>
                <a:ea typeface="Times New Roman" panose="02020603050405020304" pitchFamily="18" charset="0"/>
              </a:rPr>
              <a:t>Make</a:t>
            </a:r>
            <a:r>
              <a:rPr lang="en-US" sz="1400" b="1" spc="-75" dirty="0">
                <a:solidFill>
                  <a:srgbClr val="231F20"/>
                </a:solidFill>
                <a:effectLst/>
                <a:latin typeface="Trebuchet MS" panose="020B0603020202020204" pitchFamily="34" charset="0"/>
                <a:ea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rPr>
              <a:t>a</a:t>
            </a:r>
            <a:r>
              <a:rPr lang="en-US" sz="1400" b="1" spc="-70" dirty="0">
                <a:solidFill>
                  <a:srgbClr val="231F20"/>
                </a:solidFill>
                <a:effectLst/>
                <a:latin typeface="Trebuchet MS" panose="020B0603020202020204" pitchFamily="34" charset="0"/>
                <a:ea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rPr>
              <a:t>system</a:t>
            </a:r>
            <a:r>
              <a:rPr lang="en-US" sz="1400" b="1" spc="-70" dirty="0">
                <a:solidFill>
                  <a:srgbClr val="231F20"/>
                </a:solidFill>
                <a:effectLst/>
                <a:latin typeface="Trebuchet MS" panose="020B0603020202020204" pitchFamily="34" charset="0"/>
                <a:ea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rPr>
              <a:t>perform</a:t>
            </a:r>
            <a:r>
              <a:rPr lang="en-US" sz="1400" b="1" spc="-75" dirty="0">
                <a:solidFill>
                  <a:srgbClr val="231F20"/>
                </a:solidFill>
                <a:effectLst/>
                <a:latin typeface="Trebuchet MS" panose="020B0603020202020204" pitchFamily="34" charset="0"/>
                <a:ea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rPr>
              <a:t>multiple functions.</a:t>
            </a:r>
            <a:endParaRPr lang="en-IN" sz="1400" dirty="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6F0D0DA2-7560-5A01-1210-674A5ABC79F6}"/>
              </a:ext>
            </a:extLst>
          </p:cNvPr>
          <p:cNvSpPr txBox="1"/>
          <p:nvPr/>
        </p:nvSpPr>
        <p:spPr>
          <a:xfrm>
            <a:off x="222804" y="2487853"/>
            <a:ext cx="6177168" cy="4575612"/>
          </a:xfrm>
          <a:prstGeom prst="rect">
            <a:avLst/>
          </a:prstGeom>
          <a:noFill/>
        </p:spPr>
        <p:txBody>
          <a:bodyPr wrap="square">
            <a:spAutoFit/>
          </a:bodyPr>
          <a:lstStyle/>
          <a:p>
            <a:pPr marL="1600200" marR="233045" lvl="3" indent="-228600" algn="just">
              <a:spcBef>
                <a:spcPts val="1195"/>
              </a:spcBef>
              <a:spcAft>
                <a:spcPts val="0"/>
              </a:spcAft>
              <a:buClr>
                <a:srgbClr val="231F20"/>
              </a:buClr>
              <a:buSzPts val="1050"/>
              <a:buFont typeface="Lucida Sans Unicode" panose="020B0602030504020204" pitchFamily="34" charset="0"/>
              <a:buChar char="■"/>
              <a:tabLst>
                <a:tab pos="514350" algn="l"/>
              </a:tabLst>
            </a:pPr>
            <a:r>
              <a:rPr lang="en-US" spc="0" dirty="0">
                <a:solidFill>
                  <a:srgbClr val="231F20"/>
                </a:solidFill>
                <a:effectLst/>
                <a:latin typeface="Times New Roman" panose="02020603050405020304" pitchFamily="18" charset="0"/>
                <a:ea typeface="Lucida Sans Unicode" panose="020B0602030504020204" pitchFamily="34" charset="0"/>
              </a:rPr>
              <a:t>ABB</a:t>
            </a:r>
            <a:r>
              <a:rPr lang="en-US" spc="-7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has</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developed</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an</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electric</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generator</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with</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high</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voltage.</a:t>
            </a:r>
            <a:r>
              <a:rPr lang="en-US" spc="-7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A</a:t>
            </a:r>
            <a:r>
              <a:rPr lang="en-US" spc="-6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FF0000"/>
                </a:solidFill>
                <a:effectLst/>
                <a:latin typeface="Times New Roman" panose="02020603050405020304" pitchFamily="18" charset="0"/>
                <a:ea typeface="Lucida Sans Unicode" panose="020B0602030504020204" pitchFamily="34" charset="0"/>
              </a:rPr>
              <a:t>conventional </a:t>
            </a:r>
            <a:r>
              <a:rPr lang="en-US" spc="-10" dirty="0">
                <a:solidFill>
                  <a:srgbClr val="FF0000"/>
                </a:solidFill>
                <a:effectLst/>
                <a:latin typeface="Times New Roman" panose="02020603050405020304" pitchFamily="18" charset="0"/>
                <a:ea typeface="Lucida Sans Unicode" panose="020B0602030504020204" pitchFamily="34" charset="0"/>
              </a:rPr>
              <a:t>transformer</a:t>
            </a:r>
            <a:r>
              <a:rPr lang="en-US" spc="-50" dirty="0">
                <a:solidFill>
                  <a:srgbClr val="FF0000"/>
                </a:solidFill>
                <a:effectLst/>
                <a:latin typeface="Times New Roman" panose="02020603050405020304" pitchFamily="18" charset="0"/>
                <a:ea typeface="Lucida Sans Unicode" panose="020B0602030504020204" pitchFamily="34" charset="0"/>
              </a:rPr>
              <a:t> </a:t>
            </a:r>
            <a:r>
              <a:rPr lang="en-US" spc="-10" dirty="0">
                <a:solidFill>
                  <a:srgbClr val="FF0000"/>
                </a:solidFill>
                <a:effectLst/>
                <a:latin typeface="Times New Roman" panose="02020603050405020304" pitchFamily="18" charset="0"/>
                <a:ea typeface="Lucida Sans Unicode" panose="020B0602030504020204" pitchFamily="34" charset="0"/>
              </a:rPr>
              <a:t>is</a:t>
            </a:r>
            <a:r>
              <a:rPr lang="en-US" spc="-50" dirty="0">
                <a:solidFill>
                  <a:srgbClr val="FF0000"/>
                </a:solidFill>
                <a:effectLst/>
                <a:latin typeface="Times New Roman" panose="02020603050405020304" pitchFamily="18" charset="0"/>
                <a:ea typeface="Lucida Sans Unicode" panose="020B0602030504020204" pitchFamily="34" charset="0"/>
              </a:rPr>
              <a:t> </a:t>
            </a:r>
            <a:r>
              <a:rPr lang="en-US" spc="-10" dirty="0">
                <a:solidFill>
                  <a:srgbClr val="FF0000"/>
                </a:solidFill>
                <a:effectLst/>
                <a:latin typeface="Times New Roman" panose="02020603050405020304" pitchFamily="18" charset="0"/>
                <a:ea typeface="Lucida Sans Unicode" panose="020B0602030504020204" pitchFamily="34" charset="0"/>
              </a:rPr>
              <a:t>not</a:t>
            </a:r>
            <a:r>
              <a:rPr lang="en-US" spc="-50" dirty="0">
                <a:solidFill>
                  <a:srgbClr val="FF0000"/>
                </a:solidFill>
                <a:effectLst/>
                <a:latin typeface="Times New Roman" panose="02020603050405020304" pitchFamily="18" charset="0"/>
                <a:ea typeface="Lucida Sans Unicode" panose="020B0602030504020204" pitchFamily="34" charset="0"/>
              </a:rPr>
              <a:t> </a:t>
            </a:r>
            <a:r>
              <a:rPr lang="en-US" spc="-10" dirty="0">
                <a:solidFill>
                  <a:srgbClr val="FF0000"/>
                </a:solidFill>
                <a:effectLst/>
                <a:latin typeface="Times New Roman" panose="02020603050405020304" pitchFamily="18" charset="0"/>
                <a:ea typeface="Lucida Sans Unicode" panose="020B0602030504020204" pitchFamily="34" charset="0"/>
              </a:rPr>
              <a:t>needed</a:t>
            </a:r>
            <a:r>
              <a:rPr lang="en-US" spc="-50" dirty="0">
                <a:solidFill>
                  <a:srgbClr val="FF000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because</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the</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generator</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can</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directly</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feed</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the</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electric network.</a:t>
            </a:r>
            <a:r>
              <a:rPr lang="en-US" spc="-55" dirty="0">
                <a:solidFill>
                  <a:srgbClr val="231F20"/>
                </a:solidFill>
                <a:effectLst/>
                <a:latin typeface="Times New Roman" panose="02020603050405020304" pitchFamily="18" charset="0"/>
                <a:ea typeface="Lucida Sans Unicode" panose="020B0602030504020204" pitchFamily="34" charset="0"/>
              </a:rPr>
              <a:t> </a:t>
            </a:r>
          </a:p>
          <a:p>
            <a:pPr marL="1600200" marR="233045" lvl="3" indent="-228600" algn="just">
              <a:spcBef>
                <a:spcPts val="1195"/>
              </a:spcBef>
              <a:spcAft>
                <a:spcPts val="0"/>
              </a:spcAft>
              <a:buClr>
                <a:srgbClr val="231F20"/>
              </a:buClr>
              <a:buSzPts val="1050"/>
              <a:buFont typeface="Lucida Sans Unicode" panose="020B0602030504020204" pitchFamily="34" charset="0"/>
              <a:buChar char="■"/>
              <a:tabLst>
                <a:tab pos="514350" algn="l"/>
              </a:tabLst>
            </a:pPr>
            <a:r>
              <a:rPr lang="en-US" spc="-10" dirty="0">
                <a:solidFill>
                  <a:srgbClr val="231F20"/>
                </a:solidFill>
                <a:effectLst/>
                <a:latin typeface="Times New Roman" panose="02020603050405020304" pitchFamily="18" charset="0"/>
                <a:ea typeface="Lucida Sans Unicode" panose="020B0602030504020204" pitchFamily="34" charset="0"/>
              </a:rPr>
              <a:t>In</a:t>
            </a:r>
            <a:r>
              <a:rPr lang="en-US" spc="-55"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some</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new</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car</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designs,</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the</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flywheel,</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alternator,</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starter,</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and</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some </a:t>
            </a:r>
            <a:r>
              <a:rPr lang="en-US" spc="-20" dirty="0">
                <a:solidFill>
                  <a:schemeClr val="accent1"/>
                </a:solidFill>
                <a:effectLst/>
                <a:latin typeface="Times New Roman" panose="02020603050405020304" pitchFamily="18" charset="0"/>
                <a:ea typeface="Lucida Sans Unicode" panose="020B0602030504020204" pitchFamily="34" charset="0"/>
              </a:rPr>
              <a:t>other</a:t>
            </a:r>
            <a:r>
              <a:rPr lang="en-US" spc="-35" dirty="0">
                <a:solidFill>
                  <a:schemeClr val="accent1"/>
                </a:solidFill>
                <a:effectLst/>
                <a:latin typeface="Times New Roman" panose="02020603050405020304" pitchFamily="18" charset="0"/>
                <a:ea typeface="Lucida Sans Unicode" panose="020B0602030504020204" pitchFamily="34" charset="0"/>
              </a:rPr>
              <a:t> </a:t>
            </a:r>
            <a:r>
              <a:rPr lang="en-US" spc="-20" dirty="0">
                <a:solidFill>
                  <a:schemeClr val="accent1"/>
                </a:solidFill>
                <a:effectLst/>
                <a:latin typeface="Times New Roman" panose="02020603050405020304" pitchFamily="18" charset="0"/>
                <a:ea typeface="Lucida Sans Unicode" panose="020B0602030504020204" pitchFamily="34" charset="0"/>
              </a:rPr>
              <a:t>parts</a:t>
            </a:r>
            <a:r>
              <a:rPr lang="en-US" spc="-35" dirty="0">
                <a:solidFill>
                  <a:schemeClr val="accent1"/>
                </a:solidFill>
                <a:effectLst/>
                <a:latin typeface="Times New Roman" panose="02020603050405020304" pitchFamily="18" charset="0"/>
                <a:ea typeface="Lucida Sans Unicode" panose="020B0602030504020204" pitchFamily="34" charset="0"/>
              </a:rPr>
              <a:t> </a:t>
            </a:r>
            <a:r>
              <a:rPr lang="en-US" spc="-20" dirty="0">
                <a:solidFill>
                  <a:schemeClr val="accent1"/>
                </a:solidFill>
                <a:effectLst/>
                <a:latin typeface="Times New Roman" panose="02020603050405020304" pitchFamily="18" charset="0"/>
                <a:ea typeface="Lucida Sans Unicode" panose="020B0602030504020204" pitchFamily="34" charset="0"/>
              </a:rPr>
              <a:t>are</a:t>
            </a:r>
            <a:r>
              <a:rPr lang="en-US" spc="-35" dirty="0">
                <a:solidFill>
                  <a:schemeClr val="accent1"/>
                </a:solidFill>
                <a:effectLst/>
                <a:latin typeface="Times New Roman" panose="02020603050405020304" pitchFamily="18" charset="0"/>
                <a:ea typeface="Lucida Sans Unicode" panose="020B0602030504020204" pitchFamily="34" charset="0"/>
              </a:rPr>
              <a:t> </a:t>
            </a:r>
            <a:r>
              <a:rPr lang="en-US" spc="-20" dirty="0">
                <a:solidFill>
                  <a:schemeClr val="accent1"/>
                </a:solidFill>
                <a:effectLst/>
                <a:latin typeface="Times New Roman" panose="02020603050405020304" pitchFamily="18" charset="0"/>
                <a:ea typeface="Lucida Sans Unicode" panose="020B0602030504020204" pitchFamily="34" charset="0"/>
              </a:rPr>
              <a:t>combined</a:t>
            </a:r>
            <a:r>
              <a:rPr lang="en-US" spc="-35" dirty="0">
                <a:solidFill>
                  <a:schemeClr val="accent1"/>
                </a:solidFill>
                <a:effectLst/>
                <a:latin typeface="Times New Roman" panose="02020603050405020304" pitchFamily="18" charset="0"/>
                <a:ea typeface="Lucida Sans Unicode" panose="020B0602030504020204" pitchFamily="34" charset="0"/>
              </a:rPr>
              <a:t> </a:t>
            </a:r>
            <a:r>
              <a:rPr lang="en-US" spc="-20" dirty="0">
                <a:solidFill>
                  <a:schemeClr val="accent1"/>
                </a:solidFill>
                <a:effectLst/>
                <a:latin typeface="Times New Roman" panose="02020603050405020304" pitchFamily="18" charset="0"/>
                <a:ea typeface="Lucida Sans Unicode" panose="020B0602030504020204" pitchFamily="34" charset="0"/>
              </a:rPr>
              <a:t>into</a:t>
            </a:r>
            <a:r>
              <a:rPr lang="en-US" spc="-35" dirty="0">
                <a:solidFill>
                  <a:schemeClr val="accent1"/>
                </a:solidFill>
                <a:effectLst/>
                <a:latin typeface="Times New Roman" panose="02020603050405020304" pitchFamily="18" charset="0"/>
                <a:ea typeface="Lucida Sans Unicode" panose="020B0602030504020204" pitchFamily="34" charset="0"/>
              </a:rPr>
              <a:t> </a:t>
            </a:r>
            <a:r>
              <a:rPr lang="en-US" spc="-20" dirty="0">
                <a:solidFill>
                  <a:schemeClr val="accent1"/>
                </a:solidFill>
                <a:effectLst/>
                <a:latin typeface="Times New Roman" panose="02020603050405020304" pitchFamily="18" charset="0"/>
                <a:ea typeface="Lucida Sans Unicode" panose="020B0602030504020204" pitchFamily="34" charset="0"/>
              </a:rPr>
              <a:t>a</a:t>
            </a:r>
            <a:r>
              <a:rPr lang="en-US" spc="-35" dirty="0">
                <a:solidFill>
                  <a:schemeClr val="accent1"/>
                </a:solidFill>
                <a:effectLst/>
                <a:latin typeface="Times New Roman" panose="02020603050405020304" pitchFamily="18" charset="0"/>
                <a:ea typeface="Lucida Sans Unicode" panose="020B0602030504020204" pitchFamily="34" charset="0"/>
              </a:rPr>
              <a:t> </a:t>
            </a:r>
            <a:r>
              <a:rPr lang="en-US" spc="-20" dirty="0">
                <a:solidFill>
                  <a:schemeClr val="accent1"/>
                </a:solidFill>
                <a:effectLst/>
                <a:latin typeface="Times New Roman" panose="02020603050405020304" pitchFamily="18" charset="0"/>
                <a:ea typeface="Lucida Sans Unicode" panose="020B0602030504020204" pitchFamily="34" charset="0"/>
              </a:rPr>
              <a:t>single</a:t>
            </a:r>
            <a:r>
              <a:rPr lang="en-US" spc="-35" dirty="0">
                <a:solidFill>
                  <a:schemeClr val="accent1"/>
                </a:solidFill>
                <a:effectLst/>
                <a:latin typeface="Times New Roman" panose="02020603050405020304" pitchFamily="18" charset="0"/>
                <a:ea typeface="Lucida Sans Unicode" panose="020B0602030504020204" pitchFamily="34" charset="0"/>
              </a:rPr>
              <a:t> </a:t>
            </a:r>
            <a:r>
              <a:rPr lang="en-US" spc="-20" dirty="0">
                <a:solidFill>
                  <a:schemeClr val="accent1"/>
                </a:solidFill>
                <a:effectLst/>
                <a:latin typeface="Times New Roman" panose="02020603050405020304" pitchFamily="18" charset="0"/>
                <a:ea typeface="Lucida Sans Unicode" panose="020B0602030504020204" pitchFamily="34" charset="0"/>
              </a:rPr>
              <a:t>component</a:t>
            </a:r>
            <a:r>
              <a:rPr lang="en-US" spc="-20" dirty="0">
                <a:solidFill>
                  <a:srgbClr val="231F20"/>
                </a:solidFill>
                <a:effectLst/>
                <a:latin typeface="Times New Roman" panose="02020603050405020304" pitchFamily="18" charset="0"/>
                <a:ea typeface="Lucida Sans Unicode" panose="020B0602030504020204" pitchFamily="34" charset="0"/>
              </a:rPr>
              <a:t>.</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A</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single</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adjustable</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wrench </a:t>
            </a:r>
            <a:r>
              <a:rPr lang="en-US" spc="0" dirty="0">
                <a:solidFill>
                  <a:srgbClr val="231F20"/>
                </a:solidFill>
                <a:effectLst/>
                <a:latin typeface="Times New Roman" panose="02020603050405020304" pitchFamily="18" charset="0"/>
                <a:ea typeface="Lucida Sans Unicode" panose="020B0602030504020204" pitchFamily="34" charset="0"/>
              </a:rPr>
              <a:t>for all nuts is another example.</a:t>
            </a:r>
            <a:endParaRPr lang="en-IN" spc="0" dirty="0">
              <a:effectLst/>
              <a:latin typeface="Times New Roman" panose="02020603050405020304" pitchFamily="18" charset="0"/>
              <a:ea typeface="Lucida Sans Unicode" panose="020B0602030504020204" pitchFamily="34" charset="0"/>
            </a:endParaRPr>
          </a:p>
          <a:p>
            <a:pPr marL="1600200" marR="233680" lvl="3" indent="-228600" algn="just">
              <a:buClr>
                <a:srgbClr val="231F20"/>
              </a:buClr>
              <a:buSzPts val="1050"/>
              <a:buFont typeface="Lucida Sans Unicode" panose="020B0602030504020204" pitchFamily="34" charset="0"/>
              <a:buChar char="■"/>
              <a:tabLst>
                <a:tab pos="514350" algn="l"/>
              </a:tabLst>
            </a:pPr>
            <a:r>
              <a:rPr lang="en-US" spc="0" dirty="0">
                <a:solidFill>
                  <a:srgbClr val="231F20"/>
                </a:solidFill>
                <a:effectLst/>
                <a:latin typeface="Times New Roman" panose="02020603050405020304" pitchFamily="18" charset="0"/>
                <a:ea typeface="Lucida Sans Unicode" panose="020B0602030504020204" pitchFamily="34" charset="0"/>
              </a:rPr>
              <a:t>People</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use</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the</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universality</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principle</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also.</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Cross-functional</a:t>
            </a:r>
            <a:r>
              <a:rPr lang="en-US" spc="-3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training</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makes people</a:t>
            </a:r>
            <a:r>
              <a:rPr lang="en-US" spc="4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much</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less</a:t>
            </a:r>
            <a:r>
              <a:rPr lang="en-US" spc="4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susceptible</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to</a:t>
            </a:r>
            <a:r>
              <a:rPr lang="en-US" spc="4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layoffs</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because</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they</a:t>
            </a:r>
            <a:r>
              <a:rPr lang="en-US" spc="4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have</a:t>
            </a:r>
            <a:r>
              <a:rPr lang="en-US" spc="50"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multiple</a:t>
            </a:r>
            <a:r>
              <a:rPr lang="en-US" spc="4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skills</a:t>
            </a:r>
            <a:r>
              <a:rPr lang="en-IN" dirty="0">
                <a:latin typeface="Times New Roman" panose="02020603050405020304" pitchFamily="18" charset="0"/>
                <a:ea typeface="Lucida Sans Unicode" panose="020B0602030504020204" pitchFamily="34" charset="0"/>
              </a:rPr>
              <a:t> </a:t>
            </a:r>
            <a:r>
              <a:rPr lang="en-US" dirty="0">
                <a:solidFill>
                  <a:srgbClr val="231F20"/>
                </a:solidFill>
                <a:effectLst/>
                <a:latin typeface="Times New Roman" panose="02020603050405020304" pitchFamily="18" charset="0"/>
                <a:ea typeface="Times New Roman" panose="02020603050405020304" pitchFamily="18" charset="0"/>
              </a:rPr>
              <a:t>instead</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one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skill.</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Compare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this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with</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local</a:t>
            </a:r>
            <a:r>
              <a:rPr lang="en-US" spc="-6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quality</a:t>
            </a:r>
            <a:r>
              <a:rPr lang="en-US" spc="-6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principle.</a:t>
            </a:r>
            <a:endParaRPr lang="en-IN" dirty="0">
              <a:effectLst/>
              <a:latin typeface="Times New Roman" panose="02020603050405020304" pitchFamily="18" charset="0"/>
              <a:ea typeface="Times New Roman" panose="02020603050405020304" pitchFamily="18" charset="0"/>
            </a:endParaRPr>
          </a:p>
          <a:p>
            <a:pPr>
              <a:spcBef>
                <a:spcPts val="130"/>
              </a:spcBef>
            </a:pPr>
            <a:r>
              <a:rPr lang="en-US" sz="1050" dirty="0">
                <a:effectLst/>
                <a:latin typeface="Times New Roman" panose="02020603050405020304" pitchFamily="18" charset="0"/>
                <a:ea typeface="Times New Roman" panose="02020603050405020304" pitchFamily="18" charset="0"/>
              </a:rPr>
              <a:t> </a:t>
            </a:r>
            <a:endParaRPr lang="en-IN" sz="1050" dirty="0">
              <a:effectLst/>
              <a:latin typeface="Times New Roman" panose="02020603050405020304" pitchFamily="18" charset="0"/>
              <a:ea typeface="Times New Roman" panose="02020603050405020304" pitchFamily="18" charset="0"/>
            </a:endParaRPr>
          </a:p>
        </p:txBody>
      </p:sp>
      <p:pic>
        <p:nvPicPr>
          <p:cNvPr id="2050" name="Picture 2" descr="High voltage generators for diesel and gas engines - Generators for ...">
            <a:extLst>
              <a:ext uri="{FF2B5EF4-FFF2-40B4-BE49-F238E27FC236}">
                <a16:creationId xmlns:a16="http://schemas.microsoft.com/office/drawing/2014/main" id="{58BF0BC1-8434-5FBA-58C6-14F834207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7392" y="3158383"/>
            <a:ext cx="4376530" cy="2993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77431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anon imageCLASS MF MF269dw Laser Multifunction Printer - Monochrome ...">
            <a:extLst>
              <a:ext uri="{FF2B5EF4-FFF2-40B4-BE49-F238E27FC236}">
                <a16:creationId xmlns:a16="http://schemas.microsoft.com/office/drawing/2014/main" id="{94C4FE93-91F1-39AE-92EE-3D204A915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897" y="117987"/>
            <a:ext cx="4894006" cy="39034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Q18 Smart Watch With Touch Screen Camera TF Card Passometer Bluetooth ...">
            <a:extLst>
              <a:ext uri="{FF2B5EF4-FFF2-40B4-BE49-F238E27FC236}">
                <a16:creationId xmlns:a16="http://schemas.microsoft.com/office/drawing/2014/main" id="{150D2596-7C57-7644-9890-446EA50E1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4193" y="0"/>
            <a:ext cx="4068097" cy="390340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LIVALL BH51M Neo Multifunctional Helmet black | Addnature.co.uk">
            <a:extLst>
              <a:ext uri="{FF2B5EF4-FFF2-40B4-BE49-F238E27FC236}">
                <a16:creationId xmlns:a16="http://schemas.microsoft.com/office/drawing/2014/main" id="{FF08933B-2688-CC21-0544-8DE98D8BC1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5793" y="3647766"/>
            <a:ext cx="3156156" cy="2828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209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1853EC-B3DF-E590-E7ED-EF825825E9FE}"/>
              </a:ext>
            </a:extLst>
          </p:cNvPr>
          <p:cNvSpPr txBox="1"/>
          <p:nvPr/>
        </p:nvSpPr>
        <p:spPr>
          <a:xfrm>
            <a:off x="395080" y="1011888"/>
            <a:ext cx="6979756" cy="4600940"/>
          </a:xfrm>
          <a:prstGeom prst="rect">
            <a:avLst/>
          </a:prstGeom>
          <a:noFill/>
        </p:spPr>
        <p:txBody>
          <a:bodyPr wrap="square">
            <a:spAutoFit/>
          </a:bodyPr>
          <a:lstStyle/>
          <a:p>
            <a:pPr marL="209550" marR="233045" algn="just">
              <a:lnSpc>
                <a:spcPct val="106000"/>
              </a:lnSpc>
              <a:spcBef>
                <a:spcPts val="635"/>
              </a:spcBef>
              <a:spcAft>
                <a:spcPts val="0"/>
              </a:spcAft>
            </a:pPr>
            <a:r>
              <a:rPr lang="en-US" sz="2000" b="1" dirty="0">
                <a:solidFill>
                  <a:srgbClr val="231F20"/>
                </a:solidFill>
                <a:effectLst/>
                <a:latin typeface="Times New Roman" panose="02020603050405020304" pitchFamily="18" charset="0"/>
                <a:ea typeface="Times New Roman" panose="02020603050405020304" pitchFamily="18" charset="0"/>
              </a:rPr>
              <a:t>4.Preliminary</a:t>
            </a:r>
            <a:r>
              <a:rPr lang="en-US" sz="2000" b="1" spc="-70" dirty="0">
                <a:solidFill>
                  <a:srgbClr val="231F20"/>
                </a:solidFill>
                <a:effectLst/>
                <a:latin typeface="Times New Roman" panose="02020603050405020304" pitchFamily="18" charset="0"/>
                <a:ea typeface="Times New Roman" panose="02020603050405020304" pitchFamily="18" charset="0"/>
              </a:rPr>
              <a:t> </a:t>
            </a:r>
            <a:r>
              <a:rPr lang="en-US" sz="2000" b="1" dirty="0">
                <a:solidFill>
                  <a:srgbClr val="231F20"/>
                </a:solidFill>
                <a:effectLst/>
                <a:latin typeface="Times New Roman" panose="02020603050405020304" pitchFamily="18" charset="0"/>
                <a:ea typeface="Times New Roman" panose="02020603050405020304" pitchFamily="18" charset="0"/>
              </a:rPr>
              <a:t>action</a:t>
            </a:r>
            <a:r>
              <a:rPr lang="en-US" sz="2000" b="1" dirty="0">
                <a:solidFill>
                  <a:srgbClr val="231F20"/>
                </a:solidFill>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Perform,</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before</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it</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is</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needed,</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the</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required</a:t>
            </a:r>
            <a:r>
              <a:rPr lang="en-US" spc="-70"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change</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of</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an</a:t>
            </a:r>
            <a:r>
              <a:rPr lang="en-US" spc="-6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object or</a:t>
            </a:r>
            <a:r>
              <a:rPr lang="en-US" spc="-55" dirty="0">
                <a:solidFill>
                  <a:srgbClr val="FF0000"/>
                </a:solidFill>
                <a:effectLst/>
                <a:latin typeface="Times New Roman" panose="02020603050405020304" pitchFamily="18" charset="0"/>
                <a:ea typeface="Times New Roman" panose="02020603050405020304" pitchFamily="18" charset="0"/>
              </a:rPr>
              <a:t> </a:t>
            </a:r>
            <a:r>
              <a:rPr lang="en-US" dirty="0">
                <a:solidFill>
                  <a:srgbClr val="FF0000"/>
                </a:solidFill>
                <a:effectLst/>
                <a:latin typeface="Times New Roman" panose="02020603050405020304" pitchFamily="18" charset="0"/>
                <a:ea typeface="Times New Roman" panose="02020603050405020304" pitchFamily="18" charset="0"/>
              </a:rPr>
              <a:t>system</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(either</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fully</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or</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partially).</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Prearrange</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objects</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so</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that</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they</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can</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come</a:t>
            </a:r>
            <a:r>
              <a:rPr lang="en-US" spc="-5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into action</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from</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most</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convenient</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place</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and</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without</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losing</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time</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for</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their</a:t>
            </a:r>
            <a:r>
              <a:rPr lang="en-US" spc="-2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delivery.</a:t>
            </a:r>
            <a:endParaRPr lang="en-US" dirty="0">
              <a:solidFill>
                <a:srgbClr val="231F20"/>
              </a:solidFill>
              <a:latin typeface="Times New Roman" panose="02020603050405020304" pitchFamily="18" charset="0"/>
              <a:ea typeface="Times New Roman" panose="02020603050405020304" pitchFamily="18" charset="0"/>
            </a:endParaRPr>
          </a:p>
          <a:p>
            <a:pPr marL="495300" marR="233045" indent="-285750" algn="just">
              <a:lnSpc>
                <a:spcPct val="106000"/>
              </a:lnSpc>
              <a:spcBef>
                <a:spcPts val="635"/>
              </a:spcBef>
              <a:spcAft>
                <a:spcPts val="0"/>
              </a:spcAft>
              <a:buFont typeface="Arial" panose="020B0604020202020204" pitchFamily="34" charset="0"/>
              <a:buChar char="•"/>
            </a:pPr>
            <a:r>
              <a:rPr lang="en-US" spc="-20" dirty="0">
                <a:solidFill>
                  <a:srgbClr val="231F20"/>
                </a:solidFill>
                <a:effectLst/>
                <a:latin typeface="Times New Roman" panose="02020603050405020304" pitchFamily="18" charset="0"/>
                <a:ea typeface="Lucida Sans Unicode" panose="020B0602030504020204" pitchFamily="34" charset="0"/>
              </a:rPr>
              <a:t>Preliminary</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perforated</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packaging</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is</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easy</a:t>
            </a:r>
            <a:r>
              <a:rPr lang="en-US" spc="1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to</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open. </a:t>
            </a:r>
          </a:p>
          <a:p>
            <a:pPr marL="495300" marR="233045" indent="-285750" algn="just">
              <a:lnSpc>
                <a:spcPct val="106000"/>
              </a:lnSpc>
              <a:spcBef>
                <a:spcPts val="635"/>
              </a:spcBef>
              <a:spcAft>
                <a:spcPts val="0"/>
              </a:spcAft>
              <a:buFont typeface="Arial" panose="020B0604020202020204" pitchFamily="34" charset="0"/>
              <a:buChar char="•"/>
            </a:pPr>
            <a:r>
              <a:rPr lang="en-US" spc="0" dirty="0">
                <a:solidFill>
                  <a:srgbClr val="231F20"/>
                </a:solidFill>
                <a:effectLst/>
                <a:latin typeface="Times New Roman" panose="02020603050405020304" pitchFamily="18" charset="0"/>
                <a:ea typeface="Lucida Sans Unicode" panose="020B0602030504020204" pitchFamily="34" charset="0"/>
              </a:rPr>
              <a:t>Precut parts for the building of wooden houses save work at the construction site. </a:t>
            </a:r>
          </a:p>
          <a:p>
            <a:pPr marL="495300" marR="233045" indent="-285750" algn="just">
              <a:lnSpc>
                <a:spcPct val="106000"/>
              </a:lnSpc>
              <a:spcBef>
                <a:spcPts val="635"/>
              </a:spcBef>
              <a:spcAft>
                <a:spcPts val="0"/>
              </a:spcAft>
              <a:buFont typeface="Arial" panose="020B0604020202020204" pitchFamily="34" charset="0"/>
              <a:buChar char="•"/>
            </a:pPr>
            <a:r>
              <a:rPr lang="en-US" spc="0" dirty="0">
                <a:solidFill>
                  <a:srgbClr val="231F20"/>
                </a:solidFill>
                <a:effectLst/>
                <a:latin typeface="Times New Roman" panose="02020603050405020304" pitchFamily="18" charset="0"/>
                <a:ea typeface="Lucida Sans Unicode" panose="020B0602030504020204" pitchFamily="34" charset="0"/>
              </a:rPr>
              <a:t>Workers</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arrange</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their</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workspace</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so</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that</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the</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most</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frequently</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used</a:t>
            </a:r>
            <a:r>
              <a:rPr lang="en-US" spc="10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tools (physical,</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paper,</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or</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electronic)</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are</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the</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easiest</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to</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reach. </a:t>
            </a:r>
          </a:p>
          <a:p>
            <a:pPr marL="495300" marR="233045" indent="-285750" algn="just">
              <a:lnSpc>
                <a:spcPct val="106000"/>
              </a:lnSpc>
              <a:spcBef>
                <a:spcPts val="635"/>
              </a:spcBef>
              <a:spcAft>
                <a:spcPts val="0"/>
              </a:spcAft>
              <a:buFont typeface="Arial" panose="020B0604020202020204" pitchFamily="34" charset="0"/>
              <a:buChar char="•"/>
            </a:pPr>
            <a:r>
              <a:rPr lang="en-US" spc="-20" dirty="0">
                <a:solidFill>
                  <a:srgbClr val="231F20"/>
                </a:solidFill>
                <a:effectLst/>
                <a:latin typeface="Times New Roman" panose="02020603050405020304" pitchFamily="18" charset="0"/>
                <a:ea typeface="Lucida Sans Unicode" panose="020B0602030504020204" pitchFamily="34" charset="0"/>
              </a:rPr>
              <a:t>Do</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market</a:t>
            </a:r>
            <a:r>
              <a:rPr lang="en-US" spc="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research,</a:t>
            </a:r>
            <a:r>
              <a:rPr lang="en-US" spc="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study</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possible</a:t>
            </a:r>
            <a:r>
              <a:rPr lang="en-US" spc="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futures,</a:t>
            </a:r>
            <a:r>
              <a:rPr lang="en-US" spc="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build</a:t>
            </a:r>
            <a:r>
              <a:rPr lang="en-US" spc="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reserves</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for</a:t>
            </a:r>
            <a:r>
              <a:rPr lang="en-US" spc="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changes. </a:t>
            </a:r>
          </a:p>
          <a:p>
            <a:pPr marL="495300" marR="233045" indent="-285750" algn="just">
              <a:lnSpc>
                <a:spcPct val="106000"/>
              </a:lnSpc>
              <a:spcBef>
                <a:spcPts val="635"/>
              </a:spcBef>
              <a:spcAft>
                <a:spcPts val="0"/>
              </a:spcAft>
              <a:buFont typeface="Arial" panose="020B0604020202020204" pitchFamily="34" charset="0"/>
              <a:buChar char="•"/>
            </a:pPr>
            <a:r>
              <a:rPr lang="en-US" spc="0" dirty="0">
                <a:solidFill>
                  <a:srgbClr val="231F20"/>
                </a:solidFill>
                <a:effectLst/>
                <a:latin typeface="Times New Roman" panose="02020603050405020304" pitchFamily="18" charset="0"/>
                <a:ea typeface="Lucida Sans Unicode" panose="020B0602030504020204" pitchFamily="34" charset="0"/>
              </a:rPr>
              <a:t>Prepare</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solutions</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to</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problems</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that</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customers</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are</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not</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complaining</a:t>
            </a:r>
            <a:r>
              <a:rPr lang="en-US" spc="95" dirty="0">
                <a:solidFill>
                  <a:srgbClr val="231F20"/>
                </a:solidFill>
                <a:effectLst/>
                <a:latin typeface="Times New Roman" panose="02020603050405020304" pitchFamily="18" charset="0"/>
                <a:ea typeface="Lucida Sans Unicode" panose="020B0602030504020204" pitchFamily="34" charset="0"/>
              </a:rPr>
              <a:t> </a:t>
            </a:r>
            <a:r>
              <a:rPr lang="en-US" spc="0" dirty="0">
                <a:solidFill>
                  <a:srgbClr val="231F20"/>
                </a:solidFill>
                <a:effectLst/>
                <a:latin typeface="Times New Roman" panose="02020603050405020304" pitchFamily="18" charset="0"/>
                <a:ea typeface="Lucida Sans Unicode" panose="020B0602030504020204" pitchFamily="34" charset="0"/>
              </a:rPr>
              <a:t>about today, but may notice tomorrow environment, moral code.</a:t>
            </a:r>
            <a:endParaRPr lang="en-IN" spc="0" dirty="0">
              <a:effectLst/>
              <a:latin typeface="Times New Roman" panose="02020603050405020304" pitchFamily="18" charset="0"/>
              <a:ea typeface="Lucida Sans Unicode" panose="020B0602030504020204" pitchFamily="34" charset="0"/>
            </a:endParaRPr>
          </a:p>
        </p:txBody>
      </p:sp>
      <p:grpSp>
        <p:nvGrpSpPr>
          <p:cNvPr id="4" name="Group 3">
            <a:extLst>
              <a:ext uri="{FF2B5EF4-FFF2-40B4-BE49-F238E27FC236}">
                <a16:creationId xmlns:a16="http://schemas.microsoft.com/office/drawing/2014/main" id="{9AF3E68A-C2F9-EC8C-E579-5BED996C4CD0}"/>
              </a:ext>
            </a:extLst>
          </p:cNvPr>
          <p:cNvGrpSpPr>
            <a:grpSpLocks/>
          </p:cNvGrpSpPr>
          <p:nvPr/>
        </p:nvGrpSpPr>
        <p:grpSpPr>
          <a:xfrm>
            <a:off x="7735957" y="1324684"/>
            <a:ext cx="4230756" cy="1309185"/>
            <a:chOff x="0" y="0"/>
            <a:chExt cx="4267200" cy="687108"/>
          </a:xfrm>
        </p:grpSpPr>
        <p:pic>
          <p:nvPicPr>
            <p:cNvPr id="5" name="Image 477">
              <a:extLst>
                <a:ext uri="{FF2B5EF4-FFF2-40B4-BE49-F238E27FC236}">
                  <a16:creationId xmlns:a16="http://schemas.microsoft.com/office/drawing/2014/main" id="{05ADA6FD-5549-5A23-C637-12E83DC6AC9A}"/>
                </a:ext>
              </a:extLst>
            </p:cNvPr>
            <p:cNvPicPr/>
            <p:nvPr/>
          </p:nvPicPr>
          <p:blipFill>
            <a:blip r:embed="rId2" cstate="print"/>
            <a:stretch>
              <a:fillRect/>
            </a:stretch>
          </p:blipFill>
          <p:spPr>
            <a:xfrm>
              <a:off x="762000" y="0"/>
              <a:ext cx="2743200" cy="635507"/>
            </a:xfrm>
            <a:prstGeom prst="rect">
              <a:avLst/>
            </a:prstGeom>
          </p:spPr>
        </p:pic>
        <p:sp>
          <p:nvSpPr>
            <p:cNvPr id="6" name="Graphic 478">
              <a:extLst>
                <a:ext uri="{FF2B5EF4-FFF2-40B4-BE49-F238E27FC236}">
                  <a16:creationId xmlns:a16="http://schemas.microsoft.com/office/drawing/2014/main" id="{846918F6-7E24-8A3B-A374-1A412D2127EB}"/>
                </a:ext>
              </a:extLst>
            </p:cNvPr>
            <p:cNvSpPr/>
            <p:nvPr/>
          </p:nvSpPr>
          <p:spPr>
            <a:xfrm>
              <a:off x="0" y="68583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dirty="0"/>
            </a:p>
          </p:txBody>
        </p:sp>
      </p:grpSp>
      <p:sp>
        <p:nvSpPr>
          <p:cNvPr id="8" name="TextBox 7">
            <a:extLst>
              <a:ext uri="{FF2B5EF4-FFF2-40B4-BE49-F238E27FC236}">
                <a16:creationId xmlns:a16="http://schemas.microsoft.com/office/drawing/2014/main" id="{7EBD1C4D-963C-673E-9D0A-37FAF0C9DDD9}"/>
              </a:ext>
            </a:extLst>
          </p:cNvPr>
          <p:cNvSpPr txBox="1"/>
          <p:nvPr/>
        </p:nvSpPr>
        <p:spPr>
          <a:xfrm>
            <a:off x="6693176" y="2746151"/>
            <a:ext cx="6097656" cy="276999"/>
          </a:xfrm>
          <a:prstGeom prst="rect">
            <a:avLst/>
          </a:prstGeom>
          <a:noFill/>
        </p:spPr>
        <p:txBody>
          <a:bodyPr wrap="square">
            <a:spAutoFit/>
          </a:bodyPr>
          <a:lstStyle/>
          <a:p>
            <a:pPr algn="ctr"/>
            <a:r>
              <a:rPr lang="en-US" sz="12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sheets of stamps are perforated before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sale, to make separation easy</a:t>
            </a:r>
            <a:endParaRPr lang="en-IN" sz="1200" dirty="0"/>
          </a:p>
        </p:txBody>
      </p:sp>
      <p:pic>
        <p:nvPicPr>
          <p:cNvPr id="4098" name="Picture 2" descr="perforated pull tab - Google Search Packging Design, Seed Kit, Holiday ...">
            <a:extLst>
              <a:ext uri="{FF2B5EF4-FFF2-40B4-BE49-F238E27FC236}">
                <a16:creationId xmlns:a16="http://schemas.microsoft.com/office/drawing/2014/main" id="{1CA11996-1208-408B-AA53-1A4C0DC23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677" y="3312358"/>
            <a:ext cx="4445036" cy="3108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4392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BC24B9-BA35-4381-54EA-15E6324D4CA7}"/>
              </a:ext>
            </a:extLst>
          </p:cNvPr>
          <p:cNvSpPr txBox="1"/>
          <p:nvPr/>
        </p:nvSpPr>
        <p:spPr>
          <a:xfrm>
            <a:off x="832402" y="899996"/>
            <a:ext cx="6097656" cy="2308324"/>
          </a:xfrm>
          <a:prstGeom prst="rect">
            <a:avLst/>
          </a:prstGeom>
          <a:noFill/>
        </p:spPr>
        <p:txBody>
          <a:bodyPr wrap="square">
            <a:spAutoFit/>
          </a:bodyPr>
          <a:lstStyle/>
          <a:p>
            <a:r>
              <a:rPr lang="en-US" sz="1800" b="1" spc="-20" dirty="0">
                <a:solidFill>
                  <a:srgbClr val="231F20"/>
                </a:solidFill>
                <a:effectLst/>
                <a:latin typeface="Times New Roman" panose="02020603050405020304" pitchFamily="18" charset="0"/>
                <a:ea typeface="Times New Roman" panose="02020603050405020304" pitchFamily="18" charset="0"/>
              </a:rPr>
              <a:t>5. BEFOREHAND</a:t>
            </a:r>
            <a:r>
              <a:rPr lang="en-US" sz="1800" b="1" spc="-50" dirty="0">
                <a:solidFill>
                  <a:srgbClr val="231F20"/>
                </a:solidFill>
                <a:effectLst/>
                <a:latin typeface="Times New Roman" panose="02020603050405020304" pitchFamily="18" charset="0"/>
                <a:ea typeface="Times New Roman" panose="02020603050405020304" pitchFamily="18" charset="0"/>
              </a:rPr>
              <a:t> </a:t>
            </a:r>
            <a:r>
              <a:rPr lang="en-US" sz="1800" b="1" spc="-20" dirty="0">
                <a:solidFill>
                  <a:srgbClr val="231F20"/>
                </a:solidFill>
                <a:effectLst/>
                <a:latin typeface="Times New Roman" panose="02020603050405020304" pitchFamily="18" charset="0"/>
                <a:ea typeface="Times New Roman" panose="02020603050405020304" pitchFamily="18" charset="0"/>
              </a:rPr>
              <a:t>COMPENSATION:</a:t>
            </a:r>
          </a:p>
          <a:p>
            <a:endParaRPr lang="en-US" sz="1800" b="1" spc="-20" dirty="0">
              <a:solidFill>
                <a:srgbClr val="231F20"/>
              </a:solidFill>
              <a:effectLst/>
              <a:latin typeface="Times New Roman" panose="02020603050405020304" pitchFamily="18" charset="0"/>
              <a:ea typeface="Times New Roman" panose="02020603050405020304" pitchFamily="18" charset="0"/>
            </a:endParaRPr>
          </a:p>
          <a:p>
            <a:pPr algn="just"/>
            <a:r>
              <a:rPr lang="en-US" sz="1800" spc="-20" dirty="0">
                <a:solidFill>
                  <a:srgbClr val="FF0000"/>
                </a:solidFill>
                <a:effectLst/>
                <a:latin typeface="Times New Roman" panose="02020603050405020304" pitchFamily="18" charset="0"/>
                <a:ea typeface="Times New Roman" panose="02020603050405020304" pitchFamily="18" charset="0"/>
              </a:rPr>
              <a:t>Prepare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emergency</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means</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beforehand</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to</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compensate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for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7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relatively</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low</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reliability</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of</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an</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object</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system</a:t>
            </a:r>
            <a:r>
              <a:rPr lang="en-US" sz="1800" spc="-7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over</a:t>
            </a:r>
            <a:r>
              <a:rPr lang="en-US" sz="1800" spc="-6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time</a:t>
            </a:r>
            <a:r>
              <a:rPr lang="en-US" dirty="0">
                <a:solidFill>
                  <a:srgbClr val="FF0000"/>
                </a:solidFill>
                <a:latin typeface="Times New Roman" panose="02020603050405020304" pitchFamily="18" charset="0"/>
                <a:ea typeface="Times New Roman" panose="02020603050405020304" pitchFamily="18" charset="0"/>
              </a:rPr>
              <a:t>.</a:t>
            </a:r>
          </a:p>
          <a:p>
            <a:pPr algn="just"/>
            <a:endParaRPr lang="en-US" dirty="0">
              <a:solidFill>
                <a:srgbClr val="FF0000"/>
              </a:solidFill>
              <a:latin typeface="Times New Roman" panose="02020603050405020304" pitchFamily="18" charset="0"/>
              <a:ea typeface="Times New Roman" panose="02020603050405020304" pitchFamily="18" charset="0"/>
            </a:endParaRPr>
          </a:p>
          <a:p>
            <a:pPr algn="just"/>
            <a:r>
              <a:rPr lang="en-US" sz="1800" dirty="0">
                <a:solidFill>
                  <a:srgbClr val="231F20"/>
                </a:solidFill>
                <a:effectLst/>
                <a:latin typeface="Times New Roman" panose="02020603050405020304" pitchFamily="18" charset="0"/>
                <a:ea typeface="Times New Roman" panose="02020603050405020304" pitchFamily="18" charset="0"/>
              </a:rPr>
              <a:t>Well-known technological examples are </a:t>
            </a:r>
            <a:r>
              <a:rPr lang="en-US" sz="1800" dirty="0">
                <a:solidFill>
                  <a:schemeClr val="accent1"/>
                </a:solidFill>
                <a:effectLst/>
                <a:latin typeface="Times New Roman" panose="02020603050405020304" pitchFamily="18" charset="0"/>
                <a:ea typeface="Times New Roman" panose="02020603050405020304" pitchFamily="18" charset="0"/>
              </a:rPr>
              <a:t>airbags in cars </a:t>
            </a:r>
            <a:r>
              <a:rPr lang="en-US" sz="1800" dirty="0">
                <a:solidFill>
                  <a:srgbClr val="231F20"/>
                </a:solidFill>
                <a:effectLst/>
                <a:latin typeface="Times New Roman" panose="02020603050405020304" pitchFamily="18" charset="0"/>
                <a:ea typeface="Times New Roman" panose="02020603050405020304" pitchFamily="18" charset="0"/>
              </a:rPr>
              <a:t>and pressure relief valves</a:t>
            </a:r>
            <a:r>
              <a:rPr lang="en-US" sz="1800" spc="40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 boilers and chemical reactors.</a:t>
            </a:r>
            <a:endParaRPr lang="en-IN" sz="1800" dirty="0">
              <a:effectLst/>
              <a:latin typeface="Times New Roman" panose="02020603050405020304" pitchFamily="18" charset="0"/>
              <a:ea typeface="Times New Roman" panose="02020603050405020304" pitchFamily="18" charset="0"/>
            </a:endParaRPr>
          </a:p>
          <a:p>
            <a:pPr algn="just"/>
            <a:r>
              <a:rPr lang="en-US" sz="1800" spc="-65" dirty="0">
                <a:solidFill>
                  <a:srgbClr val="231F20"/>
                </a:solidFill>
                <a:effectLst/>
                <a:latin typeface="Times New Roman" panose="02020603050405020304" pitchFamily="18" charset="0"/>
                <a:ea typeface="Times New Roman" panose="02020603050405020304" pitchFamily="18" charset="0"/>
              </a:rPr>
              <a:t> </a:t>
            </a:r>
            <a:endParaRPr lang="en-IN" dirty="0"/>
          </a:p>
        </p:txBody>
      </p:sp>
      <p:sp>
        <p:nvSpPr>
          <p:cNvPr id="5" name="TextBox 4">
            <a:extLst>
              <a:ext uri="{FF2B5EF4-FFF2-40B4-BE49-F238E27FC236}">
                <a16:creationId xmlns:a16="http://schemas.microsoft.com/office/drawing/2014/main" id="{D8227375-06EE-6606-8FAF-ADCA3D90D2EA}"/>
              </a:ext>
            </a:extLst>
          </p:cNvPr>
          <p:cNvSpPr txBox="1"/>
          <p:nvPr/>
        </p:nvSpPr>
        <p:spPr>
          <a:xfrm>
            <a:off x="762827" y="3129072"/>
            <a:ext cx="6313833" cy="1593770"/>
          </a:xfrm>
          <a:prstGeom prst="rect">
            <a:avLst/>
          </a:prstGeom>
          <a:noFill/>
        </p:spPr>
        <p:txBody>
          <a:bodyPr wrap="square">
            <a:spAutoFit/>
          </a:bodyPr>
          <a:lstStyle/>
          <a:p>
            <a:pPr marL="209550" marR="234315" indent="190500" algn="just">
              <a:lnSpc>
                <a:spcPct val="110000"/>
              </a:lnSpc>
              <a:spcBef>
                <a:spcPts val="10"/>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Nontechnical</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posting</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instructions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possible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emergency</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situations: fires, the use of narcotics among personnel, environment problems, and preparation</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equipment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(first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aid</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rescue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kits,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fire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extinguishers)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where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they may be needed.</a:t>
            </a:r>
            <a:endParaRPr lang="en-IN" sz="1800" dirty="0">
              <a:effectLst/>
              <a:latin typeface="Times New Roman" panose="02020603050405020304" pitchFamily="18" charset="0"/>
              <a:ea typeface="Times New Roman" panose="02020603050405020304" pitchFamily="18" charset="0"/>
            </a:endParaRPr>
          </a:p>
        </p:txBody>
      </p:sp>
      <p:pic>
        <p:nvPicPr>
          <p:cNvPr id="6" name="Image 479">
            <a:extLst>
              <a:ext uri="{FF2B5EF4-FFF2-40B4-BE49-F238E27FC236}">
                <a16:creationId xmlns:a16="http://schemas.microsoft.com/office/drawing/2014/main" id="{FB79F728-D137-8CDE-5432-64DACC79D866}"/>
              </a:ext>
            </a:extLst>
          </p:cNvPr>
          <p:cNvPicPr>
            <a:picLocks/>
          </p:cNvPicPr>
          <p:nvPr/>
        </p:nvPicPr>
        <p:blipFill>
          <a:blip r:embed="rId2" cstate="print"/>
          <a:stretch>
            <a:fillRect/>
          </a:stretch>
        </p:blipFill>
        <p:spPr>
          <a:xfrm>
            <a:off x="8120271" y="899996"/>
            <a:ext cx="2723320" cy="3299859"/>
          </a:xfrm>
          <a:prstGeom prst="rect">
            <a:avLst/>
          </a:prstGeom>
        </p:spPr>
      </p:pic>
      <p:sp>
        <p:nvSpPr>
          <p:cNvPr id="8" name="TextBox 7">
            <a:extLst>
              <a:ext uri="{FF2B5EF4-FFF2-40B4-BE49-F238E27FC236}">
                <a16:creationId xmlns:a16="http://schemas.microsoft.com/office/drawing/2014/main" id="{F3C7914C-AC0B-0466-4683-8BE1A7049956}"/>
              </a:ext>
            </a:extLst>
          </p:cNvPr>
          <p:cNvSpPr txBox="1"/>
          <p:nvPr/>
        </p:nvSpPr>
        <p:spPr>
          <a:xfrm>
            <a:off x="7474226" y="4451934"/>
            <a:ext cx="4492487" cy="461088"/>
          </a:xfrm>
          <a:prstGeom prst="rect">
            <a:avLst/>
          </a:prstGeom>
          <a:noFill/>
        </p:spPr>
        <p:txBody>
          <a:bodyPr wrap="square">
            <a:spAutoFit/>
          </a:bodyPr>
          <a:lstStyle/>
          <a:p>
            <a:pPr marL="209550" marR="281940">
              <a:lnSpc>
                <a:spcPct val="103000"/>
              </a:lnSpc>
              <a:spcBef>
                <a:spcPts val="505"/>
              </a:spcBef>
              <a:spcAft>
                <a:spcPts val="0"/>
              </a:spcAft>
            </a:pPr>
            <a:r>
              <a:rPr lang="en-US" sz="1200" b="1" spc="-40" dirty="0">
                <a:solidFill>
                  <a:srgbClr val="231F20"/>
                </a:solidFill>
                <a:effectLst/>
                <a:latin typeface="Trebuchet MS" panose="020B0603020202020204" pitchFamily="34" charset="0"/>
                <a:ea typeface="Times New Roman" panose="02020603050405020304" pitchFamily="18" charset="0"/>
              </a:rPr>
              <a:t>Prepare</a:t>
            </a:r>
            <a:r>
              <a:rPr lang="en-US" sz="1200" b="1" spc="-25" dirty="0">
                <a:solidFill>
                  <a:srgbClr val="231F20"/>
                </a:solidFill>
                <a:effectLst/>
                <a:latin typeface="Trebuchet MS" panose="020B0603020202020204" pitchFamily="34" charset="0"/>
                <a:ea typeface="Times New Roman" panose="02020603050405020304" pitchFamily="18" charset="0"/>
              </a:rPr>
              <a:t> </a:t>
            </a:r>
            <a:r>
              <a:rPr lang="en-US" sz="1200" b="1" spc="-40" dirty="0">
                <a:solidFill>
                  <a:srgbClr val="231F20"/>
                </a:solidFill>
                <a:effectLst/>
                <a:latin typeface="Trebuchet MS" panose="020B0603020202020204" pitchFamily="34" charset="0"/>
                <a:ea typeface="Times New Roman" panose="02020603050405020304" pitchFamily="18" charset="0"/>
              </a:rPr>
              <a:t>emergency </a:t>
            </a:r>
            <a:r>
              <a:rPr lang="en-US" sz="1200" b="1" spc="-20" dirty="0">
                <a:solidFill>
                  <a:srgbClr val="231F20"/>
                </a:solidFill>
                <a:effectLst/>
                <a:latin typeface="Trebuchet MS" panose="020B0603020202020204" pitchFamily="34" charset="0"/>
                <a:ea typeface="Times New Roman" panose="02020603050405020304" pitchFamily="18" charset="0"/>
              </a:rPr>
              <a:t>means</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beforehand</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to</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compensate</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for</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the</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low</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reliability</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of</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a</a:t>
            </a:r>
            <a:r>
              <a:rPr lang="en-US" sz="1200" b="1" spc="-35" dirty="0">
                <a:solidFill>
                  <a:srgbClr val="231F20"/>
                </a:solidFill>
                <a:effectLst/>
                <a:latin typeface="Trebuchet MS" panose="020B0603020202020204" pitchFamily="34" charset="0"/>
                <a:ea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rPr>
              <a:t>system.</a:t>
            </a:r>
            <a:endParaRPr lang="en-IN" sz="12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C44F95F7-560C-8863-5613-13165BDBE715}"/>
              </a:ext>
            </a:extLst>
          </p:cNvPr>
          <p:cNvSpPr txBox="1"/>
          <p:nvPr/>
        </p:nvSpPr>
        <p:spPr>
          <a:xfrm>
            <a:off x="802582" y="4913022"/>
            <a:ext cx="6274077" cy="984372"/>
          </a:xfrm>
          <a:prstGeom prst="rect">
            <a:avLst/>
          </a:prstGeom>
          <a:noFill/>
        </p:spPr>
        <p:txBody>
          <a:bodyPr wrap="square">
            <a:spAutoFit/>
          </a:bodyPr>
          <a:lstStyle/>
          <a:p>
            <a:pPr marL="209550" marR="233045" indent="190500" algn="just">
              <a:lnSpc>
                <a:spcPct val="110000"/>
              </a:lnSpc>
              <a:spcBef>
                <a:spcPts val="25"/>
              </a:spcBef>
              <a:spcAft>
                <a:spcPts val="0"/>
              </a:spcAft>
            </a:pPr>
            <a:r>
              <a:rPr lang="en-US" sz="1800" spc="-30" dirty="0">
                <a:solidFill>
                  <a:srgbClr val="231F20"/>
                </a:solidFill>
                <a:effectLst/>
                <a:latin typeface="Times New Roman" panose="02020603050405020304" pitchFamily="18" charset="0"/>
                <a:ea typeface="Times New Roman" panose="02020603050405020304" pitchFamily="18" charset="0"/>
              </a:rPr>
              <a:t>The </a:t>
            </a:r>
            <a:r>
              <a:rPr lang="en-US" sz="1800" spc="-30" dirty="0">
                <a:solidFill>
                  <a:schemeClr val="accent1"/>
                </a:solidFill>
                <a:effectLst/>
                <a:latin typeface="Times New Roman" panose="02020603050405020304" pitchFamily="18" charset="0"/>
                <a:ea typeface="Times New Roman" panose="02020603050405020304" pitchFamily="18" charset="0"/>
              </a:rPr>
              <a:t>frequently asked questions (FAQs) sections of many Web sites </a:t>
            </a:r>
            <a:r>
              <a:rPr lang="en-US" sz="1800" spc="-10" dirty="0">
                <a:solidFill>
                  <a:srgbClr val="231F20"/>
                </a:solidFill>
                <a:effectLst/>
                <a:latin typeface="Times New Roman" panose="02020603050405020304" pitchFamily="18" charset="0"/>
                <a:ea typeface="Times New Roman" panose="02020603050405020304" pitchFamily="18" charset="0"/>
              </a:rPr>
              <a:t>commonly,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users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told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how</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help</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themselves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solve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problems </a:t>
            </a:r>
            <a:r>
              <a:rPr lang="en-US" sz="1800" dirty="0">
                <a:solidFill>
                  <a:srgbClr val="231F20"/>
                </a:solidFill>
                <a:effectLst/>
                <a:latin typeface="Times New Roman" panose="02020603050405020304" pitchFamily="18" charset="0"/>
                <a:ea typeface="Times New Roman" panose="02020603050405020304" pitchFamily="18" charset="0"/>
              </a:rPr>
              <a:t>that are known to exist in the system.</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115906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viator's Breathing Oxygen Supplier | Get a Quote Today">
            <a:extLst>
              <a:ext uri="{FF2B5EF4-FFF2-40B4-BE49-F238E27FC236}">
                <a16:creationId xmlns:a16="http://schemas.microsoft.com/office/drawing/2014/main" id="{A800852D-75F6-1B12-5681-9F3724C0C3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861" y="599767"/>
            <a:ext cx="5143500" cy="26350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6KG ABC Stored Pressure Fire Extinguisher - COMBAT">
            <a:extLst>
              <a:ext uri="{FF2B5EF4-FFF2-40B4-BE49-F238E27FC236}">
                <a16:creationId xmlns:a16="http://schemas.microsoft.com/office/drawing/2014/main" id="{147A3E45-9546-8BD2-770E-75697B5D6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291" y="277760"/>
            <a:ext cx="4931441" cy="31512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echnical Specification for Uninterrupted Power Supply (UPS)">
            <a:extLst>
              <a:ext uri="{FF2B5EF4-FFF2-40B4-BE49-F238E27FC236}">
                <a16:creationId xmlns:a16="http://schemas.microsoft.com/office/drawing/2014/main" id="{5A84EF9B-C290-C519-02DD-5A8DDA2288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848" y="3623188"/>
            <a:ext cx="4956687" cy="2846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1099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F785180-B8DA-A455-E77E-D1DAA6B0FB90}"/>
              </a:ext>
            </a:extLst>
          </p:cNvPr>
          <p:cNvGrpSpPr>
            <a:grpSpLocks/>
          </p:cNvGrpSpPr>
          <p:nvPr/>
        </p:nvGrpSpPr>
        <p:grpSpPr>
          <a:xfrm>
            <a:off x="7252252" y="1369240"/>
            <a:ext cx="4267200" cy="748078"/>
            <a:chOff x="0" y="0"/>
            <a:chExt cx="4267200" cy="748078"/>
          </a:xfrm>
        </p:grpSpPr>
        <p:pic>
          <p:nvPicPr>
            <p:cNvPr id="3" name="Image 510">
              <a:extLst>
                <a:ext uri="{FF2B5EF4-FFF2-40B4-BE49-F238E27FC236}">
                  <a16:creationId xmlns:a16="http://schemas.microsoft.com/office/drawing/2014/main" id="{C058E504-F42B-F40E-945D-456AF9EAB042}"/>
                </a:ext>
              </a:extLst>
            </p:cNvPr>
            <p:cNvPicPr/>
            <p:nvPr/>
          </p:nvPicPr>
          <p:blipFill>
            <a:blip r:embed="rId2" cstate="print"/>
            <a:stretch>
              <a:fillRect/>
            </a:stretch>
          </p:blipFill>
          <p:spPr>
            <a:xfrm>
              <a:off x="762000" y="0"/>
              <a:ext cx="2743200" cy="696466"/>
            </a:xfrm>
            <a:prstGeom prst="rect">
              <a:avLst/>
            </a:prstGeom>
          </p:spPr>
        </p:pic>
        <p:sp>
          <p:nvSpPr>
            <p:cNvPr id="4" name="Graphic 511">
              <a:extLst>
                <a:ext uri="{FF2B5EF4-FFF2-40B4-BE49-F238E27FC236}">
                  <a16:creationId xmlns:a16="http://schemas.microsoft.com/office/drawing/2014/main" id="{40BBD653-9D16-5B45-92CC-6F67B13E0A0F}"/>
                </a:ext>
              </a:extLst>
            </p:cNvPr>
            <p:cNvSpPr/>
            <p:nvPr/>
          </p:nvSpPr>
          <p:spPr>
            <a:xfrm>
              <a:off x="0" y="74680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dirty="0"/>
            </a:p>
          </p:txBody>
        </p:sp>
      </p:grpSp>
      <p:sp>
        <p:nvSpPr>
          <p:cNvPr id="6" name="TextBox 5">
            <a:extLst>
              <a:ext uri="{FF2B5EF4-FFF2-40B4-BE49-F238E27FC236}">
                <a16:creationId xmlns:a16="http://schemas.microsoft.com/office/drawing/2014/main" id="{42BBF4A2-B67D-2F25-DE49-53144EFD22B1}"/>
              </a:ext>
            </a:extLst>
          </p:cNvPr>
          <p:cNvSpPr txBox="1"/>
          <p:nvPr/>
        </p:nvSpPr>
        <p:spPr>
          <a:xfrm>
            <a:off x="6795880" y="2430326"/>
            <a:ext cx="6097656" cy="270908"/>
          </a:xfrm>
          <a:prstGeom prst="rect">
            <a:avLst/>
          </a:prstGeom>
          <a:noFill/>
        </p:spPr>
        <p:txBody>
          <a:bodyPr wrap="square">
            <a:spAutoFit/>
          </a:bodyPr>
          <a:lstStyle/>
          <a:p>
            <a:pPr marL="209550" marR="577850">
              <a:lnSpc>
                <a:spcPct val="103000"/>
              </a:lnSpc>
              <a:spcBef>
                <a:spcPts val="505"/>
              </a:spcBef>
              <a:spcAft>
                <a:spcPts val="0"/>
              </a:spcAft>
            </a:pPr>
            <a:r>
              <a:rPr lang="en-US" sz="1200" b="1" spc="-30" dirty="0">
                <a:solidFill>
                  <a:srgbClr val="231F20"/>
                </a:solidFill>
                <a:effectLst/>
                <a:latin typeface="Trebuchet MS" panose="020B0603020202020204" pitchFamily="34" charset="0"/>
                <a:ea typeface="Times New Roman" panose="02020603050405020304" pitchFamily="18" charset="0"/>
              </a:rPr>
              <a:t>“Blessing</a:t>
            </a:r>
            <a:r>
              <a:rPr lang="en-US" sz="1200" b="1" spc="-40" dirty="0">
                <a:solidFill>
                  <a:srgbClr val="231F20"/>
                </a:solidFill>
                <a:effectLst/>
                <a:latin typeface="Trebuchet MS" panose="020B0603020202020204" pitchFamily="34" charset="0"/>
                <a:ea typeface="Times New Roman" panose="02020603050405020304" pitchFamily="18" charset="0"/>
              </a:rPr>
              <a:t> </a:t>
            </a:r>
            <a:r>
              <a:rPr lang="en-US" sz="1200" b="1" spc="-30" dirty="0">
                <a:solidFill>
                  <a:srgbClr val="231F20"/>
                </a:solidFill>
                <a:effectLst/>
                <a:latin typeface="Trebuchet MS" panose="020B0603020202020204" pitchFamily="34" charset="0"/>
                <a:ea typeface="Times New Roman" panose="02020603050405020304" pitchFamily="18" charset="0"/>
              </a:rPr>
              <a:t>in</a:t>
            </a:r>
            <a:r>
              <a:rPr lang="en-US" sz="1200" b="1" spc="-40" dirty="0">
                <a:solidFill>
                  <a:srgbClr val="231F20"/>
                </a:solidFill>
                <a:effectLst/>
                <a:latin typeface="Trebuchet MS" panose="020B0603020202020204" pitchFamily="34" charset="0"/>
                <a:ea typeface="Times New Roman" panose="02020603050405020304" pitchFamily="18" charset="0"/>
              </a:rPr>
              <a:t> </a:t>
            </a:r>
            <a:r>
              <a:rPr lang="en-US" sz="1200" b="1" spc="-30" dirty="0">
                <a:solidFill>
                  <a:srgbClr val="231F20"/>
                </a:solidFill>
                <a:effectLst/>
                <a:latin typeface="Trebuchet MS" panose="020B0603020202020204" pitchFamily="34" charset="0"/>
                <a:ea typeface="Times New Roman" panose="02020603050405020304" pitchFamily="18" charset="0"/>
              </a:rPr>
              <a:t>disguise.”</a:t>
            </a:r>
            <a:r>
              <a:rPr lang="en-US" sz="1200" b="1" spc="-45" dirty="0">
                <a:solidFill>
                  <a:srgbClr val="231F20"/>
                </a:solidFill>
                <a:effectLst/>
                <a:latin typeface="Trebuchet MS" panose="020B0603020202020204" pitchFamily="34" charset="0"/>
                <a:ea typeface="Times New Roman" panose="02020603050405020304" pitchFamily="18" charset="0"/>
              </a:rPr>
              <a:t> </a:t>
            </a:r>
            <a:r>
              <a:rPr lang="en-US" sz="1200" b="1" spc="-30" dirty="0">
                <a:solidFill>
                  <a:srgbClr val="231F20"/>
                </a:solidFill>
                <a:effectLst/>
                <a:latin typeface="Trebuchet MS" panose="020B0603020202020204" pitchFamily="34" charset="0"/>
                <a:ea typeface="Times New Roman" panose="02020603050405020304" pitchFamily="18" charset="0"/>
              </a:rPr>
              <a:t>Use</a:t>
            </a:r>
            <a:r>
              <a:rPr lang="en-US" sz="1200" b="1" spc="-40" dirty="0">
                <a:solidFill>
                  <a:srgbClr val="231F20"/>
                </a:solidFill>
                <a:effectLst/>
                <a:latin typeface="Trebuchet MS" panose="020B0603020202020204" pitchFamily="34" charset="0"/>
                <a:ea typeface="Times New Roman" panose="02020603050405020304" pitchFamily="18" charset="0"/>
              </a:rPr>
              <a:t> </a:t>
            </a:r>
            <a:r>
              <a:rPr lang="en-US" sz="1200" b="1" spc="-30" dirty="0">
                <a:solidFill>
                  <a:srgbClr val="231F20"/>
                </a:solidFill>
                <a:effectLst/>
                <a:latin typeface="Trebuchet MS" panose="020B0603020202020204" pitchFamily="34" charset="0"/>
                <a:ea typeface="Times New Roman" panose="02020603050405020304" pitchFamily="18" charset="0"/>
              </a:rPr>
              <a:t>harmful</a:t>
            </a:r>
            <a:r>
              <a:rPr lang="en-US" sz="1200" b="1" spc="-40" dirty="0">
                <a:solidFill>
                  <a:srgbClr val="231F20"/>
                </a:solidFill>
                <a:effectLst/>
                <a:latin typeface="Trebuchet MS" panose="020B0603020202020204" pitchFamily="34" charset="0"/>
                <a:ea typeface="Times New Roman" panose="02020603050405020304" pitchFamily="18" charset="0"/>
              </a:rPr>
              <a:t> </a:t>
            </a:r>
            <a:r>
              <a:rPr lang="en-US" sz="1200" b="1" spc="-30" dirty="0">
                <a:solidFill>
                  <a:srgbClr val="231F20"/>
                </a:solidFill>
                <a:effectLst/>
                <a:latin typeface="Trebuchet MS" panose="020B0603020202020204" pitchFamily="34" charset="0"/>
                <a:ea typeface="Times New Roman" panose="02020603050405020304" pitchFamily="18" charset="0"/>
              </a:rPr>
              <a:t>factors</a:t>
            </a:r>
            <a:r>
              <a:rPr lang="en-US" sz="1200" b="1" spc="-45" dirty="0">
                <a:solidFill>
                  <a:srgbClr val="231F20"/>
                </a:solidFill>
                <a:effectLst/>
                <a:latin typeface="Trebuchet MS" panose="020B0603020202020204" pitchFamily="34" charset="0"/>
                <a:ea typeface="Times New Roman" panose="02020603050405020304" pitchFamily="18" charset="0"/>
              </a:rPr>
              <a:t> </a:t>
            </a:r>
            <a:r>
              <a:rPr lang="en-US" sz="1200" b="1" spc="-30" dirty="0">
                <a:solidFill>
                  <a:srgbClr val="231F20"/>
                </a:solidFill>
                <a:effectLst/>
                <a:latin typeface="Trebuchet MS" panose="020B0603020202020204" pitchFamily="34" charset="0"/>
                <a:ea typeface="Times New Roman" panose="02020603050405020304" pitchFamily="18" charset="0"/>
              </a:rPr>
              <a:t>to </a:t>
            </a:r>
            <a:r>
              <a:rPr lang="en-US" sz="1200" b="1" dirty="0">
                <a:solidFill>
                  <a:srgbClr val="231F20"/>
                </a:solidFill>
                <a:effectLst/>
                <a:latin typeface="Trebuchet MS" panose="020B0603020202020204" pitchFamily="34" charset="0"/>
                <a:ea typeface="Times New Roman" panose="02020603050405020304" pitchFamily="18" charset="0"/>
              </a:rPr>
              <a:t>achieve</a:t>
            </a:r>
            <a:r>
              <a:rPr lang="en-US" sz="1200" b="1" spc="-75" dirty="0">
                <a:solidFill>
                  <a:srgbClr val="231F20"/>
                </a:solidFill>
                <a:effectLst/>
                <a:latin typeface="Trebuchet MS" panose="020B0603020202020204" pitchFamily="34" charset="0"/>
                <a:ea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rPr>
              <a:t>a</a:t>
            </a:r>
            <a:r>
              <a:rPr lang="en-US" sz="1200" b="1" spc="-70" dirty="0">
                <a:solidFill>
                  <a:srgbClr val="231F20"/>
                </a:solidFill>
                <a:effectLst/>
                <a:latin typeface="Trebuchet MS" panose="020B0603020202020204" pitchFamily="34" charset="0"/>
                <a:ea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rPr>
              <a:t>positive</a:t>
            </a:r>
            <a:r>
              <a:rPr lang="en-US" sz="1200" b="1" spc="-70" dirty="0">
                <a:solidFill>
                  <a:srgbClr val="231F20"/>
                </a:solidFill>
                <a:effectLst/>
                <a:latin typeface="Trebuchet MS" panose="020B0603020202020204" pitchFamily="34" charset="0"/>
                <a:ea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rPr>
              <a:t>effect.</a:t>
            </a:r>
            <a:endParaRPr lang="en-IN" sz="120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0EC5C044-CC1D-5835-65DD-1ABF8278514F}"/>
              </a:ext>
            </a:extLst>
          </p:cNvPr>
          <p:cNvSpPr txBox="1"/>
          <p:nvPr/>
        </p:nvSpPr>
        <p:spPr>
          <a:xfrm>
            <a:off x="350354" y="485707"/>
            <a:ext cx="6445526" cy="2308324"/>
          </a:xfrm>
          <a:prstGeom prst="rect">
            <a:avLst/>
          </a:prstGeom>
          <a:noFill/>
        </p:spPr>
        <p:txBody>
          <a:bodyPr wrap="square">
            <a:spAutoFit/>
          </a:bodyPr>
          <a:lstStyle/>
          <a:p>
            <a:pPr algn="just"/>
            <a:r>
              <a:rPr lang="en-US" sz="1800" b="1" i="1" dirty="0">
                <a:solidFill>
                  <a:srgbClr val="231F20"/>
                </a:solidFill>
                <a:effectLst/>
                <a:latin typeface="Times New Roman" panose="02020603050405020304" pitchFamily="18" charset="0"/>
                <a:ea typeface="Times New Roman" panose="02020603050405020304" pitchFamily="18" charset="0"/>
              </a:rPr>
              <a:t>6. BLESSING</a:t>
            </a:r>
            <a:r>
              <a:rPr lang="en-US" sz="1800" b="1" i="1" spc="-50" dirty="0">
                <a:solidFill>
                  <a:srgbClr val="231F20"/>
                </a:solidFill>
                <a:effectLst/>
                <a:latin typeface="Times New Roman" panose="02020603050405020304" pitchFamily="18" charset="0"/>
                <a:ea typeface="Times New Roman" panose="02020603050405020304" pitchFamily="18" charset="0"/>
              </a:rPr>
              <a:t> </a:t>
            </a:r>
            <a:r>
              <a:rPr lang="en-US" sz="1800" b="1" i="1" dirty="0">
                <a:solidFill>
                  <a:srgbClr val="231F20"/>
                </a:solidFill>
                <a:effectLst/>
                <a:latin typeface="Times New Roman" panose="02020603050405020304" pitchFamily="18" charset="0"/>
                <a:ea typeface="Times New Roman" panose="02020603050405020304" pitchFamily="18" charset="0"/>
              </a:rPr>
              <a:t>IN</a:t>
            </a:r>
            <a:r>
              <a:rPr lang="en-US" sz="1800" b="1" i="1" spc="-50" dirty="0">
                <a:solidFill>
                  <a:srgbClr val="231F20"/>
                </a:solidFill>
                <a:effectLst/>
                <a:latin typeface="Times New Roman" panose="02020603050405020304" pitchFamily="18" charset="0"/>
                <a:ea typeface="Times New Roman" panose="02020603050405020304" pitchFamily="18" charset="0"/>
              </a:rPr>
              <a:t> </a:t>
            </a:r>
            <a:r>
              <a:rPr lang="en-US" sz="1800" b="1" i="1" dirty="0">
                <a:solidFill>
                  <a:srgbClr val="231F20"/>
                </a:solidFill>
                <a:effectLst/>
                <a:latin typeface="Times New Roman" panose="02020603050405020304" pitchFamily="18" charset="0"/>
                <a:ea typeface="Times New Roman" panose="02020603050405020304" pitchFamily="18" charset="0"/>
              </a:rPr>
              <a:t>DISGUISE</a:t>
            </a:r>
            <a:r>
              <a:rPr lang="en-US" sz="1800" b="1" i="1"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“turn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lemons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into</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lemonade.”</a:t>
            </a:r>
            <a:r>
              <a:rPr lang="en-US" sz="1800" spc="-50" dirty="0">
                <a:solidFill>
                  <a:srgbClr val="231F20"/>
                </a:solidFill>
                <a:effectLst/>
                <a:latin typeface="Times New Roman" panose="02020603050405020304" pitchFamily="18" charset="0"/>
                <a:ea typeface="Times New Roman" panose="02020603050405020304" pitchFamily="18" charset="0"/>
              </a:rPr>
              <a:t> </a:t>
            </a:r>
          </a:p>
          <a:p>
            <a:pPr algn="just"/>
            <a:endParaRPr lang="en-US" spc="-50" dirty="0">
              <a:solidFill>
                <a:srgbClr val="231F20"/>
              </a:solidFill>
              <a:latin typeface="Times New Roman" panose="02020603050405020304" pitchFamily="18" charset="0"/>
              <a:ea typeface="Times New Roman" panose="02020603050405020304" pitchFamily="18" charset="0"/>
            </a:endParaRPr>
          </a:p>
          <a:p>
            <a:pPr algn="just"/>
            <a:r>
              <a:rPr lang="en-US" sz="1800" dirty="0">
                <a:solidFill>
                  <a:srgbClr val="FF0000"/>
                </a:solidFill>
                <a:effectLst/>
                <a:latin typeface="Times New Roman" panose="02020603050405020304" pitchFamily="18" charset="0"/>
                <a:ea typeface="Times New Roman" panose="02020603050405020304" pitchFamily="18" charset="0"/>
              </a:rPr>
              <a:t>Use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harmful</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factors</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(particularly harmful effects of the environment or surroundings) </a:t>
            </a:r>
            <a:r>
              <a:rPr lang="en-US" sz="1800" dirty="0">
                <a:solidFill>
                  <a:srgbClr val="FF0000"/>
                </a:solidFill>
                <a:effectLst/>
                <a:latin typeface="Times New Roman" panose="02020603050405020304" pitchFamily="18" charset="0"/>
                <a:ea typeface="Times New Roman" panose="02020603050405020304" pitchFamily="18" charset="0"/>
              </a:rPr>
              <a:t>to achieve a positive</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effect.</a:t>
            </a:r>
            <a:r>
              <a:rPr lang="en-US" sz="1800" spc="-30" dirty="0">
                <a:solidFill>
                  <a:srgbClr val="FF0000"/>
                </a:solidFill>
                <a:effectLst/>
                <a:latin typeface="Times New Roman" panose="02020603050405020304" pitchFamily="18" charset="0"/>
                <a:ea typeface="Times New Roman" panose="02020603050405020304" pitchFamily="18" charset="0"/>
              </a:rPr>
              <a:t> </a:t>
            </a:r>
          </a:p>
          <a:p>
            <a:pPr algn="just"/>
            <a:r>
              <a:rPr lang="en-US" sz="1800" dirty="0">
                <a:solidFill>
                  <a:srgbClr val="231F20"/>
                </a:solidFill>
                <a:effectLst/>
                <a:latin typeface="Times New Roman" panose="02020603050405020304" pitchFamily="18" charset="0"/>
                <a:ea typeface="Times New Roman" panose="02020603050405020304" pitchFamily="18" charset="0"/>
              </a:rPr>
              <a:t>Eliminate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primary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harmful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action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adding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another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harmful action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resolve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problem.</a:t>
            </a:r>
            <a:r>
              <a:rPr lang="en-US" sz="1800" spc="-45" dirty="0">
                <a:solidFill>
                  <a:srgbClr val="231F20"/>
                </a:solidFill>
                <a:effectLst/>
                <a:latin typeface="Times New Roman" panose="02020603050405020304" pitchFamily="18" charset="0"/>
                <a:ea typeface="Times New Roman" panose="02020603050405020304" pitchFamily="18" charset="0"/>
              </a:rPr>
              <a:t> </a:t>
            </a:r>
          </a:p>
          <a:p>
            <a:pPr algn="just"/>
            <a:r>
              <a:rPr lang="en-US" sz="1800" dirty="0">
                <a:solidFill>
                  <a:schemeClr val="accent1"/>
                </a:solidFill>
                <a:effectLst/>
                <a:latin typeface="Times New Roman" panose="02020603050405020304" pitchFamily="18" charset="0"/>
                <a:ea typeface="Times New Roman" panose="02020603050405020304" pitchFamily="18" charset="0"/>
              </a:rPr>
              <a:t>Amplify</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harmful</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factor</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to</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such</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degree</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that</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it</a:t>
            </a:r>
            <a:r>
              <a:rPr lang="en-US" sz="1800" spc="-4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is no</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longer</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harmful</a:t>
            </a:r>
            <a:r>
              <a:rPr lang="en-US" sz="1800" spc="-35" dirty="0">
                <a:solidFill>
                  <a:schemeClr val="accent1"/>
                </a:solidFill>
                <a:effectLst/>
                <a:latin typeface="Times New Roman" panose="02020603050405020304" pitchFamily="18" charset="0"/>
                <a:ea typeface="Times New Roman" panose="02020603050405020304" pitchFamily="18" charset="0"/>
              </a:rPr>
              <a:t> </a:t>
            </a:r>
            <a:endParaRPr lang="en-IN" dirty="0">
              <a:solidFill>
                <a:schemeClr val="accent1"/>
              </a:solidFill>
            </a:endParaRPr>
          </a:p>
        </p:txBody>
      </p:sp>
      <p:sp>
        <p:nvSpPr>
          <p:cNvPr id="10" name="TextBox 9">
            <a:extLst>
              <a:ext uri="{FF2B5EF4-FFF2-40B4-BE49-F238E27FC236}">
                <a16:creationId xmlns:a16="http://schemas.microsoft.com/office/drawing/2014/main" id="{65F14259-9CCA-CB48-B8FF-7016CB3B1EB1}"/>
              </a:ext>
            </a:extLst>
          </p:cNvPr>
          <p:cNvSpPr txBox="1"/>
          <p:nvPr/>
        </p:nvSpPr>
        <p:spPr>
          <a:xfrm>
            <a:off x="-198782" y="3005687"/>
            <a:ext cx="6559826" cy="3416320"/>
          </a:xfrm>
          <a:prstGeom prst="rect">
            <a:avLst/>
          </a:prstGeom>
          <a:noFill/>
        </p:spPr>
        <p:txBody>
          <a:bodyPr wrap="square">
            <a:spAutoFit/>
          </a:bodyPr>
          <a:lstStyle/>
          <a:p>
            <a:pPr marL="1657350" marR="233045" lvl="3" indent="-285750" algn="just">
              <a:buClr>
                <a:srgbClr val="231F20"/>
              </a:buClr>
              <a:buSzPts val="1050"/>
              <a:buFont typeface="Wingdings" panose="05000000000000000000" pitchFamily="2" charset="2"/>
              <a:buChar char="q"/>
              <a:tabLst>
                <a:tab pos="514350" algn="l"/>
              </a:tabLst>
            </a:pPr>
            <a:r>
              <a:rPr lang="en-US" spc="-30" dirty="0">
                <a:solidFill>
                  <a:schemeClr val="accent1"/>
                </a:solidFill>
                <a:effectLst/>
                <a:latin typeface="Times New Roman" panose="02020603050405020304" pitchFamily="18" charset="0"/>
                <a:ea typeface="Lucida Sans Unicode" panose="020B0602030504020204" pitchFamily="34" charset="0"/>
              </a:rPr>
              <a:t>Electric charges that are usually harmful can be used for the control of process</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Charges</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can</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cause</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fires</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and</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explosions,</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destroy</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electronic</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components,</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make </a:t>
            </a:r>
            <a:r>
              <a:rPr lang="en-US" spc="0" dirty="0">
                <a:solidFill>
                  <a:srgbClr val="231F20"/>
                </a:solidFill>
                <a:effectLst/>
                <a:latin typeface="Times New Roman" panose="02020603050405020304" pitchFamily="18" charset="0"/>
                <a:ea typeface="Lucida Sans Unicode" panose="020B0602030504020204" pitchFamily="34" charset="0"/>
              </a:rPr>
              <a:t>materials stick, and do other harm, but, the same charges, present in most</a:t>
            </a:r>
            <a:r>
              <a:rPr lang="en-IN" dirty="0">
                <a:latin typeface="Times New Roman" panose="02020603050405020304" pitchFamily="18" charset="0"/>
                <a:ea typeface="Lucida Sans Unicode" panose="020B0602030504020204" pitchFamily="34" charset="0"/>
              </a:rPr>
              <a:t> </a:t>
            </a:r>
            <a:r>
              <a:rPr lang="en-US" spc="-30" dirty="0">
                <a:solidFill>
                  <a:srgbClr val="231F20"/>
                </a:solidFill>
                <a:effectLst/>
                <a:latin typeface="Times New Roman" panose="02020603050405020304" pitchFamily="18" charset="0"/>
                <a:ea typeface="Times New Roman" panose="02020603050405020304" pitchFamily="18" charset="0"/>
              </a:rPr>
              <a:t>industrial processes, can give valuable information for the optimization of pro</a:t>
            </a:r>
            <a:r>
              <a:rPr lang="en-US" spc="-20" dirty="0">
                <a:solidFill>
                  <a:srgbClr val="231F20"/>
                </a:solidFill>
                <a:effectLst/>
                <a:latin typeface="Times New Roman" panose="02020603050405020304" pitchFamily="18" charset="0"/>
                <a:ea typeface="Times New Roman" panose="02020603050405020304" pitchFamily="18" charset="0"/>
              </a:rPr>
              <a:t>cess.</a:t>
            </a:r>
          </a:p>
          <a:p>
            <a:pPr marL="1657350" marR="233045" lvl="3" indent="-285750" algn="just">
              <a:buClr>
                <a:srgbClr val="231F20"/>
              </a:buClr>
              <a:buSzPts val="1050"/>
              <a:buFont typeface="Wingdings" panose="05000000000000000000" pitchFamily="2" charset="2"/>
              <a:buChar char="q"/>
              <a:tabLst>
                <a:tab pos="514350" algn="l"/>
              </a:tabLst>
            </a:pP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In</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coal</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firing,</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the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measurement</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of</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chemeClr val="accent1"/>
                </a:solidFill>
                <a:effectLst/>
                <a:latin typeface="Times New Roman" panose="02020603050405020304" pitchFamily="18" charset="0"/>
                <a:ea typeface="Times New Roman" panose="02020603050405020304" pitchFamily="18" charset="0"/>
              </a:rPr>
              <a:t>electrical</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20" dirty="0">
                <a:solidFill>
                  <a:schemeClr val="accent1"/>
                </a:solidFill>
                <a:effectLst/>
                <a:latin typeface="Times New Roman" panose="02020603050405020304" pitchFamily="18" charset="0"/>
                <a:ea typeface="Times New Roman" panose="02020603050405020304" pitchFamily="18" charset="0"/>
              </a:rPr>
              <a:t>charges</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20" dirty="0">
                <a:solidFill>
                  <a:schemeClr val="accent1"/>
                </a:solidFill>
                <a:effectLst/>
                <a:latin typeface="Times New Roman" panose="02020603050405020304" pitchFamily="18" charset="0"/>
                <a:ea typeface="Times New Roman" panose="02020603050405020304" pitchFamily="18" charset="0"/>
              </a:rPr>
              <a:t>on</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20" dirty="0">
                <a:solidFill>
                  <a:schemeClr val="accent1"/>
                </a:solidFill>
                <a:effectLst/>
                <a:latin typeface="Times New Roman" panose="02020603050405020304" pitchFamily="18" charset="0"/>
                <a:ea typeface="Times New Roman" panose="02020603050405020304" pitchFamily="18" charset="0"/>
              </a:rPr>
              <a:t>coal</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20" dirty="0">
                <a:solidFill>
                  <a:schemeClr val="accent1"/>
                </a:solidFill>
                <a:effectLst/>
                <a:latin typeface="Times New Roman" panose="02020603050405020304" pitchFamily="18" charset="0"/>
                <a:ea typeface="Times New Roman" panose="02020603050405020304" pitchFamily="18" charset="0"/>
              </a:rPr>
              <a:t>dust</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20" dirty="0">
                <a:solidFill>
                  <a:schemeClr val="accent1"/>
                </a:solidFill>
                <a:effectLst/>
                <a:latin typeface="Times New Roman" panose="02020603050405020304" pitchFamily="18" charset="0"/>
                <a:ea typeface="Times New Roman" panose="02020603050405020304" pitchFamily="18" charset="0"/>
              </a:rPr>
              <a:t>is</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20" dirty="0">
                <a:solidFill>
                  <a:schemeClr val="accent1"/>
                </a:solidFill>
                <a:effectLst/>
                <a:latin typeface="Times New Roman" panose="02020603050405020304" pitchFamily="18" charset="0"/>
                <a:ea typeface="Times New Roman" panose="02020603050405020304" pitchFamily="18" charset="0"/>
              </a:rPr>
              <a:t>used </a:t>
            </a:r>
            <a:r>
              <a:rPr lang="en-US" spc="-10" dirty="0">
                <a:solidFill>
                  <a:schemeClr val="accent1"/>
                </a:solidFill>
                <a:effectLst/>
                <a:latin typeface="Times New Roman" panose="02020603050405020304" pitchFamily="18" charset="0"/>
                <a:ea typeface="Times New Roman" panose="02020603050405020304" pitchFamily="18" charset="0"/>
              </a:rPr>
              <a:t>to</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control</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burning,</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decrease</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harmful</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nitrogen</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oxide</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emissions,</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and</a:t>
            </a:r>
            <a:r>
              <a:rPr lang="en-US" spc="-2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improve </a:t>
            </a:r>
            <a:r>
              <a:rPr lang="en-US" spc="-20" dirty="0">
                <a:solidFill>
                  <a:schemeClr val="accent1"/>
                </a:solidFill>
                <a:effectLst/>
                <a:latin typeface="Times New Roman" panose="02020603050405020304" pitchFamily="18" charset="0"/>
                <a:ea typeface="Times New Roman" panose="02020603050405020304" pitchFamily="18" charset="0"/>
              </a:rPr>
              <a:t>efficiency.</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In</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cement</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and</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lime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grinding,</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the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product</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quality</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can</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be improved</a:t>
            </a:r>
            <a:endParaRPr lang="en-IN" dirty="0"/>
          </a:p>
        </p:txBody>
      </p:sp>
      <p:sp>
        <p:nvSpPr>
          <p:cNvPr id="12" name="TextBox 11">
            <a:extLst>
              <a:ext uri="{FF2B5EF4-FFF2-40B4-BE49-F238E27FC236}">
                <a16:creationId xmlns:a16="http://schemas.microsoft.com/office/drawing/2014/main" id="{FB91E599-49DE-B15D-31C2-E9FE7BDF42E5}"/>
              </a:ext>
            </a:extLst>
          </p:cNvPr>
          <p:cNvSpPr txBox="1"/>
          <p:nvPr/>
        </p:nvSpPr>
        <p:spPr>
          <a:xfrm>
            <a:off x="5647084" y="3429000"/>
            <a:ext cx="6544916" cy="2031325"/>
          </a:xfrm>
          <a:prstGeom prst="rect">
            <a:avLst/>
          </a:prstGeom>
          <a:noFill/>
        </p:spPr>
        <p:txBody>
          <a:bodyPr wrap="square">
            <a:spAutoFit/>
          </a:bodyPr>
          <a:lstStyle/>
          <a:p>
            <a:pPr marL="1600200" marR="233680" lvl="3" indent="-228600" algn="just">
              <a:spcBef>
                <a:spcPts val="55"/>
              </a:spcBef>
              <a:spcAft>
                <a:spcPts val="0"/>
              </a:spcAft>
              <a:buClr>
                <a:srgbClr val="231F20"/>
              </a:buClr>
              <a:buSzPts val="1050"/>
              <a:buFont typeface="Lucida Sans Unicode" panose="020B0602030504020204" pitchFamily="34" charset="0"/>
              <a:buChar char="■"/>
              <a:tabLst>
                <a:tab pos="514350" algn="l"/>
              </a:tabLst>
            </a:pPr>
            <a:r>
              <a:rPr lang="en-US" spc="-10" dirty="0">
                <a:solidFill>
                  <a:schemeClr val="accent1"/>
                </a:solidFill>
                <a:effectLst/>
                <a:latin typeface="Times New Roman" panose="02020603050405020304" pitchFamily="18" charset="0"/>
                <a:ea typeface="Lucida Sans Unicode" panose="020B0602030504020204" pitchFamily="34" charset="0"/>
              </a:rPr>
              <a:t>Virus</a:t>
            </a:r>
            <a:r>
              <a:rPr lang="en-US" spc="-60"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attacks</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in</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computer</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networks</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are</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never</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good,</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but</a:t>
            </a:r>
            <a:r>
              <a:rPr lang="en-US" spc="-60"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each</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time</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the</a:t>
            </a:r>
            <a:r>
              <a:rPr lang="en-US" spc="-55" dirty="0">
                <a:solidFill>
                  <a:schemeClr val="accent1"/>
                </a:solidFill>
                <a:effectLst/>
                <a:latin typeface="Times New Roman" panose="02020603050405020304" pitchFamily="18" charset="0"/>
                <a:ea typeface="Lucida Sans Unicode" panose="020B0602030504020204" pitchFamily="34" charset="0"/>
              </a:rPr>
              <a:t> </a:t>
            </a:r>
            <a:r>
              <a:rPr lang="en-US" spc="-10" dirty="0">
                <a:solidFill>
                  <a:schemeClr val="accent1"/>
                </a:solidFill>
                <a:effectLst/>
                <a:latin typeface="Times New Roman" panose="02020603050405020304" pitchFamily="18" charset="0"/>
                <a:ea typeface="Lucida Sans Unicode" panose="020B0602030504020204" pitchFamily="34" charset="0"/>
              </a:rPr>
              <a:t>system </a:t>
            </a:r>
            <a:r>
              <a:rPr lang="en-US" spc="0" dirty="0">
                <a:solidFill>
                  <a:schemeClr val="accent1"/>
                </a:solidFill>
                <a:effectLst/>
                <a:latin typeface="Times New Roman" panose="02020603050405020304" pitchFamily="18" charset="0"/>
                <a:ea typeface="Lucida Sans Unicode" panose="020B0602030504020204" pitchFamily="34" charset="0"/>
              </a:rPr>
              <a:t>survives</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an</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attack,</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information</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is</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generated</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that</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makes</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the</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system</a:t>
            </a:r>
            <a:r>
              <a:rPr lang="en-US" spc="50" dirty="0">
                <a:solidFill>
                  <a:schemeClr val="accent1"/>
                </a:solidFill>
                <a:effectLst/>
                <a:latin typeface="Times New Roman" panose="02020603050405020304" pitchFamily="18" charset="0"/>
                <a:ea typeface="Lucida Sans Unicode" panose="020B0602030504020204" pitchFamily="34" charset="0"/>
              </a:rPr>
              <a:t> </a:t>
            </a:r>
            <a:r>
              <a:rPr lang="en-US" spc="0" dirty="0">
                <a:solidFill>
                  <a:schemeClr val="accent1"/>
                </a:solidFill>
                <a:effectLst/>
                <a:latin typeface="Times New Roman" panose="02020603050405020304" pitchFamily="18" charset="0"/>
                <a:ea typeface="Lucida Sans Unicode" panose="020B0602030504020204" pitchFamily="34" charset="0"/>
              </a:rPr>
              <a:t>better</a:t>
            </a:r>
            <a:r>
              <a:rPr lang="en-IN" dirty="0">
                <a:solidFill>
                  <a:schemeClr val="accent1"/>
                </a:solidFill>
                <a:latin typeface="Times New Roman" panose="02020603050405020304" pitchFamily="18" charset="0"/>
                <a:ea typeface="Lucida Sans Unicode" panose="020B0602030504020204" pitchFamily="34" charset="0"/>
              </a:rPr>
              <a:t> </a:t>
            </a:r>
            <a:r>
              <a:rPr lang="en-US" dirty="0">
                <a:solidFill>
                  <a:schemeClr val="accent1"/>
                </a:solidFill>
                <a:effectLst/>
                <a:latin typeface="Times New Roman" panose="02020603050405020304" pitchFamily="18" charset="0"/>
                <a:ea typeface="Times New Roman" panose="02020603050405020304" pitchFamily="18" charset="0"/>
              </a:rPr>
              <a:t>protected</a:t>
            </a:r>
            <a:r>
              <a:rPr lang="en-US" spc="-4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from</a:t>
            </a:r>
            <a:r>
              <a:rPr lang="en-US" spc="-4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the</a:t>
            </a:r>
            <a:r>
              <a:rPr lang="en-US" spc="-4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next</a:t>
            </a:r>
            <a:r>
              <a:rPr lang="en-US" spc="-4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attack</a:t>
            </a:r>
            <a:r>
              <a:rPr lang="en-US" dirty="0">
                <a:solidFill>
                  <a:srgbClr val="231F20"/>
                </a:solidFill>
                <a:effectLst/>
                <a:latin typeface="Times New Roman" panose="02020603050405020304" pitchFamily="18" charset="0"/>
                <a:ea typeface="Times New Roman" panose="02020603050405020304" pitchFamily="18" charset="0"/>
              </a:rPr>
              <a:t>.</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similar</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to</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way</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body</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works— </a:t>
            </a:r>
            <a:r>
              <a:rPr lang="en-US" spc="-10" dirty="0">
                <a:solidFill>
                  <a:srgbClr val="231F20"/>
                </a:solidFill>
                <a:effectLst/>
                <a:latin typeface="Times New Roman" panose="02020603050405020304" pitchFamily="18" charset="0"/>
                <a:ea typeface="Times New Roman" panose="02020603050405020304" pitchFamily="18" charset="0"/>
              </a:rPr>
              <a:t>surviving</a:t>
            </a:r>
            <a:r>
              <a:rPr lang="en-US" spc="-6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an</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illness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generates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antibodies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that</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protect</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victim</a:t>
            </a:r>
            <a:r>
              <a:rPr lang="en-US" spc="-6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from</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next </a:t>
            </a:r>
            <a:r>
              <a:rPr lang="en-US" dirty="0">
                <a:solidFill>
                  <a:srgbClr val="231F20"/>
                </a:solidFill>
                <a:effectLst/>
                <a:latin typeface="Times New Roman" panose="02020603050405020304" pitchFamily="18" charset="0"/>
                <a:ea typeface="Times New Roman" panose="02020603050405020304" pitchFamily="18" charset="0"/>
              </a:rPr>
              <a:t>incipient infection.</a:t>
            </a:r>
            <a:endParaRPr lang="en-IN" dirty="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67A7831F-81EA-850C-C477-4A6E8AF4E18E}"/>
              </a:ext>
            </a:extLst>
          </p:cNvPr>
          <p:cNvSpPr txBox="1"/>
          <p:nvPr/>
        </p:nvSpPr>
        <p:spPr>
          <a:xfrm>
            <a:off x="6632713" y="5558873"/>
            <a:ext cx="5287618" cy="946285"/>
          </a:xfrm>
          <a:prstGeom prst="rect">
            <a:avLst/>
          </a:prstGeom>
          <a:noFill/>
        </p:spPr>
        <p:txBody>
          <a:bodyPr wrap="square">
            <a:spAutoFit/>
          </a:bodyPr>
          <a:lstStyle/>
          <a:p>
            <a:pPr marL="209550" marR="234315" indent="190500" algn="just">
              <a:lnSpc>
                <a:spcPct val="105000"/>
              </a:lnSpc>
              <a:spcBef>
                <a:spcPts val="5"/>
              </a:spcBef>
              <a:spcAft>
                <a:spcPts val="0"/>
              </a:spcAft>
            </a:pPr>
            <a:r>
              <a:rPr lang="en-US" dirty="0">
                <a:solidFill>
                  <a:srgbClr val="231F20"/>
                </a:solidFill>
                <a:latin typeface="Times New Roman" panose="02020603050405020304" pitchFamily="18" charset="0"/>
                <a:ea typeface="Times New Roman" panose="02020603050405020304" pitchFamily="18" charset="0"/>
              </a:rPr>
              <a:t>F</a:t>
            </a:r>
            <a:r>
              <a:rPr lang="en-US" sz="1800" dirty="0">
                <a:solidFill>
                  <a:srgbClr val="231F20"/>
                </a:solidFill>
                <a:effectLst/>
                <a:latin typeface="Times New Roman" panose="02020603050405020304" pitchFamily="18" charset="0"/>
                <a:ea typeface="Times New Roman" panose="02020603050405020304" pitchFamily="18" charset="0"/>
              </a:rPr>
              <a:t>lash-melting</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coppe</a:t>
            </a:r>
            <a:r>
              <a:rPr lang="en-US" dirty="0">
                <a:solidFill>
                  <a:srgbClr val="231F20"/>
                </a:solidFill>
                <a:latin typeface="Times New Roman" panose="02020603050405020304" pitchFamily="18" charset="0"/>
                <a:ea typeface="Times New Roman" panose="02020603050405020304" pitchFamily="18" charset="0"/>
              </a:rPr>
              <a:t>r</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sulfur</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used</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both</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fuel</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raw</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material</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 production of sulfuric acid.</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905054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990071-0501-C2F6-9275-B3D6D33C74F8}"/>
              </a:ext>
            </a:extLst>
          </p:cNvPr>
          <p:cNvGrpSpPr>
            <a:grpSpLocks/>
          </p:cNvGrpSpPr>
          <p:nvPr/>
        </p:nvGrpSpPr>
        <p:grpSpPr>
          <a:xfrm>
            <a:off x="6679096" y="727006"/>
            <a:ext cx="5138530" cy="3288403"/>
            <a:chOff x="0" y="0"/>
            <a:chExt cx="4267200" cy="2569248"/>
          </a:xfrm>
        </p:grpSpPr>
        <p:pic>
          <p:nvPicPr>
            <p:cNvPr id="5" name="Image 468">
              <a:extLst>
                <a:ext uri="{FF2B5EF4-FFF2-40B4-BE49-F238E27FC236}">
                  <a16:creationId xmlns:a16="http://schemas.microsoft.com/office/drawing/2014/main" id="{C7F71852-D659-6BEC-C193-D90E8A56A333}"/>
                </a:ext>
              </a:extLst>
            </p:cNvPr>
            <p:cNvPicPr/>
            <p:nvPr/>
          </p:nvPicPr>
          <p:blipFill>
            <a:blip r:embed="rId2" cstate="print"/>
            <a:stretch>
              <a:fillRect/>
            </a:stretch>
          </p:blipFill>
          <p:spPr>
            <a:xfrm>
              <a:off x="899160" y="0"/>
              <a:ext cx="2468879" cy="2517648"/>
            </a:xfrm>
            <a:prstGeom prst="rect">
              <a:avLst/>
            </a:prstGeom>
          </p:spPr>
        </p:pic>
        <p:sp>
          <p:nvSpPr>
            <p:cNvPr id="6" name="Graphic 469">
              <a:extLst>
                <a:ext uri="{FF2B5EF4-FFF2-40B4-BE49-F238E27FC236}">
                  <a16:creationId xmlns:a16="http://schemas.microsoft.com/office/drawing/2014/main" id="{890E6EC7-349B-49D4-6249-7236F4A22327}"/>
                </a:ext>
              </a:extLst>
            </p:cNvPr>
            <p:cNvSpPr/>
            <p:nvPr/>
          </p:nvSpPr>
          <p:spPr>
            <a:xfrm>
              <a:off x="0" y="256797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dirty="0"/>
            </a:p>
          </p:txBody>
        </p:sp>
      </p:grpSp>
      <p:sp>
        <p:nvSpPr>
          <p:cNvPr id="8" name="TextBox 7">
            <a:extLst>
              <a:ext uri="{FF2B5EF4-FFF2-40B4-BE49-F238E27FC236}">
                <a16:creationId xmlns:a16="http://schemas.microsoft.com/office/drawing/2014/main" id="{70BB6772-4F5E-D894-0D56-34B99DBDE4C4}"/>
              </a:ext>
            </a:extLst>
          </p:cNvPr>
          <p:cNvSpPr txBox="1"/>
          <p:nvPr/>
        </p:nvSpPr>
        <p:spPr>
          <a:xfrm>
            <a:off x="6227692" y="4224130"/>
            <a:ext cx="6097656" cy="307777"/>
          </a:xfrm>
          <a:prstGeom prst="rect">
            <a:avLst/>
          </a:prstGeom>
          <a:noFill/>
        </p:spPr>
        <p:txBody>
          <a:bodyPr wrap="square">
            <a:spAutoFit/>
          </a:bodyPr>
          <a:lstStyle/>
          <a:p>
            <a:pPr algn="ct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“Nested doll.” Place one object inside </a:t>
            </a:r>
            <a:r>
              <a:rPr lang="en-US" sz="14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another</a:t>
            </a:r>
            <a:endParaRPr lang="en-IN" sz="1400" dirty="0"/>
          </a:p>
        </p:txBody>
      </p:sp>
      <p:sp>
        <p:nvSpPr>
          <p:cNvPr id="10" name="TextBox 9">
            <a:extLst>
              <a:ext uri="{FF2B5EF4-FFF2-40B4-BE49-F238E27FC236}">
                <a16:creationId xmlns:a16="http://schemas.microsoft.com/office/drawing/2014/main" id="{35D1439B-DD0E-E086-3179-0713F560E6B8}"/>
              </a:ext>
            </a:extLst>
          </p:cNvPr>
          <p:cNvSpPr txBox="1"/>
          <p:nvPr/>
        </p:nvSpPr>
        <p:spPr>
          <a:xfrm>
            <a:off x="377687" y="727006"/>
            <a:ext cx="6162260" cy="1911677"/>
          </a:xfrm>
          <a:prstGeom prst="rect">
            <a:avLst/>
          </a:prstGeom>
          <a:noFill/>
        </p:spPr>
        <p:txBody>
          <a:bodyPr wrap="square">
            <a:spAutoFit/>
          </a:bodyPr>
          <a:lstStyle/>
          <a:p>
            <a:pPr marL="209550" marR="233045" algn="just">
              <a:lnSpc>
                <a:spcPct val="106000"/>
              </a:lnSpc>
              <a:spcBef>
                <a:spcPts val="635"/>
              </a:spcBef>
              <a:spcAft>
                <a:spcPts val="0"/>
              </a:spcAft>
            </a:pPr>
            <a:r>
              <a:rPr lang="en-US" sz="1800" b="1" dirty="0">
                <a:solidFill>
                  <a:srgbClr val="231F20"/>
                </a:solidFill>
                <a:effectLst/>
                <a:latin typeface="Times New Roman" panose="02020603050405020304" pitchFamily="18" charset="0"/>
                <a:ea typeface="Times New Roman" panose="02020603050405020304" pitchFamily="18" charset="0"/>
              </a:rPr>
              <a:t>7. NESTED</a:t>
            </a:r>
            <a:r>
              <a:rPr lang="en-US" sz="1800" b="1" spc="-50" dirty="0">
                <a:solidFill>
                  <a:srgbClr val="231F20"/>
                </a:solidFill>
                <a:effectLst/>
                <a:latin typeface="Times New Roman" panose="02020603050405020304" pitchFamily="18" charset="0"/>
                <a:ea typeface="Times New Roman" panose="02020603050405020304" pitchFamily="18" charset="0"/>
              </a:rPr>
              <a:t> </a:t>
            </a:r>
            <a:r>
              <a:rPr lang="en-US" sz="1800" b="1" dirty="0">
                <a:solidFill>
                  <a:srgbClr val="231F20"/>
                </a:solidFill>
                <a:effectLst/>
                <a:latin typeface="Times New Roman" panose="02020603050405020304" pitchFamily="18" charset="0"/>
                <a:ea typeface="Times New Roman" panose="02020603050405020304" pitchFamily="18" charset="0"/>
              </a:rPr>
              <a:t>DOLL:</a:t>
            </a:r>
            <a:r>
              <a:rPr lang="en-US" sz="1800" i="1"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Place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one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object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inside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another;</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place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each</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object,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turn,</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inside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 </a:t>
            </a:r>
            <a:r>
              <a:rPr lang="en-US" sz="1800" spc="-10" dirty="0">
                <a:solidFill>
                  <a:srgbClr val="FF0000"/>
                </a:solidFill>
                <a:effectLst/>
                <a:latin typeface="Times New Roman" panose="02020603050405020304" pitchFamily="18" charset="0"/>
                <a:ea typeface="Times New Roman" panose="02020603050405020304" pitchFamily="18" charset="0"/>
              </a:rPr>
              <a:t>other.</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Make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one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part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pass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through</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cavity</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other.</a:t>
            </a:r>
            <a:r>
              <a:rPr lang="en-US" sz="1800" spc="-35" dirty="0">
                <a:solidFill>
                  <a:srgbClr val="231F20"/>
                </a:solidFill>
                <a:effectLst/>
                <a:latin typeface="Times New Roman" panose="02020603050405020304" pitchFamily="18" charset="0"/>
                <a:ea typeface="Times New Roman" panose="02020603050405020304" pitchFamily="18" charset="0"/>
              </a:rPr>
              <a:t> </a:t>
            </a:r>
          </a:p>
          <a:p>
            <a:pPr marL="209550" marR="233045" algn="just">
              <a:lnSpc>
                <a:spcPct val="106000"/>
              </a:lnSpc>
              <a:spcBef>
                <a:spcPts val="635"/>
              </a:spcBef>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name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principle </a:t>
            </a:r>
            <a:r>
              <a:rPr lang="en-US" sz="1800" dirty="0">
                <a:solidFill>
                  <a:srgbClr val="231F20"/>
                </a:solidFill>
                <a:effectLst/>
                <a:latin typeface="Times New Roman" panose="02020603050405020304" pitchFamily="18" charset="0"/>
                <a:ea typeface="Times New Roman" panose="02020603050405020304" pitchFamily="18" charset="0"/>
              </a:rPr>
              <a:t>comes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from</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Russian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folk</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dolls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i="1" dirty="0" err="1">
                <a:solidFill>
                  <a:srgbClr val="231F20"/>
                </a:solidFill>
                <a:effectLst/>
                <a:latin typeface="Times New Roman" panose="02020603050405020304" pitchFamily="18" charset="0"/>
                <a:ea typeface="Times New Roman" panose="02020603050405020304" pitchFamily="18" charset="0"/>
              </a:rPr>
              <a:t>matrushkas</a:t>
            </a:r>
            <a:r>
              <a:rPr lang="en-US" sz="1800" i="1" dirty="0">
                <a:solidFill>
                  <a:srgbClr val="231F20"/>
                </a:solidFill>
                <a:effectLst/>
                <a:latin typeface="Times New Roman" panose="02020603050405020304" pitchFamily="18" charset="0"/>
                <a:ea typeface="Times New Roman" panose="02020603050405020304" pitchFamily="18" charset="0"/>
              </a:rPr>
              <a:t>,</a:t>
            </a:r>
            <a:r>
              <a:rPr lang="en-US" sz="1800" i="1"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which</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series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wooden dolls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nested</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inside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other</a:t>
            </a:r>
            <a:r>
              <a:rPr lang="en-US" spc="-50" dirty="0">
                <a:solidFill>
                  <a:srgbClr val="231F20"/>
                </a:solidFill>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p:txBody>
      </p:sp>
      <p:pic>
        <p:nvPicPr>
          <p:cNvPr id="3074" name="Picture 2" descr="October 2015 - Don McMinn">
            <a:extLst>
              <a:ext uri="{FF2B5EF4-FFF2-40B4-BE49-F238E27FC236}">
                <a16:creationId xmlns:a16="http://schemas.microsoft.com/office/drawing/2014/main" id="{28C1B4E6-0DD7-C1E1-A768-22B4A524A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9728" y="4592744"/>
            <a:ext cx="4313583" cy="220528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31B2081-1819-A867-3B0C-C0A7AAB44868}"/>
              </a:ext>
            </a:extLst>
          </p:cNvPr>
          <p:cNvSpPr txBox="1"/>
          <p:nvPr/>
        </p:nvSpPr>
        <p:spPr>
          <a:xfrm>
            <a:off x="0" y="2920119"/>
            <a:ext cx="6162260" cy="3139321"/>
          </a:xfrm>
          <a:prstGeom prst="rect">
            <a:avLst/>
          </a:prstGeom>
          <a:noFill/>
        </p:spPr>
        <p:txBody>
          <a:bodyPr wrap="square">
            <a:spAutoFit/>
          </a:bodyPr>
          <a:lstStyle/>
          <a:p>
            <a:pPr marL="1600200" lvl="3" indent="-228600" algn="just">
              <a:spcBef>
                <a:spcPts val="605"/>
              </a:spcBef>
              <a:spcAft>
                <a:spcPts val="0"/>
              </a:spcAft>
              <a:buClr>
                <a:srgbClr val="231F20"/>
              </a:buClr>
              <a:buSzPts val="1050"/>
              <a:buFont typeface="Lucida Sans Unicode" panose="020B0602030504020204" pitchFamily="34" charset="0"/>
              <a:buChar char="■"/>
              <a:tabLst>
                <a:tab pos="513715" algn="l"/>
              </a:tabLst>
            </a:pPr>
            <a:r>
              <a:rPr lang="en-US" sz="1800" spc="0" dirty="0">
                <a:solidFill>
                  <a:srgbClr val="231F20"/>
                </a:solidFill>
                <a:effectLst/>
                <a:latin typeface="Times New Roman" panose="02020603050405020304" pitchFamily="18" charset="0"/>
                <a:ea typeface="Lucida Sans Unicode" panose="020B0602030504020204" pitchFamily="34" charset="0"/>
              </a:rPr>
              <a:t>The</a:t>
            </a:r>
            <a:r>
              <a:rPr lang="en-US" sz="1800" spc="-7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double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hull</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oil</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tankers</a:t>
            </a:r>
            <a:endParaRPr lang="en-IN" sz="2000" spc="0" dirty="0">
              <a:effectLst/>
              <a:latin typeface="Times New Roman" panose="02020603050405020304" pitchFamily="18" charset="0"/>
              <a:ea typeface="Lucida Sans Unicode" panose="020B0602030504020204" pitchFamily="34"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z="1800" spc="-10" dirty="0">
                <a:solidFill>
                  <a:srgbClr val="231F20"/>
                </a:solidFill>
                <a:effectLst/>
                <a:latin typeface="Times New Roman" panose="02020603050405020304" pitchFamily="18" charset="0"/>
                <a:ea typeface="Lucida Sans Unicode" panose="020B0602030504020204" pitchFamily="34" charset="0"/>
              </a:rPr>
              <a:t>Telescoping</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structures</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(umbrella</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handles,</a:t>
            </a:r>
            <a:r>
              <a:rPr lang="en-US" sz="1800" spc="-5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radio</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antennas,</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pointers)</a:t>
            </a:r>
            <a:endParaRPr lang="en-IN" sz="2000" spc="0" dirty="0">
              <a:effectLst/>
              <a:latin typeface="Times New Roman" panose="02020603050405020304" pitchFamily="18" charset="0"/>
              <a:ea typeface="Lucida Sans Unicode" panose="020B0602030504020204" pitchFamily="34" charset="0"/>
            </a:endParaRPr>
          </a:p>
          <a:p>
            <a:pPr marL="1600200" marR="233045" lvl="3" indent="-228600" algn="just">
              <a:buClr>
                <a:srgbClr val="231F20"/>
              </a:buClr>
              <a:buSzPts val="1050"/>
              <a:buFont typeface="Lucida Sans Unicode" panose="020B0602030504020204" pitchFamily="34" charset="0"/>
              <a:buChar char="■"/>
              <a:tabLst>
                <a:tab pos="514350" algn="l"/>
              </a:tabLst>
            </a:pPr>
            <a:r>
              <a:rPr lang="en-US" sz="1800" spc="-10" dirty="0">
                <a:solidFill>
                  <a:srgbClr val="231F20"/>
                </a:solidFill>
                <a:effectLst/>
                <a:latin typeface="Times New Roman" panose="02020603050405020304" pitchFamily="18" charset="0"/>
                <a:ea typeface="Lucida Sans Unicode" panose="020B0602030504020204" pitchFamily="34" charset="0"/>
              </a:rPr>
              <a:t>Business</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analogies:</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special</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exhibit</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for</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one</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designer</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inside</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boutique</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store, </a:t>
            </a:r>
            <a:r>
              <a:rPr lang="en-US" sz="1800" spc="0" dirty="0">
                <a:solidFill>
                  <a:srgbClr val="231F20"/>
                </a:solidFill>
                <a:effectLst/>
                <a:latin typeface="Times New Roman" panose="02020603050405020304" pitchFamily="18" charset="0"/>
                <a:ea typeface="Lucida Sans Unicode" panose="020B0602030504020204" pitchFamily="34" charset="0"/>
              </a:rPr>
              <a:t>inside a big market</a:t>
            </a:r>
            <a:endParaRPr lang="en-IN" sz="2000" spc="0" dirty="0">
              <a:effectLst/>
              <a:latin typeface="Times New Roman" panose="02020603050405020304" pitchFamily="18" charset="0"/>
              <a:ea typeface="Lucida Sans Unicode" panose="020B0602030504020204" pitchFamily="34" charset="0"/>
            </a:endParaRPr>
          </a:p>
          <a:p>
            <a:pPr marL="1600200" marR="233045" lvl="3" indent="-228600" algn="just">
              <a:buClr>
                <a:srgbClr val="231F20"/>
              </a:buClr>
              <a:buSzPts val="1050"/>
              <a:buFont typeface="Lucida Sans Unicode" panose="020B0602030504020204" pitchFamily="34" charset="0"/>
              <a:buChar char="■"/>
              <a:tabLst>
                <a:tab pos="514350" algn="l"/>
              </a:tabLst>
            </a:pPr>
            <a:r>
              <a:rPr lang="en-US" sz="1800" spc="0" dirty="0">
                <a:solidFill>
                  <a:srgbClr val="231F20"/>
                </a:solidFill>
                <a:effectLst/>
                <a:latin typeface="Times New Roman" panose="02020603050405020304" pitchFamily="18" charset="0"/>
                <a:ea typeface="Lucida Sans Unicode" panose="020B0602030504020204" pitchFamily="34" charset="0"/>
              </a:rPr>
              <a:t>File</a:t>
            </a:r>
            <a:r>
              <a:rPr lang="en-US" sz="1800" spc="-7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structures</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the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Windows</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computer</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operating</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system</a:t>
            </a:r>
            <a:r>
              <a:rPr lang="en-US" sz="1800" spc="-65" dirty="0">
                <a:solidFill>
                  <a:srgbClr val="231F20"/>
                </a:solidFill>
                <a:effectLst/>
                <a:latin typeface="Times New Roman" panose="02020603050405020304" pitchFamily="18" charset="0"/>
                <a:ea typeface="Lucida Sans Unicode" panose="020B0602030504020204" pitchFamily="34" charset="0"/>
              </a:rPr>
              <a:t> </a:t>
            </a:r>
            <a:endParaRPr lang="en-IN" sz="2000" spc="0" dirty="0">
              <a:effectLst/>
              <a:latin typeface="Times New Roman" panose="02020603050405020304" pitchFamily="18" charset="0"/>
              <a:ea typeface="Lucida Sans Unicode" panose="020B0602030504020204" pitchFamily="34"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z="1800" spc="-10" dirty="0">
                <a:solidFill>
                  <a:srgbClr val="231F20"/>
                </a:solidFill>
                <a:effectLst/>
                <a:latin typeface="Times New Roman" panose="02020603050405020304" pitchFamily="18" charset="0"/>
                <a:ea typeface="Lucida Sans Unicode" panose="020B0602030504020204" pitchFamily="34" charset="0"/>
              </a:rPr>
              <a:t>Measuring</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cups</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or</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spoons</a:t>
            </a:r>
            <a:endParaRPr lang="en-IN" sz="2000" spc="0" dirty="0">
              <a:effectLst/>
              <a:latin typeface="Times New Roman" panose="02020603050405020304" pitchFamily="18" charset="0"/>
              <a:ea typeface="Lucida Sans Unicode" panose="020B0602030504020204" pitchFamily="34"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z="1800" spc="-20" dirty="0">
                <a:solidFill>
                  <a:srgbClr val="231F20"/>
                </a:solidFill>
                <a:effectLst/>
                <a:latin typeface="Times New Roman" panose="02020603050405020304" pitchFamily="18" charset="0"/>
                <a:ea typeface="Lucida Sans Unicode" panose="020B0602030504020204" pitchFamily="34" charset="0"/>
              </a:rPr>
              <a:t>Stuffing</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a turkey with sausage,</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stuffing the sausage with</a:t>
            </a:r>
            <a:r>
              <a:rPr lang="en-US" sz="1800" spc="-2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chestnuts, and so </a:t>
            </a:r>
            <a:r>
              <a:rPr lang="en-US" sz="1800" spc="-25" dirty="0">
                <a:solidFill>
                  <a:srgbClr val="231F20"/>
                </a:solidFill>
                <a:effectLst/>
                <a:latin typeface="Times New Roman" panose="02020603050405020304" pitchFamily="18" charset="0"/>
                <a:ea typeface="Lucida Sans Unicode" panose="020B0602030504020204" pitchFamily="34" charset="0"/>
              </a:rPr>
              <a:t>on</a:t>
            </a:r>
            <a:endParaRPr lang="en-IN" sz="2000" spc="0" dirty="0">
              <a:effectLst/>
              <a:latin typeface="Times New Roman" panose="02020603050405020304" pitchFamily="18" charset="0"/>
              <a:ea typeface="Lucida Sans Unicode" panose="020B0602030504020204" pitchFamily="34" charset="0"/>
            </a:endParaRPr>
          </a:p>
        </p:txBody>
      </p:sp>
    </p:spTree>
    <p:extLst>
      <p:ext uri="{BB962C8B-B14F-4D97-AF65-F5344CB8AC3E}">
        <p14:creationId xmlns:p14="http://schemas.microsoft.com/office/powerpoint/2010/main" val="42781727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lescope clipart design illustration 9385397 PNG">
            <a:extLst>
              <a:ext uri="{FF2B5EF4-FFF2-40B4-BE49-F238E27FC236}">
                <a16:creationId xmlns:a16="http://schemas.microsoft.com/office/drawing/2014/main" id="{7E99AB3C-8159-116D-AC0A-8E87FFCF2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561" y="501445"/>
            <a:ext cx="3914877" cy="29988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hydraulic piston">
            <a:extLst>
              <a:ext uri="{FF2B5EF4-FFF2-40B4-BE49-F238E27FC236}">
                <a16:creationId xmlns:a16="http://schemas.microsoft.com/office/drawing/2014/main" id="{279A9748-1ED6-A137-0298-489285E977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1863" y="924539"/>
            <a:ext cx="4229100" cy="21526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ll The Possible Airbag Placements In Cars, Explained | The Safety Baloon">
            <a:extLst>
              <a:ext uri="{FF2B5EF4-FFF2-40B4-BE49-F238E27FC236}">
                <a16:creationId xmlns:a16="http://schemas.microsoft.com/office/drawing/2014/main" id="{3D26E00E-6348-4F74-B311-A0FB75D94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0722" y="3215148"/>
            <a:ext cx="5407742" cy="3352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2634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B0B70F-BBB1-E701-760C-4B17623D62D3}"/>
              </a:ext>
            </a:extLst>
          </p:cNvPr>
          <p:cNvSpPr txBox="1"/>
          <p:nvPr/>
        </p:nvSpPr>
        <p:spPr>
          <a:xfrm>
            <a:off x="633620" y="444741"/>
            <a:ext cx="6097656" cy="203132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8. SYMMETRY CHANGE</a:t>
            </a:r>
          </a:p>
          <a:p>
            <a:pPr algn="just"/>
            <a:r>
              <a:rPr lang="en-US" dirty="0">
                <a:solidFill>
                  <a:srgbClr val="FF0000"/>
                </a:solidFill>
                <a:latin typeface="Times New Roman" panose="02020603050405020304" pitchFamily="18" charset="0"/>
                <a:cs typeface="Times New Roman" panose="02020603050405020304" pitchFamily="18" charset="0"/>
              </a:rPr>
              <a:t>Change the shape of an object or system from symmetrical to asymmetrical</a:t>
            </a:r>
            <a:r>
              <a:rPr lang="en-US" dirty="0">
                <a:latin typeface="Times New Roman" panose="02020603050405020304" pitchFamily="18" charset="0"/>
                <a:cs typeface="Times New Roman" panose="02020603050405020304" pitchFamily="18" charset="0"/>
              </a:rPr>
              <a:t>. If an object is asymmetrical, increase its degree of asymmetry. </a:t>
            </a:r>
          </a:p>
          <a:p>
            <a:pPr algn="just"/>
            <a:r>
              <a:rPr lang="en-US" dirty="0">
                <a:solidFill>
                  <a:schemeClr val="accent1"/>
                </a:solidFill>
                <a:latin typeface="Times New Roman" panose="02020603050405020304" pitchFamily="18" charset="0"/>
                <a:cs typeface="Times New Roman" panose="02020603050405020304" pitchFamily="18" charset="0"/>
              </a:rPr>
              <a:t>Asymmetric paddles mix more effectively than symmetrical ones</a:t>
            </a:r>
            <a:r>
              <a:rPr lang="en-US" dirty="0">
                <a:latin typeface="Times New Roman" panose="02020603050405020304" pitchFamily="18" charset="0"/>
                <a:cs typeface="Times New Roman" panose="02020603050405020304" pitchFamily="18" charset="0"/>
              </a:rPr>
              <a:t> (both for concrete and for cake batter). Asymmetric scissors are handier than symmetric ones.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F0C39C1-D68B-E926-8796-01199D19F1F4}"/>
              </a:ext>
            </a:extLst>
          </p:cNvPr>
          <p:cNvSpPr txBox="1"/>
          <p:nvPr/>
        </p:nvSpPr>
        <p:spPr>
          <a:xfrm>
            <a:off x="633620" y="2643883"/>
            <a:ext cx="6097656" cy="3693319"/>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Increasing asymmetry is a </a:t>
            </a:r>
            <a:r>
              <a:rPr lang="en-US" dirty="0">
                <a:solidFill>
                  <a:srgbClr val="FF0000"/>
                </a:solidFill>
                <a:latin typeface="Times New Roman" panose="02020603050405020304" pitchFamily="18" charset="0"/>
                <a:cs typeface="Times New Roman" panose="02020603050405020304" pitchFamily="18" charset="0"/>
              </a:rPr>
              <a:t>way to use geometric resources</a:t>
            </a:r>
            <a:r>
              <a:rPr lang="en-US" dirty="0">
                <a:latin typeface="Times New Roman" panose="02020603050405020304" pitchFamily="18" charset="0"/>
                <a:cs typeface="Times New Roman" panose="02020603050405020304" pitchFamily="18" charset="0"/>
              </a:rPr>
              <a:t>. It is often easier to change the geometry than to introduce new substances or components. </a:t>
            </a:r>
          </a:p>
          <a:p>
            <a:pPr algn="just"/>
            <a:r>
              <a:rPr lang="en-US" dirty="0">
                <a:latin typeface="Times New Roman" panose="02020603050405020304" pitchFamily="18" charset="0"/>
                <a:cs typeface="Times New Roman" panose="02020603050405020304" pitchFamily="18" charset="0"/>
              </a:rPr>
              <a:t>Mass customization is a business strategy that corresponds to asymmetry the product, service, or policies of a business are specifically designed for each customer and do not need to be the same as those provided to other customers.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More examples include: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Using astigmatic optics to merge colors.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Budgeting for different departments individually rather than using a constant percentage increase or reduction for all departments.</a:t>
            </a:r>
            <a:endParaRPr lang="en-IN"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DAF8B234-ED7F-001C-10AB-6091871CE100}"/>
              </a:ext>
            </a:extLst>
          </p:cNvPr>
          <p:cNvGrpSpPr>
            <a:grpSpLocks/>
          </p:cNvGrpSpPr>
          <p:nvPr/>
        </p:nvGrpSpPr>
        <p:grpSpPr>
          <a:xfrm>
            <a:off x="7291180" y="1019382"/>
            <a:ext cx="4267200" cy="1388148"/>
            <a:chOff x="0" y="0"/>
            <a:chExt cx="4267200" cy="1388148"/>
          </a:xfrm>
        </p:grpSpPr>
        <p:pic>
          <p:nvPicPr>
            <p:cNvPr id="7" name="Image 459">
              <a:extLst>
                <a:ext uri="{FF2B5EF4-FFF2-40B4-BE49-F238E27FC236}">
                  <a16:creationId xmlns:a16="http://schemas.microsoft.com/office/drawing/2014/main" id="{60DDCA8D-32E9-3B09-3EE8-303A7E11FDCD}"/>
                </a:ext>
              </a:extLst>
            </p:cNvPr>
            <p:cNvPicPr/>
            <p:nvPr/>
          </p:nvPicPr>
          <p:blipFill>
            <a:blip r:embed="rId2" cstate="print"/>
            <a:stretch>
              <a:fillRect/>
            </a:stretch>
          </p:blipFill>
          <p:spPr>
            <a:xfrm>
              <a:off x="830580" y="0"/>
              <a:ext cx="2606039" cy="1336548"/>
            </a:xfrm>
            <a:prstGeom prst="rect">
              <a:avLst/>
            </a:prstGeom>
          </p:spPr>
        </p:pic>
        <p:sp>
          <p:nvSpPr>
            <p:cNvPr id="8" name="Graphic 460">
              <a:extLst>
                <a:ext uri="{FF2B5EF4-FFF2-40B4-BE49-F238E27FC236}">
                  <a16:creationId xmlns:a16="http://schemas.microsoft.com/office/drawing/2014/main" id="{5762BF95-7308-FB55-79BF-FDBA0F9348D3}"/>
                </a:ext>
              </a:extLst>
            </p:cNvPr>
            <p:cNvSpPr/>
            <p:nvPr/>
          </p:nvSpPr>
          <p:spPr>
            <a:xfrm>
              <a:off x="0" y="138687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0" name="TextBox 9">
            <a:extLst>
              <a:ext uri="{FF2B5EF4-FFF2-40B4-BE49-F238E27FC236}">
                <a16:creationId xmlns:a16="http://schemas.microsoft.com/office/drawing/2014/main" id="{C070EB9F-8C3E-AE1A-FD9A-583B464037BF}"/>
              </a:ext>
            </a:extLst>
          </p:cNvPr>
          <p:cNvSpPr txBox="1"/>
          <p:nvPr/>
        </p:nvSpPr>
        <p:spPr>
          <a:xfrm>
            <a:off x="6567280" y="2643883"/>
            <a:ext cx="6097656" cy="523220"/>
          </a:xfrm>
          <a:prstGeom prst="rect">
            <a:avLst/>
          </a:prstGeom>
          <a:noFill/>
        </p:spPr>
        <p:txBody>
          <a:bodyPr wrap="square">
            <a:spAutoFit/>
          </a:bodyPr>
          <a:lstStyle/>
          <a:p>
            <a:pPr algn="ct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Principle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4:</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Symmetry</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change.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gn="ct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Change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symmetri</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cal to asymmetrical</a:t>
            </a:r>
            <a:endParaRPr lang="en-IN" sz="1400" dirty="0">
              <a:latin typeface="Times New Roman" panose="02020603050405020304" pitchFamily="18" charset="0"/>
              <a:cs typeface="Times New Roman" panose="02020603050405020304" pitchFamily="18" charset="0"/>
            </a:endParaRPr>
          </a:p>
        </p:txBody>
      </p:sp>
      <p:pic>
        <p:nvPicPr>
          <p:cNvPr id="2052" name="Picture 4" descr="Astigmatism: What is it? - Pacific Vision Institute Articles">
            <a:extLst>
              <a:ext uri="{FF2B5EF4-FFF2-40B4-BE49-F238E27FC236}">
                <a16:creationId xmlns:a16="http://schemas.microsoft.com/office/drawing/2014/main" id="{0F238239-C435-9FF7-5EC0-6DAB3D3B7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539" y="3167103"/>
            <a:ext cx="4840358" cy="3438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9097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ll sizes | Wind turbine blades | Flickr - Photo Sharing!">
            <a:extLst>
              <a:ext uri="{FF2B5EF4-FFF2-40B4-BE49-F238E27FC236}">
                <a16:creationId xmlns:a16="http://schemas.microsoft.com/office/drawing/2014/main" id="{257D5983-9329-4715-FB89-29ADF4A6D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596" y="333303"/>
            <a:ext cx="4427917" cy="291216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08D6A430-B4E4-CC8F-8370-810C43BD5E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2627" y="333303"/>
            <a:ext cx="4514850" cy="325755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The Difference Between a 3-Prong and 4-Prong Plug – Price Electric">
            <a:extLst>
              <a:ext uri="{FF2B5EF4-FFF2-40B4-BE49-F238E27FC236}">
                <a16:creationId xmlns:a16="http://schemas.microsoft.com/office/drawing/2014/main" id="{48919B6C-61E6-9FBB-27B2-17289DC155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596" y="3428999"/>
            <a:ext cx="5085522" cy="319963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Buy Clarks Men's Leather Walking Shoes at Amazon.in">
            <a:extLst>
              <a:ext uri="{FF2B5EF4-FFF2-40B4-BE49-F238E27FC236}">
                <a16:creationId xmlns:a16="http://schemas.microsoft.com/office/drawing/2014/main" id="{E3C27BAB-2747-D3C2-7B2A-B28E6FE6D9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1350" y="4129366"/>
            <a:ext cx="4728956" cy="2395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5183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90934D-C865-8261-616D-A90C75EDD87F}"/>
              </a:ext>
            </a:extLst>
          </p:cNvPr>
          <p:cNvSpPr txBox="1"/>
          <p:nvPr/>
        </p:nvSpPr>
        <p:spPr>
          <a:xfrm>
            <a:off x="126724" y="111636"/>
            <a:ext cx="11372850" cy="1059008"/>
          </a:xfrm>
          <a:prstGeom prst="rect">
            <a:avLst/>
          </a:prstGeom>
          <a:noFill/>
        </p:spPr>
        <p:txBody>
          <a:bodyPr wrap="square">
            <a:spAutoFit/>
          </a:bodyPr>
          <a:lstStyle/>
          <a:p>
            <a:pPr marL="209550" marR="233680" algn="just">
              <a:lnSpc>
                <a:spcPct val="108000"/>
              </a:lnSpc>
              <a:spcBef>
                <a:spcPts val="655"/>
              </a:spcBef>
              <a:spcAft>
                <a:spcPts val="0"/>
              </a:spcAft>
            </a:pPr>
            <a:r>
              <a:rPr lang="en-US" sz="1800" b="1" i="1" spc="-20" dirty="0">
                <a:solidFill>
                  <a:srgbClr val="231F20"/>
                </a:solidFill>
                <a:effectLst/>
                <a:latin typeface="Times New Roman" panose="02020603050405020304" pitchFamily="18" charset="0"/>
                <a:ea typeface="Times New Roman" panose="02020603050405020304" pitchFamily="18" charset="0"/>
              </a:rPr>
              <a:t>9. POROUS</a:t>
            </a:r>
            <a:r>
              <a:rPr lang="en-US" sz="1800" b="1" i="1" spc="-25"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MATERIALS</a:t>
            </a:r>
            <a:r>
              <a:rPr lang="en-US" sz="1800" i="1" spc="-20" dirty="0">
                <a:solidFill>
                  <a:srgbClr val="231F20"/>
                </a:solidFill>
                <a:effectLst/>
                <a:latin typeface="Times New Roman" panose="02020603050405020304" pitchFamily="18" charset="0"/>
                <a:ea typeface="Times New Roman" panose="02020603050405020304" pitchFamily="18" charset="0"/>
              </a:rPr>
              <a:t>.</a:t>
            </a:r>
            <a:r>
              <a:rPr lang="en-US" sz="1800" i="1" spc="-25" dirty="0">
                <a:solidFill>
                  <a:srgbClr val="231F20"/>
                </a:solidFill>
                <a:effectLst/>
                <a:latin typeface="Times New Roman" panose="02020603050405020304" pitchFamily="18" charset="0"/>
                <a:ea typeface="Times New Roman" panose="02020603050405020304" pitchFamily="18" charset="0"/>
              </a:rPr>
              <a:t> </a:t>
            </a:r>
          </a:p>
          <a:p>
            <a:pPr marL="209550" marR="233680" algn="just">
              <a:lnSpc>
                <a:spcPct val="108000"/>
              </a:lnSpc>
              <a:spcBef>
                <a:spcPts val="655"/>
              </a:spcBef>
              <a:spcAft>
                <a:spcPts val="0"/>
              </a:spcAft>
            </a:pPr>
            <a:r>
              <a:rPr lang="en-US" sz="1800" spc="-20" dirty="0">
                <a:solidFill>
                  <a:srgbClr val="FF0000"/>
                </a:solidFill>
                <a:effectLst/>
                <a:latin typeface="Times New Roman" panose="02020603050405020304" pitchFamily="18" charset="0"/>
                <a:ea typeface="Times New Roman" panose="02020603050405020304" pitchFamily="18" charset="0"/>
              </a:rPr>
              <a:t>Make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an</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object</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porous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add</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porous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elements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(inserts,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coatings, </a:t>
            </a:r>
            <a:r>
              <a:rPr lang="en-US" sz="1800" spc="-10" dirty="0">
                <a:solidFill>
                  <a:srgbClr val="FF0000"/>
                </a:solidFill>
                <a:effectLst/>
                <a:latin typeface="Times New Roman" panose="02020603050405020304" pitchFamily="18" charset="0"/>
                <a:ea typeface="Times New Roman" panose="02020603050405020304" pitchFamily="18" charset="0"/>
              </a:rPr>
              <a:t>etc.)</a:t>
            </a:r>
            <a:r>
              <a:rPr lang="en-US" sz="1800" spc="-10" dirty="0">
                <a:solidFill>
                  <a:srgbClr val="231F20"/>
                </a:solidFill>
                <a:effectLst/>
                <a:latin typeface="Times New Roman" panose="02020603050405020304" pitchFamily="18" charset="0"/>
                <a:ea typeface="Times New Roman" panose="02020603050405020304" pitchFamily="18" charset="0"/>
              </a:rPr>
              <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already</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porous,</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use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the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pores</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to</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introduce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a</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useful</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substance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or </a:t>
            </a:r>
            <a:r>
              <a:rPr lang="en-US" sz="1800" dirty="0">
                <a:solidFill>
                  <a:schemeClr val="accent1"/>
                </a:solidFill>
                <a:effectLst/>
                <a:latin typeface="Times New Roman" panose="02020603050405020304" pitchFamily="18" charset="0"/>
                <a:ea typeface="Times New Roman" panose="02020603050405020304" pitchFamily="18" charset="0"/>
              </a:rPr>
              <a:t>function</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Some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97D65A58-1251-3EC7-C74A-10468F6BEFCC}"/>
              </a:ext>
            </a:extLst>
          </p:cNvPr>
          <p:cNvSpPr txBox="1"/>
          <p:nvPr/>
        </p:nvSpPr>
        <p:spPr>
          <a:xfrm>
            <a:off x="320124" y="1170644"/>
            <a:ext cx="7243554" cy="5202450"/>
          </a:xfrm>
          <a:prstGeom prst="rect">
            <a:avLst/>
          </a:prstGeom>
          <a:noFill/>
        </p:spPr>
        <p:txBody>
          <a:bodyPr wrap="square">
            <a:spAutoFit/>
          </a:bodyPr>
          <a:lstStyle/>
          <a:p>
            <a:pPr marL="285750" marR="233045" indent="-285750" algn="just">
              <a:lnSpc>
                <a:spcPct val="110000"/>
              </a:lnSpc>
              <a:buFont typeface="Arial" panose="020B0604020202020204" pitchFamily="34" charset="0"/>
              <a:buChar char="•"/>
            </a:pP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ceramic</a:t>
            </a:r>
            <a:r>
              <a:rPr lang="en-US" sz="1800" spc="-4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filter</a:t>
            </a:r>
            <a:r>
              <a:rPr lang="en-US" sz="1800" spc="-4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made</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hydrophilic</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porous</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sintered</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material</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simplifies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improves</a:t>
            </a:r>
            <a:r>
              <a:rPr lang="en-US" sz="1800" spc="-3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vacuum</a:t>
            </a:r>
            <a:r>
              <a:rPr lang="en-US" sz="1800" spc="-3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systems</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Water</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passes</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through</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filter</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seals</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filter</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at</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same</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time.</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air</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leak</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conventional</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vacuum</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filter</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elimi</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nated,</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consumption</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energy</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decreased. </a:t>
            </a:r>
          </a:p>
          <a:p>
            <a:pPr marL="285750" marR="233045" indent="-285750" algn="just">
              <a:lnSpc>
                <a:spcPct val="110000"/>
              </a:lnSpc>
              <a:buFont typeface="Arial" panose="020B0604020202020204" pitchFamily="34" charset="0"/>
              <a:buChar char="•"/>
            </a:pP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Similarly,</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porous</a:t>
            </a:r>
            <a:r>
              <a:rPr lang="en-US" sz="1800" spc="-4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ceramics are</a:t>
            </a:r>
            <a:r>
              <a:rPr lang="en-US" sz="1800"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used</a:t>
            </a:r>
            <a:r>
              <a:rPr lang="en-US" sz="1800"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800"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many</a:t>
            </a:r>
            <a:r>
              <a:rPr lang="en-US" sz="1800"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hazardous-waste-cleanup</a:t>
            </a:r>
            <a:r>
              <a:rPr lang="en-US" sz="1800"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systems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pores</a:t>
            </a:r>
            <a:r>
              <a:rPr lang="en-US" sz="18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z="18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a:t>
            </a:r>
            <a:r>
              <a:rPr lang="en-US" sz="18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filled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with</a:t>
            </a:r>
            <a:r>
              <a:rPr lang="en-US" sz="1800"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materials</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bind</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hazardous</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substances,</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ceramic</a:t>
            </a:r>
            <a:r>
              <a:rPr lang="en-US" sz="18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particles make</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it</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much</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easier</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distribute</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remove</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these</a:t>
            </a:r>
            <a:r>
              <a:rPr lang="en-US" sz="1800" spc="-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materials.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ts val="1390"/>
              </a:lnSpc>
              <a:buFont typeface="Arial" panose="020B0604020202020204" pitchFamily="34" charset="0"/>
              <a:buChar char="•"/>
              <a:tabLst>
                <a:tab pos="513715" algn="l"/>
              </a:tabLst>
            </a:pPr>
            <a:endPar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High-tech</a:t>
            </a:r>
            <a:r>
              <a:rPr lang="en-US" sz="18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microfibers</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18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now</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well</a:t>
            </a:r>
            <a:r>
              <a:rPr lang="en-US" sz="18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known.</a:t>
            </a:r>
            <a:r>
              <a:rPr lang="en-US" sz="18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Small</a:t>
            </a:r>
            <a:r>
              <a:rPr lang="en-US" sz="1800"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pores</a:t>
            </a:r>
            <a:r>
              <a:rPr lang="en-US" sz="1800" spc="-3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prevent</a:t>
            </a:r>
            <a:r>
              <a:rPr lang="en-US" sz="1800" spc="-3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water</a:t>
            </a:r>
            <a:r>
              <a:rPr lang="en-US" sz="1800"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IN" spc="-2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passing through, but allow moisture to evaporate</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tabLst>
                <a:tab pos="513715" algn="l"/>
              </a:tabLst>
            </a:pP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New plasters, or wound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dressings,</a:t>
            </a:r>
            <a:r>
              <a:rPr lang="en-US" sz="18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less</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known</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but</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not</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less</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exciting.</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They</a:t>
            </a:r>
            <a:r>
              <a:rPr lang="en-US" sz="1800"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covered</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by</a:t>
            </a:r>
            <a:r>
              <a:rPr lang="en-US" sz="18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semiper</a:t>
            </a:r>
            <a:r>
              <a:rPr lang="en-US"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meable</a:t>
            </a:r>
            <a:r>
              <a:rPr lang="en-US" sz="1800" spc="-4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film</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Water,</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dirt,</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bacteria</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kept</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out,</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but</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excess</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moisture</a:t>
            </a:r>
            <a:r>
              <a:rPr lang="en-US" sz="1800"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 evaporate through.</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Business</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analogy:</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gn="just">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Make</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organization</a:t>
            </a:r>
            <a:r>
              <a:rPr lang="en-US" sz="1800"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“porous” make</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it</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easy</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8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infor</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mation</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flow</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through</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Make</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it</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easy</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customers</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penetrate the organization to find what they need</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34A0445B-A456-E45F-AE6A-6094C8FB60B9}"/>
              </a:ext>
            </a:extLst>
          </p:cNvPr>
          <p:cNvGrpSpPr>
            <a:grpSpLocks/>
          </p:cNvGrpSpPr>
          <p:nvPr/>
        </p:nvGrpSpPr>
        <p:grpSpPr>
          <a:xfrm>
            <a:off x="7319757" y="1326177"/>
            <a:ext cx="4267200" cy="1514640"/>
            <a:chOff x="0" y="0"/>
            <a:chExt cx="4267200" cy="1514640"/>
          </a:xfrm>
        </p:grpSpPr>
        <p:pic>
          <p:nvPicPr>
            <p:cNvPr id="9" name="Image 536">
              <a:extLst>
                <a:ext uri="{FF2B5EF4-FFF2-40B4-BE49-F238E27FC236}">
                  <a16:creationId xmlns:a16="http://schemas.microsoft.com/office/drawing/2014/main" id="{84184C9D-791B-D5E6-888A-80DA29B295EA}"/>
                </a:ext>
              </a:extLst>
            </p:cNvPr>
            <p:cNvPicPr/>
            <p:nvPr/>
          </p:nvPicPr>
          <p:blipFill>
            <a:blip r:embed="rId2" cstate="print"/>
            <a:stretch>
              <a:fillRect/>
            </a:stretch>
          </p:blipFill>
          <p:spPr>
            <a:xfrm>
              <a:off x="830580" y="0"/>
              <a:ext cx="2606039" cy="1463039"/>
            </a:xfrm>
            <a:prstGeom prst="rect">
              <a:avLst/>
            </a:prstGeom>
          </p:spPr>
        </p:pic>
        <p:sp>
          <p:nvSpPr>
            <p:cNvPr id="10" name="Graphic 537">
              <a:extLst>
                <a:ext uri="{FF2B5EF4-FFF2-40B4-BE49-F238E27FC236}">
                  <a16:creationId xmlns:a16="http://schemas.microsoft.com/office/drawing/2014/main" id="{B17406F5-00DC-858D-353C-FA6FF073E8E5}"/>
                </a:ext>
              </a:extLst>
            </p:cNvPr>
            <p:cNvSpPr/>
            <p:nvPr/>
          </p:nvSpPr>
          <p:spPr>
            <a:xfrm>
              <a:off x="0" y="1513370"/>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2" name="TextBox 11">
            <a:extLst>
              <a:ext uri="{FF2B5EF4-FFF2-40B4-BE49-F238E27FC236}">
                <a16:creationId xmlns:a16="http://schemas.microsoft.com/office/drawing/2014/main" id="{E7513CDB-2C00-75B7-0A50-C8898E03D934}"/>
              </a:ext>
            </a:extLst>
          </p:cNvPr>
          <p:cNvSpPr txBox="1"/>
          <p:nvPr/>
        </p:nvSpPr>
        <p:spPr>
          <a:xfrm>
            <a:off x="6656733" y="2993070"/>
            <a:ext cx="6097656" cy="307777"/>
          </a:xfrm>
          <a:prstGeom prst="rect">
            <a:avLst/>
          </a:prstGeom>
          <a:noFill/>
        </p:spPr>
        <p:txBody>
          <a:bodyPr wrap="square">
            <a:spAutoFit/>
          </a:bodyPr>
          <a:lstStyle/>
          <a:p>
            <a:pPr algn="ct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Principle</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31:</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Porous</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materials.</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Make</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object</a:t>
            </a:r>
            <a:r>
              <a:rPr lang="en-US" sz="1400" b="1"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porous</a:t>
            </a:r>
            <a:endParaRPr lang="en-IN" sz="14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17C4A301-D11E-BDB2-2D2B-F7F524DD4333}"/>
              </a:ext>
            </a:extLst>
          </p:cNvPr>
          <p:cNvPicPr>
            <a:picLocks noChangeAspect="1"/>
          </p:cNvPicPr>
          <p:nvPr/>
        </p:nvPicPr>
        <p:blipFill>
          <a:blip r:embed="rId3"/>
          <a:stretch>
            <a:fillRect/>
          </a:stretch>
        </p:blipFill>
        <p:spPr>
          <a:xfrm>
            <a:off x="7966984" y="3760878"/>
            <a:ext cx="3741312" cy="2821445"/>
          </a:xfrm>
          <a:prstGeom prst="rect">
            <a:avLst/>
          </a:prstGeom>
        </p:spPr>
      </p:pic>
    </p:spTree>
    <p:extLst>
      <p:ext uri="{BB962C8B-B14F-4D97-AF65-F5344CB8AC3E}">
        <p14:creationId xmlns:p14="http://schemas.microsoft.com/office/powerpoint/2010/main" val="14989047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2EBEDA-0324-63DB-2A16-D9600A38D01D}"/>
              </a:ext>
            </a:extLst>
          </p:cNvPr>
          <p:cNvSpPr txBox="1"/>
          <p:nvPr/>
        </p:nvSpPr>
        <p:spPr>
          <a:xfrm>
            <a:off x="-1657" y="284038"/>
            <a:ext cx="7418731" cy="1410130"/>
          </a:xfrm>
          <a:prstGeom prst="rect">
            <a:avLst/>
          </a:prstGeom>
          <a:noFill/>
        </p:spPr>
        <p:txBody>
          <a:bodyPr wrap="square">
            <a:spAutoFit/>
          </a:bodyPr>
          <a:lstStyle/>
          <a:p>
            <a:pPr marL="209550" marR="234315" algn="just">
              <a:lnSpc>
                <a:spcPct val="113000"/>
              </a:lnSpc>
              <a:spcBef>
                <a:spcPts val="715"/>
              </a:spcBef>
              <a:spcAft>
                <a:spcPts val="0"/>
              </a:spcAft>
            </a:pPr>
            <a:r>
              <a:rPr lang="en-US" sz="1800" b="1" i="1" spc="-20" dirty="0">
                <a:solidFill>
                  <a:srgbClr val="231F20"/>
                </a:solidFill>
                <a:effectLst/>
                <a:latin typeface="Times New Roman" panose="02020603050405020304" pitchFamily="18" charset="0"/>
                <a:ea typeface="Times New Roman" panose="02020603050405020304" pitchFamily="18" charset="0"/>
              </a:rPr>
              <a:t>10. PNEUMATICS</a:t>
            </a:r>
            <a:r>
              <a:rPr lang="en-US" sz="1800" b="1" i="1" spc="-40"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AND</a:t>
            </a:r>
            <a:r>
              <a:rPr lang="en-US" sz="1800" b="1" i="1" spc="-40"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HYDRAULICS (INFLATE AND DEFLATE)</a:t>
            </a:r>
          </a:p>
          <a:p>
            <a:pPr marL="209550" marR="234315" algn="just">
              <a:lnSpc>
                <a:spcPct val="113000"/>
              </a:lnSpc>
              <a:spcBef>
                <a:spcPts val="715"/>
              </a:spcBef>
              <a:spcAft>
                <a:spcPts val="0"/>
              </a:spcAft>
            </a:pPr>
            <a:r>
              <a:rPr lang="en-US" sz="1800" i="1"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Use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gas</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liquid</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parts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object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system</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instead </a:t>
            </a:r>
            <a:r>
              <a:rPr lang="en-US" sz="1800" spc="-10" dirty="0">
                <a:solidFill>
                  <a:srgbClr val="FF0000"/>
                </a:solidFill>
                <a:effectLst/>
                <a:latin typeface="Times New Roman" panose="02020603050405020304" pitchFamily="18" charset="0"/>
                <a:ea typeface="Times New Roman" panose="02020603050405020304" pitchFamily="18" charset="0"/>
              </a:rPr>
              <a:t>of</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solid</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parts</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inflatable,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filled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with</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liquids,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air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cushion,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hydrostatic,</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hydro reactive</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Some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509F3B1B-A4E9-8CDE-C828-5990BCC62AB8}"/>
              </a:ext>
            </a:extLst>
          </p:cNvPr>
          <p:cNvSpPr txBox="1"/>
          <p:nvPr/>
        </p:nvSpPr>
        <p:spPr>
          <a:xfrm>
            <a:off x="214520" y="1694168"/>
            <a:ext cx="7418732" cy="4814138"/>
          </a:xfrm>
          <a:prstGeom prst="rect">
            <a:avLst/>
          </a:prstGeom>
          <a:noFill/>
        </p:spPr>
        <p:txBody>
          <a:bodyPr wrap="square">
            <a:spAutoFit/>
          </a:bodyPr>
          <a:lstStyle/>
          <a:p>
            <a:pPr marL="285750" marR="234315" indent="-285750" algn="just">
              <a:spcBef>
                <a:spcPts val="1125"/>
              </a:spcBef>
              <a:spcAft>
                <a:spcPts val="0"/>
              </a:spcAft>
              <a:buFont typeface="Arial" panose="020B0604020202020204" pitchFamily="34" charset="0"/>
              <a:buChar char="•"/>
              <a:tabLst>
                <a:tab pos="514350" algn="l"/>
              </a:tabLst>
            </a:pP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One</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way</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transition</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microlevel</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through</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use</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pneumatics</a:t>
            </a:r>
            <a:r>
              <a:rPr lang="en-US" spc="-4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US" spc="-3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hydraulics.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Examples of pneumatics are inflatable houses or air houses (stores,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exhibition</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pavilions,</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sports</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halls,</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like),</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inflatable</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boats</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mov</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ing of heavy components with an air cushion.</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233045" indent="-285750" algn="just">
              <a:spcBef>
                <a:spcPts val="15"/>
              </a:spcBef>
              <a:spcAft>
                <a:spcPts val="0"/>
              </a:spcAf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Inflatable</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components</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allow</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designer</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decrease</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weight</a:t>
            </a:r>
            <a:r>
              <a:rPr lang="en-US" spc="-6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without</a:t>
            </a:r>
            <a:r>
              <a:rPr lang="en-US" spc="-7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losing strength.</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Air cushions enable movement of heavy objects using very little energy for</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instance,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they</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used</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instead</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mechanical</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jacks</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raise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aircraft that are on soft surfaces such as grass or mud.</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233045" indent="-285750" algn="just">
              <a:buFont typeface="Arial" panose="020B0604020202020204" pitchFamily="34" charset="0"/>
              <a:buChar char="•"/>
              <a:tabLst>
                <a:tab pos="514350" algn="l"/>
              </a:tabLst>
            </a:pP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Similarly,</a:t>
            </a:r>
            <a:r>
              <a:rPr lang="en-US" spc="-6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hydraulic</a:t>
            </a:r>
            <a:r>
              <a:rPr lang="en-US" spc="-5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equipment</a:t>
            </a:r>
            <a:r>
              <a:rPr lang="en-US" spc="-5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pc="-5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exert</a:t>
            </a:r>
            <a:r>
              <a:rPr lang="en-US" spc="-5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more</a:t>
            </a:r>
            <a:r>
              <a:rPr lang="en-US" spc="-5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force</a:t>
            </a:r>
            <a:r>
              <a:rPr lang="en-US" spc="-5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than</a:t>
            </a:r>
            <a:r>
              <a:rPr lang="en-US" spc="-5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simple</a:t>
            </a:r>
            <a:r>
              <a:rPr lang="en-US" spc="-6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mechanical systems</a:t>
            </a:r>
            <a:r>
              <a:rPr lang="en-US"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same</a:t>
            </a:r>
            <a:r>
              <a:rPr lang="en-US"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size.</a:t>
            </a:r>
            <a:r>
              <a:rPr lang="en-US" spc="-35"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Replacing</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physical</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cutting</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blade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with</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water</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jet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illustrates</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hydraulics</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principle</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replacing</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solid</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objects</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with</a:t>
            </a:r>
            <a:r>
              <a:rPr lang="en-US"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liquids.</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233680" indent="-285750" algn="just">
              <a:buFont typeface="Arial" panose="020B0604020202020204" pitchFamily="34" charset="0"/>
              <a:buChar char="•"/>
              <a:tabLst>
                <a:tab pos="514350" algn="l"/>
              </a:tabLst>
            </a:pP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Business analogies use the idea of fluidity replacing rigid structures. Insurance companies</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now</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“fluid”</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systems</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which</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customers</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modify</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policies</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suit their</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own</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needs.</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marR="233680" indent="-285750" algn="just">
              <a:spcBef>
                <a:spcPts val="55"/>
              </a:spcBef>
              <a:spcAft>
                <a:spcPts val="0"/>
              </a:spcAft>
              <a:buFont typeface="Arial" panose="020B0604020202020204" pitchFamily="34" charset="0"/>
              <a:buChar char="•"/>
              <a:tabLst>
                <a:tab pos="514350" algn="l"/>
              </a:tabLst>
            </a:pP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1997,</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NASA</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used</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air</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bags,</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instead</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expensive</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rockets,</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landing</a:t>
            </a:r>
            <a:r>
              <a:rPr lang="en-US" spc="-25"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of </a:t>
            </a:r>
            <a:r>
              <a:rPr lang="en-US"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Mars Pathfinder.</a:t>
            </a:r>
            <a:endParaRPr lang="en-IN"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D29E00F5-A5C6-1C6C-DF52-A8ADA14F3E0F}"/>
              </a:ext>
            </a:extLst>
          </p:cNvPr>
          <p:cNvGrpSpPr>
            <a:grpSpLocks/>
          </p:cNvGrpSpPr>
          <p:nvPr/>
        </p:nvGrpSpPr>
        <p:grpSpPr>
          <a:xfrm>
            <a:off x="7550425" y="824619"/>
            <a:ext cx="4555435" cy="984303"/>
            <a:chOff x="0" y="0"/>
            <a:chExt cx="4267200" cy="328968"/>
          </a:xfrm>
        </p:grpSpPr>
        <p:pic>
          <p:nvPicPr>
            <p:cNvPr id="7" name="Image 530">
              <a:extLst>
                <a:ext uri="{FF2B5EF4-FFF2-40B4-BE49-F238E27FC236}">
                  <a16:creationId xmlns:a16="http://schemas.microsoft.com/office/drawing/2014/main" id="{177593F6-2E34-197E-F82D-93152E2E68ED}"/>
                </a:ext>
              </a:extLst>
            </p:cNvPr>
            <p:cNvPicPr/>
            <p:nvPr/>
          </p:nvPicPr>
          <p:blipFill>
            <a:blip r:embed="rId2" cstate="print"/>
            <a:stretch>
              <a:fillRect/>
            </a:stretch>
          </p:blipFill>
          <p:spPr>
            <a:xfrm>
              <a:off x="762000" y="0"/>
              <a:ext cx="2743200" cy="277367"/>
            </a:xfrm>
            <a:prstGeom prst="rect">
              <a:avLst/>
            </a:prstGeom>
          </p:spPr>
        </p:pic>
        <p:sp>
          <p:nvSpPr>
            <p:cNvPr id="8" name="Graphic 531">
              <a:extLst>
                <a:ext uri="{FF2B5EF4-FFF2-40B4-BE49-F238E27FC236}">
                  <a16:creationId xmlns:a16="http://schemas.microsoft.com/office/drawing/2014/main" id="{AB073D70-E2ED-72C0-BECD-BB445D20AE05}"/>
                </a:ext>
              </a:extLst>
            </p:cNvPr>
            <p:cNvSpPr/>
            <p:nvPr/>
          </p:nvSpPr>
          <p:spPr>
            <a:xfrm>
              <a:off x="0" y="32769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0" name="TextBox 9">
            <a:extLst>
              <a:ext uri="{FF2B5EF4-FFF2-40B4-BE49-F238E27FC236}">
                <a16:creationId xmlns:a16="http://schemas.microsoft.com/office/drawing/2014/main" id="{FFF7EC65-79BF-0E49-24A9-8CDC0C9FC027}"/>
              </a:ext>
            </a:extLst>
          </p:cNvPr>
          <p:cNvSpPr txBox="1"/>
          <p:nvPr/>
        </p:nvSpPr>
        <p:spPr>
          <a:xfrm>
            <a:off x="7849429" y="2052639"/>
            <a:ext cx="4123080" cy="522644"/>
          </a:xfrm>
          <a:prstGeom prst="rect">
            <a:avLst/>
          </a:prstGeom>
          <a:noFill/>
        </p:spPr>
        <p:txBody>
          <a:bodyPr wrap="square">
            <a:spAutoFit/>
          </a:bodyPr>
          <a:lstStyle/>
          <a:p>
            <a:pPr marL="209550" marR="234315" algn="ctr">
              <a:lnSpc>
                <a:spcPct val="103000"/>
              </a:lnSpc>
              <a:spcBef>
                <a:spcPts val="410"/>
              </a:spcBef>
              <a:spcAft>
                <a:spcPts val="0"/>
              </a:spcAft>
            </a:pPr>
            <a:r>
              <a:rPr lang="en-US" sz="1400" b="1" spc="-30" dirty="0">
                <a:solidFill>
                  <a:srgbClr val="231F20"/>
                </a:solidFill>
                <a:effectLst/>
                <a:latin typeface="Trebuchet MS" panose="020B0603020202020204" pitchFamily="34" charset="0"/>
                <a:ea typeface="Times New Roman" panose="02020603050405020304" pitchFamily="18" charset="0"/>
              </a:rPr>
              <a:t>Pneumatics</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and</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hydraulics.</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Use</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gas</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and</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liquid </a:t>
            </a:r>
            <a:r>
              <a:rPr lang="en-US" sz="1400" b="1" dirty="0">
                <a:solidFill>
                  <a:srgbClr val="231F20"/>
                </a:solidFill>
                <a:effectLst/>
                <a:latin typeface="Trebuchet MS" panose="020B0603020202020204" pitchFamily="34" charset="0"/>
                <a:ea typeface="Times New Roman" panose="02020603050405020304" pitchFamily="18" charset="0"/>
              </a:rPr>
              <a:t>instead of solid parts.</a:t>
            </a:r>
            <a:endParaRPr lang="en-IN" sz="1400" dirty="0">
              <a:effectLst/>
              <a:latin typeface="Times New Roman" panose="02020603050405020304" pitchFamily="18" charset="0"/>
              <a:ea typeface="Times New Roman" panose="02020603050405020304" pitchFamily="18" charset="0"/>
            </a:endParaRPr>
          </a:p>
        </p:txBody>
      </p:sp>
      <p:pic>
        <p:nvPicPr>
          <p:cNvPr id="5122" name="Picture 2" descr="Saturn 12' Inflatable Boats is Best Selling Sport Run About.">
            <a:extLst>
              <a:ext uri="{FF2B5EF4-FFF2-40B4-BE49-F238E27FC236}">
                <a16:creationId xmlns:a16="http://schemas.microsoft.com/office/drawing/2014/main" id="{26C93B67-EE49-16B3-88EB-DEA9F84CF2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9429" y="3001617"/>
            <a:ext cx="4123080" cy="3334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2726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rawl Space Repair - Sagging Floors &amp; Crawl Space Beams in Toms River ...">
            <a:extLst>
              <a:ext uri="{FF2B5EF4-FFF2-40B4-BE49-F238E27FC236}">
                <a16:creationId xmlns:a16="http://schemas.microsoft.com/office/drawing/2014/main" id="{B93AB199-2E96-BD2A-C352-FCAF6C539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387" y="262362"/>
            <a:ext cx="4535557" cy="256429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Who are we? - Proprism">
            <a:extLst>
              <a:ext uri="{FF2B5EF4-FFF2-40B4-BE49-F238E27FC236}">
                <a16:creationId xmlns:a16="http://schemas.microsoft.com/office/drawing/2014/main" id="{58C7BF6D-E2B6-1429-52B9-66037112F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7256" y="1093304"/>
            <a:ext cx="4535557" cy="430095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Mars Pathfinder - NASA Mars">
            <a:extLst>
              <a:ext uri="{FF2B5EF4-FFF2-40B4-BE49-F238E27FC236}">
                <a16:creationId xmlns:a16="http://schemas.microsoft.com/office/drawing/2014/main" id="{AAB7FE6A-BF3B-D068-9896-0A93ECE9B7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6291" y="3331783"/>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0344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BBCA58-6A8D-8EA3-CB67-2116B306A1B5}"/>
              </a:ext>
            </a:extLst>
          </p:cNvPr>
          <p:cNvSpPr txBox="1"/>
          <p:nvPr/>
        </p:nvSpPr>
        <p:spPr>
          <a:xfrm>
            <a:off x="285336" y="462399"/>
            <a:ext cx="6324187" cy="5812873"/>
          </a:xfrm>
          <a:prstGeom prst="rect">
            <a:avLst/>
          </a:prstGeom>
          <a:noFill/>
        </p:spPr>
        <p:txBody>
          <a:bodyPr wrap="square">
            <a:spAutoFit/>
          </a:bodyPr>
          <a:lstStyle/>
          <a:p>
            <a:pPr marR="234315">
              <a:lnSpc>
                <a:spcPct val="110000"/>
              </a:lnSpc>
              <a:spcBef>
                <a:spcPts val="675"/>
              </a:spcBef>
              <a:spcAft>
                <a:spcPts val="0"/>
              </a:spcAft>
            </a:pPr>
            <a:r>
              <a:rPr lang="en-US" sz="1800" b="1" i="1" spc="-20" dirty="0">
                <a:solidFill>
                  <a:srgbClr val="231F20"/>
                </a:solidFill>
                <a:effectLst/>
                <a:latin typeface="Times New Roman" panose="02020603050405020304" pitchFamily="18" charset="0"/>
                <a:ea typeface="Times New Roman" panose="02020603050405020304" pitchFamily="18" charset="0"/>
              </a:rPr>
              <a:t>11. OPTICAL</a:t>
            </a:r>
            <a:r>
              <a:rPr lang="en-US" sz="1800" b="1" i="1" spc="-50"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PROPERTY</a:t>
            </a:r>
            <a:r>
              <a:rPr lang="en-US" sz="1800" b="1" i="1" spc="-45"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CHANGES</a:t>
            </a:r>
            <a:r>
              <a:rPr lang="en-US" sz="1800" i="1" spc="-20" dirty="0">
                <a:solidFill>
                  <a:srgbClr val="231F20"/>
                </a:solidFill>
                <a:effectLst/>
                <a:latin typeface="Times New Roman" panose="02020603050405020304" pitchFamily="18" charset="0"/>
                <a:ea typeface="Times New Roman" panose="02020603050405020304" pitchFamily="18" charset="0"/>
              </a:rPr>
              <a:t>.</a:t>
            </a:r>
            <a:r>
              <a:rPr lang="en-US" sz="1800" i="1" spc="-45" dirty="0">
                <a:solidFill>
                  <a:srgbClr val="231F20"/>
                </a:solidFill>
                <a:effectLst/>
                <a:latin typeface="Times New Roman" panose="02020603050405020304" pitchFamily="18" charset="0"/>
                <a:ea typeface="Times New Roman" panose="02020603050405020304" pitchFamily="18" charset="0"/>
              </a:rPr>
              <a:t> (Change the color)</a:t>
            </a:r>
          </a:p>
          <a:p>
            <a:pPr marR="234315">
              <a:lnSpc>
                <a:spcPct val="110000"/>
              </a:lnSpc>
              <a:spcBef>
                <a:spcPts val="675"/>
              </a:spcBef>
              <a:spcAft>
                <a:spcPts val="0"/>
              </a:spcAft>
            </a:pPr>
            <a:r>
              <a:rPr lang="en-US" sz="1800" spc="-20" dirty="0">
                <a:solidFill>
                  <a:srgbClr val="FF0000"/>
                </a:solidFill>
                <a:effectLst/>
                <a:latin typeface="Times New Roman" panose="02020603050405020304" pitchFamily="18" charset="0"/>
                <a:ea typeface="Times New Roman" panose="02020603050405020304" pitchFamily="18" charset="0"/>
              </a:rPr>
              <a:t>Change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the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color</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transparency</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of</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an</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object</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its</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exter</a:t>
            </a:r>
            <a:r>
              <a:rPr lang="en-US" sz="1800" dirty="0">
                <a:solidFill>
                  <a:srgbClr val="FF0000"/>
                </a:solidFill>
                <a:effectLst/>
                <a:latin typeface="Times New Roman" panose="02020603050405020304" pitchFamily="18" charset="0"/>
                <a:ea typeface="Times New Roman" panose="02020603050405020304" pitchFamily="18" charset="0"/>
              </a:rPr>
              <a:t>nal</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environment.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Some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a:p>
            <a:pPr marL="285750" marR="233045" indent="-285750" algn="just">
              <a:spcBef>
                <a:spcPts val="1170"/>
              </a:spcBef>
              <a:spcAft>
                <a:spcPts val="0"/>
              </a:spcAft>
              <a:buFont typeface="Arial" panose="020B0604020202020204" pitchFamily="34" charset="0"/>
              <a:buChar char="•"/>
              <a:tabLst>
                <a:tab pos="514350" algn="l"/>
              </a:tabLst>
            </a:pPr>
            <a:r>
              <a:rPr lang="en-US" sz="1800" dirty="0">
                <a:effectLst/>
                <a:latin typeface="Times New Roman" panose="02020603050405020304" pitchFamily="18" charset="0"/>
                <a:ea typeface="Times New Roman" panose="02020603050405020304" pitchFamily="18" charset="0"/>
              </a:rPr>
              <a:t>Enzymes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producing</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light</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can</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be</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used</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detecting</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impurities</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6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food.</a:t>
            </a:r>
            <a:r>
              <a:rPr lang="en-US" sz="1800" spc="-65" dirty="0">
                <a:effectLst/>
                <a:latin typeface="Times New Roman" panose="02020603050405020304" pitchFamily="18" charset="0"/>
                <a:ea typeface="Times New Roman" panose="02020603050405020304" pitchFamily="18" charset="0"/>
              </a:rPr>
              <a:t> </a:t>
            </a:r>
          </a:p>
          <a:p>
            <a:pPr marL="285750" marR="233045" indent="-285750" algn="just">
              <a:spcBef>
                <a:spcPts val="1170"/>
              </a:spcBef>
              <a:spcAft>
                <a:spcPts val="0"/>
              </a:spcAft>
              <a:buFont typeface="Arial" panose="020B0604020202020204" pitchFamily="34" charset="0"/>
              <a:buChar char="•"/>
              <a:tabLst>
                <a:tab pos="514350" algn="l"/>
              </a:tabLst>
            </a:pPr>
            <a:r>
              <a:rPr lang="en-US" sz="1800" dirty="0">
                <a:effectLst/>
                <a:latin typeface="Times New Roman" panose="02020603050405020304" pitchFamily="18" charset="0"/>
                <a:ea typeface="Times New Roman" panose="02020603050405020304" pitchFamily="18" charset="0"/>
              </a:rPr>
              <a:t>Toys for</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preschool</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children</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packed</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transparent</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packages.</a:t>
            </a:r>
          </a:p>
          <a:p>
            <a:pPr marL="285750" marR="233045" indent="-285750" algn="just">
              <a:spcBef>
                <a:spcPts val="1170"/>
              </a:spcBef>
              <a:spcAft>
                <a:spcPts val="0"/>
              </a:spcAft>
              <a:buFont typeface="Arial" panose="020B0604020202020204" pitchFamily="34" charset="0"/>
              <a:buChar char="•"/>
              <a:tabLst>
                <a:tab pos="514350" algn="l"/>
              </a:tabLst>
            </a:pP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Sunglasses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 </a:t>
            </a:r>
            <a:r>
              <a:rPr lang="en-US" sz="1800" spc="-10" dirty="0">
                <a:effectLst/>
                <a:latin typeface="Times New Roman" panose="02020603050405020304" pitchFamily="18" charset="0"/>
                <a:ea typeface="Times New Roman" panose="02020603050405020304" pitchFamily="18" charset="0"/>
              </a:rPr>
              <a:t>change</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the</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amount</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of</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light</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blocked,</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depending</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on</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the</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brightness</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of</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the</a:t>
            </a:r>
            <a:r>
              <a:rPr lang="en-US" sz="1800" spc="-5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envi</a:t>
            </a:r>
            <a:r>
              <a:rPr lang="en-US" sz="1800" dirty="0">
                <a:effectLst/>
                <a:latin typeface="Times New Roman" panose="02020603050405020304" pitchFamily="18" charset="0"/>
                <a:ea typeface="Times New Roman" panose="02020603050405020304" pitchFamily="18" charset="0"/>
              </a:rPr>
              <a:t>ronment</a:t>
            </a:r>
            <a:r>
              <a:rPr lang="en-US" sz="1800" dirty="0">
                <a:solidFill>
                  <a:srgbClr val="231F20"/>
                </a:solidFill>
                <a:effectLst/>
                <a:latin typeface="Times New Roman" panose="02020603050405020304" pitchFamily="18" charset="0"/>
                <a:ea typeface="Times New Roman" panose="02020603050405020304" pitchFamily="18" charset="0"/>
              </a:rPr>
              <a:t>.</a:t>
            </a:r>
            <a:endParaRPr lang="en-IN" sz="2000" dirty="0">
              <a:effectLst/>
              <a:latin typeface="Times New Roman" panose="02020603050405020304" pitchFamily="18" charset="0"/>
              <a:ea typeface="Times New Roman" panose="02020603050405020304" pitchFamily="18" charset="0"/>
            </a:endParaRPr>
          </a:p>
          <a:p>
            <a:pPr algn="just">
              <a:spcBef>
                <a:spcPts val="870"/>
              </a:spcBef>
            </a:pPr>
            <a:r>
              <a:rPr lang="en-US" sz="1800" spc="-10" dirty="0">
                <a:solidFill>
                  <a:srgbClr val="231F20"/>
                </a:solidFill>
                <a:effectLst/>
                <a:latin typeface="Times New Roman" panose="02020603050405020304" pitchFamily="18" charset="0"/>
                <a:ea typeface="Times New Roman" panose="02020603050405020304" pitchFamily="18" charset="0"/>
              </a:rPr>
              <a:t>Transparency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both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physical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business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term.</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Changing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transpar</a:t>
            </a:r>
            <a:r>
              <a:rPr lang="en-US" sz="1800" dirty="0">
                <a:solidFill>
                  <a:srgbClr val="231F20"/>
                </a:solidFill>
                <a:effectLst/>
                <a:latin typeface="Times New Roman" panose="02020603050405020304" pitchFamily="18" charset="0"/>
                <a:ea typeface="Times New Roman" panose="02020603050405020304" pitchFamily="18" charset="0"/>
              </a:rPr>
              <a:t>ency</a:t>
            </a:r>
            <a:r>
              <a:rPr lang="en-US" dirty="0">
                <a:solidFill>
                  <a:srgbClr val="231F20"/>
                </a:solidFill>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increasing or decreasing it is one important and often cheap way to improve business. </a:t>
            </a:r>
          </a:p>
          <a:p>
            <a:pPr algn="just">
              <a:spcBef>
                <a:spcPts val="870"/>
              </a:spcBef>
            </a:pPr>
            <a:r>
              <a:rPr lang="en-US" sz="1800" dirty="0">
                <a:solidFill>
                  <a:srgbClr val="231F20"/>
                </a:solidFill>
                <a:effectLst/>
                <a:latin typeface="Times New Roman" panose="02020603050405020304" pitchFamily="18" charset="0"/>
                <a:ea typeface="Times New Roman" panose="02020603050405020304" pitchFamily="18" charset="0"/>
              </a:rPr>
              <a:t>Children want to see the toy; adults want to see that products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whole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production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process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safe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ecological.</a:t>
            </a:r>
            <a:r>
              <a:rPr lang="en-US" sz="1800" spc="55" dirty="0">
                <a:solidFill>
                  <a:srgbClr val="231F20"/>
                </a:solidFill>
                <a:effectLst/>
                <a:latin typeface="Times New Roman" panose="02020603050405020304" pitchFamily="18" charset="0"/>
                <a:ea typeface="Times New Roman" panose="02020603050405020304" pitchFamily="18" charset="0"/>
              </a:rPr>
              <a:t> </a:t>
            </a:r>
          </a:p>
          <a:p>
            <a:pPr algn="just">
              <a:spcBef>
                <a:spcPts val="870"/>
              </a:spcBef>
            </a:pPr>
            <a:r>
              <a:rPr lang="en-US" sz="1800" dirty="0">
                <a:solidFill>
                  <a:srgbClr val="231F20"/>
                </a:solidFill>
                <a:effectLst/>
                <a:latin typeface="Times New Roman" panose="02020603050405020304" pitchFamily="18" charset="0"/>
                <a:ea typeface="Times New Roman" panose="02020603050405020304" pitchFamily="18" charset="0"/>
              </a:rPr>
              <a:t>Here transparency</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make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difference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between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success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failure.</a:t>
            </a:r>
            <a:endParaRPr lang="en-IN" sz="1800" dirty="0">
              <a:effectLst/>
              <a:latin typeface="Times New Roman" panose="02020603050405020304" pitchFamily="18" charset="0"/>
              <a:ea typeface="Times New Roman" panose="02020603050405020304" pitchFamily="18" charset="0"/>
            </a:endParaRPr>
          </a:p>
          <a:p>
            <a:pPr marR="234315" algn="just">
              <a:spcBef>
                <a:spcPts val="5"/>
              </a:spcBef>
              <a:spcAft>
                <a:spcPts val="0"/>
              </a:spcAft>
              <a:tabLst>
                <a:tab pos="514350" algn="l"/>
              </a:tabLst>
            </a:pPr>
            <a:endParaRPr lang="en-IN" sz="2000" dirty="0">
              <a:effectLst/>
              <a:latin typeface="Times New Roman" panose="02020603050405020304" pitchFamily="18" charset="0"/>
              <a:ea typeface="Times New Roman" panose="02020603050405020304" pitchFamily="18" charset="0"/>
            </a:endParaRPr>
          </a:p>
        </p:txBody>
      </p:sp>
      <p:grpSp>
        <p:nvGrpSpPr>
          <p:cNvPr id="4" name="Group 3">
            <a:extLst>
              <a:ext uri="{FF2B5EF4-FFF2-40B4-BE49-F238E27FC236}">
                <a16:creationId xmlns:a16="http://schemas.microsoft.com/office/drawing/2014/main" id="{E38A6C74-7366-BD39-ED11-6A72304FEDFB}"/>
              </a:ext>
            </a:extLst>
          </p:cNvPr>
          <p:cNvGrpSpPr>
            <a:grpSpLocks/>
          </p:cNvGrpSpPr>
          <p:nvPr/>
        </p:nvGrpSpPr>
        <p:grpSpPr>
          <a:xfrm>
            <a:off x="7113104" y="1089287"/>
            <a:ext cx="4267200" cy="1129068"/>
            <a:chOff x="0" y="0"/>
            <a:chExt cx="4267200" cy="1129068"/>
          </a:xfrm>
        </p:grpSpPr>
        <p:pic>
          <p:nvPicPr>
            <p:cNvPr id="5" name="Image 539">
              <a:extLst>
                <a:ext uri="{FF2B5EF4-FFF2-40B4-BE49-F238E27FC236}">
                  <a16:creationId xmlns:a16="http://schemas.microsoft.com/office/drawing/2014/main" id="{C92A6F0E-479E-7887-A1A3-91EF9A500A26}"/>
                </a:ext>
              </a:extLst>
            </p:cNvPr>
            <p:cNvPicPr/>
            <p:nvPr/>
          </p:nvPicPr>
          <p:blipFill>
            <a:blip r:embed="rId2" cstate="print"/>
            <a:stretch>
              <a:fillRect/>
            </a:stretch>
          </p:blipFill>
          <p:spPr>
            <a:xfrm>
              <a:off x="762000" y="0"/>
              <a:ext cx="2743200" cy="1077467"/>
            </a:xfrm>
            <a:prstGeom prst="rect">
              <a:avLst/>
            </a:prstGeom>
          </p:spPr>
        </p:pic>
        <p:sp>
          <p:nvSpPr>
            <p:cNvPr id="6" name="Graphic 540">
              <a:extLst>
                <a:ext uri="{FF2B5EF4-FFF2-40B4-BE49-F238E27FC236}">
                  <a16:creationId xmlns:a16="http://schemas.microsoft.com/office/drawing/2014/main" id="{3E0B51A2-A88B-7CAC-D728-9DED6F8187D2}"/>
                </a:ext>
              </a:extLst>
            </p:cNvPr>
            <p:cNvSpPr/>
            <p:nvPr/>
          </p:nvSpPr>
          <p:spPr>
            <a:xfrm>
              <a:off x="0" y="112779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8" name="TextBox 7">
            <a:extLst>
              <a:ext uri="{FF2B5EF4-FFF2-40B4-BE49-F238E27FC236}">
                <a16:creationId xmlns:a16="http://schemas.microsoft.com/office/drawing/2014/main" id="{13FCCB9B-AEC2-94A5-A11A-02E2F045B66B}"/>
              </a:ext>
            </a:extLst>
          </p:cNvPr>
          <p:cNvSpPr txBox="1"/>
          <p:nvPr/>
        </p:nvSpPr>
        <p:spPr>
          <a:xfrm>
            <a:off x="6271594" y="2316107"/>
            <a:ext cx="6097656" cy="574132"/>
          </a:xfrm>
          <a:prstGeom prst="rect">
            <a:avLst/>
          </a:prstGeom>
          <a:noFill/>
        </p:spPr>
        <p:txBody>
          <a:bodyPr wrap="square">
            <a:spAutoFit/>
          </a:bodyPr>
          <a:lstStyle/>
          <a:p>
            <a:pPr marL="209550" algn="ctr">
              <a:lnSpc>
                <a:spcPct val="103000"/>
              </a:lnSpc>
              <a:spcBef>
                <a:spcPts val="410"/>
              </a:spcBef>
              <a:spcAft>
                <a:spcPts val="0"/>
              </a:spcAft>
            </a:pP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Optical</a:t>
            </a:r>
            <a:r>
              <a:rPr lang="en-US" sz="1400" b="1"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property</a:t>
            </a:r>
            <a:r>
              <a:rPr lang="en-US" sz="1400" b="1"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changes.</a:t>
            </a:r>
            <a:r>
              <a:rPr lang="en-US" sz="1400" b="1"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209550" algn="ctr">
              <a:lnSpc>
                <a:spcPct val="103000"/>
              </a:lnSpc>
              <a:spcBef>
                <a:spcPts val="410"/>
              </a:spcBef>
              <a:spcAft>
                <a:spcPts val="0"/>
              </a:spcAft>
            </a:pP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Change</a:t>
            </a:r>
            <a:r>
              <a:rPr lang="en-US" sz="1400" b="1"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400" b="1"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color</a:t>
            </a:r>
            <a:r>
              <a:rPr lang="en-US" sz="1400" b="1"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or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transparency</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1400" b="1" spc="-4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object.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170" name="Picture 2" descr="Now You See It, Now You Don't: 8 Awesome Thermochromic Designs ...">
            <a:extLst>
              <a:ext uri="{FF2B5EF4-FFF2-40B4-BE49-F238E27FC236}">
                <a16:creationId xmlns:a16="http://schemas.microsoft.com/office/drawing/2014/main" id="{C6856ACC-3C90-081F-F4C5-A80BBD89E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7735" y="3239082"/>
            <a:ext cx="4223303" cy="2952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7856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2111B3-6966-9B77-3AED-D81229260309}"/>
              </a:ext>
            </a:extLst>
          </p:cNvPr>
          <p:cNvSpPr txBox="1"/>
          <p:nvPr/>
        </p:nvSpPr>
        <p:spPr>
          <a:xfrm>
            <a:off x="663436" y="449927"/>
            <a:ext cx="7566163" cy="5355312"/>
          </a:xfrm>
          <a:prstGeom prst="rect">
            <a:avLst/>
          </a:prstGeom>
          <a:noFill/>
        </p:spPr>
        <p:txBody>
          <a:bodyPr wrap="square">
            <a:spAutoFit/>
          </a:bodyPr>
          <a:lstStyle/>
          <a:p>
            <a:pPr algn="just">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rPr>
              <a:t>Business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school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case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studies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often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cite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Johnson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&amp;</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Johnson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exemplary</a:t>
            </a:r>
            <a:r>
              <a:rPr lang="en-IN" spc="-10" dirty="0">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“transparent” behavior as a form of crisis management. When there was</a:t>
            </a:r>
            <a:r>
              <a:rPr lang="en-US" sz="1800" spc="40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 tampering problem with its Tylenol product, the company immediately </a:t>
            </a:r>
            <a:r>
              <a:rPr lang="en-US" sz="1800" spc="-10" dirty="0">
                <a:solidFill>
                  <a:srgbClr val="231F20"/>
                </a:solidFill>
                <a:effectLst/>
                <a:latin typeface="Times New Roman" panose="02020603050405020304" pitchFamily="18" charset="0"/>
                <a:ea typeface="Times New Roman" panose="02020603050405020304" pitchFamily="18" charset="0"/>
              </a:rPr>
              <a:t>recalled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product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gave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public</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full</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information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its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actions.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Both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speed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full</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disclosure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situation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credited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with</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product’s</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recovery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company’s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retention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excellent</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reputation.</a:t>
            </a:r>
            <a:endParaRPr lang="en-IN" sz="1800" dirty="0">
              <a:effectLst/>
              <a:latin typeface="Times New Roman" panose="02020603050405020304" pitchFamily="18" charset="0"/>
              <a:ea typeface="Times New Roman" panose="02020603050405020304" pitchFamily="18" charset="0"/>
            </a:endParaRPr>
          </a:p>
          <a:p>
            <a:pPr algn="just">
              <a:tabLst>
                <a:tab pos="513715" algn="l"/>
              </a:tabLst>
            </a:pPr>
            <a:endParaRPr lang="en-US" sz="1800" dirty="0">
              <a:solidFill>
                <a:srgbClr val="231F20"/>
              </a:solidFill>
              <a:effectLst/>
              <a:latin typeface="Times New Roman" panose="02020603050405020304" pitchFamily="18" charset="0"/>
              <a:ea typeface="Times New Roman" panose="02020603050405020304" pitchFamily="18" charset="0"/>
            </a:endParaRPr>
          </a:p>
          <a:p>
            <a:pPr algn="just">
              <a:tabLst>
                <a:tab pos="513715" algn="l"/>
              </a:tabLst>
            </a:pPr>
            <a:r>
              <a:rPr lang="en-US" sz="1800" dirty="0">
                <a:solidFill>
                  <a:srgbClr val="231F20"/>
                </a:solidFill>
                <a:effectLst/>
                <a:latin typeface="Times New Roman" panose="02020603050405020304" pitchFamily="18" charset="0"/>
                <a:ea typeface="Times New Roman" panose="02020603050405020304" pitchFamily="18" charset="0"/>
              </a:rPr>
              <a:t>Porous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materials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optical</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property</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changes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compose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pair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principles</a:t>
            </a:r>
            <a:r>
              <a:rPr lang="en-IN" dirty="0">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that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frequently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together.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Porous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materials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often</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semitransparent.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business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analogy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firewall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computer</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wall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should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 </a:t>
            </a:r>
            <a:r>
              <a:rPr lang="en-US" sz="1800" spc="-20" dirty="0">
                <a:solidFill>
                  <a:srgbClr val="231F20"/>
                </a:solidFill>
                <a:effectLst/>
                <a:latin typeface="Times New Roman" panose="02020603050405020304" pitchFamily="18" charset="0"/>
                <a:ea typeface="Times New Roman" panose="02020603050405020304" pitchFamily="18" charset="0"/>
              </a:rPr>
              <a:t>transparent for legitimate users and should, at the same time, be impermeable </a:t>
            </a:r>
            <a:r>
              <a:rPr lang="en-US" sz="1800" dirty="0">
                <a:solidFill>
                  <a:srgbClr val="231F20"/>
                </a:solidFill>
                <a:effectLst/>
                <a:latin typeface="Times New Roman" panose="02020603050405020304" pitchFamily="18" charset="0"/>
                <a:ea typeface="Times New Roman" panose="02020603050405020304" pitchFamily="18" charset="0"/>
              </a:rPr>
              <a:t>to those who might try to steal essential information.</a:t>
            </a:r>
          </a:p>
          <a:p>
            <a:pPr algn="just">
              <a:tabLst>
                <a:tab pos="513715" algn="l"/>
              </a:tabLst>
            </a:pPr>
            <a:endParaRPr lang="en-IN" sz="1800" dirty="0">
              <a:effectLst/>
              <a:latin typeface="Times New Roman" panose="02020603050405020304" pitchFamily="18" charset="0"/>
              <a:ea typeface="Times New Roman" panose="02020603050405020304" pitchFamily="18" charset="0"/>
            </a:endParaRPr>
          </a:p>
          <a:p>
            <a:pPr algn="just">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lighting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effects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change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mood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room</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office.</a:t>
            </a:r>
            <a:endParaRPr lang="en-IN" sz="1800" dirty="0">
              <a:effectLst/>
              <a:latin typeface="Times New Roman" panose="02020603050405020304" pitchFamily="18" charset="0"/>
              <a:ea typeface="Times New Roman" panose="02020603050405020304" pitchFamily="18" charset="0"/>
            </a:endParaRPr>
          </a:p>
          <a:p>
            <a:pPr algn="just">
              <a:tabLst>
                <a:tab pos="513715" algn="l"/>
              </a:tabLst>
            </a:pPr>
            <a:r>
              <a:rPr lang="en-US" sz="1800" dirty="0">
                <a:solidFill>
                  <a:srgbClr val="231F20"/>
                </a:solidFill>
                <a:effectLst/>
                <a:latin typeface="Times New Roman" panose="02020603050405020304" pitchFamily="18" charset="0"/>
                <a:ea typeface="Times New Roman" panose="02020603050405020304" pitchFamily="18" charset="0"/>
              </a:rPr>
              <a:t>Highlighter</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pens.</a:t>
            </a:r>
            <a:endParaRPr lang="en-IN" sz="1800" dirty="0">
              <a:effectLst/>
              <a:latin typeface="Times New Roman" panose="02020603050405020304" pitchFamily="18" charset="0"/>
              <a:ea typeface="Times New Roman" panose="02020603050405020304" pitchFamily="18" charset="0"/>
            </a:endParaRPr>
          </a:p>
          <a:p>
            <a:pPr algn="just">
              <a:tabLst>
                <a:tab pos="514350" algn="l"/>
              </a:tabLst>
            </a:pPr>
            <a:r>
              <a:rPr lang="en-US" sz="1800" dirty="0">
                <a:solidFill>
                  <a:srgbClr val="231F20"/>
                </a:solidFill>
                <a:effectLst/>
                <a:latin typeface="Times New Roman" panose="02020603050405020304" pitchFamily="18" charset="0"/>
                <a:ea typeface="Times New Roman" panose="02020603050405020304" pitchFamily="18" charset="0"/>
              </a:rPr>
              <a:t>Creation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corporate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colors creating</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strong</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brand</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image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through</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25" dirty="0">
                <a:solidFill>
                  <a:srgbClr val="231F20"/>
                </a:solidFill>
                <a:effectLst/>
                <a:latin typeface="Times New Roman" panose="02020603050405020304" pitchFamily="18" charset="0"/>
                <a:ea typeface="Times New Roman" panose="02020603050405020304" pitchFamily="18" charset="0"/>
              </a:rPr>
              <a:t>of</a:t>
            </a:r>
            <a:r>
              <a:rPr lang="en-IN" dirty="0">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bespoke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colors BP</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green,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British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Telecom</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phone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boxes,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Ford</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blue,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 </a:t>
            </a:r>
            <a:r>
              <a:rPr lang="en-US" sz="1800" dirty="0">
                <a:solidFill>
                  <a:srgbClr val="231F20"/>
                </a:solidFill>
                <a:effectLst/>
                <a:latin typeface="Times New Roman" panose="02020603050405020304" pitchFamily="18" charset="0"/>
                <a:ea typeface="Times New Roman" panose="02020603050405020304" pitchFamily="18" charset="0"/>
              </a:rPr>
              <a:t>so on.</a:t>
            </a:r>
          </a:p>
          <a:p>
            <a:pPr algn="just">
              <a:tabLst>
                <a:tab pos="514350" algn="l"/>
              </a:tabLst>
            </a:pPr>
            <a:endParaRPr lang="en-IN" sz="1800" dirty="0">
              <a:effectLst/>
              <a:latin typeface="Times New Roman" panose="02020603050405020304" pitchFamily="18" charset="0"/>
              <a:ea typeface="Times New Roman" panose="02020603050405020304" pitchFamily="18" charset="0"/>
            </a:endParaRPr>
          </a:p>
          <a:p>
            <a:pPr algn="just">
              <a:tabLst>
                <a:tab pos="513715" algn="l"/>
              </a:tabLst>
            </a:pPr>
            <a:r>
              <a:rPr lang="en-US" sz="1800" dirty="0">
                <a:solidFill>
                  <a:srgbClr val="231F20"/>
                </a:solidFill>
                <a:effectLst/>
                <a:latin typeface="Times New Roman" panose="02020603050405020304" pitchFamily="18" charset="0"/>
                <a:ea typeface="Times New Roman" panose="02020603050405020304" pitchFamily="18" charset="0"/>
              </a:rPr>
              <a:t>“Tell</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truth”</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tape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turning</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darker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gray</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when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food</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spoiled.</a:t>
            </a:r>
            <a:endParaRPr lang="en-IN" sz="1800" dirty="0">
              <a:effectLst/>
              <a:latin typeface="Times New Roman" panose="02020603050405020304" pitchFamily="18" charset="0"/>
              <a:ea typeface="Times New Roman" panose="02020603050405020304" pitchFamily="18" charset="0"/>
            </a:endParaRPr>
          </a:p>
        </p:txBody>
      </p:sp>
      <p:pic>
        <p:nvPicPr>
          <p:cNvPr id="8194" name="Picture 2" descr="Why Is Safety Clothing Important in the Workplace? - Midway Clothing">
            <a:extLst>
              <a:ext uri="{FF2B5EF4-FFF2-40B4-BE49-F238E27FC236}">
                <a16:creationId xmlns:a16="http://schemas.microsoft.com/office/drawing/2014/main" id="{9E7F05C7-F790-0B55-FC64-DC6326880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808" y="657861"/>
            <a:ext cx="3395732" cy="261628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lipkart.com | Faber Castell Highlighter Flat Tip Washable Highlighter ...">
            <a:extLst>
              <a:ext uri="{FF2B5EF4-FFF2-40B4-BE49-F238E27FC236}">
                <a16:creationId xmlns:a16="http://schemas.microsoft.com/office/drawing/2014/main" id="{FFB5319B-0452-95C9-F7A7-BA33B986A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9937" y="3429000"/>
            <a:ext cx="3467597" cy="297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204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241131-A8F2-B332-EFD6-59087E320BD2}"/>
              </a:ext>
            </a:extLst>
          </p:cNvPr>
          <p:cNvSpPr txBox="1"/>
          <p:nvPr/>
        </p:nvSpPr>
        <p:spPr>
          <a:xfrm>
            <a:off x="268356" y="102990"/>
            <a:ext cx="6097656" cy="2226379"/>
          </a:xfrm>
          <a:prstGeom prst="rect">
            <a:avLst/>
          </a:prstGeom>
          <a:noFill/>
        </p:spPr>
        <p:txBody>
          <a:bodyPr wrap="square">
            <a:spAutoFit/>
          </a:bodyPr>
          <a:lstStyle/>
          <a:p>
            <a:pPr marL="209550" marR="233045" algn="just">
              <a:lnSpc>
                <a:spcPct val="103000"/>
              </a:lnSpc>
              <a:spcBef>
                <a:spcPts val="595"/>
              </a:spcBef>
              <a:spcAft>
                <a:spcPts val="0"/>
              </a:spcAft>
            </a:pPr>
            <a:r>
              <a:rPr lang="en-US" sz="1800" b="1" i="1" spc="-10" dirty="0">
                <a:solidFill>
                  <a:srgbClr val="231F20"/>
                </a:solidFill>
                <a:effectLst/>
                <a:latin typeface="Times New Roman" panose="02020603050405020304" pitchFamily="18" charset="0"/>
                <a:ea typeface="Times New Roman" panose="02020603050405020304" pitchFamily="18" charset="0"/>
              </a:rPr>
              <a:t>12. LOCAL</a:t>
            </a:r>
            <a:r>
              <a:rPr lang="en-US" sz="1800" b="1" i="1" spc="-60" dirty="0">
                <a:solidFill>
                  <a:srgbClr val="231F20"/>
                </a:solidFill>
                <a:effectLst/>
                <a:latin typeface="Times New Roman" panose="02020603050405020304" pitchFamily="18" charset="0"/>
                <a:ea typeface="Times New Roman" panose="02020603050405020304" pitchFamily="18" charset="0"/>
              </a:rPr>
              <a:t> </a:t>
            </a:r>
            <a:r>
              <a:rPr lang="en-US" sz="1800" b="1" i="1" spc="-10" dirty="0">
                <a:solidFill>
                  <a:srgbClr val="231F20"/>
                </a:solidFill>
                <a:effectLst/>
                <a:latin typeface="Times New Roman" panose="02020603050405020304" pitchFamily="18" charset="0"/>
                <a:ea typeface="Times New Roman" panose="02020603050405020304" pitchFamily="18" charset="0"/>
              </a:rPr>
              <a:t>QUALITY</a:t>
            </a:r>
            <a:r>
              <a:rPr lang="en-US" b="1" i="1" spc="-10" dirty="0">
                <a:solidFill>
                  <a:srgbClr val="231F20"/>
                </a:solidFill>
                <a:latin typeface="Times New Roman" panose="02020603050405020304" pitchFamily="18" charset="0"/>
                <a:ea typeface="Times New Roman" panose="02020603050405020304" pitchFamily="18" charset="0"/>
              </a:rPr>
              <a:t> (REGIONAL INFLUENCES)</a:t>
            </a:r>
            <a:endParaRPr lang="en-US" sz="1800" b="1" i="1" spc="-55" dirty="0">
              <a:solidFill>
                <a:srgbClr val="231F20"/>
              </a:solidFill>
              <a:effectLst/>
              <a:latin typeface="Times New Roman" panose="02020603050405020304" pitchFamily="18" charset="0"/>
              <a:ea typeface="Times New Roman" panose="02020603050405020304" pitchFamily="18" charset="0"/>
            </a:endParaRPr>
          </a:p>
          <a:p>
            <a:pPr marL="209550" marR="233045" algn="just">
              <a:lnSpc>
                <a:spcPct val="103000"/>
              </a:lnSpc>
              <a:spcBef>
                <a:spcPts val="595"/>
              </a:spcBef>
              <a:spcAft>
                <a:spcPts val="0"/>
              </a:spcAft>
            </a:pPr>
            <a:r>
              <a:rPr lang="en-US" sz="1800" spc="-10" dirty="0">
                <a:solidFill>
                  <a:srgbClr val="FF0000"/>
                </a:solidFill>
                <a:effectLst/>
                <a:latin typeface="Times New Roman" panose="02020603050405020304" pitchFamily="18" charset="0"/>
                <a:ea typeface="Times New Roman" panose="02020603050405020304" pitchFamily="18" charset="0"/>
              </a:rPr>
              <a:t>Change</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an</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object’s</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structure</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or</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an</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external</a:t>
            </a:r>
            <a:r>
              <a:rPr lang="en-US" sz="1800" spc="-6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environment</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(or</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external </a:t>
            </a:r>
            <a:r>
              <a:rPr lang="en-US" sz="1800" dirty="0">
                <a:solidFill>
                  <a:srgbClr val="FF0000"/>
                </a:solidFill>
                <a:effectLst/>
                <a:latin typeface="Times New Roman" panose="02020603050405020304" pitchFamily="18" charset="0"/>
                <a:ea typeface="Times New Roman" panose="02020603050405020304" pitchFamily="18" charset="0"/>
              </a:rPr>
              <a:t>influence)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so</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that</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object</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will</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have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different</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features</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influences</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different places</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situations.</a:t>
            </a:r>
            <a:r>
              <a:rPr lang="en-US" sz="1800" spc="-50" dirty="0">
                <a:solidFill>
                  <a:srgbClr val="FF0000"/>
                </a:solidFill>
                <a:effectLst/>
                <a:latin typeface="Times New Roman" panose="02020603050405020304" pitchFamily="18" charset="0"/>
                <a:ea typeface="Times New Roman" panose="02020603050405020304" pitchFamily="18" charset="0"/>
              </a:rPr>
              <a:t> </a:t>
            </a:r>
          </a:p>
          <a:p>
            <a:pPr marL="209550" marR="233045" algn="just">
              <a:lnSpc>
                <a:spcPct val="103000"/>
              </a:lnSpc>
              <a:spcBef>
                <a:spcPts val="595"/>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Make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each</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part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object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function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conditions most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suitable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operation.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Make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each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part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object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fulfill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different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 useful function.</a:t>
            </a:r>
            <a:endParaRPr lang="en-IN" sz="1800" dirty="0">
              <a:effectLst/>
              <a:latin typeface="Times New Roman" panose="02020603050405020304" pitchFamily="18" charset="0"/>
              <a:ea typeface="Times New Roman" panose="02020603050405020304" pitchFamily="18" charset="0"/>
            </a:endParaRPr>
          </a:p>
        </p:txBody>
      </p:sp>
      <p:grpSp>
        <p:nvGrpSpPr>
          <p:cNvPr id="6" name="Group 5">
            <a:extLst>
              <a:ext uri="{FF2B5EF4-FFF2-40B4-BE49-F238E27FC236}">
                <a16:creationId xmlns:a16="http://schemas.microsoft.com/office/drawing/2014/main" id="{A22FC8AE-9C4F-17D9-4667-D4080AD54ABD}"/>
              </a:ext>
            </a:extLst>
          </p:cNvPr>
          <p:cNvGrpSpPr>
            <a:grpSpLocks/>
          </p:cNvGrpSpPr>
          <p:nvPr/>
        </p:nvGrpSpPr>
        <p:grpSpPr>
          <a:xfrm>
            <a:off x="7023652" y="556212"/>
            <a:ext cx="4267200" cy="1310424"/>
            <a:chOff x="0" y="0"/>
            <a:chExt cx="4267200" cy="1310424"/>
          </a:xfrm>
        </p:grpSpPr>
        <p:pic>
          <p:nvPicPr>
            <p:cNvPr id="7" name="Image 456">
              <a:extLst>
                <a:ext uri="{FF2B5EF4-FFF2-40B4-BE49-F238E27FC236}">
                  <a16:creationId xmlns:a16="http://schemas.microsoft.com/office/drawing/2014/main" id="{0E08E14F-8698-3BC6-0FC0-8199A902FE97}"/>
                </a:ext>
              </a:extLst>
            </p:cNvPr>
            <p:cNvPicPr/>
            <p:nvPr/>
          </p:nvPicPr>
          <p:blipFill>
            <a:blip r:embed="rId2" cstate="print"/>
            <a:stretch>
              <a:fillRect/>
            </a:stretch>
          </p:blipFill>
          <p:spPr>
            <a:xfrm>
              <a:off x="975360" y="0"/>
              <a:ext cx="2316479" cy="1258823"/>
            </a:xfrm>
            <a:prstGeom prst="rect">
              <a:avLst/>
            </a:prstGeom>
          </p:spPr>
        </p:pic>
        <p:sp>
          <p:nvSpPr>
            <p:cNvPr id="8" name="Graphic 457">
              <a:extLst>
                <a:ext uri="{FF2B5EF4-FFF2-40B4-BE49-F238E27FC236}">
                  <a16:creationId xmlns:a16="http://schemas.microsoft.com/office/drawing/2014/main" id="{8C4BF3AE-CD21-BF7B-8D84-56B4D5162114}"/>
                </a:ext>
              </a:extLst>
            </p:cNvPr>
            <p:cNvSpPr/>
            <p:nvPr/>
          </p:nvSpPr>
          <p:spPr>
            <a:xfrm>
              <a:off x="0" y="1309154"/>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0" name="TextBox 9">
            <a:extLst>
              <a:ext uri="{FF2B5EF4-FFF2-40B4-BE49-F238E27FC236}">
                <a16:creationId xmlns:a16="http://schemas.microsoft.com/office/drawing/2014/main" id="{DFF97D02-0E61-A7EF-586C-688278038054}"/>
              </a:ext>
            </a:extLst>
          </p:cNvPr>
          <p:cNvSpPr txBox="1"/>
          <p:nvPr/>
        </p:nvSpPr>
        <p:spPr>
          <a:xfrm>
            <a:off x="6307206" y="2098537"/>
            <a:ext cx="6097656" cy="307777"/>
          </a:xfrm>
          <a:prstGeom prst="rect">
            <a:avLst/>
          </a:prstGeom>
          <a:noFill/>
        </p:spPr>
        <p:txBody>
          <a:bodyPr wrap="square">
            <a:spAutoFit/>
          </a:bodyPr>
          <a:lstStyle/>
          <a:p>
            <a:pPr algn="ct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Local</a:t>
            </a:r>
            <a:r>
              <a:rPr lang="en-US" sz="14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quality.</a:t>
            </a:r>
            <a:r>
              <a:rPr lang="en-US" sz="1400" b="1" spc="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Change</a:t>
            </a:r>
            <a:r>
              <a:rPr lang="en-US" sz="1400" b="1" spc="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an</a:t>
            </a:r>
            <a:r>
              <a:rPr lang="en-US" sz="1400" b="1" spc="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object’s</a:t>
            </a:r>
            <a:r>
              <a:rPr lang="en-US" sz="1400" b="1" spc="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structure.</a:t>
            </a:r>
            <a:endParaRPr lang="en-IN" sz="1400" dirty="0"/>
          </a:p>
        </p:txBody>
      </p:sp>
      <p:sp>
        <p:nvSpPr>
          <p:cNvPr id="2" name="TextBox 1">
            <a:extLst>
              <a:ext uri="{FF2B5EF4-FFF2-40B4-BE49-F238E27FC236}">
                <a16:creationId xmlns:a16="http://schemas.microsoft.com/office/drawing/2014/main" id="{CE8A19E6-73D2-402A-EDA2-6C76A0B9B722}"/>
              </a:ext>
            </a:extLst>
          </p:cNvPr>
          <p:cNvSpPr txBox="1"/>
          <p:nvPr/>
        </p:nvSpPr>
        <p:spPr>
          <a:xfrm>
            <a:off x="268356" y="2637382"/>
            <a:ext cx="6097656" cy="3241208"/>
          </a:xfrm>
          <a:prstGeom prst="rect">
            <a:avLst/>
          </a:prstGeom>
          <a:noFill/>
        </p:spPr>
        <p:txBody>
          <a:bodyPr wrap="square">
            <a:spAutoFit/>
          </a:bodyPr>
          <a:lstStyle/>
          <a:p>
            <a:pPr marL="342900" lvl="0" indent="-342900" algn="just">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Non-uniformity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rPr>
              <a:t>Instead of applying the same properties or characteristics throughout a system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modify individual parts based on their specific needs.</a:t>
            </a:r>
          </a:p>
          <a:p>
            <a:pPr marL="342900" lvl="0" indent="-342900" algn="just">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Functionality at Local Levels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rPr>
              <a:t>Design different areas or elements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of an object to perform different, specialized functions, </a:t>
            </a:r>
            <a:r>
              <a:rPr lang="en-IN" sz="18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rather than relying on a uniform design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that applies the same across all areas.</a:t>
            </a:r>
          </a:p>
          <a:p>
            <a:pPr marL="342900" lvl="0" indent="-342900" algn="just">
              <a:lnSpc>
                <a:spcPct val="107000"/>
              </a:lnSpc>
              <a:spcAft>
                <a:spcPts val="800"/>
              </a:spcAft>
              <a:buFont typeface="+mj-lt"/>
              <a:buAutoNum type="arabicPeriod"/>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Optimization of Components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principle encourages </a:t>
            </a:r>
            <a:r>
              <a:rPr lang="en-IN" sz="1800" kern="100"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rPr>
              <a:t>adjusting the shape, material, or design of each part of a system for improved performance based on local conditions.</a:t>
            </a:r>
          </a:p>
        </p:txBody>
      </p:sp>
      <p:pic>
        <p:nvPicPr>
          <p:cNvPr id="4" name="Picture 2" descr="Understanding Different LED Light Colors - Houseopedia">
            <a:extLst>
              <a:ext uri="{FF2B5EF4-FFF2-40B4-BE49-F238E27FC236}">
                <a16:creationId xmlns:a16="http://schemas.microsoft.com/office/drawing/2014/main" id="{29E32D59-1C2B-3544-1D25-16CABCEE9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3652" y="2864230"/>
            <a:ext cx="4514850" cy="2787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5299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6555DE9-80CB-C002-CDDB-C09949BEA299}"/>
              </a:ext>
            </a:extLst>
          </p:cNvPr>
          <p:cNvSpPr txBox="1"/>
          <p:nvPr/>
        </p:nvSpPr>
        <p:spPr>
          <a:xfrm>
            <a:off x="297345" y="2842670"/>
            <a:ext cx="6202016" cy="3537571"/>
          </a:xfrm>
          <a:prstGeom prst="rect">
            <a:avLst/>
          </a:prstGeom>
          <a:noFill/>
        </p:spPr>
        <p:txBody>
          <a:bodyPr wrap="square">
            <a:spAutoFit/>
          </a:bodyPr>
          <a:lstStyle/>
          <a:p>
            <a:pPr marL="209550" marR="234315" indent="190500" algn="just">
              <a:lnSpc>
                <a:spcPct val="107000"/>
              </a:lnSpc>
              <a:spcBef>
                <a:spcPts val="775"/>
              </a:spcBef>
              <a:spcAft>
                <a:spcPts val="0"/>
              </a:spcAft>
            </a:pPr>
            <a:r>
              <a:rPr lang="en-US" sz="1800" spc="-30" dirty="0">
                <a:solidFill>
                  <a:srgbClr val="231F20"/>
                </a:solidFill>
                <a:effectLst/>
                <a:latin typeface="Times New Roman" panose="02020603050405020304" pitchFamily="18" charset="0"/>
                <a:ea typeface="Times New Roman" panose="02020603050405020304" pitchFamily="18" charset="0"/>
              </a:rPr>
              <a:t>It is easier to change the system locally. There are many examples in technology. </a:t>
            </a:r>
            <a:r>
              <a:rPr lang="en-US" sz="1800" dirty="0">
                <a:solidFill>
                  <a:srgbClr val="231F20"/>
                </a:solidFill>
                <a:effectLst/>
                <a:latin typeface="Times New Roman" panose="02020603050405020304" pitchFamily="18" charset="0"/>
                <a:ea typeface="Times New Roman" panose="02020603050405020304" pitchFamily="18" charset="0"/>
              </a:rPr>
              <a:t>Quenching and other treatments of the surface layer of metal components make 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surface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properties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different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from</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bulk</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properties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material.</a:t>
            </a:r>
          </a:p>
          <a:p>
            <a:pPr marL="209550" marR="234315" indent="190500" algn="just">
              <a:lnSpc>
                <a:spcPct val="107000"/>
              </a:lnSpc>
              <a:spcBef>
                <a:spcPts val="775"/>
              </a:spcBef>
              <a:spcAft>
                <a:spcPts val="0"/>
              </a:spcAft>
            </a:pPr>
            <a:r>
              <a:rPr lang="en-US" sz="1800" spc="-55" dirty="0">
                <a:solidFill>
                  <a:srgbClr val="231F20"/>
                </a:solidFill>
                <a:effectLst/>
                <a:latin typeface="Times New Roman" panose="02020603050405020304" pitchFamily="18" charset="0"/>
                <a:ea typeface="Times New Roman" panose="02020603050405020304" pitchFamily="18" charset="0"/>
              </a:rPr>
              <a:t> </a:t>
            </a:r>
          </a:p>
          <a:p>
            <a:pPr marL="209550" marR="234315" indent="190500" algn="just">
              <a:lnSpc>
                <a:spcPct val="107000"/>
              </a:lnSpc>
              <a:spcBef>
                <a:spcPts val="775"/>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We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 </a:t>
            </a:r>
            <a:r>
              <a:rPr lang="en-US" sz="1800" spc="-10" dirty="0">
                <a:solidFill>
                  <a:srgbClr val="231F20"/>
                </a:solidFill>
                <a:effectLst/>
                <a:latin typeface="Times New Roman" panose="02020603050405020304" pitchFamily="18" charset="0"/>
                <a:ea typeface="Times New Roman" panose="02020603050405020304" pitchFamily="18" charset="0"/>
              </a:rPr>
              <a:t>different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wrench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every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nut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because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fixed-size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wrenches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much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stronger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than </a:t>
            </a:r>
            <a:r>
              <a:rPr lang="en-US" sz="1800" spc="-20" dirty="0">
                <a:solidFill>
                  <a:srgbClr val="231F20"/>
                </a:solidFill>
                <a:effectLst/>
                <a:latin typeface="Times New Roman" panose="02020603050405020304" pitchFamily="18" charset="0"/>
                <a:ea typeface="Times New Roman" panose="02020603050405020304" pitchFamily="18" charset="0"/>
              </a:rPr>
              <a:t>adjustable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wrenches.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Specialized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compartments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lunchbox</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each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type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food </a:t>
            </a:r>
            <a:r>
              <a:rPr lang="en-US" sz="1800" spc="-10" dirty="0">
                <a:solidFill>
                  <a:srgbClr val="231F20"/>
                </a:solidFill>
                <a:effectLst/>
                <a:latin typeface="Times New Roman" panose="02020603050405020304" pitchFamily="18" charset="0"/>
                <a:ea typeface="Times New Roman" panose="02020603050405020304" pitchFamily="18" charset="0"/>
              </a:rPr>
              <a:t>keep</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hot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things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hot,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cold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things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cold,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make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safe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economical</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workers </a:t>
            </a:r>
            <a:r>
              <a:rPr lang="en-US" sz="1800" dirty="0">
                <a:solidFill>
                  <a:srgbClr val="231F20"/>
                </a:solidFill>
                <a:effectLst/>
                <a:latin typeface="Times New Roman" panose="02020603050405020304" pitchFamily="18" charset="0"/>
                <a:ea typeface="Times New Roman" panose="02020603050405020304" pitchFamily="18" charset="0"/>
              </a:rPr>
              <a:t>and schoolchildren to carry their lunches with them.</a:t>
            </a:r>
            <a:endParaRPr lang="en-IN" sz="1800" dirty="0">
              <a:effectLst/>
              <a:latin typeface="Times New Roman" panose="02020603050405020304" pitchFamily="18" charset="0"/>
              <a:ea typeface="Times New Roman" panose="02020603050405020304" pitchFamily="18" charset="0"/>
            </a:endParaRPr>
          </a:p>
        </p:txBody>
      </p:sp>
      <p:pic>
        <p:nvPicPr>
          <p:cNvPr id="4" name="Picture 2" descr="31 Types of Wrenches &amp; Their Uses [with Pictures] - Engineering Learn">
            <a:extLst>
              <a:ext uri="{FF2B5EF4-FFF2-40B4-BE49-F238E27FC236}">
                <a16:creationId xmlns:a16="http://schemas.microsoft.com/office/drawing/2014/main" id="{D2A12994-796F-1157-8447-1ED09356C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0071" y="3737113"/>
            <a:ext cx="5086764" cy="25489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86CCD62-C15B-5684-E42C-E254C00BBC51}"/>
              </a:ext>
            </a:extLst>
          </p:cNvPr>
          <p:cNvSpPr txBox="1"/>
          <p:nvPr/>
        </p:nvSpPr>
        <p:spPr>
          <a:xfrm>
            <a:off x="297345" y="1053303"/>
            <a:ext cx="6097656" cy="1216487"/>
          </a:xfrm>
          <a:prstGeom prst="rect">
            <a:avLst/>
          </a:prstGeom>
          <a:noFill/>
        </p:spPr>
        <p:txBody>
          <a:bodyPr wrap="square">
            <a:spAutoFit/>
          </a:bodyPr>
          <a:lstStyle/>
          <a:p>
            <a:pPr marL="209550" marR="234315" indent="190500" algn="just">
              <a:lnSpc>
                <a:spcPct val="103000"/>
              </a:lnSpc>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Often</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object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should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have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additional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feature,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but</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introduction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this </a:t>
            </a:r>
            <a:r>
              <a:rPr lang="en-US" sz="1800" spc="-30" dirty="0">
                <a:solidFill>
                  <a:srgbClr val="231F20"/>
                </a:solidFill>
                <a:effectLst/>
                <a:latin typeface="Times New Roman" panose="02020603050405020304" pitchFamily="18" charset="0"/>
                <a:ea typeface="Times New Roman" panose="02020603050405020304" pitchFamily="18" charset="0"/>
              </a:rPr>
              <a:t>feature causes new problems or makes the system more complex and expensive. We </a:t>
            </a:r>
            <a:r>
              <a:rPr lang="en-US" sz="1800" dirty="0">
                <a:solidFill>
                  <a:srgbClr val="231F20"/>
                </a:solidFill>
                <a:effectLst/>
                <a:latin typeface="Times New Roman" panose="02020603050405020304" pitchFamily="18" charset="0"/>
                <a:ea typeface="Times New Roman" panose="02020603050405020304" pitchFamily="18" charset="0"/>
              </a:rPr>
              <a:t>should change the system, and we should not change it.</a:t>
            </a:r>
            <a:endParaRPr lang="en-IN" sz="1800" dirty="0">
              <a:effectLst/>
              <a:latin typeface="Times New Roman" panose="02020603050405020304" pitchFamily="18" charset="0"/>
              <a:ea typeface="Times New Roman" panose="02020603050405020304" pitchFamily="18" charset="0"/>
            </a:endParaRPr>
          </a:p>
        </p:txBody>
      </p:sp>
      <p:pic>
        <p:nvPicPr>
          <p:cNvPr id="1026" name="Picture 2" descr="Quenching process">
            <a:extLst>
              <a:ext uri="{FF2B5EF4-FFF2-40B4-BE49-F238E27FC236}">
                <a16:creationId xmlns:a16="http://schemas.microsoft.com/office/drawing/2014/main" id="{AF20C241-D198-37C1-527B-08FB126831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0071" y="284794"/>
            <a:ext cx="5178287" cy="2862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38666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D16D69-EEAA-39AD-B30A-F3C310C3A684}"/>
              </a:ext>
            </a:extLst>
          </p:cNvPr>
          <p:cNvSpPr txBox="1"/>
          <p:nvPr/>
        </p:nvSpPr>
        <p:spPr>
          <a:xfrm>
            <a:off x="471949" y="515772"/>
            <a:ext cx="6096000" cy="1988237"/>
          </a:xfrm>
          <a:prstGeom prst="rect">
            <a:avLst/>
          </a:prstGeom>
          <a:noFill/>
        </p:spPr>
        <p:txBody>
          <a:bodyPr wrap="square">
            <a:spAutoFit/>
          </a:bodyPr>
          <a:lstStyle/>
          <a:p>
            <a:pPr marL="209550" marR="234315" algn="just">
              <a:lnSpc>
                <a:spcPct val="110000"/>
              </a:lnSpc>
              <a:spcBef>
                <a:spcPts val="680"/>
              </a:spcBef>
              <a:spcAft>
                <a:spcPts val="0"/>
              </a:spcAft>
            </a:pPr>
            <a:r>
              <a:rPr lang="en-US" sz="1800" b="1" i="1" spc="-30" dirty="0">
                <a:solidFill>
                  <a:srgbClr val="231F20"/>
                </a:solidFill>
                <a:effectLst/>
                <a:latin typeface="Times New Roman" panose="02020603050405020304" pitchFamily="18" charset="0"/>
                <a:ea typeface="Times New Roman" panose="02020603050405020304" pitchFamily="18" charset="0"/>
              </a:rPr>
              <a:t>13. DISCARDING AND RECOVERING (RECYCLE AND RECOVER) </a:t>
            </a:r>
          </a:p>
          <a:p>
            <a:pPr marL="209550" marR="234315" algn="just">
              <a:lnSpc>
                <a:spcPct val="110000"/>
              </a:lnSpc>
              <a:spcBef>
                <a:spcPts val="680"/>
              </a:spcBef>
              <a:spcAft>
                <a:spcPts val="0"/>
              </a:spcAft>
            </a:pPr>
            <a:r>
              <a:rPr lang="en-US" sz="1800" spc="-30" dirty="0">
                <a:solidFill>
                  <a:srgbClr val="231F20"/>
                </a:solidFill>
                <a:effectLst/>
                <a:latin typeface="Times New Roman" panose="02020603050405020304" pitchFamily="18" charset="0"/>
                <a:ea typeface="Times New Roman" panose="02020603050405020304" pitchFamily="18" charset="0"/>
              </a:rPr>
              <a:t>Make portions of an object that have fulfilled their func</a:t>
            </a:r>
            <a:r>
              <a:rPr lang="en-US" sz="1800" dirty="0">
                <a:solidFill>
                  <a:srgbClr val="231F20"/>
                </a:solidFill>
                <a:effectLst/>
                <a:latin typeface="Times New Roman" panose="02020603050405020304" pitchFamily="18" charset="0"/>
                <a:ea typeface="Times New Roman" panose="02020603050405020304" pitchFamily="18" charset="0"/>
              </a:rPr>
              <a:t>tions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go</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away</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(discard</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by</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dissolving,</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evaporating,</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etc.)</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modify</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them</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directly during operation. Conversely, restore consumable parts of an object directly in operation</a:t>
            </a:r>
            <a:r>
              <a:rPr lang="en-US" spc="-65" dirty="0">
                <a:solidFill>
                  <a:srgbClr val="231F20"/>
                </a:solidFill>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E30BECE3-DC71-3307-D47F-701F9B7BE4E6}"/>
              </a:ext>
            </a:extLst>
          </p:cNvPr>
          <p:cNvSpPr txBox="1"/>
          <p:nvPr/>
        </p:nvSpPr>
        <p:spPr>
          <a:xfrm>
            <a:off x="705737" y="2538433"/>
            <a:ext cx="6096000" cy="1908215"/>
          </a:xfrm>
          <a:prstGeom prst="rect">
            <a:avLst/>
          </a:prstGeom>
          <a:noFill/>
        </p:spPr>
        <p:txBody>
          <a:bodyPr wrap="square">
            <a:spAutoFit/>
          </a:bodyPr>
          <a:lstStyle/>
          <a:p>
            <a:pPr marR="233045" algn="just">
              <a:spcBef>
                <a:spcPts val="1160"/>
              </a:spcBef>
              <a:spcAft>
                <a:spcPts val="0"/>
              </a:spcAft>
              <a:tabLst>
                <a:tab pos="514350" algn="l"/>
              </a:tabLst>
            </a:pPr>
            <a:r>
              <a:rPr lang="en-US" sz="1800" spc="-10" dirty="0">
                <a:solidFill>
                  <a:srgbClr val="231F20"/>
                </a:solidFill>
                <a:effectLst/>
                <a:latin typeface="Times New Roman" panose="02020603050405020304" pitchFamily="18" charset="0"/>
                <a:ea typeface="Times New Roman" panose="02020603050405020304" pitchFamily="18" charset="0"/>
              </a:rPr>
              <a:t>Biodegradable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materials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medicine: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Polylactides</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are</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used</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to</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make</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dissolv</a:t>
            </a:r>
            <a:r>
              <a:rPr lang="en-US" sz="1800" dirty="0">
                <a:solidFill>
                  <a:srgbClr val="C00000"/>
                </a:solidFill>
                <a:effectLst/>
                <a:latin typeface="Times New Roman" panose="02020603050405020304" pitchFamily="18" charset="0"/>
                <a:ea typeface="Times New Roman" panose="02020603050405020304" pitchFamily="18" charset="0"/>
              </a:rPr>
              <a:t>able</a:t>
            </a:r>
            <a:r>
              <a:rPr lang="en-US" sz="1800" spc="-70" dirty="0">
                <a:solidFill>
                  <a:srgbClr val="C00000"/>
                </a:solidFill>
                <a:effectLst/>
                <a:latin typeface="Times New Roman" panose="02020603050405020304" pitchFamily="18" charset="0"/>
                <a:ea typeface="Times New Roman" panose="02020603050405020304" pitchFamily="18" charset="0"/>
              </a:rPr>
              <a:t> </a:t>
            </a:r>
            <a:r>
              <a:rPr lang="en-US" sz="1800" dirty="0">
                <a:solidFill>
                  <a:srgbClr val="C00000"/>
                </a:solidFill>
                <a:effectLst/>
                <a:latin typeface="Times New Roman" panose="02020603050405020304" pitchFamily="18" charset="0"/>
                <a:ea typeface="Times New Roman" panose="02020603050405020304" pitchFamily="18" charset="0"/>
              </a:rPr>
              <a:t>screws</a:t>
            </a:r>
            <a:r>
              <a:rPr lang="en-US" sz="1800" spc="-65" dirty="0">
                <a:solidFill>
                  <a:srgbClr val="C00000"/>
                </a:solidFill>
                <a:effectLst/>
                <a:latin typeface="Times New Roman" panose="02020603050405020304" pitchFamily="18" charset="0"/>
                <a:ea typeface="Times New Roman" panose="02020603050405020304" pitchFamily="18" charset="0"/>
              </a:rPr>
              <a:t> </a:t>
            </a:r>
            <a:r>
              <a:rPr lang="en-US" sz="1800" dirty="0">
                <a:solidFill>
                  <a:srgbClr val="C00000"/>
                </a:solidFill>
                <a:effectLst/>
                <a:latin typeface="Times New Roman" panose="02020603050405020304" pitchFamily="18" charset="0"/>
                <a:ea typeface="Times New Roman" panose="02020603050405020304" pitchFamily="18" charset="0"/>
              </a:rPr>
              <a:t>and</a:t>
            </a:r>
            <a:r>
              <a:rPr lang="en-US" sz="1800" spc="-65" dirty="0">
                <a:solidFill>
                  <a:srgbClr val="C00000"/>
                </a:solidFill>
                <a:effectLst/>
                <a:latin typeface="Times New Roman" panose="02020603050405020304" pitchFamily="18" charset="0"/>
                <a:ea typeface="Times New Roman" panose="02020603050405020304" pitchFamily="18" charset="0"/>
              </a:rPr>
              <a:t> </a:t>
            </a:r>
            <a:r>
              <a:rPr lang="en-US" sz="1800" dirty="0">
                <a:solidFill>
                  <a:srgbClr val="C00000"/>
                </a:solidFill>
                <a:effectLst/>
                <a:latin typeface="Times New Roman" panose="02020603050405020304" pitchFamily="18" charset="0"/>
                <a:ea typeface="Times New Roman" panose="02020603050405020304" pitchFamily="18" charset="0"/>
              </a:rPr>
              <a:t>pins.</a:t>
            </a:r>
            <a:r>
              <a:rPr lang="en-US" sz="1800" spc="-65" dirty="0">
                <a:solidFill>
                  <a:srgbClr val="C0000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replace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titanium</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screws</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surgeons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 mend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broken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bones.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second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operation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removal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screws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not needed.</a:t>
            </a:r>
          </a:p>
          <a:p>
            <a:pPr marR="233045" algn="just">
              <a:spcBef>
                <a:spcPts val="1160"/>
              </a:spcBef>
              <a:spcAft>
                <a:spcPts val="0"/>
              </a:spcAft>
              <a:tabLst>
                <a:tab pos="514350" algn="l"/>
              </a:tabLst>
            </a:pPr>
            <a:r>
              <a:rPr lang="en-US" spc="-45" dirty="0">
                <a:solidFill>
                  <a:srgbClr val="231F20"/>
                </a:solidFill>
                <a:latin typeface="Times New Roman" panose="02020603050405020304" pitchFamily="18" charset="0"/>
                <a:ea typeface="Times New Roman" panose="02020603050405020304" pitchFamily="18" charset="0"/>
              </a:rPr>
              <a:t>T</a:t>
            </a:r>
            <a:r>
              <a:rPr lang="en-US" sz="1800" dirty="0">
                <a:solidFill>
                  <a:srgbClr val="231F20"/>
                </a:solidFill>
                <a:effectLst/>
                <a:latin typeface="Times New Roman" panose="02020603050405020304" pitchFamily="18" charset="0"/>
                <a:ea typeface="Times New Roman" panose="02020603050405020304" pitchFamily="18" charset="0"/>
              </a:rPr>
              <a: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tread</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tire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restores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edges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tread blocks when the tire wears.</a:t>
            </a:r>
            <a:endParaRPr lang="en-IN" sz="2000" dirty="0">
              <a:effectLst/>
              <a:latin typeface="Times New Roman" panose="02020603050405020304" pitchFamily="18" charset="0"/>
              <a:ea typeface="Times New Roman" panose="02020603050405020304" pitchFamily="18" charset="0"/>
            </a:endParaRPr>
          </a:p>
        </p:txBody>
      </p:sp>
      <p:grpSp>
        <p:nvGrpSpPr>
          <p:cNvPr id="6" name="Group 5">
            <a:extLst>
              <a:ext uri="{FF2B5EF4-FFF2-40B4-BE49-F238E27FC236}">
                <a16:creationId xmlns:a16="http://schemas.microsoft.com/office/drawing/2014/main" id="{DAC9A087-8EEB-A740-0950-D3CB830DFACF}"/>
              </a:ext>
            </a:extLst>
          </p:cNvPr>
          <p:cNvGrpSpPr>
            <a:grpSpLocks/>
          </p:cNvGrpSpPr>
          <p:nvPr/>
        </p:nvGrpSpPr>
        <p:grpSpPr>
          <a:xfrm>
            <a:off x="7246374" y="515772"/>
            <a:ext cx="4267200" cy="1492953"/>
            <a:chOff x="0" y="0"/>
            <a:chExt cx="4267200" cy="1685328"/>
          </a:xfrm>
        </p:grpSpPr>
        <p:pic>
          <p:nvPicPr>
            <p:cNvPr id="7" name="Image 545">
              <a:extLst>
                <a:ext uri="{FF2B5EF4-FFF2-40B4-BE49-F238E27FC236}">
                  <a16:creationId xmlns:a16="http://schemas.microsoft.com/office/drawing/2014/main" id="{23C7A56D-75EB-2573-5DF9-A49DAF2A7DD6}"/>
                </a:ext>
              </a:extLst>
            </p:cNvPr>
            <p:cNvPicPr/>
            <p:nvPr/>
          </p:nvPicPr>
          <p:blipFill>
            <a:blip r:embed="rId2" cstate="print"/>
            <a:stretch>
              <a:fillRect/>
            </a:stretch>
          </p:blipFill>
          <p:spPr>
            <a:xfrm>
              <a:off x="990600" y="0"/>
              <a:ext cx="2286000" cy="1633727"/>
            </a:xfrm>
            <a:prstGeom prst="rect">
              <a:avLst/>
            </a:prstGeom>
          </p:spPr>
        </p:pic>
        <p:sp>
          <p:nvSpPr>
            <p:cNvPr id="8" name="Graphic 546">
              <a:extLst>
                <a:ext uri="{FF2B5EF4-FFF2-40B4-BE49-F238E27FC236}">
                  <a16:creationId xmlns:a16="http://schemas.microsoft.com/office/drawing/2014/main" id="{F6394240-2B51-8A48-9CCD-C2A5533099CE}"/>
                </a:ext>
              </a:extLst>
            </p:cNvPr>
            <p:cNvSpPr/>
            <p:nvPr/>
          </p:nvSpPr>
          <p:spPr>
            <a:xfrm>
              <a:off x="0" y="1684058"/>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0" name="TextBox 9">
            <a:extLst>
              <a:ext uri="{FF2B5EF4-FFF2-40B4-BE49-F238E27FC236}">
                <a16:creationId xmlns:a16="http://schemas.microsoft.com/office/drawing/2014/main" id="{E12D7446-A2D2-9A9A-A4C5-AECF2AC4323D}"/>
              </a:ext>
            </a:extLst>
          </p:cNvPr>
          <p:cNvSpPr txBox="1"/>
          <p:nvPr/>
        </p:nvSpPr>
        <p:spPr>
          <a:xfrm>
            <a:off x="6331974" y="2076768"/>
            <a:ext cx="6096000" cy="461665"/>
          </a:xfrm>
          <a:prstGeom prst="rect">
            <a:avLst/>
          </a:prstGeom>
          <a:noFill/>
        </p:spPr>
        <p:txBody>
          <a:bodyPr wrap="square">
            <a:spAutoFit/>
          </a:bodyPr>
          <a:lstStyle/>
          <a:p>
            <a:pPr algn="ctr"/>
            <a:r>
              <a:rPr lang="en-US" sz="1200" b="1" spc="-2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Discarding</a:t>
            </a:r>
            <a:r>
              <a:rPr lang="en-US" sz="1200" b="1" spc="-5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and</a:t>
            </a:r>
            <a:r>
              <a:rPr lang="en-US" sz="1200" b="1" spc="-5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recovering.</a:t>
            </a:r>
            <a:r>
              <a:rPr lang="en-US" sz="1200" b="1" spc="-5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Make</a:t>
            </a:r>
            <a:r>
              <a:rPr lang="en-US" sz="1200" b="1" spc="-5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portions</a:t>
            </a:r>
            <a:r>
              <a:rPr lang="en-US" sz="1200" b="1" spc="-5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of</a:t>
            </a:r>
            <a:r>
              <a:rPr lang="en-US" sz="1200" b="1" spc="-5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spc="-2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an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object</a:t>
            </a:r>
            <a:r>
              <a:rPr lang="en-US" sz="12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that</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have</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fulfilled</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their</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functions</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go</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away.</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Restore</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consumable</a:t>
            </a:r>
            <a:r>
              <a:rPr lang="en-US" sz="1200" b="1" spc="3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2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parts</a:t>
            </a:r>
            <a:endParaRPr lang="en-IN" sz="1200" dirty="0"/>
          </a:p>
        </p:txBody>
      </p:sp>
      <p:pic>
        <p:nvPicPr>
          <p:cNvPr id="3074" name="Picture 2" descr="高清：解放军15分钟架设500多米长浮桥【8】--军事--人民网">
            <a:extLst>
              <a:ext uri="{FF2B5EF4-FFF2-40B4-BE49-F238E27FC236}">
                <a16:creationId xmlns:a16="http://schemas.microsoft.com/office/drawing/2014/main" id="{655D5C41-2178-F573-4FB2-3A52AA68A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9058" y="2861187"/>
            <a:ext cx="4630992" cy="299192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Which is negatively affected by under-inflated tires? | Car Care ...">
            <a:extLst>
              <a:ext uri="{FF2B5EF4-FFF2-40B4-BE49-F238E27FC236}">
                <a16:creationId xmlns:a16="http://schemas.microsoft.com/office/drawing/2014/main" id="{FA795A9E-CE07-2376-843D-94E425904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0717" y="4160278"/>
            <a:ext cx="2857500" cy="2488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3558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5858A9-C916-0953-06AA-28194CCF7C54}"/>
              </a:ext>
            </a:extLst>
          </p:cNvPr>
          <p:cNvSpPr txBox="1"/>
          <p:nvPr/>
        </p:nvSpPr>
        <p:spPr>
          <a:xfrm>
            <a:off x="639097" y="1282483"/>
            <a:ext cx="6213986" cy="4593950"/>
          </a:xfrm>
          <a:prstGeom prst="rect">
            <a:avLst/>
          </a:prstGeom>
          <a:noFill/>
        </p:spPr>
        <p:txBody>
          <a:bodyPr wrap="square">
            <a:spAutoFit/>
          </a:bodyPr>
          <a:lstStyle/>
          <a:p>
            <a:pPr marL="285750" marR="234315" indent="-285750" algn="just">
              <a:lnSpc>
                <a:spcPct val="93000"/>
              </a:lnSpc>
              <a:spcBef>
                <a:spcPts val="845"/>
              </a:spcBef>
              <a:spcAft>
                <a:spcPts val="0"/>
              </a:spcAf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rPr>
              <a:t>Many recovery processes have been used in technology for a long time. </a:t>
            </a:r>
          </a:p>
          <a:p>
            <a:pPr marL="285750" marR="234315" indent="-285750" algn="just">
              <a:lnSpc>
                <a:spcPct val="93000"/>
              </a:lnSpc>
              <a:spcBef>
                <a:spcPts val="845"/>
              </a:spcBef>
              <a:spcAft>
                <a:spcPts val="0"/>
              </a:spcAft>
              <a:buFont typeface="Arial" panose="020B0604020202020204" pitchFamily="34" charset="0"/>
              <a:buChar char="•"/>
              <a:tabLst>
                <a:tab pos="514350" algn="l"/>
              </a:tabLst>
            </a:pPr>
            <a:r>
              <a:rPr lang="en-US" spc="-20" dirty="0">
                <a:solidFill>
                  <a:srgbClr val="C00000"/>
                </a:solidFill>
                <a:effectLst/>
                <a:latin typeface="Times New Roman" panose="02020603050405020304" pitchFamily="18" charset="0"/>
                <a:ea typeface="Times New Roman" panose="02020603050405020304" pitchFamily="18" charset="0"/>
              </a:rPr>
              <a:t>Chemicals</a:t>
            </a:r>
            <a:r>
              <a:rPr lang="en-US" spc="-50"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used</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for</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pulping</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wood</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are</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recovered</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in</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a</a:t>
            </a:r>
            <a:r>
              <a:rPr lang="en-US" spc="-50"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recovery</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C00000"/>
                </a:solidFill>
                <a:effectLst/>
                <a:latin typeface="Times New Roman" panose="02020603050405020304" pitchFamily="18" charset="0"/>
                <a:ea typeface="Times New Roman" panose="02020603050405020304" pitchFamily="18" charset="0"/>
              </a:rPr>
              <a:t>boiler.</a:t>
            </a:r>
            <a:r>
              <a:rPr lang="en-US" spc="-45" dirty="0">
                <a:solidFill>
                  <a:srgbClr val="C0000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Environ</a:t>
            </a:r>
            <a:r>
              <a:rPr lang="en-US" spc="-10" dirty="0">
                <a:solidFill>
                  <a:srgbClr val="231F20"/>
                </a:solidFill>
                <a:effectLst/>
                <a:latin typeface="Times New Roman" panose="02020603050405020304" pitchFamily="18" charset="0"/>
                <a:ea typeface="Times New Roman" panose="02020603050405020304" pitchFamily="18" charset="0"/>
              </a:rPr>
              <a:t>mental requirements will make recovery more popular. </a:t>
            </a:r>
          </a:p>
          <a:p>
            <a:pPr marL="285750" marR="234315" indent="-285750" algn="just">
              <a:lnSpc>
                <a:spcPct val="93000"/>
              </a:lnSpc>
              <a:spcBef>
                <a:spcPts val="845"/>
              </a:spcBef>
              <a:spcAft>
                <a:spcPts val="0"/>
              </a:spcAft>
              <a:buFont typeface="Arial" panose="020B0604020202020204" pitchFamily="34" charset="0"/>
              <a:buChar char="•"/>
              <a:tabLst>
                <a:tab pos="514350" algn="l"/>
              </a:tabLst>
            </a:pPr>
            <a:r>
              <a:rPr lang="en-US" spc="-10" dirty="0">
                <a:solidFill>
                  <a:srgbClr val="231F20"/>
                </a:solidFill>
                <a:latin typeface="Times New Roman" panose="02020603050405020304" pitchFamily="18" charset="0"/>
                <a:ea typeface="Times New Roman" panose="02020603050405020304" pitchFamily="18" charset="0"/>
              </a:rPr>
              <a:t>W</a:t>
            </a:r>
            <a:r>
              <a:rPr lang="en-US" spc="-10" dirty="0">
                <a:solidFill>
                  <a:srgbClr val="231F20"/>
                </a:solidFill>
                <a:effectLst/>
                <a:latin typeface="Times New Roman" panose="02020603050405020304" pitchFamily="18" charset="0"/>
                <a:ea typeface="Times New Roman" panose="02020603050405020304" pitchFamily="18" charset="0"/>
              </a:rPr>
              <a:t>ater </a:t>
            </a:r>
            <a:r>
              <a:rPr lang="en-US" dirty="0">
                <a:solidFill>
                  <a:srgbClr val="231F20"/>
                </a:solidFill>
                <a:effectLst/>
                <a:latin typeface="Times New Roman" panose="02020603050405020304" pitchFamily="18" charset="0"/>
                <a:ea typeface="Times New Roman" panose="02020603050405020304" pitchFamily="18" charset="0"/>
              </a:rPr>
              <a:t>polluted</a:t>
            </a:r>
            <a:r>
              <a:rPr lang="en-US" spc="-7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in</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some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process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more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and</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more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often</a:t>
            </a:r>
            <a:r>
              <a:rPr lang="en-US" spc="-7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purified</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and</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recycled</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back to the process.</a:t>
            </a:r>
            <a:endParaRPr lang="en-IN" dirty="0">
              <a:effectLst/>
              <a:latin typeface="Times New Roman" panose="02020603050405020304" pitchFamily="18" charset="0"/>
              <a:ea typeface="Times New Roman" panose="02020603050405020304" pitchFamily="18" charset="0"/>
            </a:endParaRPr>
          </a:p>
          <a:p>
            <a:pPr marL="285750" marR="233045" indent="-285750" algn="jus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 business, the project organization is a good example of discarding and recovering.</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good</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should</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end.</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organization</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pc="-2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then</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dissolved.</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members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can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use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their</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skills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again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new</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projects.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285750" marR="233045" indent="-285750" algn="jus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all work,</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knowledge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skills</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updated</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improved</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directly</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during</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work and by retraining.</a:t>
            </a:r>
          </a:p>
          <a:p>
            <a:pPr marL="285750" marR="233045" indent="-285750" algn="just">
              <a:buFont typeface="Arial" panose="020B0604020202020204" pitchFamily="34" charset="0"/>
              <a:buChar char="•"/>
              <a:tabLst>
                <a:tab pos="514350" algn="l"/>
              </a:tabLst>
            </a:pPr>
            <a:r>
              <a:rPr lang="en-US"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Heat recovery system</a:t>
            </a:r>
          </a:p>
          <a:p>
            <a:pPr marL="285750" marR="233045" indent="-285750" algn="jus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Compressed gas for inflation</a:t>
            </a:r>
          </a:p>
          <a:p>
            <a:pPr marL="285750" marR="233045" indent="-285750" algn="just">
              <a:buFont typeface="Arial" panose="020B0604020202020204" pitchFamily="34" charset="0"/>
              <a:buChar char="•"/>
              <a:tabLst>
                <a:tab pos="514350" algn="l"/>
              </a:tabLst>
            </a:pPr>
            <a:r>
              <a:rPr lang="en-US"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Inkjet printers (waste ink recovery)</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See the source image">
            <a:extLst>
              <a:ext uri="{FF2B5EF4-FFF2-40B4-BE49-F238E27FC236}">
                <a16:creationId xmlns:a16="http://schemas.microsoft.com/office/drawing/2014/main" id="{CA5B864E-135C-4CCC-5FF3-0812B7E26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6037" y="477018"/>
            <a:ext cx="4198375" cy="564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583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A38FF1-46D5-EE45-717B-EB1797E50E0B}"/>
              </a:ext>
            </a:extLst>
          </p:cNvPr>
          <p:cNvSpPr txBox="1"/>
          <p:nvPr/>
        </p:nvSpPr>
        <p:spPr>
          <a:xfrm>
            <a:off x="442452" y="432223"/>
            <a:ext cx="6096000" cy="2585323"/>
          </a:xfrm>
          <a:prstGeom prst="rect">
            <a:avLst/>
          </a:prstGeom>
          <a:noFill/>
        </p:spPr>
        <p:txBody>
          <a:bodyPr wrap="square">
            <a:spAutoFit/>
          </a:bodyPr>
          <a:lstStyle/>
          <a:p>
            <a:pPr algn="just"/>
            <a:r>
              <a:rPr lang="en-US" sz="1800" b="1" i="1" spc="-20" dirty="0">
                <a:solidFill>
                  <a:srgbClr val="231F20"/>
                </a:solidFill>
                <a:effectLst/>
                <a:latin typeface="Times New Roman" panose="02020603050405020304" pitchFamily="18" charset="0"/>
                <a:ea typeface="Times New Roman" panose="02020603050405020304" pitchFamily="18" charset="0"/>
              </a:rPr>
              <a:t>15.PHASE TRANSITIONS. </a:t>
            </a:r>
          </a:p>
          <a:p>
            <a:pPr algn="just"/>
            <a:r>
              <a:rPr lang="en-US" sz="1800" spc="-20" dirty="0">
                <a:solidFill>
                  <a:srgbClr val="231F20"/>
                </a:solidFill>
                <a:effectLst/>
                <a:latin typeface="Times New Roman" panose="02020603050405020304" pitchFamily="18" charset="0"/>
                <a:ea typeface="Times New Roman" panose="02020603050405020304" pitchFamily="18" charset="0"/>
              </a:rPr>
              <a:t>Use phenomena occurring during phase transitions (e.g., volume </a:t>
            </a:r>
            <a:r>
              <a:rPr lang="en-US" sz="1800" dirty="0">
                <a:solidFill>
                  <a:srgbClr val="231F20"/>
                </a:solidFill>
                <a:effectLst/>
                <a:latin typeface="Times New Roman" panose="02020603050405020304" pitchFamily="18" charset="0"/>
                <a:ea typeface="Times New Roman" panose="02020603050405020304" pitchFamily="18" charset="0"/>
              </a:rPr>
              <a:t>changes,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loss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absorption</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heat,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etc.).</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most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common</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many</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kinds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 </a:t>
            </a:r>
            <a:r>
              <a:rPr lang="en-US" sz="1800" spc="-10" dirty="0">
                <a:solidFill>
                  <a:srgbClr val="231F20"/>
                </a:solidFill>
                <a:effectLst/>
                <a:latin typeface="Times New Roman" panose="02020603050405020304" pitchFamily="18" charset="0"/>
                <a:ea typeface="Times New Roman" panose="02020603050405020304" pitchFamily="18" charset="0"/>
              </a:rPr>
              <a:t>phase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transitions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include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solid–liquid–gas–plasma,</a:t>
            </a:r>
            <a:r>
              <a:rPr lang="en-US" sz="1800" spc="50"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paramagnetic–ferromagnetic </a:t>
            </a:r>
            <a:r>
              <a:rPr lang="en-US" sz="1800" spc="-20" dirty="0">
                <a:solidFill>
                  <a:srgbClr val="C00000"/>
                </a:solidFill>
                <a:effectLst/>
                <a:latin typeface="Times New Roman" panose="02020603050405020304" pitchFamily="18" charset="0"/>
                <a:ea typeface="Times New Roman" panose="02020603050405020304" pitchFamily="18" charset="0"/>
              </a:rPr>
              <a:t>and normal conductor–superconductor, </a:t>
            </a:r>
            <a:r>
              <a:rPr lang="en-US" sz="1800" spc="-20" dirty="0">
                <a:solidFill>
                  <a:srgbClr val="231F20"/>
                </a:solidFill>
                <a:effectLst/>
                <a:latin typeface="Times New Roman" panose="02020603050405020304" pitchFamily="18" charset="0"/>
                <a:ea typeface="Times New Roman" panose="02020603050405020304" pitchFamily="18" charset="0"/>
              </a:rPr>
              <a:t>but </a:t>
            </a:r>
            <a:r>
              <a:rPr lang="en-US" sz="1800" spc="-20" dirty="0">
                <a:solidFill>
                  <a:srgbClr val="FF0000"/>
                </a:solidFill>
                <a:effectLst/>
                <a:latin typeface="Times New Roman" panose="02020603050405020304" pitchFamily="18" charset="0"/>
                <a:ea typeface="Times New Roman" panose="02020603050405020304" pitchFamily="18" charset="0"/>
              </a:rPr>
              <a:t>many useful phenomena are associated </a:t>
            </a:r>
            <a:r>
              <a:rPr lang="en-US" sz="1800" spc="-10" dirty="0">
                <a:solidFill>
                  <a:srgbClr val="FF0000"/>
                </a:solidFill>
                <a:effectLst/>
                <a:latin typeface="Times New Roman" panose="02020603050405020304" pitchFamily="18" charset="0"/>
                <a:ea typeface="Times New Roman" panose="02020603050405020304" pitchFamily="18" charset="0"/>
              </a:rPr>
              <a:t>with</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more</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exotic</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transitions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well,</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such</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solid–solid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crystallographic</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changes, superfluidity,</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antiferromagnetism</a:t>
            </a:r>
            <a:r>
              <a:rPr lang="en-US" spc="-10" dirty="0">
                <a:solidFill>
                  <a:srgbClr val="231F20"/>
                </a:solidFill>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endParaRPr lang="en-IN" dirty="0"/>
          </a:p>
        </p:txBody>
      </p:sp>
      <p:pic>
        <p:nvPicPr>
          <p:cNvPr id="1026" name="Picture 2" descr="A Review on Polymeric-Based Phase Change Material for Thermo-Regulating ...">
            <a:extLst>
              <a:ext uri="{FF2B5EF4-FFF2-40B4-BE49-F238E27FC236}">
                <a16:creationId xmlns:a16="http://schemas.microsoft.com/office/drawing/2014/main" id="{2A46E107-A054-C1D9-4D9F-6FF1D0969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0175" y="395695"/>
            <a:ext cx="5031686" cy="22571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EC6039-0EDA-B155-2BDD-21E89A3D53A8}"/>
              </a:ext>
            </a:extLst>
          </p:cNvPr>
          <p:cNvSpPr txBox="1"/>
          <p:nvPr/>
        </p:nvSpPr>
        <p:spPr>
          <a:xfrm>
            <a:off x="624175" y="2824792"/>
            <a:ext cx="6097656" cy="2031325"/>
          </a:xfrm>
          <a:prstGeom prst="rect">
            <a:avLst/>
          </a:prstGeom>
          <a:noFill/>
        </p:spPr>
        <p:txBody>
          <a:bodyPr wrap="square">
            <a:spAutoFit/>
          </a:bodyPr>
          <a:lstStyle/>
          <a:p>
            <a:pPr marL="285750" marR="232410" indent="-285750" algn="just">
              <a:spcBef>
                <a:spcPts val="1205"/>
              </a:spcBef>
              <a:spcAft>
                <a:spcPts val="0"/>
              </a:spcAft>
              <a:buFont typeface="Arial" panose="020B0604020202020204" pitchFamily="34" charset="0"/>
              <a:buChar char="•"/>
              <a:tabLst>
                <a:tab pos="514350" algn="l"/>
              </a:tabLst>
            </a:pPr>
            <a:r>
              <a:rPr lang="en-US" sz="1800" spc="-10" dirty="0">
                <a:solidFill>
                  <a:srgbClr val="0070C0"/>
                </a:solidFill>
                <a:effectLst/>
                <a:latin typeface="Times New Roman" panose="02020603050405020304" pitchFamily="18" charset="0"/>
                <a:ea typeface="Times New Roman" panose="02020603050405020304" pitchFamily="18" charset="0"/>
              </a:rPr>
              <a:t>Blasting</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with</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solid</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carbon</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dioxide</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can</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clean</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surfaces.</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Impurities</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will</a:t>
            </a:r>
            <a:r>
              <a:rPr lang="en-US" sz="1800" spc="-25" dirty="0">
                <a:solidFill>
                  <a:srgbClr val="0070C0"/>
                </a:solidFill>
                <a:effectLst/>
                <a:latin typeface="Times New Roman" panose="02020603050405020304" pitchFamily="18" charset="0"/>
                <a:ea typeface="Times New Roman" panose="02020603050405020304" pitchFamily="18" charset="0"/>
              </a:rPr>
              <a:t> </a:t>
            </a:r>
            <a:r>
              <a:rPr lang="en-US" sz="1800" spc="-10" dirty="0">
                <a:solidFill>
                  <a:srgbClr val="0070C0"/>
                </a:solidFill>
                <a:effectLst/>
                <a:latin typeface="Times New Roman" panose="02020603050405020304" pitchFamily="18" charset="0"/>
                <a:ea typeface="Times New Roman" panose="02020603050405020304" pitchFamily="18" charset="0"/>
              </a:rPr>
              <a:t>freeze </a:t>
            </a:r>
            <a:r>
              <a:rPr lang="en-US" sz="1800" spc="-20" dirty="0">
                <a:solidFill>
                  <a:srgbClr val="0070C0"/>
                </a:solidFill>
                <a:effectLst/>
                <a:latin typeface="Times New Roman" panose="02020603050405020304" pitchFamily="18" charset="0"/>
                <a:ea typeface="Times New Roman" panose="02020603050405020304" pitchFamily="18" charset="0"/>
              </a:rPr>
              <a:t>immediately, contract, and loosen easily. </a:t>
            </a:r>
            <a:r>
              <a:rPr lang="en-US" sz="1800" spc="-20" dirty="0">
                <a:solidFill>
                  <a:srgbClr val="231F20"/>
                </a:solidFill>
                <a:effectLst/>
                <a:latin typeface="Times New Roman" panose="02020603050405020304" pitchFamily="18" charset="0"/>
                <a:ea typeface="Times New Roman" panose="02020603050405020304" pitchFamily="18" charset="0"/>
              </a:rPr>
              <a:t>The example also illustrates param</a:t>
            </a:r>
            <a:r>
              <a:rPr lang="en-US" sz="1800" dirty="0">
                <a:solidFill>
                  <a:srgbClr val="231F20"/>
                </a:solidFill>
                <a:effectLst/>
                <a:latin typeface="Times New Roman" panose="02020603050405020304" pitchFamily="18" charset="0"/>
                <a:ea typeface="Times New Roman" panose="02020603050405020304" pitchFamily="18" charset="0"/>
              </a:rPr>
              <a:t>eter changes (35), thermal expansion (37), and hurrying (21). Impurities are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frozen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quickly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cleaned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material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does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suffer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from</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thermal </a:t>
            </a:r>
            <a:r>
              <a:rPr lang="en-US" sz="1800" spc="-10" dirty="0">
                <a:solidFill>
                  <a:srgbClr val="231F20"/>
                </a:solidFill>
                <a:effectLst/>
                <a:latin typeface="Times New Roman" panose="02020603050405020304" pitchFamily="18" charset="0"/>
                <a:ea typeface="Times New Roman" panose="02020603050405020304" pitchFamily="18" charset="0"/>
              </a:rPr>
              <a:t>expansion.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carbon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dioxide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sublimes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(harmlessly</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turns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into</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gas),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 </a:t>
            </a:r>
            <a:r>
              <a:rPr lang="en-US" sz="1800" dirty="0">
                <a:solidFill>
                  <a:srgbClr val="231F20"/>
                </a:solidFill>
                <a:effectLst/>
                <a:latin typeface="Times New Roman" panose="02020603050405020304" pitchFamily="18" charset="0"/>
                <a:ea typeface="Times New Roman" panose="02020603050405020304" pitchFamily="18" charset="0"/>
              </a:rPr>
              <a:t>there is no cleanup needed.</a:t>
            </a:r>
            <a:endParaRPr lang="en-IN" sz="20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C35EBAAB-7A5B-1A50-1F0E-C7782470B9D1}"/>
              </a:ext>
            </a:extLst>
          </p:cNvPr>
          <p:cNvSpPr txBox="1"/>
          <p:nvPr/>
        </p:nvSpPr>
        <p:spPr>
          <a:xfrm>
            <a:off x="624175" y="4878695"/>
            <a:ext cx="6097656" cy="1477328"/>
          </a:xfrm>
          <a:prstGeom prst="rect">
            <a:avLst/>
          </a:prstGeom>
          <a:noFill/>
        </p:spPr>
        <p:txBody>
          <a:bodyPr wrap="square">
            <a:spAutoFit/>
          </a:bodyPr>
          <a:lstStyle/>
          <a:p>
            <a:pPr marL="285750" marR="233680" indent="-285750" algn="just">
              <a:spcBef>
                <a:spcPts val="20"/>
              </a:spcBef>
              <a:spcAft>
                <a:spcPts val="0"/>
              </a:spcAft>
              <a:buFont typeface="Arial" panose="020B0604020202020204" pitchFamily="34" charset="0"/>
              <a:buChar char="•"/>
              <a:tabLst>
                <a:tab pos="514350" algn="l"/>
              </a:tabLst>
            </a:pPr>
            <a:r>
              <a:rPr lang="en-US" sz="1800" spc="-20" dirty="0">
                <a:solidFill>
                  <a:srgbClr val="C00000"/>
                </a:solidFill>
                <a:effectLst/>
                <a:latin typeface="Times New Roman" panose="02020603050405020304" pitchFamily="18" charset="0"/>
                <a:ea typeface="Times New Roman" panose="02020603050405020304" pitchFamily="18" charset="0"/>
              </a:rPr>
              <a:t>Heat</a:t>
            </a:r>
            <a:r>
              <a:rPr lang="en-US" sz="1800" spc="-30" dirty="0">
                <a:solidFill>
                  <a:srgbClr val="C00000"/>
                </a:solidFill>
                <a:effectLst/>
                <a:latin typeface="Times New Roman" panose="02020603050405020304" pitchFamily="18" charset="0"/>
                <a:ea typeface="Times New Roman" panose="02020603050405020304" pitchFamily="18" charset="0"/>
              </a:rPr>
              <a:t> </a:t>
            </a:r>
            <a:r>
              <a:rPr lang="en-US" sz="1800" spc="-20" dirty="0">
                <a:solidFill>
                  <a:srgbClr val="C00000"/>
                </a:solidFill>
                <a:effectLst/>
                <a:latin typeface="Times New Roman" panose="02020603050405020304" pitchFamily="18" charset="0"/>
                <a:ea typeface="Times New Roman" panose="02020603050405020304" pitchFamily="18" charset="0"/>
              </a:rPr>
              <a:t>pipes</a:t>
            </a:r>
            <a:r>
              <a:rPr lang="en-US" sz="1800" spc="-30" dirty="0">
                <a:solidFill>
                  <a:srgbClr val="C0000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well-known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examples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using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phenomena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associated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with </a:t>
            </a:r>
            <a:r>
              <a:rPr lang="en-US" sz="1800" dirty="0">
                <a:solidFill>
                  <a:srgbClr val="231F20"/>
                </a:solidFill>
                <a:effectLst/>
                <a:latin typeface="Times New Roman" panose="02020603050405020304" pitchFamily="18" charset="0"/>
                <a:ea typeface="Times New Roman" panose="02020603050405020304" pitchFamily="18" charset="0"/>
              </a:rPr>
              <a:t>phase transitions. </a:t>
            </a:r>
            <a:r>
              <a:rPr lang="en-US" sz="1800" dirty="0">
                <a:solidFill>
                  <a:schemeClr val="accent1"/>
                </a:solidFill>
                <a:effectLst/>
                <a:latin typeface="Times New Roman" panose="02020603050405020304" pitchFamily="18" charset="0"/>
                <a:ea typeface="Times New Roman" panose="02020603050405020304" pitchFamily="18" charset="0"/>
              </a:rPr>
              <a:t>The heat given up and absorbed as the fluid in the pipe </a:t>
            </a:r>
            <a:r>
              <a:rPr lang="en-US" sz="1800" spc="-10" dirty="0">
                <a:solidFill>
                  <a:schemeClr val="accent1"/>
                </a:solidFill>
                <a:effectLst/>
                <a:latin typeface="Times New Roman" panose="02020603050405020304" pitchFamily="18" charset="0"/>
                <a:ea typeface="Times New Roman" panose="02020603050405020304" pitchFamily="18" charset="0"/>
              </a:rPr>
              <a:t>transitions</a:t>
            </a:r>
            <a:r>
              <a:rPr lang="en-US" sz="1800" spc="-6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from</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liquid</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to</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gas</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can</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be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used</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either</a:t>
            </a:r>
            <a:r>
              <a:rPr lang="en-US" sz="1800" spc="-6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as</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a</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heater</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or</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air</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conditioner,</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depending on how the system is arranged.</a:t>
            </a:r>
            <a:endParaRPr lang="en-IN" sz="2000" dirty="0">
              <a:effectLst/>
              <a:latin typeface="Times New Roman" panose="02020603050405020304" pitchFamily="18" charset="0"/>
              <a:ea typeface="Times New Roman" panose="02020603050405020304" pitchFamily="18" charset="0"/>
            </a:endParaRPr>
          </a:p>
        </p:txBody>
      </p:sp>
      <p:pic>
        <p:nvPicPr>
          <p:cNvPr id="4100" name="Picture 4" descr="Co2 Dry Ice Pellet Blasting at Tammy Tandy blog">
            <a:extLst>
              <a:ext uri="{FF2B5EF4-FFF2-40B4-BE49-F238E27FC236}">
                <a16:creationId xmlns:a16="http://schemas.microsoft.com/office/drawing/2014/main" id="{7ACB21BD-3A28-8C6E-858A-DB216FF73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3553" y="3127022"/>
            <a:ext cx="4848308" cy="3383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3516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885D31-FDA3-FB45-DCD9-554C3CCE6CE6}"/>
              </a:ext>
            </a:extLst>
          </p:cNvPr>
          <p:cNvSpPr txBox="1"/>
          <p:nvPr/>
        </p:nvSpPr>
        <p:spPr>
          <a:xfrm>
            <a:off x="644548" y="632077"/>
            <a:ext cx="5043948" cy="5355312"/>
          </a:xfrm>
          <a:prstGeom prst="rect">
            <a:avLst/>
          </a:prstGeom>
          <a:noFill/>
        </p:spPr>
        <p:txBody>
          <a:bodyPr wrap="square">
            <a:spAutoFit/>
          </a:bodyPr>
          <a:lstStyle/>
          <a:p>
            <a:pPr marL="285750" marR="234315" indent="-285750" algn="just">
              <a:spcBef>
                <a:spcPts val="15"/>
              </a:spcBef>
              <a:spcAft>
                <a:spcPts val="0"/>
              </a:spcAft>
              <a:buFont typeface="Arial" panose="020B0604020202020204" pitchFamily="34" charset="0"/>
              <a:buChar char="•"/>
              <a:tabLst>
                <a:tab pos="514350" algn="l"/>
              </a:tabLst>
            </a:pPr>
            <a:r>
              <a:rPr lang="en-US" sz="1800" dirty="0">
                <a:solidFill>
                  <a:srgbClr val="FF0000"/>
                </a:solidFill>
                <a:effectLst/>
                <a:latin typeface="Times New Roman" panose="02020603050405020304" pitchFamily="18" charset="0"/>
                <a:ea typeface="Times New Roman" panose="02020603050405020304" pitchFamily="18" charset="0"/>
              </a:rPr>
              <a:t>“Muscle wire” </a:t>
            </a:r>
            <a:r>
              <a:rPr lang="en-US" sz="1800" dirty="0">
                <a:solidFill>
                  <a:srgbClr val="231F20"/>
                </a:solidFill>
                <a:effectLst/>
                <a:latin typeface="Times New Roman" panose="02020603050405020304" pitchFamily="18" charset="0"/>
                <a:ea typeface="Times New Roman" panose="02020603050405020304" pitchFamily="18" charset="0"/>
              </a:rPr>
              <a:t>is a form of nickel-titanium alloy that is used in robot systems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orthodontics.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Small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electric</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currents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heat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which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goes through a crystallographic phase change that changes its length.</a:t>
            </a:r>
            <a:endParaRPr lang="en-IN" sz="2000" dirty="0">
              <a:effectLst/>
              <a:latin typeface="Times New Roman" panose="02020603050405020304" pitchFamily="18" charset="0"/>
              <a:ea typeface="Times New Roman" panose="02020603050405020304" pitchFamily="18" charset="0"/>
            </a:endParaRPr>
          </a:p>
          <a:p>
            <a:pPr marL="285750" marR="233045" indent="-285750" algn="just">
              <a:spcBef>
                <a:spcPts val="15"/>
              </a:spcBef>
              <a:spcAft>
                <a:spcPts val="0"/>
              </a:spcAft>
              <a:buFont typeface="Arial" panose="020B0604020202020204" pitchFamily="34" charset="0"/>
              <a:buChar char="•"/>
              <a:tabLst>
                <a:tab pos="514350" algn="l"/>
              </a:tabLst>
            </a:pPr>
            <a:r>
              <a:rPr lang="en-US" sz="1800" dirty="0">
                <a:solidFill>
                  <a:srgbClr val="231F20"/>
                </a:solidFill>
                <a:effectLst/>
                <a:latin typeface="Times New Roman" panose="02020603050405020304" pitchFamily="18" charset="0"/>
                <a:ea typeface="Times New Roman" panose="02020603050405020304" pitchFamily="18" charset="0"/>
              </a:rPr>
              <a:t>When</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businesses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make</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structural</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changes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(mergers,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acquisitions,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inter</a:t>
            </a:r>
            <a:r>
              <a:rPr lang="en-US" sz="1800" spc="-10" dirty="0">
                <a:solidFill>
                  <a:srgbClr val="231F20"/>
                </a:solidFill>
                <a:effectLst/>
                <a:latin typeface="Times New Roman" panose="02020603050405020304" pitchFamily="18" charset="0"/>
                <a:ea typeface="Times New Roman" panose="02020603050405020304" pitchFamily="18" charset="0"/>
              </a:rPr>
              <a:t>nal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changes)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accompanying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phenomena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analogous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heat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phase </a:t>
            </a:r>
            <a:r>
              <a:rPr lang="en-US" sz="1800" dirty="0">
                <a:solidFill>
                  <a:srgbClr val="231F20"/>
                </a:solidFill>
                <a:effectLst/>
                <a:latin typeface="Times New Roman" panose="02020603050405020304" pitchFamily="18" charset="0"/>
                <a:ea typeface="Times New Roman" panose="02020603050405020304" pitchFamily="18" charset="0"/>
              </a:rPr>
              <a:t>change there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lots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confusion.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Constructive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ways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period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 </a:t>
            </a:r>
            <a:r>
              <a:rPr lang="en-US" sz="1800" spc="-10" dirty="0">
                <a:solidFill>
                  <a:srgbClr val="231F20"/>
                </a:solidFill>
                <a:effectLst/>
                <a:latin typeface="Times New Roman" panose="02020603050405020304" pitchFamily="18" charset="0"/>
                <a:ea typeface="Times New Roman" panose="02020603050405020304" pitchFamily="18" charset="0"/>
              </a:rPr>
              <a:t>disruption</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include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finding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new</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means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aligning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business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systems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with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new strategies,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forming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new</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alliances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with</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customers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suppliers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getting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rid </a:t>
            </a:r>
            <a:r>
              <a:rPr lang="en-US" sz="1800" dirty="0">
                <a:solidFill>
                  <a:srgbClr val="231F20"/>
                </a:solidFill>
                <a:effectLst/>
                <a:latin typeface="Times New Roman" panose="02020603050405020304" pitchFamily="18" charset="0"/>
                <a:ea typeface="Times New Roman" panose="02020603050405020304" pitchFamily="18" charset="0"/>
              </a:rPr>
              <a:t>of obsolete practices.</a:t>
            </a:r>
            <a:endParaRPr lang="en-IN" sz="20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rPr>
              <a:t>Thermal</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inkjet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vaporization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force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ink</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out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nozzle.</a:t>
            </a:r>
            <a:endParaRPr lang="en-IN" sz="2000" dirty="0">
              <a:effectLst/>
              <a:latin typeface="Times New Roman" panose="02020603050405020304" pitchFamily="18" charset="0"/>
              <a:ea typeface="Times New Roman" panose="02020603050405020304" pitchFamily="18" charset="0"/>
            </a:endParaRPr>
          </a:p>
          <a:p>
            <a:pPr marL="285750" marR="234315" indent="-285750" algn="just">
              <a:buFont typeface="Arial" panose="020B0604020202020204" pitchFamily="34" charset="0"/>
              <a:buChar char="•"/>
              <a:tabLst>
                <a:tab pos="514350" algn="l"/>
              </a:tabLst>
            </a:pPr>
            <a:r>
              <a:rPr lang="en-US" sz="1800" spc="-20" dirty="0">
                <a:solidFill>
                  <a:srgbClr val="231F20"/>
                </a:solidFill>
                <a:effectLst/>
                <a:latin typeface="Times New Roman" panose="02020603050405020304" pitchFamily="18" charset="0"/>
                <a:ea typeface="Times New Roman" panose="02020603050405020304" pitchFamily="18" charset="0"/>
              </a:rPr>
              <a:t>Be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aware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requirements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different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stages conception,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birth,</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develop</a:t>
            </a:r>
            <a:r>
              <a:rPr lang="en-US" sz="1800" dirty="0">
                <a:solidFill>
                  <a:srgbClr val="231F20"/>
                </a:solidFill>
                <a:effectLst/>
                <a:latin typeface="Times New Roman" panose="02020603050405020304" pitchFamily="18" charset="0"/>
                <a:ea typeface="Times New Roman" panose="02020603050405020304" pitchFamily="18" charset="0"/>
              </a:rPr>
              <a:t>ment, maturity, retirement of a project.</a:t>
            </a:r>
            <a:endParaRPr lang="en-IN" sz="2000" dirty="0">
              <a:effectLst/>
              <a:latin typeface="Times New Roman" panose="02020603050405020304" pitchFamily="18" charset="0"/>
              <a:ea typeface="Times New Roman" panose="02020603050405020304" pitchFamily="18" charset="0"/>
            </a:endParaRPr>
          </a:p>
        </p:txBody>
      </p:sp>
      <p:pic>
        <p:nvPicPr>
          <p:cNvPr id="2050" name="Picture 2" descr="Phase-Change Memory (PCM) - Technology, Advantages &amp; Applications ...">
            <a:extLst>
              <a:ext uri="{FF2B5EF4-FFF2-40B4-BE49-F238E27FC236}">
                <a16:creationId xmlns:a16="http://schemas.microsoft.com/office/drawing/2014/main" id="{0196336E-41DA-15F7-39C6-023FB9CDE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7200" y="323959"/>
            <a:ext cx="4878699" cy="23966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hart MVE Cryopreservation Liquid Nitrogen Tank Model MVE 1830HE+F 2004 ...">
            <a:extLst>
              <a:ext uri="{FF2B5EF4-FFF2-40B4-BE49-F238E27FC236}">
                <a16:creationId xmlns:a16="http://schemas.microsoft.com/office/drawing/2014/main" id="{875E9F61-F754-5E79-AE95-15D700861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8400" y="3221422"/>
            <a:ext cx="3677110" cy="3105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7495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1DE75A-EE6B-C3AE-33AF-4B44A8A205A2}"/>
              </a:ext>
            </a:extLst>
          </p:cNvPr>
          <p:cNvSpPr txBox="1"/>
          <p:nvPr/>
        </p:nvSpPr>
        <p:spPr>
          <a:xfrm>
            <a:off x="236054" y="531462"/>
            <a:ext cx="6097656" cy="1988621"/>
          </a:xfrm>
          <a:prstGeom prst="rect">
            <a:avLst/>
          </a:prstGeom>
          <a:noFill/>
        </p:spPr>
        <p:txBody>
          <a:bodyPr wrap="square">
            <a:spAutoFit/>
          </a:bodyPr>
          <a:lstStyle/>
          <a:p>
            <a:pPr marL="209550" marR="234315" algn="just">
              <a:lnSpc>
                <a:spcPct val="106000"/>
              </a:lnSpc>
              <a:spcBef>
                <a:spcPts val="630"/>
              </a:spcBef>
              <a:spcAft>
                <a:spcPts val="0"/>
              </a:spcAft>
            </a:pPr>
            <a:r>
              <a:rPr lang="en-US" sz="1800" b="1" i="1" spc="-10" dirty="0">
                <a:solidFill>
                  <a:srgbClr val="231F20"/>
                </a:solidFill>
                <a:effectLst/>
                <a:latin typeface="Times New Roman" panose="02020603050405020304" pitchFamily="18" charset="0"/>
                <a:ea typeface="Times New Roman" panose="02020603050405020304" pitchFamily="18" charset="0"/>
              </a:rPr>
              <a:t>16. COPYING (IMAGING)</a:t>
            </a:r>
            <a:r>
              <a:rPr lang="en-US" sz="1800" b="1" i="1" spc="-45" dirty="0">
                <a:solidFill>
                  <a:srgbClr val="231F20"/>
                </a:solidFill>
                <a:effectLst/>
                <a:latin typeface="Times New Roman" panose="02020603050405020304" pitchFamily="18" charset="0"/>
                <a:ea typeface="Times New Roman" panose="02020603050405020304" pitchFamily="18" charset="0"/>
              </a:rPr>
              <a:t> </a:t>
            </a:r>
          </a:p>
          <a:p>
            <a:pPr marL="209550" marR="234315" algn="just">
              <a:lnSpc>
                <a:spcPct val="106000"/>
              </a:lnSpc>
              <a:spcBef>
                <a:spcPts val="630"/>
              </a:spcBef>
              <a:spcAft>
                <a:spcPts val="0"/>
              </a:spcAft>
            </a:pPr>
            <a:r>
              <a:rPr lang="en-US" sz="1800" spc="-10" dirty="0">
                <a:solidFill>
                  <a:srgbClr val="C00000"/>
                </a:solidFill>
                <a:effectLst/>
                <a:latin typeface="Times New Roman" panose="02020603050405020304" pitchFamily="18" charset="0"/>
                <a:ea typeface="Times New Roman" panose="02020603050405020304" pitchFamily="18" charset="0"/>
              </a:rPr>
              <a:t>Instead</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of</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an</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unavailable,</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expensive,</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or</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fragile</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object,</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use</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simpler,</a:t>
            </a:r>
            <a:r>
              <a:rPr lang="en-US" sz="1800" spc="-4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inexpensive</a:t>
            </a:r>
            <a:r>
              <a:rPr lang="en-US" sz="1800" spc="-60"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copies.</a:t>
            </a:r>
            <a:r>
              <a:rPr lang="en-US" sz="1800" spc="-5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Replace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system,</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process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with</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optical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copies.</a:t>
            </a:r>
            <a:r>
              <a:rPr lang="en-US" sz="1800" spc="-55" dirty="0">
                <a:solidFill>
                  <a:srgbClr val="231F20"/>
                </a:solidFill>
                <a:effectLst/>
                <a:latin typeface="Times New Roman" panose="02020603050405020304" pitchFamily="18" charset="0"/>
                <a:ea typeface="Times New Roman" panose="02020603050405020304" pitchFamily="18" charset="0"/>
              </a:rPr>
              <a:t> </a:t>
            </a:r>
          </a:p>
          <a:p>
            <a:pPr marL="209550" marR="234315" algn="just">
              <a:lnSpc>
                <a:spcPct val="106000"/>
              </a:lnSpc>
              <a:spcBef>
                <a:spcPts val="630"/>
              </a:spcBef>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If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visible </a:t>
            </a:r>
            <a:r>
              <a:rPr lang="en-US" sz="1800" spc="-20" dirty="0">
                <a:solidFill>
                  <a:schemeClr val="accent1"/>
                </a:solidFill>
                <a:effectLst/>
                <a:latin typeface="Times New Roman" panose="02020603050405020304" pitchFamily="18" charset="0"/>
                <a:ea typeface="Times New Roman" panose="02020603050405020304" pitchFamily="18" charset="0"/>
              </a:rPr>
              <a:t>optical</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copies</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are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already</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used,</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change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the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wavelength</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to</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infrared</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or</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ultraviolet</a:t>
            </a:r>
            <a:r>
              <a:rPr lang="en-US" sz="1800" dirty="0">
                <a:solidFill>
                  <a:srgbClr val="231F20"/>
                </a:solidFill>
                <a:effectLst/>
                <a:latin typeface="Times New Roman" panose="02020603050405020304" pitchFamily="18" charset="0"/>
                <a:ea typeface="Times New Roman" panose="02020603050405020304" pitchFamily="18" charset="0"/>
              </a:rPr>
              <a:t>. Some examples are</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E64BFBB8-3D59-622A-1262-E2EA2640D3F9}"/>
              </a:ext>
            </a:extLst>
          </p:cNvPr>
          <p:cNvSpPr txBox="1"/>
          <p:nvPr/>
        </p:nvSpPr>
        <p:spPr>
          <a:xfrm>
            <a:off x="236054" y="2787642"/>
            <a:ext cx="6097656" cy="1421864"/>
          </a:xfrm>
          <a:prstGeom prst="rect">
            <a:avLst/>
          </a:prstGeom>
          <a:noFill/>
        </p:spPr>
        <p:txBody>
          <a:bodyPr wrap="square">
            <a:spAutoFit/>
          </a:bodyPr>
          <a:lstStyle/>
          <a:p>
            <a:pPr marL="1600200" marR="233680" lvl="3" indent="-228600" algn="just">
              <a:lnSpc>
                <a:spcPct val="96000"/>
              </a:lnSpc>
              <a:spcBef>
                <a:spcPts val="1105"/>
              </a:spcBef>
              <a:spcAft>
                <a:spcPts val="0"/>
              </a:spcAft>
              <a:buClr>
                <a:srgbClr val="231F20"/>
              </a:buClr>
              <a:buSzPts val="1050"/>
              <a:buFont typeface="Lucida Sans Unicode" panose="020B0602030504020204" pitchFamily="34" charset="0"/>
              <a:buChar char="■"/>
              <a:tabLst>
                <a:tab pos="514350" algn="l"/>
              </a:tabLst>
            </a:pPr>
            <a:r>
              <a:rPr lang="en-US" sz="1800" spc="-10" dirty="0">
                <a:solidFill>
                  <a:srgbClr val="231F20"/>
                </a:solidFill>
                <a:effectLst/>
                <a:latin typeface="Times New Roman" panose="02020603050405020304" pitchFamily="18" charset="0"/>
                <a:ea typeface="Lucida Sans Unicode" panose="020B0602030504020204" pitchFamily="34" charset="0"/>
              </a:rPr>
              <a:t>Make</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measurements</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from</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an</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image</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instead</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of</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directly.</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This</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includes</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wide </a:t>
            </a:r>
            <a:r>
              <a:rPr lang="en-US" sz="1800" spc="0" dirty="0">
                <a:solidFill>
                  <a:srgbClr val="231F20"/>
                </a:solidFill>
                <a:effectLst/>
                <a:latin typeface="Times New Roman" panose="02020603050405020304" pitchFamily="18" charset="0"/>
                <a:ea typeface="Lucida Sans Unicode" panose="020B0602030504020204" pitchFamily="34" charset="0"/>
              </a:rPr>
              <a:t>spectrum of technologies, from satellite photographs of farm and timber resources</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to</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ultrasonic</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images</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of</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fetus</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in</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the</a:t>
            </a:r>
            <a:r>
              <a:rPr lang="en-US" sz="1800" spc="-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womb.</a:t>
            </a:r>
            <a:endParaRPr lang="en-IN" sz="2000" spc="0" dirty="0">
              <a:effectLst/>
              <a:latin typeface="Times New Roman" panose="02020603050405020304" pitchFamily="18" charset="0"/>
              <a:ea typeface="Lucida Sans Unicode" panose="020B0602030504020204" pitchFamily="34" charset="0"/>
            </a:endParaRPr>
          </a:p>
        </p:txBody>
      </p:sp>
      <p:sp>
        <p:nvSpPr>
          <p:cNvPr id="7" name="TextBox 6">
            <a:extLst>
              <a:ext uri="{FF2B5EF4-FFF2-40B4-BE49-F238E27FC236}">
                <a16:creationId xmlns:a16="http://schemas.microsoft.com/office/drawing/2014/main" id="{01D8F5E2-267F-8BC5-660D-A968C1D54DAC}"/>
              </a:ext>
            </a:extLst>
          </p:cNvPr>
          <p:cNvSpPr txBox="1"/>
          <p:nvPr/>
        </p:nvSpPr>
        <p:spPr>
          <a:xfrm>
            <a:off x="236054" y="4209506"/>
            <a:ext cx="6097656" cy="2031325"/>
          </a:xfrm>
          <a:prstGeom prst="rect">
            <a:avLst/>
          </a:prstGeom>
          <a:noFill/>
        </p:spPr>
        <p:txBody>
          <a:bodyPr wrap="square">
            <a:spAutoFit/>
          </a:bodyPr>
          <a:lstStyle/>
          <a:p>
            <a:pPr marL="1600200" marR="234315" lvl="3" indent="-228600">
              <a:buClr>
                <a:srgbClr val="231F20"/>
              </a:buClr>
              <a:buSzPts val="1050"/>
              <a:buFont typeface="Lucida Sans Unicode" panose="020B0602030504020204" pitchFamily="34" charset="0"/>
              <a:buChar char="■"/>
              <a:tabLst>
                <a:tab pos="514350" algn="l"/>
              </a:tabLst>
            </a:pPr>
            <a:r>
              <a:rPr lang="en-US" sz="1800" spc="0" dirty="0">
                <a:solidFill>
                  <a:srgbClr val="231F20"/>
                </a:solidFill>
                <a:effectLst/>
                <a:latin typeface="Times New Roman" panose="02020603050405020304" pitchFamily="18" charset="0"/>
                <a:ea typeface="Lucida Sans Unicode" panose="020B0602030504020204" pitchFamily="34" charset="0"/>
              </a:rPr>
              <a:t>Use a simulation instead of the object. This applies to many business processes</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as</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well</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as</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to</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products</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and</a:t>
            </a:r>
            <a:r>
              <a:rPr lang="en-US" sz="1800" spc="-30"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services.</a:t>
            </a:r>
            <a:endParaRPr lang="en-IN" sz="2000" spc="0" dirty="0">
              <a:effectLst/>
              <a:latin typeface="Times New Roman" panose="02020603050405020304" pitchFamily="18" charset="0"/>
              <a:ea typeface="Lucida Sans Unicode" panose="020B0602030504020204" pitchFamily="34" charset="0"/>
            </a:endParaRPr>
          </a:p>
          <a:p>
            <a:pPr marL="1600200" lvl="3" indent="-228600">
              <a:buClr>
                <a:srgbClr val="231F20"/>
              </a:buClr>
              <a:buSzPts val="1050"/>
              <a:buFont typeface="Lucida Sans Unicode" panose="020B0602030504020204" pitchFamily="34" charset="0"/>
              <a:buChar char="■"/>
              <a:tabLst>
                <a:tab pos="513715" algn="l"/>
              </a:tabLst>
            </a:pPr>
            <a:r>
              <a:rPr lang="en-US" sz="1800" spc="-10" dirty="0">
                <a:solidFill>
                  <a:srgbClr val="231F20"/>
                </a:solidFill>
                <a:effectLst/>
                <a:latin typeface="Times New Roman" panose="02020603050405020304" pitchFamily="18" charset="0"/>
                <a:ea typeface="Lucida Sans Unicode" panose="020B0602030504020204" pitchFamily="34" charset="0"/>
              </a:rPr>
              <a:t>Use</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prototypes</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for</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testing</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new</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systems</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so</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that</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any</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harm</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is</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detected</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early.</a:t>
            </a:r>
            <a:endParaRPr lang="en-IN" sz="2000" spc="0" dirty="0">
              <a:effectLst/>
              <a:latin typeface="Times New Roman" panose="02020603050405020304" pitchFamily="18" charset="0"/>
              <a:ea typeface="Lucida Sans Unicode" panose="020B0602030504020204" pitchFamily="34" charset="0"/>
            </a:endParaRPr>
          </a:p>
          <a:p>
            <a:pPr marL="1600200" lvl="3" indent="-228600">
              <a:buClr>
                <a:srgbClr val="231F20"/>
              </a:buClr>
              <a:buSzPts val="1050"/>
              <a:buFont typeface="Lucida Sans Unicode" panose="020B0602030504020204" pitchFamily="34" charset="0"/>
              <a:buChar char="■"/>
              <a:tabLst>
                <a:tab pos="513715" algn="l"/>
              </a:tabLst>
            </a:pPr>
            <a:r>
              <a:rPr lang="en-US" sz="1800" spc="-10" dirty="0">
                <a:solidFill>
                  <a:srgbClr val="231F20"/>
                </a:solidFill>
                <a:effectLst/>
                <a:latin typeface="Times New Roman" panose="02020603050405020304" pitchFamily="18" charset="0"/>
                <a:ea typeface="Lucida Sans Unicode" panose="020B0602030504020204" pitchFamily="34" charset="0"/>
              </a:rPr>
              <a:t>Use</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virtual</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prototypes</a:t>
            </a:r>
            <a:r>
              <a:rPr lang="en-US" sz="1800" spc="-5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instead</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of</a:t>
            </a:r>
            <a:r>
              <a:rPr lang="en-US" sz="1800" spc="-5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physical</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ones.</a:t>
            </a:r>
            <a:endParaRPr lang="en-IN" sz="2000" spc="0" dirty="0">
              <a:effectLst/>
              <a:latin typeface="Times New Roman" panose="02020603050405020304" pitchFamily="18" charset="0"/>
              <a:ea typeface="Lucida Sans Unicode" panose="020B0602030504020204" pitchFamily="34" charset="0"/>
            </a:endParaRPr>
          </a:p>
          <a:p>
            <a:pPr marL="1600200" lvl="3" indent="-228600">
              <a:buClr>
                <a:srgbClr val="231F20"/>
              </a:buClr>
              <a:buSzPts val="1050"/>
              <a:buFont typeface="Lucida Sans Unicode" panose="020B0602030504020204" pitchFamily="34" charset="0"/>
              <a:buChar char="■"/>
              <a:tabLst>
                <a:tab pos="513715" algn="l"/>
              </a:tabLst>
            </a:pPr>
            <a:r>
              <a:rPr lang="en-US" sz="1800" spc="-20" dirty="0">
                <a:solidFill>
                  <a:srgbClr val="231F20"/>
                </a:solidFill>
                <a:effectLst/>
                <a:latin typeface="Times New Roman" panose="02020603050405020304" pitchFamily="18" charset="0"/>
                <a:ea typeface="Lucida Sans Unicode" panose="020B0602030504020204" pitchFamily="34" charset="0"/>
              </a:rPr>
              <a:t>Use video-conferencing instead of</a:t>
            </a:r>
            <a:r>
              <a:rPr lang="en-US" sz="1800" spc="-15" dirty="0">
                <a:solidFill>
                  <a:srgbClr val="231F20"/>
                </a:solidFill>
                <a:effectLst/>
                <a:latin typeface="Times New Roman" panose="02020603050405020304" pitchFamily="18" charset="0"/>
                <a:ea typeface="Lucida Sans Unicode" panose="020B0602030504020204" pitchFamily="34" charset="0"/>
              </a:rPr>
              <a:t> </a:t>
            </a:r>
            <a:r>
              <a:rPr lang="en-US" sz="1800" spc="-20" dirty="0">
                <a:solidFill>
                  <a:srgbClr val="231F20"/>
                </a:solidFill>
                <a:effectLst/>
                <a:latin typeface="Times New Roman" panose="02020603050405020304" pitchFamily="18" charset="0"/>
                <a:ea typeface="Lucida Sans Unicode" panose="020B0602030504020204" pitchFamily="34" charset="0"/>
              </a:rPr>
              <a:t>travel.</a:t>
            </a:r>
            <a:endParaRPr lang="en-IN" sz="2000" spc="0" dirty="0">
              <a:effectLst/>
              <a:latin typeface="Times New Roman" panose="02020603050405020304" pitchFamily="18" charset="0"/>
              <a:ea typeface="Lucida Sans Unicode" panose="020B0602030504020204" pitchFamily="34" charset="0"/>
            </a:endParaRPr>
          </a:p>
        </p:txBody>
      </p:sp>
      <p:pic>
        <p:nvPicPr>
          <p:cNvPr id="3074" name="Picture 2" descr="How To Measure Crown Rump Length (CRL) On Ultrasound | Intrauterine ...">
            <a:extLst>
              <a:ext uri="{FF2B5EF4-FFF2-40B4-BE49-F238E27FC236}">
                <a16:creationId xmlns:a16="http://schemas.microsoft.com/office/drawing/2014/main" id="{9F4251F1-25B0-89A7-41DF-54DF72EF59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3710" y="979004"/>
            <a:ext cx="5781261" cy="5039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1705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9AB1EE-522E-D257-C1EF-842608C72D59}"/>
              </a:ext>
            </a:extLst>
          </p:cNvPr>
          <p:cNvSpPr txBox="1"/>
          <p:nvPr/>
        </p:nvSpPr>
        <p:spPr>
          <a:xfrm>
            <a:off x="176419" y="606123"/>
            <a:ext cx="6097656" cy="5944704"/>
          </a:xfrm>
          <a:prstGeom prst="rect">
            <a:avLst/>
          </a:prstGeom>
          <a:noFill/>
        </p:spPr>
        <p:txBody>
          <a:bodyPr wrap="square">
            <a:spAutoFit/>
          </a:bodyPr>
          <a:lstStyle/>
          <a:p>
            <a:pPr marL="1600200" marR="233045" lvl="3" indent="-228600" algn="just">
              <a:buClr>
                <a:srgbClr val="231F20"/>
              </a:buClr>
              <a:buSzPts val="1050"/>
              <a:buFont typeface="Lucida Sans Unicode" panose="020B0602030504020204" pitchFamily="34" charset="0"/>
              <a:buChar char="■"/>
              <a:tabLst>
                <a:tab pos="514350" algn="l"/>
              </a:tabLst>
            </a:pPr>
            <a:r>
              <a:rPr lang="en-US" spc="-20" dirty="0">
                <a:solidFill>
                  <a:srgbClr val="231F20"/>
                </a:solidFill>
                <a:effectLst/>
                <a:latin typeface="Times New Roman" panose="02020603050405020304" pitchFamily="18" charset="0"/>
                <a:ea typeface="Lucida Sans Unicode" panose="020B0602030504020204" pitchFamily="34" charset="0"/>
              </a:rPr>
              <a:t>Use</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virtual</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reality</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to</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test</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new</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processes</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or</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to</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train</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people</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to</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do</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work</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in</a:t>
            </a:r>
            <a:r>
              <a:rPr lang="en-US" spc="-8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difficult </a:t>
            </a:r>
            <a:r>
              <a:rPr lang="en-US" spc="-10" dirty="0">
                <a:solidFill>
                  <a:srgbClr val="231F20"/>
                </a:solidFill>
                <a:effectLst/>
                <a:latin typeface="Times New Roman" panose="02020603050405020304" pitchFamily="18" charset="0"/>
                <a:ea typeface="Lucida Sans Unicode" panose="020B0602030504020204" pitchFamily="34" charset="0"/>
              </a:rPr>
              <a:t>situations. Surgeons now test new operating procedures on virtual patients , </a:t>
            </a:r>
            <a:r>
              <a:rPr lang="en-US" spc="-30" dirty="0">
                <a:solidFill>
                  <a:srgbClr val="231F20"/>
                </a:solidFill>
                <a:effectLst/>
                <a:latin typeface="Times New Roman" panose="02020603050405020304" pitchFamily="18" charset="0"/>
                <a:ea typeface="Times New Roman" panose="02020603050405020304" pitchFamily="18" charset="0"/>
              </a:rPr>
              <a:t>and</a:t>
            </a:r>
            <a:r>
              <a:rPr lang="en-US" spc="-5"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automobile</a:t>
            </a:r>
            <a:r>
              <a:rPr lang="en-US" spc="-5"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assembly</a:t>
            </a:r>
            <a:r>
              <a:rPr lang="en-US"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workers</a:t>
            </a:r>
            <a:r>
              <a:rPr lang="en-US" spc="-5"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practice</a:t>
            </a:r>
            <a:r>
              <a:rPr lang="en-US"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new</a:t>
            </a:r>
            <a:r>
              <a:rPr lang="en-US" spc="-5"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procedures</a:t>
            </a:r>
            <a:r>
              <a:rPr lang="en-US"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in</a:t>
            </a:r>
            <a:r>
              <a:rPr lang="en-US" spc="-5"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virtual</a:t>
            </a:r>
            <a:r>
              <a:rPr lang="en-US" dirty="0">
                <a:solidFill>
                  <a:srgbClr val="231F20"/>
                </a:solidFill>
                <a:effectLst/>
                <a:latin typeface="Times New Roman" panose="02020603050405020304" pitchFamily="18" charset="0"/>
                <a:ea typeface="Times New Roman" panose="02020603050405020304" pitchFamily="18" charset="0"/>
              </a:rPr>
              <a:t> </a:t>
            </a:r>
            <a:r>
              <a:rPr lang="en-US" spc="-30" dirty="0">
                <a:solidFill>
                  <a:srgbClr val="231F20"/>
                </a:solidFill>
                <a:effectLst/>
                <a:latin typeface="Times New Roman" panose="02020603050405020304" pitchFamily="18" charset="0"/>
                <a:ea typeface="Times New Roman" panose="02020603050405020304" pitchFamily="18" charset="0"/>
              </a:rPr>
              <a:t>factories.</a:t>
            </a:r>
            <a:endParaRPr lang="en-IN" dirty="0">
              <a:effectLst/>
              <a:latin typeface="Times New Roman" panose="02020603050405020304" pitchFamily="18" charset="0"/>
              <a:ea typeface="Times New Roman" panose="02020603050405020304" pitchFamily="18" charset="0"/>
            </a:endParaRPr>
          </a:p>
          <a:p>
            <a:pPr marL="1600200" marR="233045" lvl="3" indent="-228600" algn="just">
              <a:spcBef>
                <a:spcPts val="85"/>
              </a:spcBef>
              <a:spcAft>
                <a:spcPts val="0"/>
              </a:spcAft>
              <a:buClr>
                <a:srgbClr val="231F20"/>
              </a:buClr>
              <a:buSzPts val="1050"/>
              <a:buFont typeface="Lucida Sans Unicode" panose="020B0602030504020204" pitchFamily="34" charset="0"/>
              <a:buChar char="■"/>
              <a:tabLst>
                <a:tab pos="514350" algn="l"/>
              </a:tabLst>
            </a:pPr>
            <a:r>
              <a:rPr lang="en-US" spc="-20" dirty="0">
                <a:solidFill>
                  <a:srgbClr val="231F20"/>
                </a:solidFill>
                <a:effectLst/>
                <a:latin typeface="Times New Roman" panose="02020603050405020304" pitchFamily="18" charset="0"/>
                <a:ea typeface="Lucida Sans Unicode" panose="020B0602030504020204" pitchFamily="34" charset="0"/>
              </a:rPr>
              <a:t>Scan</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rare</a:t>
            </a:r>
            <a:r>
              <a:rPr lang="en-US" spc="-4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historic</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books,</a:t>
            </a:r>
            <a:r>
              <a:rPr lang="en-US" spc="-4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documents,</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and</a:t>
            </a:r>
            <a:r>
              <a:rPr lang="en-US" spc="-4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such</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so</a:t>
            </a:r>
            <a:r>
              <a:rPr lang="en-US" spc="-4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they</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can</a:t>
            </a:r>
            <a:r>
              <a:rPr lang="en-US" spc="-4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be</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made</a:t>
            </a:r>
            <a:r>
              <a:rPr lang="en-US" spc="-4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accessible </a:t>
            </a:r>
            <a:r>
              <a:rPr lang="en-US" spc="0" dirty="0">
                <a:solidFill>
                  <a:srgbClr val="231F20"/>
                </a:solidFill>
                <a:effectLst/>
                <a:latin typeface="Times New Roman" panose="02020603050405020304" pitchFamily="18" charset="0"/>
                <a:ea typeface="Lucida Sans Unicode" panose="020B0602030504020204" pitchFamily="34" charset="0"/>
              </a:rPr>
              <a:t>to all, while the original remains protected.</a:t>
            </a:r>
            <a:endParaRPr lang="en-IN" spc="0" dirty="0">
              <a:effectLst/>
              <a:latin typeface="Times New Roman" panose="02020603050405020304" pitchFamily="18" charset="0"/>
              <a:ea typeface="Lucida Sans Unicode" panose="020B0602030504020204" pitchFamily="34" charset="0"/>
            </a:endParaRPr>
          </a:p>
          <a:p>
            <a:pPr marL="1600200" lvl="3" indent="-228600" algn="just">
              <a:buClr>
                <a:srgbClr val="231F20"/>
              </a:buClr>
              <a:buSzPts val="1050"/>
              <a:buFont typeface="Lucida Sans Unicode" panose="020B0602030504020204" pitchFamily="34" charset="0"/>
              <a:buChar char="■"/>
              <a:tabLst>
                <a:tab pos="513715" algn="l"/>
              </a:tabLst>
            </a:pPr>
            <a:r>
              <a:rPr lang="en-US" spc="-20" dirty="0">
                <a:solidFill>
                  <a:srgbClr val="231F20"/>
                </a:solidFill>
                <a:effectLst/>
                <a:latin typeface="Times New Roman" panose="02020603050405020304" pitchFamily="18" charset="0"/>
                <a:ea typeface="Lucida Sans Unicode" panose="020B0602030504020204" pitchFamily="34" charset="0"/>
              </a:rPr>
              <a:t>Use</a:t>
            </a:r>
            <a:r>
              <a:rPr lang="en-US" spc="-1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telepresence</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instead</a:t>
            </a:r>
            <a:r>
              <a:rPr lang="en-US" spc="-1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of</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fully</a:t>
            </a:r>
            <a:r>
              <a:rPr lang="en-US" spc="-1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independent</a:t>
            </a:r>
            <a:r>
              <a:rPr lang="en-US" spc="-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robots.</a:t>
            </a:r>
            <a:endParaRPr lang="en-IN" spc="0" dirty="0">
              <a:effectLst/>
              <a:latin typeface="Times New Roman" panose="02020603050405020304" pitchFamily="18" charset="0"/>
              <a:ea typeface="Lucida Sans Unicode" panose="020B0602030504020204" pitchFamily="34" charset="0"/>
            </a:endParaRPr>
          </a:p>
          <a:p>
            <a:pPr marL="209550" marR="233680" indent="190500" algn="just">
              <a:lnSpc>
                <a:spcPct val="106000"/>
              </a:lnSpc>
              <a:spcBef>
                <a:spcPts val="1095"/>
              </a:spcBef>
              <a:spcAft>
                <a:spcPts val="0"/>
              </a:spcAft>
            </a:pPr>
            <a:r>
              <a:rPr lang="en-US" dirty="0">
                <a:solidFill>
                  <a:srgbClr val="231F20"/>
                </a:solidFill>
                <a:effectLst/>
                <a:latin typeface="Times New Roman" panose="02020603050405020304" pitchFamily="18" charset="0"/>
                <a:ea typeface="Times New Roman" panose="02020603050405020304" pitchFamily="18" charset="0"/>
              </a:rPr>
              <a:t>Fake furs and leathers are also examples of the copying principle. Artificial grass </a:t>
            </a:r>
            <a:r>
              <a:rPr lang="en-US" spc="-10" dirty="0">
                <a:solidFill>
                  <a:srgbClr val="231F20"/>
                </a:solidFill>
                <a:effectLst/>
                <a:latin typeface="Times New Roman" panose="02020603050405020304" pitchFamily="18" charset="0"/>
                <a:ea typeface="Times New Roman" panose="02020603050405020304" pitchFamily="18" charset="0"/>
              </a:rPr>
              <a:t>might</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be</a:t>
            </a:r>
            <a:r>
              <a:rPr lang="en-US" spc="-6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an</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acceptable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alternative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in</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some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places.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No</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need</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to</a:t>
            </a:r>
            <a:r>
              <a:rPr lang="en-US" spc="-6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mow.</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Compare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with </a:t>
            </a:r>
            <a:r>
              <a:rPr lang="en-US" dirty="0">
                <a:solidFill>
                  <a:srgbClr val="231F20"/>
                </a:solidFill>
                <a:effectLst/>
                <a:latin typeface="Times New Roman" panose="02020603050405020304" pitchFamily="18" charset="0"/>
                <a:ea typeface="Times New Roman" panose="02020603050405020304" pitchFamily="18" charset="0"/>
              </a:rPr>
              <a:t>plastic flowers and plants.</a:t>
            </a:r>
            <a:endParaRPr lang="en-IN" dirty="0">
              <a:effectLst/>
              <a:latin typeface="Times New Roman" panose="02020603050405020304" pitchFamily="18" charset="0"/>
              <a:ea typeface="Times New Roman" panose="02020603050405020304" pitchFamily="18" charset="0"/>
            </a:endParaRPr>
          </a:p>
          <a:p>
            <a:pPr marL="209550" marR="233045" indent="190500" algn="just">
              <a:lnSpc>
                <a:spcPct val="106000"/>
              </a:lnSpc>
              <a:spcAft>
                <a:spcPts val="0"/>
              </a:spcAft>
            </a:pPr>
            <a:r>
              <a:rPr lang="en-US" dirty="0">
                <a:solidFill>
                  <a:srgbClr val="231F20"/>
                </a:solidFill>
                <a:effectLst/>
                <a:latin typeface="Times New Roman" panose="02020603050405020304" pitchFamily="18" charset="0"/>
                <a:ea typeface="Times New Roman" panose="02020603050405020304" pitchFamily="18" charset="0"/>
              </a:rPr>
              <a:t>Ultraviolet light shows certain kinds of skin lesions better than visible light; </a:t>
            </a:r>
            <a:r>
              <a:rPr lang="en-US" spc="-10" dirty="0">
                <a:solidFill>
                  <a:srgbClr val="231F20"/>
                </a:solidFill>
                <a:effectLst/>
                <a:latin typeface="Times New Roman" panose="02020603050405020304" pitchFamily="18" charset="0"/>
                <a:ea typeface="Times New Roman" panose="02020603050405020304" pitchFamily="18" charset="0"/>
              </a:rPr>
              <a:t>dyes</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that</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are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sensitive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to</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ultraviolet</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are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used</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to</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find</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cracks</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in</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metal</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parts.</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Infrared </a:t>
            </a:r>
            <a:r>
              <a:rPr lang="en-US" dirty="0">
                <a:solidFill>
                  <a:srgbClr val="231F20"/>
                </a:solidFill>
                <a:effectLst/>
                <a:latin typeface="Times New Roman" panose="02020603050405020304" pitchFamily="18" charset="0"/>
                <a:ea typeface="Times New Roman" panose="02020603050405020304" pitchFamily="18" charset="0"/>
              </a:rPr>
              <a:t>images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show</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heat this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basis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most</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night-vision</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systems.</a:t>
            </a:r>
            <a:endParaRPr lang="en-IN" dirty="0">
              <a:effectLst/>
              <a:latin typeface="Times New Roman" panose="02020603050405020304" pitchFamily="18" charset="0"/>
              <a:ea typeface="Times New Roman" panose="02020603050405020304" pitchFamily="18" charset="0"/>
            </a:endParaRPr>
          </a:p>
          <a:p>
            <a:pPr>
              <a:spcBef>
                <a:spcPts val="1105"/>
              </a:spcBef>
            </a:pPr>
            <a:r>
              <a:rPr lang="en-US" sz="1050" dirty="0">
                <a:effectLst/>
                <a:latin typeface="Times New Roman" panose="02020603050405020304" pitchFamily="18" charset="0"/>
                <a:ea typeface="Times New Roman" panose="02020603050405020304" pitchFamily="18" charset="0"/>
              </a:rPr>
              <a:t> </a:t>
            </a:r>
            <a:endParaRPr lang="en-IN" sz="1050" dirty="0">
              <a:effectLst/>
              <a:latin typeface="Times New Roman" panose="02020603050405020304" pitchFamily="18" charset="0"/>
              <a:ea typeface="Times New Roman" panose="02020603050405020304" pitchFamily="18" charset="0"/>
            </a:endParaRPr>
          </a:p>
        </p:txBody>
      </p:sp>
      <p:pic>
        <p:nvPicPr>
          <p:cNvPr id="4098" name="Picture 2" descr="Testing for Cracks at Home with DIY Dye Penetrants | Articles ...">
            <a:extLst>
              <a:ext uri="{FF2B5EF4-FFF2-40B4-BE49-F238E27FC236}">
                <a16:creationId xmlns:a16="http://schemas.microsoft.com/office/drawing/2014/main" id="{E6014B5A-9DEC-7FDA-EE90-C0D769959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9339" y="1639956"/>
            <a:ext cx="4865136" cy="3578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968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007AD0-3048-2A82-BA23-308A4EA1EC70}"/>
              </a:ext>
            </a:extLst>
          </p:cNvPr>
          <p:cNvSpPr txBox="1"/>
          <p:nvPr/>
        </p:nvSpPr>
        <p:spPr>
          <a:xfrm>
            <a:off x="573984" y="651650"/>
            <a:ext cx="6097656" cy="2794739"/>
          </a:xfrm>
          <a:prstGeom prst="rect">
            <a:avLst/>
          </a:prstGeom>
          <a:noFill/>
        </p:spPr>
        <p:txBody>
          <a:bodyPr wrap="square">
            <a:spAutoFit/>
          </a:bodyPr>
          <a:lstStyle/>
          <a:p>
            <a:pPr marL="209550" marR="229235" indent="-635">
              <a:lnSpc>
                <a:spcPct val="115000"/>
              </a:lnSpc>
              <a:spcBef>
                <a:spcPts val="740"/>
              </a:spcBef>
              <a:spcAft>
                <a:spcPts val="0"/>
              </a:spcAft>
            </a:pPr>
            <a:r>
              <a:rPr lang="en-US" sz="1800" b="1" i="1" spc="-20" dirty="0">
                <a:solidFill>
                  <a:srgbClr val="231F20"/>
                </a:solidFill>
                <a:effectLst/>
                <a:latin typeface="Times New Roman" panose="02020603050405020304" pitchFamily="18" charset="0"/>
                <a:ea typeface="Times New Roman" panose="02020603050405020304" pitchFamily="18" charset="0"/>
              </a:rPr>
              <a:t>17. ENVIRONMENT (Inert</a:t>
            </a:r>
            <a:r>
              <a:rPr lang="en-US" sz="1800" b="1" i="1" spc="-70"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atmosphere)</a:t>
            </a:r>
          </a:p>
          <a:p>
            <a:pPr marL="209550" marR="229235" indent="-635" algn="just">
              <a:lnSpc>
                <a:spcPct val="115000"/>
              </a:lnSpc>
              <a:spcBef>
                <a:spcPts val="740"/>
              </a:spcBef>
              <a:spcAft>
                <a:spcPts val="0"/>
              </a:spcAft>
            </a:pPr>
            <a:r>
              <a:rPr lang="en-US" sz="1800" b="1" i="1" spc="-20" dirty="0">
                <a:solidFill>
                  <a:srgbClr val="C00000"/>
                </a:solidFill>
                <a:effectLst/>
                <a:latin typeface="Times New Roman" panose="02020603050405020304" pitchFamily="18" charset="0"/>
                <a:ea typeface="Times New Roman" panose="02020603050405020304" pitchFamily="18" charset="0"/>
              </a:rPr>
              <a:t>Creating a non-reactive or neutral environment in order to prevent unwanted reactions or to protect a process or material fro</a:t>
            </a:r>
            <a:r>
              <a:rPr lang="en-US" b="1" i="1" spc="-20" dirty="0">
                <a:solidFill>
                  <a:srgbClr val="C00000"/>
                </a:solidFill>
                <a:latin typeface="Times New Roman" panose="02020603050405020304" pitchFamily="18" charset="0"/>
                <a:ea typeface="Times New Roman" panose="02020603050405020304" pitchFamily="18" charset="0"/>
              </a:rPr>
              <a:t>m external influences such as oxidation corrosion or combustion.</a:t>
            </a:r>
            <a:endParaRPr lang="en-US" sz="1800" b="1" i="1" spc="-20" dirty="0">
              <a:solidFill>
                <a:srgbClr val="C00000"/>
              </a:solidFill>
              <a:effectLst/>
              <a:latin typeface="Times New Roman" panose="02020603050405020304" pitchFamily="18" charset="0"/>
              <a:ea typeface="Times New Roman" panose="02020603050405020304" pitchFamily="18" charset="0"/>
            </a:endParaRPr>
          </a:p>
          <a:p>
            <a:pPr marL="209550" marR="229235" indent="-635" algn="just">
              <a:lnSpc>
                <a:spcPct val="115000"/>
              </a:lnSpc>
              <a:spcBef>
                <a:spcPts val="740"/>
              </a:spcBef>
              <a:spcAft>
                <a:spcPts val="0"/>
              </a:spcAft>
            </a:pPr>
            <a:r>
              <a:rPr lang="en-US" sz="1800" i="1"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Replace</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normal</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environment</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with</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inert</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one.</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Add</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neutral</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parts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inert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additives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system.</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Some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examples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BDC3D427-5C93-154D-CFCD-242B79DF7B62}"/>
              </a:ext>
            </a:extLst>
          </p:cNvPr>
          <p:cNvSpPr txBox="1"/>
          <p:nvPr/>
        </p:nvSpPr>
        <p:spPr>
          <a:xfrm>
            <a:off x="5951054" y="3224618"/>
            <a:ext cx="6097656" cy="2531270"/>
          </a:xfrm>
          <a:prstGeom prst="rect">
            <a:avLst/>
          </a:prstGeom>
          <a:noFill/>
        </p:spPr>
        <p:txBody>
          <a:bodyPr wrap="square">
            <a:spAutoFit/>
          </a:bodyPr>
          <a:lstStyle/>
          <a:p>
            <a:pPr marL="1600200" marR="234315" lvl="3" indent="-228600" algn="just">
              <a:lnSpc>
                <a:spcPct val="96000"/>
              </a:lnSpc>
              <a:spcBef>
                <a:spcPts val="1110"/>
              </a:spcBef>
              <a:spcAft>
                <a:spcPts val="0"/>
              </a:spcAft>
              <a:buClr>
                <a:srgbClr val="231F20"/>
              </a:buClr>
              <a:buSzPts val="1050"/>
              <a:buFont typeface="Lucida Sans Unicode" panose="020B0602030504020204" pitchFamily="34" charset="0"/>
              <a:buChar char="■"/>
              <a:tabLst>
                <a:tab pos="514350" algn="l"/>
              </a:tabLst>
            </a:pPr>
            <a:r>
              <a:rPr lang="en-US" sz="1800" spc="0" dirty="0">
                <a:solidFill>
                  <a:srgbClr val="231F20"/>
                </a:solidFill>
                <a:effectLst/>
                <a:latin typeface="Times New Roman" panose="02020603050405020304" pitchFamily="18" charset="0"/>
                <a:ea typeface="Lucida Sans Unicode" panose="020B0602030504020204" pitchFamily="34" charset="0"/>
              </a:rPr>
              <a:t>Inert</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gases</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(such</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as</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carbon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dioxide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or</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argon)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are</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used</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in</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welding</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to</a:t>
            </a:r>
            <a:r>
              <a:rPr lang="en-US" sz="1800" spc="-65" dirty="0">
                <a:solidFill>
                  <a:srgbClr val="231F20"/>
                </a:solidFill>
                <a:effectLst/>
                <a:latin typeface="Times New Roman" panose="02020603050405020304" pitchFamily="18" charset="0"/>
                <a:ea typeface="Lucida Sans Unicode" panose="020B0602030504020204" pitchFamily="34" charset="0"/>
              </a:rPr>
              <a:t> </a:t>
            </a:r>
            <a:r>
              <a:rPr lang="en-US" sz="1800" spc="0" dirty="0">
                <a:solidFill>
                  <a:srgbClr val="231F20"/>
                </a:solidFill>
                <a:effectLst/>
                <a:latin typeface="Times New Roman" panose="02020603050405020304" pitchFamily="18" charset="0"/>
                <a:ea typeface="Lucida Sans Unicode" panose="020B0602030504020204" pitchFamily="34" charset="0"/>
              </a:rPr>
              <a:t>prevent oxidation of the material at the weld.</a:t>
            </a:r>
          </a:p>
          <a:p>
            <a:pPr marL="1600200" marR="234315" lvl="3" indent="-228600" algn="just">
              <a:lnSpc>
                <a:spcPct val="96000"/>
              </a:lnSpc>
              <a:spcBef>
                <a:spcPts val="1110"/>
              </a:spcBef>
              <a:buClr>
                <a:srgbClr val="231F20"/>
              </a:buClr>
              <a:buSzPts val="1050"/>
              <a:buFont typeface="Lucida Sans Unicode" panose="020B0602030504020204" pitchFamily="34" charset="0"/>
              <a:buChar char="■"/>
              <a:tabLst>
                <a:tab pos="514350" algn="l"/>
              </a:tabLst>
            </a:pPr>
            <a:r>
              <a:rPr lang="en-US" sz="1800" spc="-10" dirty="0">
                <a:solidFill>
                  <a:srgbClr val="231F20"/>
                </a:solidFill>
                <a:effectLst/>
                <a:latin typeface="Times New Roman" panose="02020603050405020304" pitchFamily="18" charset="0"/>
                <a:ea typeface="Lucida Sans Unicode" panose="020B0602030504020204" pitchFamily="34" charset="0"/>
              </a:rPr>
              <a:t>Inert</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materials</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are</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added</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to</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detergents</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to</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make</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them</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easier</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for</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consumers</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to </a:t>
            </a:r>
            <a:r>
              <a:rPr lang="en-US" sz="1800" spc="-30" dirty="0">
                <a:solidFill>
                  <a:srgbClr val="231F20"/>
                </a:solidFill>
                <a:effectLst/>
                <a:latin typeface="Times New Roman" panose="02020603050405020304" pitchFamily="18" charset="0"/>
                <a:ea typeface="Lucida Sans Unicode" panose="020B0602030504020204" pitchFamily="34" charset="0"/>
              </a:rPr>
              <a:t>measure.</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(Did</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you</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ever</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wonder</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why</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the</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box</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says</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“97</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percent</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inert</a:t>
            </a:r>
            <a:r>
              <a:rPr lang="en-US" sz="1800" spc="-35" dirty="0">
                <a:solidFill>
                  <a:srgbClr val="231F20"/>
                </a:solidFill>
                <a:effectLst/>
                <a:latin typeface="Times New Roman" panose="02020603050405020304" pitchFamily="18" charset="0"/>
                <a:ea typeface="Lucida Sans Unicode" panose="020B0602030504020204" pitchFamily="34" charset="0"/>
              </a:rPr>
              <a:t> </a:t>
            </a:r>
            <a:r>
              <a:rPr lang="en-US" sz="1800" spc="-30" dirty="0">
                <a:solidFill>
                  <a:srgbClr val="231F20"/>
                </a:solidFill>
                <a:effectLst/>
                <a:latin typeface="Times New Roman" panose="02020603050405020304" pitchFamily="18" charset="0"/>
                <a:ea typeface="Lucida Sans Unicode" panose="020B0602030504020204" pitchFamily="34" charset="0"/>
              </a:rPr>
              <a:t>materials”?)</a:t>
            </a:r>
            <a:endParaRPr lang="en-IN" sz="1800" spc="0" dirty="0">
              <a:effectLst/>
              <a:latin typeface="Times New Roman" panose="02020603050405020304" pitchFamily="18" charset="0"/>
              <a:ea typeface="Lucida Sans Unicode" panose="020B0602030504020204" pitchFamily="34" charset="0"/>
            </a:endParaRPr>
          </a:p>
          <a:p>
            <a:pPr marR="234315" lvl="3" algn="just">
              <a:lnSpc>
                <a:spcPct val="96000"/>
              </a:lnSpc>
              <a:spcBef>
                <a:spcPts val="1110"/>
              </a:spcBef>
              <a:spcAft>
                <a:spcPts val="0"/>
              </a:spcAft>
              <a:buClr>
                <a:srgbClr val="231F20"/>
              </a:buClr>
              <a:buSzPts val="1050"/>
              <a:tabLst>
                <a:tab pos="514350" algn="l"/>
              </a:tabLst>
            </a:pPr>
            <a:endParaRPr lang="en-IN" sz="2000" spc="0" dirty="0">
              <a:effectLst/>
              <a:latin typeface="Times New Roman" panose="02020603050405020304" pitchFamily="18" charset="0"/>
              <a:ea typeface="Lucida Sans Unicode" panose="020B0602030504020204" pitchFamily="34" charset="0"/>
            </a:endParaRPr>
          </a:p>
        </p:txBody>
      </p:sp>
      <p:pic>
        <p:nvPicPr>
          <p:cNvPr id="6" name="Image 558">
            <a:extLst>
              <a:ext uri="{FF2B5EF4-FFF2-40B4-BE49-F238E27FC236}">
                <a16:creationId xmlns:a16="http://schemas.microsoft.com/office/drawing/2014/main" id="{51453F77-03FE-C3AE-EA1A-D207DF4D52D9}"/>
              </a:ext>
            </a:extLst>
          </p:cNvPr>
          <p:cNvPicPr/>
          <p:nvPr/>
        </p:nvPicPr>
        <p:blipFill>
          <a:blip r:embed="rId2" cstate="print"/>
          <a:stretch>
            <a:fillRect/>
          </a:stretch>
        </p:blipFill>
        <p:spPr>
          <a:xfrm>
            <a:off x="7374835" y="717853"/>
            <a:ext cx="4243181" cy="1649895"/>
          </a:xfrm>
          <a:prstGeom prst="rect">
            <a:avLst/>
          </a:prstGeom>
        </p:spPr>
      </p:pic>
      <p:sp>
        <p:nvSpPr>
          <p:cNvPr id="8" name="TextBox 7">
            <a:extLst>
              <a:ext uri="{FF2B5EF4-FFF2-40B4-BE49-F238E27FC236}">
                <a16:creationId xmlns:a16="http://schemas.microsoft.com/office/drawing/2014/main" id="{638ACE9F-5175-B210-CD98-B99F20874DD0}"/>
              </a:ext>
            </a:extLst>
          </p:cNvPr>
          <p:cNvSpPr txBox="1"/>
          <p:nvPr/>
        </p:nvSpPr>
        <p:spPr>
          <a:xfrm>
            <a:off x="405020" y="3934922"/>
            <a:ext cx="6097656" cy="1501821"/>
          </a:xfrm>
          <a:prstGeom prst="rect">
            <a:avLst/>
          </a:prstGeom>
          <a:noFill/>
        </p:spPr>
        <p:txBody>
          <a:bodyPr wrap="square">
            <a:spAutoFit/>
          </a:bodyPr>
          <a:lstStyle/>
          <a:p>
            <a:pPr marL="209550" marR="233045" indent="190500" algn="just">
              <a:lnSpc>
                <a:spcPct val="103000"/>
              </a:lnSpc>
              <a:spcAft>
                <a:spcPts val="0"/>
              </a:spcAft>
            </a:pPr>
            <a:r>
              <a:rPr lang="en-US" sz="1800" dirty="0">
                <a:solidFill>
                  <a:schemeClr val="accent2"/>
                </a:solidFill>
                <a:effectLst/>
                <a:latin typeface="Times New Roman" panose="02020603050405020304" pitchFamily="18" charset="0"/>
                <a:ea typeface="Times New Roman" panose="02020603050405020304" pitchFamily="18" charset="0"/>
              </a:rPr>
              <a:t>Oxygen</a:t>
            </a:r>
            <a:r>
              <a:rPr lang="en-US" sz="1800" dirty="0">
                <a:solidFill>
                  <a:srgbClr val="231F20"/>
                </a:solidFill>
                <a:effectLst/>
                <a:latin typeface="Times New Roman" panose="02020603050405020304" pitchFamily="18" charset="0"/>
                <a:ea typeface="Times New Roman" panose="02020603050405020304" pitchFamily="18" charset="0"/>
              </a:rPr>
              <a:t> is used to </a:t>
            </a:r>
            <a:r>
              <a:rPr lang="en-US" sz="1800" dirty="0">
                <a:solidFill>
                  <a:schemeClr val="accent1"/>
                </a:solidFill>
                <a:effectLst/>
                <a:latin typeface="Times New Roman" panose="02020603050405020304" pitchFamily="18" charset="0"/>
                <a:ea typeface="Times New Roman" panose="02020603050405020304" pitchFamily="18" charset="0"/>
              </a:rPr>
              <a:t>generate </a:t>
            </a:r>
            <a:r>
              <a:rPr lang="en-US" sz="1800" spc="-20" dirty="0">
                <a:solidFill>
                  <a:schemeClr val="accent1"/>
                </a:solidFill>
                <a:effectLst/>
                <a:latin typeface="Times New Roman" panose="02020603050405020304" pitchFamily="18" charset="0"/>
                <a:ea typeface="Times New Roman" panose="02020603050405020304" pitchFamily="18" charset="0"/>
              </a:rPr>
              <a:t>needed energy </a:t>
            </a:r>
            <a:r>
              <a:rPr lang="en-US" sz="1800" spc="-20" dirty="0">
                <a:solidFill>
                  <a:srgbClr val="231F20"/>
                </a:solidFill>
                <a:effectLst/>
                <a:latin typeface="Times New Roman" panose="02020603050405020304" pitchFamily="18" charset="0"/>
                <a:ea typeface="Times New Roman" panose="02020603050405020304" pitchFamily="18" charset="0"/>
              </a:rPr>
              <a:t>and </a:t>
            </a:r>
            <a:r>
              <a:rPr lang="en-US" sz="1800" spc="-20" dirty="0">
                <a:solidFill>
                  <a:schemeClr val="accent2"/>
                </a:solidFill>
                <a:effectLst/>
                <a:latin typeface="Times New Roman" panose="02020603050405020304" pitchFamily="18" charset="0"/>
                <a:ea typeface="Times New Roman" panose="02020603050405020304" pitchFamily="18" charset="0"/>
              </a:rPr>
              <a:t>inert gases </a:t>
            </a:r>
            <a:r>
              <a:rPr lang="en-US" sz="1800" spc="-20" dirty="0">
                <a:solidFill>
                  <a:srgbClr val="231F20"/>
                </a:solidFill>
                <a:effectLst/>
                <a:latin typeface="Times New Roman" panose="02020603050405020304" pitchFamily="18" charset="0"/>
                <a:ea typeface="Times New Roman" panose="02020603050405020304" pitchFamily="18" charset="0"/>
              </a:rPr>
              <a:t>are used to </a:t>
            </a:r>
            <a:r>
              <a:rPr lang="en-US" sz="1800" spc="-20" dirty="0">
                <a:solidFill>
                  <a:schemeClr val="accent1"/>
                </a:solidFill>
                <a:effectLst/>
                <a:latin typeface="Times New Roman" panose="02020603050405020304" pitchFamily="18" charset="0"/>
                <a:ea typeface="Times New Roman" panose="02020603050405020304" pitchFamily="18" charset="0"/>
              </a:rPr>
              <a:t>prevent undesired oxidation</a:t>
            </a:r>
            <a:r>
              <a:rPr lang="en-US" sz="1800" spc="-20" dirty="0">
                <a:solidFill>
                  <a:srgbClr val="231F20"/>
                </a:solidFill>
                <a:effectLst/>
                <a:latin typeface="Times New Roman" panose="02020603050405020304" pitchFamily="18" charset="0"/>
                <a:ea typeface="Times New Roman" panose="02020603050405020304" pitchFamily="18" charset="0"/>
              </a:rPr>
              <a:t>. </a:t>
            </a:r>
          </a:p>
          <a:p>
            <a:pPr marL="209550" marR="233045" indent="190500" algn="just">
              <a:lnSpc>
                <a:spcPct val="103000"/>
              </a:lnSpc>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An inventor </a:t>
            </a:r>
            <a:r>
              <a:rPr lang="en-US" sz="1800" spc="-10" dirty="0">
                <a:solidFill>
                  <a:srgbClr val="231F20"/>
                </a:solidFill>
                <a:effectLst/>
                <a:latin typeface="Times New Roman" panose="02020603050405020304" pitchFamily="18" charset="0"/>
                <a:ea typeface="Times New Roman" panose="02020603050405020304" pitchFamily="18" charset="0"/>
              </a:rPr>
              <a:t>proposed</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welding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device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fire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extinguisher.</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device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provided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with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 </a:t>
            </a:r>
            <a:r>
              <a:rPr lang="en-US" sz="1800" dirty="0">
                <a:solidFill>
                  <a:srgbClr val="231F20"/>
                </a:solidFill>
                <a:effectLst/>
                <a:latin typeface="Times New Roman" panose="02020603050405020304" pitchFamily="18" charset="0"/>
                <a:ea typeface="Times New Roman" panose="02020603050405020304" pitchFamily="18" charset="0"/>
              </a:rPr>
              <a:t>simple system that can blast inert gas with high pressure.</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029903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921793-17C7-1DFD-319F-FAFE20402D67}"/>
              </a:ext>
            </a:extLst>
          </p:cNvPr>
          <p:cNvSpPr txBox="1"/>
          <p:nvPr/>
        </p:nvSpPr>
        <p:spPr>
          <a:xfrm>
            <a:off x="444775" y="861741"/>
            <a:ext cx="6097656" cy="2031325"/>
          </a:xfrm>
          <a:prstGeom prst="rect">
            <a:avLst/>
          </a:prstGeom>
          <a:noFill/>
        </p:spPr>
        <p:txBody>
          <a:bodyPr wrap="square">
            <a:spAutoFit/>
          </a:bodyPr>
          <a:lstStyle/>
          <a:p>
            <a:pPr marL="209550" marR="233045" indent="190500" algn="just">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A social analogy of inert atmosphere may be indifference and neutrality. </a:t>
            </a:r>
          </a:p>
          <a:p>
            <a:pPr marL="209550" marR="233045" indent="190500" algn="just">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In </a:t>
            </a:r>
            <a:r>
              <a:rPr lang="en-US" sz="1800" spc="-20" dirty="0">
                <a:solidFill>
                  <a:srgbClr val="231F20"/>
                </a:solidFill>
                <a:effectLst/>
                <a:latin typeface="Times New Roman" panose="02020603050405020304" pitchFamily="18" charset="0"/>
                <a:ea typeface="Times New Roman" panose="02020603050405020304" pitchFamily="18" charset="0"/>
              </a:rPr>
              <a:t>business,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negative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situations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mostly</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need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cooling.</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Ignore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or</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neutralize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negative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and </a:t>
            </a:r>
            <a:r>
              <a:rPr lang="en-US" sz="1800" spc="-10" dirty="0">
                <a:solidFill>
                  <a:srgbClr val="231F20"/>
                </a:solidFill>
                <a:effectLst/>
                <a:latin typeface="Times New Roman" panose="02020603050405020304" pitchFamily="18" charset="0"/>
                <a:ea typeface="Times New Roman" panose="02020603050405020304" pitchFamily="18" charset="0"/>
              </a:rPr>
              <a:t>destructive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actions</a:t>
            </a:r>
            <a:r>
              <a:rPr lang="en-US" spc="-55" dirty="0">
                <a:solidFill>
                  <a:srgbClr val="231F20"/>
                </a:solidFill>
                <a:latin typeface="Times New Roman" panose="02020603050405020304" pitchFamily="18" charset="0"/>
                <a:ea typeface="Times New Roman" panose="02020603050405020304" pitchFamily="18" charset="0"/>
              </a:rPr>
              <a:t>.</a:t>
            </a:r>
          </a:p>
          <a:p>
            <a:pPr marL="209550" marR="233045" indent="190500" algn="just">
              <a:spcAft>
                <a:spcPts val="0"/>
              </a:spcAft>
            </a:pP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neutral </a:t>
            </a:r>
            <a:r>
              <a:rPr lang="en-US" sz="1800" dirty="0">
                <a:solidFill>
                  <a:srgbClr val="231F20"/>
                </a:solidFill>
                <a:effectLst/>
                <a:latin typeface="Times New Roman" panose="02020603050405020304" pitchFamily="18" charset="0"/>
                <a:ea typeface="Times New Roman" panose="02020603050405020304" pitchFamily="18" charset="0"/>
              </a:rPr>
              <a:t>arbitrators. Here, too, the point is to use the correct approach at the right time.</a:t>
            </a:r>
            <a:endParaRPr lang="en-IN" sz="1800" dirty="0">
              <a:effectLst/>
              <a:latin typeface="Times New Roman" panose="02020603050405020304" pitchFamily="18" charset="0"/>
              <a:ea typeface="Times New Roman" panose="02020603050405020304" pitchFamily="18" charset="0"/>
            </a:endParaRPr>
          </a:p>
          <a:p>
            <a:pPr marL="400050" algn="just"/>
            <a:r>
              <a:rPr lang="en-US" sz="1800" spc="-10" dirty="0">
                <a:solidFill>
                  <a:srgbClr val="231F20"/>
                </a:solidFill>
                <a:effectLst/>
                <a:latin typeface="Times New Roman" panose="02020603050405020304" pitchFamily="18" charset="0"/>
                <a:ea typeface="Times New Roman" panose="02020603050405020304" pitchFamily="18" charset="0"/>
              </a:rPr>
              <a:t>Another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example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metal</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inert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gas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(MIG)</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welding.</a:t>
            </a:r>
            <a:endParaRPr lang="en-IN" sz="1800" dirty="0">
              <a:effectLst/>
              <a:latin typeface="Times New Roman" panose="02020603050405020304" pitchFamily="18" charset="0"/>
              <a:ea typeface="Times New Roman" panose="02020603050405020304" pitchFamily="18" charset="0"/>
            </a:endParaRPr>
          </a:p>
        </p:txBody>
      </p:sp>
      <p:pic>
        <p:nvPicPr>
          <p:cNvPr id="2050" name="Picture 2" descr="metal inert gas welding - Elizabeth Mills">
            <a:extLst>
              <a:ext uri="{FF2B5EF4-FFF2-40B4-BE49-F238E27FC236}">
                <a16:creationId xmlns:a16="http://schemas.microsoft.com/office/drawing/2014/main" id="{05490254-766C-3233-547D-74B9FD072C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824" y="3429000"/>
            <a:ext cx="5785607" cy="29718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food packaging with nitrogen">
            <a:extLst>
              <a:ext uri="{FF2B5EF4-FFF2-40B4-BE49-F238E27FC236}">
                <a16:creationId xmlns:a16="http://schemas.microsoft.com/office/drawing/2014/main" id="{E777A70B-35CD-B7FA-12B1-1D498A81F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1120" y="932523"/>
            <a:ext cx="4048125" cy="1981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Incandescent Light Bulbs Work — 1000Bulbs.com Blog">
            <a:extLst>
              <a:ext uri="{FF2B5EF4-FFF2-40B4-BE49-F238E27FC236}">
                <a16:creationId xmlns:a16="http://schemas.microsoft.com/office/drawing/2014/main" id="{4A9D2D48-3419-9E56-AF43-22B76CB061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9183" y="3120887"/>
            <a:ext cx="4289563" cy="3279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2808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CEB26-32B9-1C52-205D-1B4262E4D591}"/>
              </a:ext>
            </a:extLst>
          </p:cNvPr>
          <p:cNvSpPr txBox="1"/>
          <p:nvPr/>
        </p:nvSpPr>
        <p:spPr>
          <a:xfrm>
            <a:off x="275811" y="728287"/>
            <a:ext cx="6097656" cy="1008096"/>
          </a:xfrm>
          <a:prstGeom prst="rect">
            <a:avLst/>
          </a:prstGeom>
          <a:noFill/>
        </p:spPr>
        <p:txBody>
          <a:bodyPr wrap="square">
            <a:spAutoFit/>
          </a:bodyPr>
          <a:lstStyle/>
          <a:p>
            <a:pPr marL="209550" indent="-635">
              <a:lnSpc>
                <a:spcPct val="103000"/>
              </a:lnSpc>
              <a:spcBef>
                <a:spcPts val="595"/>
              </a:spcBef>
              <a:spcAft>
                <a:spcPts val="0"/>
              </a:spcAft>
            </a:pPr>
            <a:r>
              <a:rPr lang="en-US" sz="1800" b="1" i="1" spc="-10" dirty="0">
                <a:solidFill>
                  <a:srgbClr val="231F20"/>
                </a:solidFill>
                <a:effectLst/>
                <a:latin typeface="Times New Roman" panose="02020603050405020304" pitchFamily="18" charset="0"/>
                <a:ea typeface="Times New Roman" panose="02020603050405020304" pitchFamily="18" charset="0"/>
              </a:rPr>
              <a:t>18. COMPOSITE</a:t>
            </a:r>
            <a:r>
              <a:rPr lang="en-US" sz="1800" b="1" i="1" spc="-35" dirty="0">
                <a:solidFill>
                  <a:srgbClr val="231F20"/>
                </a:solidFill>
                <a:effectLst/>
                <a:latin typeface="Times New Roman" panose="02020603050405020304" pitchFamily="18" charset="0"/>
                <a:ea typeface="Times New Roman" panose="02020603050405020304" pitchFamily="18" charset="0"/>
              </a:rPr>
              <a:t> </a:t>
            </a:r>
            <a:r>
              <a:rPr lang="en-US" sz="1800" b="1" i="1" spc="-10" dirty="0">
                <a:solidFill>
                  <a:srgbClr val="231F20"/>
                </a:solidFill>
                <a:effectLst/>
                <a:latin typeface="Times New Roman" panose="02020603050405020304" pitchFamily="18" charset="0"/>
                <a:ea typeface="Times New Roman" panose="02020603050405020304" pitchFamily="18" charset="0"/>
              </a:rPr>
              <a:t>MATERIALS</a:t>
            </a:r>
            <a:r>
              <a:rPr lang="en-US" sz="1800" b="1" i="1" spc="-35" dirty="0">
                <a:solidFill>
                  <a:srgbClr val="231F20"/>
                </a:solidFill>
                <a:effectLst/>
                <a:latin typeface="Times New Roman" panose="02020603050405020304" pitchFamily="18" charset="0"/>
                <a:ea typeface="Times New Roman" panose="02020603050405020304" pitchFamily="18" charset="0"/>
              </a:rPr>
              <a:t> (SYSTEM)</a:t>
            </a:r>
          </a:p>
          <a:p>
            <a:pPr marL="209550" indent="-635">
              <a:lnSpc>
                <a:spcPct val="103000"/>
              </a:lnSpc>
              <a:spcBef>
                <a:spcPts val="595"/>
              </a:spcBef>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Change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from</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uniform</a:t>
            </a:r>
            <a:r>
              <a:rPr lang="en-US" sz="1800" spc="-3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to</a:t>
            </a:r>
            <a:r>
              <a:rPr lang="en-US" sz="1800" spc="-3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composite</a:t>
            </a:r>
            <a:r>
              <a:rPr lang="en-US" sz="1800" spc="-3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(multiple)</a:t>
            </a:r>
            <a:r>
              <a:rPr lang="en-US" sz="1800" spc="-3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materials</a:t>
            </a:r>
            <a:r>
              <a:rPr lang="en-US" sz="1800" spc="-35" dirty="0">
                <a:solidFill>
                  <a:srgbClr val="C00000"/>
                </a:solidFill>
                <a:effectLst/>
                <a:latin typeface="Times New Roman" panose="02020603050405020304" pitchFamily="18" charset="0"/>
                <a:ea typeface="Times New Roman" panose="02020603050405020304" pitchFamily="18" charset="0"/>
              </a:rPr>
              <a:t> </a:t>
            </a:r>
            <a:r>
              <a:rPr lang="en-US" sz="1800" spc="-10" dirty="0">
                <a:solidFill>
                  <a:srgbClr val="C00000"/>
                </a:solidFill>
                <a:effectLst/>
                <a:latin typeface="Times New Roman" panose="02020603050405020304" pitchFamily="18" charset="0"/>
                <a:ea typeface="Times New Roman" panose="02020603050405020304" pitchFamily="18" charset="0"/>
              </a:rPr>
              <a:t>and </a:t>
            </a:r>
            <a:r>
              <a:rPr lang="en-US" sz="1800" dirty="0">
                <a:solidFill>
                  <a:srgbClr val="C00000"/>
                </a:solidFill>
                <a:effectLst/>
                <a:latin typeface="Times New Roman" panose="02020603050405020304" pitchFamily="18" charset="0"/>
                <a:ea typeface="Times New Roman" panose="02020603050405020304" pitchFamily="18" charset="0"/>
              </a:rPr>
              <a:t>systems</a:t>
            </a:r>
            <a:r>
              <a:rPr lang="en-US" sz="1800" spc="-70" dirty="0">
                <a:solidFill>
                  <a:srgbClr val="C00000"/>
                </a:solidFill>
                <a:effectLst/>
                <a:latin typeface="Times New Roman" panose="02020603050405020304" pitchFamily="18" charset="0"/>
                <a:ea typeface="Times New Roman" panose="02020603050405020304" pitchFamily="18" charset="0"/>
              </a:rPr>
              <a:t> </a:t>
            </a:r>
            <a:r>
              <a:rPr lang="en-US" sz="1800" dirty="0">
                <a:solidFill>
                  <a:srgbClr val="C00000"/>
                </a:solidFill>
                <a:effectLst/>
                <a:latin typeface="Times New Roman" panose="02020603050405020304" pitchFamily="18" charset="0"/>
                <a:ea typeface="Times New Roman" panose="02020603050405020304" pitchFamily="18" charset="0"/>
              </a:rPr>
              <a: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Some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E19EF479-9E12-AC29-67C3-3C59990FA3CD}"/>
              </a:ext>
            </a:extLst>
          </p:cNvPr>
          <p:cNvSpPr txBox="1"/>
          <p:nvPr/>
        </p:nvSpPr>
        <p:spPr>
          <a:xfrm>
            <a:off x="474593" y="2127781"/>
            <a:ext cx="6097656" cy="4762522"/>
          </a:xfrm>
          <a:prstGeom prst="rect">
            <a:avLst/>
          </a:prstGeom>
          <a:noFill/>
        </p:spPr>
        <p:txBody>
          <a:bodyPr wrap="square">
            <a:spAutoFit/>
          </a:bodyPr>
          <a:lstStyle/>
          <a:p>
            <a:pPr marL="285750" marR="234315" indent="-285750" algn="just">
              <a:buFont typeface="Arial" panose="020B0604020202020204" pitchFamily="34" charset="0"/>
              <a:buChar char="•"/>
              <a:tabLst>
                <a:tab pos="514350" algn="l"/>
              </a:tabLst>
            </a:pPr>
            <a:r>
              <a:rPr lang="en-US" dirty="0">
                <a:solidFill>
                  <a:schemeClr val="accent1">
                    <a:lumMod val="75000"/>
                  </a:schemeClr>
                </a:solidFill>
                <a:effectLst/>
                <a:latin typeface="Times New Roman" panose="02020603050405020304" pitchFamily="18" charset="0"/>
                <a:ea typeface="Times New Roman" panose="02020603050405020304" pitchFamily="18" charset="0"/>
              </a:rPr>
              <a:t>Rubber</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reinforced</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with</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woven</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cords,</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reinforced</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concrete,</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and</a:t>
            </a:r>
            <a:r>
              <a:rPr lang="en-US" spc="-2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glass-fiber reinforced</a:t>
            </a:r>
            <a:r>
              <a:rPr lang="en-US" spc="-3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chemeClr val="accent1">
                    <a:lumMod val="75000"/>
                  </a:schemeClr>
                </a:solidFill>
                <a:effectLst/>
                <a:latin typeface="Times New Roman" panose="02020603050405020304" pitchFamily="18" charset="0"/>
                <a:ea typeface="Times New Roman" panose="02020603050405020304" pitchFamily="18" charset="0"/>
              </a:rPr>
              <a:t>plastics</a:t>
            </a:r>
            <a:r>
              <a:rPr lang="en-US" spc="-35"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are</a:t>
            </a:r>
            <a:r>
              <a:rPr lang="en-US" spc="-3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typica</a:t>
            </a:r>
            <a:r>
              <a:rPr lang="en-US" dirty="0">
                <a:solidFill>
                  <a:srgbClr val="231F20"/>
                </a:solidFill>
                <a:latin typeface="Times New Roman" panose="02020603050405020304" pitchFamily="18" charset="0"/>
                <a:ea typeface="Times New Roman" panose="02020603050405020304" pitchFamily="18" charset="0"/>
              </a:rPr>
              <a:t>l </a:t>
            </a:r>
            <a:r>
              <a:rPr lang="en-US" dirty="0">
                <a:solidFill>
                  <a:srgbClr val="231F20"/>
                </a:solidFill>
                <a:effectLst/>
                <a:latin typeface="Times New Roman" panose="02020603050405020304" pitchFamily="18" charset="0"/>
                <a:ea typeface="Times New Roman" panose="02020603050405020304" pitchFamily="18" charset="0"/>
              </a:rPr>
              <a:t>technology examples.</a:t>
            </a:r>
          </a:p>
          <a:p>
            <a:pPr marL="285750" marR="234315" indent="-285750" algn="just">
              <a:buFont typeface="Arial" panose="020B0604020202020204" pitchFamily="34" charset="0"/>
              <a:buChar char="•"/>
              <a:tabLst>
                <a:tab pos="514350" algn="l"/>
              </a:tabLst>
            </a:pPr>
            <a:endParaRPr lang="en-IN" dirty="0">
              <a:effectLst/>
              <a:latin typeface="Times New Roman" panose="02020603050405020304" pitchFamily="18" charset="0"/>
              <a:ea typeface="Times New Roman" panose="02020603050405020304" pitchFamily="18" charset="0"/>
            </a:endParaRPr>
          </a:p>
          <a:p>
            <a:pPr marL="285750" marR="233045" indent="-285750" algn="jus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rPr>
              <a:t>The</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use</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50" dirty="0">
                <a:solidFill>
                  <a:srgbClr val="231F20"/>
                </a:solidFill>
                <a:effectLst/>
                <a:latin typeface="Times New Roman" panose="02020603050405020304" pitchFamily="18" charset="0"/>
                <a:ea typeface="Times New Roman" panose="02020603050405020304" pitchFamily="18" charset="0"/>
              </a:rPr>
              <a:t> </a:t>
            </a:r>
            <a:r>
              <a:rPr lang="en-US" i="1" dirty="0">
                <a:solidFill>
                  <a:srgbClr val="231F20"/>
                </a:solidFill>
                <a:effectLst/>
                <a:latin typeface="Times New Roman" panose="02020603050405020304" pitchFamily="18" charset="0"/>
                <a:ea typeface="Times New Roman" panose="02020603050405020304" pitchFamily="18" charset="0"/>
              </a:rPr>
              <a:t>nothing</a:t>
            </a:r>
            <a:r>
              <a:rPr lang="en-US" i="1"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(air</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or</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vacuum)</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as</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one</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elements</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composite</a:t>
            </a:r>
            <a:r>
              <a:rPr lang="en-US" spc="-5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 very typical of TRIZ no resource is available in all situations.</a:t>
            </a:r>
            <a:endParaRPr lang="en-US" dirty="0">
              <a:solidFill>
                <a:srgbClr val="231F20"/>
              </a:solidFill>
              <a:latin typeface="Times New Roman" panose="02020603050405020304" pitchFamily="18" charset="0"/>
              <a:ea typeface="Times New Roman" panose="02020603050405020304" pitchFamily="18" charset="0"/>
            </a:endParaRPr>
          </a:p>
          <a:p>
            <a:pPr marR="233045" algn="just">
              <a:tabLst>
                <a:tab pos="514350" algn="l"/>
              </a:tabLst>
            </a:pPr>
            <a:endParaRPr lang="en-US" dirty="0">
              <a:solidFill>
                <a:srgbClr val="231F20"/>
              </a:solidFill>
              <a:effectLst/>
              <a:latin typeface="Times New Roman" panose="02020603050405020304" pitchFamily="18" charset="0"/>
              <a:ea typeface="Times New Roman" panose="02020603050405020304" pitchFamily="18" charset="0"/>
            </a:endParaRPr>
          </a:p>
          <a:p>
            <a:pPr marL="285750" marR="233045" indent="-285750" algn="jus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rPr>
              <a:t>Examples </a:t>
            </a:r>
            <a:r>
              <a:rPr lang="en-US" spc="-20" dirty="0">
                <a:solidFill>
                  <a:srgbClr val="231F20"/>
                </a:solidFill>
                <a:effectLst/>
                <a:latin typeface="Times New Roman" panose="02020603050405020304" pitchFamily="18" charset="0"/>
                <a:ea typeface="Times New Roman" panose="02020603050405020304" pitchFamily="18" charset="0"/>
              </a:rPr>
              <a:t>include honeycomb materials (egg crates, aircraft structures), hollow systems</a:t>
            </a:r>
            <a:r>
              <a:rPr lang="en-IN" dirty="0">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(golf</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clubs,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bones),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and</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sponge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materials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(packaging</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materials,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scuba</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diving </a:t>
            </a:r>
            <a:r>
              <a:rPr lang="en-US" spc="-20" dirty="0">
                <a:solidFill>
                  <a:srgbClr val="231F20"/>
                </a:solidFill>
                <a:effectLst/>
                <a:latin typeface="Times New Roman" panose="02020603050405020304" pitchFamily="18" charset="0"/>
                <a:ea typeface="Times New Roman" panose="02020603050405020304" pitchFamily="18" charset="0"/>
              </a:rPr>
              <a:t>suits.)</a:t>
            </a:r>
          </a:p>
          <a:p>
            <a:pPr marL="285750" marR="233045" indent="-285750" algn="just">
              <a:buFont typeface="Arial" panose="020B0604020202020204" pitchFamily="34" charset="0"/>
              <a:buChar char="•"/>
              <a:tabLst>
                <a:tab pos="514350" algn="l"/>
              </a:tabLst>
            </a:pPr>
            <a:endParaRPr lang="en-US" spc="-20" dirty="0">
              <a:solidFill>
                <a:srgbClr val="231F20"/>
              </a:solidFill>
              <a:latin typeface="Times New Roman" panose="02020603050405020304" pitchFamily="18" charset="0"/>
              <a:ea typeface="Times New Roman" panose="02020603050405020304" pitchFamily="18" charset="0"/>
            </a:endParaRPr>
          </a:p>
          <a:p>
            <a:pPr marL="285750" marR="233045" indent="-285750" algn="just">
              <a:buFont typeface="Arial" panose="020B0604020202020204" pitchFamily="34" charset="0"/>
              <a:buChar char="•"/>
              <a:tabLst>
                <a:tab pos="514350" algn="l"/>
              </a:tabLst>
            </a:pPr>
            <a:r>
              <a:rPr lang="en-US" spc="-10" dirty="0">
                <a:solidFill>
                  <a:srgbClr val="231F20"/>
                </a:solidFill>
                <a:effectLst/>
                <a:latin typeface="Times New Roman" panose="02020603050405020304" pitchFamily="18" charset="0"/>
                <a:ea typeface="Times New Roman" panose="02020603050405020304" pitchFamily="18" charset="0"/>
              </a:rPr>
              <a:t>In</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business,</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we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can</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speak</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of</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composite</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structures</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as</a:t>
            </a:r>
            <a:r>
              <a:rPr lang="en-US" spc="-2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well.</a:t>
            </a:r>
            <a:r>
              <a:rPr lang="en-US" spc="-25" dirty="0">
                <a:solidFill>
                  <a:srgbClr val="231F20"/>
                </a:solidFill>
                <a:effectLst/>
                <a:latin typeface="Times New Roman" panose="02020603050405020304" pitchFamily="18" charset="0"/>
                <a:ea typeface="Times New Roman" panose="02020603050405020304" pitchFamily="18" charset="0"/>
              </a:rPr>
              <a:t> </a:t>
            </a:r>
          </a:p>
          <a:p>
            <a:pPr marL="285750" marR="233045" indent="-285750" algn="just">
              <a:buFont typeface="Arial" panose="020B0604020202020204" pitchFamily="34" charset="0"/>
              <a:buChar char="•"/>
              <a:tabLst>
                <a:tab pos="514350" algn="l"/>
              </a:tabLst>
            </a:pPr>
            <a:endParaRPr lang="en-US" spc="-25" dirty="0">
              <a:solidFill>
                <a:srgbClr val="231F20"/>
              </a:solidFill>
              <a:effectLst/>
              <a:latin typeface="Times New Roman" panose="02020603050405020304" pitchFamily="18" charset="0"/>
              <a:ea typeface="Times New Roman" panose="02020603050405020304" pitchFamily="18" charset="0"/>
            </a:endParaRPr>
          </a:p>
          <a:p>
            <a:pPr marL="285750" marR="233045" indent="-285750" algn="just">
              <a:buFont typeface="Arial" panose="020B0604020202020204" pitchFamily="34" charset="0"/>
              <a:buChar char="•"/>
              <a:tabLst>
                <a:tab pos="514350" algn="l"/>
              </a:tabLst>
            </a:pPr>
            <a:r>
              <a:rPr lang="en-US" spc="-10" dirty="0">
                <a:solidFill>
                  <a:srgbClr val="231F20"/>
                </a:solidFill>
                <a:effectLst/>
                <a:latin typeface="Times New Roman" panose="02020603050405020304" pitchFamily="18" charset="0"/>
                <a:ea typeface="Times New Roman" panose="02020603050405020304" pitchFamily="18" charset="0"/>
              </a:rPr>
              <a:t>Multidisciplinary project</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teams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are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often</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more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effective</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than</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groups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representing</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experts</a:t>
            </a:r>
            <a:r>
              <a:rPr lang="en-US" spc="-5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from </a:t>
            </a:r>
            <a:r>
              <a:rPr lang="en-US" dirty="0">
                <a:solidFill>
                  <a:srgbClr val="231F20"/>
                </a:solidFill>
                <a:effectLst/>
                <a:latin typeface="Times New Roman" panose="02020603050405020304" pitchFamily="18" charset="0"/>
                <a:ea typeface="Times New Roman" panose="02020603050405020304" pitchFamily="18" charset="0"/>
              </a:rPr>
              <a:t>one</a:t>
            </a:r>
            <a:r>
              <a:rPr lang="en-US" spc="11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field.</a:t>
            </a:r>
            <a:r>
              <a:rPr lang="en-US" spc="115" dirty="0">
                <a:solidFill>
                  <a:srgbClr val="231F20"/>
                </a:solidFill>
                <a:effectLst/>
                <a:latin typeface="Times New Roman" panose="02020603050405020304" pitchFamily="18" charset="0"/>
                <a:ea typeface="Times New Roman" panose="02020603050405020304" pitchFamily="18" charset="0"/>
              </a:rPr>
              <a:t> </a:t>
            </a:r>
          </a:p>
          <a:p>
            <a:pPr marR="233680" algn="just">
              <a:lnSpc>
                <a:spcPct val="86000"/>
              </a:lnSpc>
              <a:tabLst>
                <a:tab pos="514350" algn="l"/>
              </a:tabLst>
            </a:pPr>
            <a:endParaRPr lang="en-IN" dirty="0">
              <a:effectLst/>
              <a:latin typeface="Times New Roman" panose="02020603050405020304" pitchFamily="18" charset="0"/>
              <a:ea typeface="Times New Roman" panose="02020603050405020304" pitchFamily="18" charset="0"/>
            </a:endParaRPr>
          </a:p>
        </p:txBody>
      </p:sp>
      <p:pic>
        <p:nvPicPr>
          <p:cNvPr id="1026" name="Picture 2" descr="Hyspec VCT Rubber Ring Joint Concrete Pipes (NI Only) - Hynds Pipe ...">
            <a:extLst>
              <a:ext uri="{FF2B5EF4-FFF2-40B4-BE49-F238E27FC236}">
                <a16:creationId xmlns:a16="http://schemas.microsoft.com/office/drawing/2014/main" id="{E9C266D2-F556-CE00-9713-23619BE7B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516" y="3082389"/>
            <a:ext cx="5062891" cy="34290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03FE6029-ADC5-9394-A2FE-683FF8FB44EC}"/>
              </a:ext>
            </a:extLst>
          </p:cNvPr>
          <p:cNvGrpSpPr>
            <a:grpSpLocks/>
          </p:cNvGrpSpPr>
          <p:nvPr/>
        </p:nvGrpSpPr>
        <p:grpSpPr>
          <a:xfrm>
            <a:off x="7052361" y="535108"/>
            <a:ext cx="4267200" cy="1446060"/>
            <a:chOff x="0" y="0"/>
            <a:chExt cx="4267200" cy="1446060"/>
          </a:xfrm>
        </p:grpSpPr>
        <p:pic>
          <p:nvPicPr>
            <p:cNvPr id="4" name="Image 561">
              <a:extLst>
                <a:ext uri="{FF2B5EF4-FFF2-40B4-BE49-F238E27FC236}">
                  <a16:creationId xmlns:a16="http://schemas.microsoft.com/office/drawing/2014/main" id="{DC865327-F41F-8424-FE67-5522E26DF848}"/>
                </a:ext>
              </a:extLst>
            </p:cNvPr>
            <p:cNvPicPr/>
            <p:nvPr/>
          </p:nvPicPr>
          <p:blipFill>
            <a:blip r:embed="rId3" cstate="print"/>
            <a:stretch>
              <a:fillRect/>
            </a:stretch>
          </p:blipFill>
          <p:spPr>
            <a:xfrm>
              <a:off x="830580" y="0"/>
              <a:ext cx="2606039" cy="1394454"/>
            </a:xfrm>
            <a:prstGeom prst="rect">
              <a:avLst/>
            </a:prstGeom>
          </p:spPr>
        </p:pic>
        <p:sp>
          <p:nvSpPr>
            <p:cNvPr id="5" name="Graphic 562">
              <a:extLst>
                <a:ext uri="{FF2B5EF4-FFF2-40B4-BE49-F238E27FC236}">
                  <a16:creationId xmlns:a16="http://schemas.microsoft.com/office/drawing/2014/main" id="{94D09393-320B-DD5C-1D06-9246191BB693}"/>
                </a:ext>
              </a:extLst>
            </p:cNvPr>
            <p:cNvSpPr/>
            <p:nvPr/>
          </p:nvSpPr>
          <p:spPr>
            <a:xfrm>
              <a:off x="0" y="1444790"/>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8" name="TextBox 7">
            <a:extLst>
              <a:ext uri="{FF2B5EF4-FFF2-40B4-BE49-F238E27FC236}">
                <a16:creationId xmlns:a16="http://schemas.microsoft.com/office/drawing/2014/main" id="{04D0C5CB-20C8-D317-4182-8B17A5CF5041}"/>
              </a:ext>
            </a:extLst>
          </p:cNvPr>
          <p:cNvSpPr txBox="1"/>
          <p:nvPr/>
        </p:nvSpPr>
        <p:spPr>
          <a:xfrm>
            <a:off x="6096000" y="2043315"/>
            <a:ext cx="6096000" cy="586764"/>
          </a:xfrm>
          <a:prstGeom prst="rect">
            <a:avLst/>
          </a:prstGeom>
          <a:noFill/>
        </p:spPr>
        <p:txBody>
          <a:bodyPr wrap="square">
            <a:spAutoFit/>
          </a:bodyPr>
          <a:lstStyle/>
          <a:p>
            <a:pPr marL="209550" algn="ctr">
              <a:lnSpc>
                <a:spcPct val="103000"/>
              </a:lnSpc>
              <a:spcBef>
                <a:spcPts val="505"/>
              </a:spcBef>
              <a:spcAft>
                <a:spcPts val="0"/>
              </a:spcAft>
            </a:pPr>
            <a:r>
              <a:rPr lang="en-US" sz="1400" b="1" spc="-30" dirty="0">
                <a:solidFill>
                  <a:srgbClr val="231F20"/>
                </a:solidFill>
                <a:effectLst/>
                <a:latin typeface="Trebuchet MS" panose="020B0603020202020204" pitchFamily="34" charset="0"/>
                <a:ea typeface="Times New Roman" panose="02020603050405020304" pitchFamily="18" charset="0"/>
              </a:rPr>
              <a:t>Composite</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materials</a:t>
            </a:r>
            <a:r>
              <a:rPr lang="en-US" sz="1400" b="1" spc="-40" dirty="0">
                <a:solidFill>
                  <a:srgbClr val="231F20"/>
                </a:solidFill>
                <a:effectLst/>
                <a:latin typeface="Trebuchet MS" panose="020B0603020202020204" pitchFamily="34" charset="0"/>
                <a:ea typeface="Times New Roman" panose="02020603050405020304" pitchFamily="18" charset="0"/>
              </a:rPr>
              <a:t> </a:t>
            </a:r>
          </a:p>
          <a:p>
            <a:pPr marL="209550" algn="ctr">
              <a:lnSpc>
                <a:spcPct val="103000"/>
              </a:lnSpc>
              <a:spcBef>
                <a:spcPts val="505"/>
              </a:spcBef>
              <a:spcAft>
                <a:spcPts val="0"/>
              </a:spcAft>
            </a:pPr>
            <a:r>
              <a:rPr lang="en-US" sz="1400" b="1" spc="-30" dirty="0">
                <a:solidFill>
                  <a:srgbClr val="231F20"/>
                </a:solidFill>
                <a:effectLst/>
                <a:latin typeface="Trebuchet MS" panose="020B0603020202020204" pitchFamily="34" charset="0"/>
                <a:ea typeface="Times New Roman" panose="02020603050405020304" pitchFamily="18" charset="0"/>
              </a:rPr>
              <a:t>Change</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from</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uniform</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to</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com</a:t>
            </a:r>
            <a:r>
              <a:rPr lang="en-US" sz="1400" b="1" dirty="0">
                <a:solidFill>
                  <a:srgbClr val="231F20"/>
                </a:solidFill>
                <a:effectLst/>
                <a:latin typeface="Trebuchet MS" panose="020B0603020202020204" pitchFamily="34" charset="0"/>
                <a:ea typeface="Times New Roman" panose="02020603050405020304" pitchFamily="18" charset="0"/>
              </a:rPr>
              <a:t>posite systems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227073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2F53FC-59A7-4523-C191-0F871E28925E}"/>
              </a:ext>
            </a:extLst>
          </p:cNvPr>
          <p:cNvSpPr txBox="1"/>
          <p:nvPr/>
        </p:nvSpPr>
        <p:spPr>
          <a:xfrm>
            <a:off x="472261" y="2677085"/>
            <a:ext cx="6097656" cy="1866793"/>
          </a:xfrm>
          <a:prstGeom prst="rect">
            <a:avLst/>
          </a:prstGeom>
          <a:noFill/>
        </p:spPr>
        <p:txBody>
          <a:bodyPr wrap="square">
            <a:spAutoFit/>
          </a:bodyPr>
          <a:lstStyle/>
          <a:p>
            <a:pPr marL="209550" marR="234315" indent="190500" algn="just">
              <a:lnSpc>
                <a:spcPct val="108000"/>
              </a:lnSpc>
              <a:spcAft>
                <a:spcPts val="0"/>
              </a:spcAft>
            </a:pPr>
            <a:r>
              <a:rPr lang="en-US" sz="1800" spc="-20" dirty="0">
                <a:solidFill>
                  <a:srgbClr val="FF0000"/>
                </a:solidFill>
                <a:effectLst/>
                <a:latin typeface="Times New Roman" panose="02020603050405020304" pitchFamily="18" charset="0"/>
                <a:ea typeface="Times New Roman" panose="02020603050405020304" pitchFamily="18" charset="0"/>
              </a:rPr>
              <a:t>The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principle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of</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composite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materials</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more</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generally,</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composite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systems,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 good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conclusion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for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this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section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using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inventive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principles.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If</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you</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have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a</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system, </a:t>
            </a:r>
            <a:r>
              <a:rPr lang="en-US" sz="1800" dirty="0">
                <a:solidFill>
                  <a:schemeClr val="accent1"/>
                </a:solidFill>
                <a:effectLst/>
                <a:latin typeface="Times New Roman" panose="02020603050405020304" pitchFamily="18" charset="0"/>
                <a:ea typeface="Times New Roman" panose="02020603050405020304" pitchFamily="18" charset="0"/>
              </a:rPr>
              <a:t>you</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can</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improve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result</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by</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combining</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it</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with</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another</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system.</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Innovative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principles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also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Composite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principles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often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better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single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ones.</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54D35A63-6985-046A-A61D-5CEEDFDA6AF0}"/>
              </a:ext>
            </a:extLst>
          </p:cNvPr>
          <p:cNvSpPr txBox="1"/>
          <p:nvPr/>
        </p:nvSpPr>
        <p:spPr>
          <a:xfrm>
            <a:off x="662946" y="5072326"/>
            <a:ext cx="6097656" cy="1560427"/>
          </a:xfrm>
          <a:prstGeom prst="rect">
            <a:avLst/>
          </a:prstGeom>
          <a:noFill/>
        </p:spPr>
        <p:txBody>
          <a:bodyPr wrap="square">
            <a:spAutoFit/>
          </a:bodyPr>
          <a:lstStyle/>
          <a:p>
            <a:pPr algn="just">
              <a:spcBef>
                <a:spcPts val="5"/>
              </a:spcBef>
            </a:pPr>
            <a:r>
              <a:rPr lang="en-US" sz="1800" spc="-30" dirty="0">
                <a:solidFill>
                  <a:srgbClr val="231F20"/>
                </a:solidFill>
                <a:effectLst/>
                <a:latin typeface="Times New Roman" panose="02020603050405020304" pitchFamily="18" charset="0"/>
                <a:ea typeface="Times New Roman" panose="02020603050405020304" pitchFamily="18" charset="0"/>
              </a:rPr>
              <a:t>More</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examples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a:p>
            <a:pPr>
              <a:lnSpc>
                <a:spcPts val="1465"/>
              </a:lnSpc>
              <a:spcBef>
                <a:spcPts val="1190"/>
              </a:spcBef>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rPr>
              <a:t>Combined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high</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risk/low</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risk</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investment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strategy</a:t>
            </a:r>
          </a:p>
          <a:p>
            <a:pPr>
              <a:lnSpc>
                <a:spcPts val="1465"/>
              </a:lnSpc>
              <a:spcBef>
                <a:spcPts val="1190"/>
              </a:spcBef>
              <a:tabLst>
                <a:tab pos="513715" algn="l"/>
              </a:tabLst>
            </a:pPr>
            <a:endParaRPr lang="en-IN" sz="2000" dirty="0">
              <a:effectLst/>
              <a:latin typeface="Times New Roman" panose="02020603050405020304" pitchFamily="18" charset="0"/>
              <a:ea typeface="Times New Roman" panose="02020603050405020304" pitchFamily="18" charset="0"/>
            </a:endParaRPr>
          </a:p>
          <a:p>
            <a:pPr marR="233680">
              <a:lnSpc>
                <a:spcPct val="90000"/>
              </a:lnSpc>
              <a:tabLst>
                <a:tab pos="514350" algn="l"/>
              </a:tabLst>
            </a:pPr>
            <a:r>
              <a:rPr lang="en-US" sz="1800" dirty="0">
                <a:solidFill>
                  <a:srgbClr val="231F20"/>
                </a:solidFill>
                <a:effectLst/>
                <a:latin typeface="Times New Roman" panose="02020603050405020304" pitchFamily="18" charset="0"/>
                <a:ea typeface="Times New Roman" panose="02020603050405020304" pitchFamily="18" charset="0"/>
              </a:rPr>
              <a:t>Flammable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polyurethane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coated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with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fire-resistant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Kevlar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airplane seat cushions)</a:t>
            </a:r>
            <a:endParaRPr lang="en-IN" sz="20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7F68FB8B-5248-5F38-1053-BE92FB2B21A9}"/>
              </a:ext>
            </a:extLst>
          </p:cNvPr>
          <p:cNvSpPr txBox="1"/>
          <p:nvPr/>
        </p:nvSpPr>
        <p:spPr>
          <a:xfrm>
            <a:off x="583924" y="357006"/>
            <a:ext cx="6097656" cy="2474524"/>
          </a:xfrm>
          <a:prstGeom prst="rect">
            <a:avLst/>
          </a:prstGeom>
          <a:noFill/>
        </p:spPr>
        <p:txBody>
          <a:bodyPr wrap="square">
            <a:spAutoFit/>
          </a:bodyPr>
          <a:lstStyle/>
          <a:p>
            <a:pPr marR="233045" algn="just">
              <a:lnSpc>
                <a:spcPct val="95000"/>
              </a:lnSpc>
              <a:tabLst>
                <a:tab pos="514350" algn="l"/>
              </a:tabLst>
            </a:pPr>
            <a:r>
              <a:rPr lang="en-US" dirty="0">
                <a:solidFill>
                  <a:srgbClr val="231F20"/>
                </a:solidFill>
                <a:effectLst/>
                <a:latin typeface="Times New Roman" panose="02020603050405020304" pitchFamily="18" charset="0"/>
                <a:ea typeface="Times New Roman" panose="02020603050405020304" pitchFamily="18" charset="0"/>
              </a:rPr>
              <a:t>Multimedia</a:t>
            </a:r>
            <a:r>
              <a:rPr lang="en-US" spc="11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presentations</a:t>
            </a:r>
            <a:r>
              <a:rPr lang="en-US" spc="11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often</a:t>
            </a:r>
            <a:r>
              <a:rPr lang="en-US" spc="11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do</a:t>
            </a:r>
            <a:r>
              <a:rPr lang="en-US" spc="11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better</a:t>
            </a:r>
            <a:r>
              <a:rPr lang="en-US" spc="11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in</a:t>
            </a:r>
            <a:r>
              <a:rPr lang="en-US" spc="11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marketing,</a:t>
            </a:r>
            <a:r>
              <a:rPr lang="en-US" spc="11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teach</a:t>
            </a:r>
            <a:r>
              <a:rPr lang="en-US" sz="1800" dirty="0">
                <a:solidFill>
                  <a:srgbClr val="231F20"/>
                </a:solidFill>
                <a:effectLst/>
                <a:latin typeface="Times New Roman" panose="02020603050405020304" pitchFamily="18" charset="0"/>
                <a:ea typeface="Times New Roman" panose="02020603050405020304" pitchFamily="18" charset="0"/>
              </a:rPr>
              <a:t>ing, learning, and entertainment than single-medium performances.</a:t>
            </a:r>
            <a:r>
              <a:rPr lang="en-US" sz="1800" spc="-25" dirty="0">
                <a:solidFill>
                  <a:srgbClr val="231F20"/>
                </a:solidFill>
                <a:effectLst/>
                <a:latin typeface="Times New Roman" panose="02020603050405020304" pitchFamily="18" charset="0"/>
                <a:ea typeface="Times New Roman" panose="02020603050405020304" pitchFamily="18" charset="0"/>
              </a:rPr>
              <a:t> </a:t>
            </a:r>
          </a:p>
          <a:p>
            <a:pPr marR="233045" algn="just">
              <a:lnSpc>
                <a:spcPct val="95000"/>
              </a:lnSpc>
              <a:tabLst>
                <a:tab pos="514350" algn="l"/>
              </a:tabLst>
            </a:pPr>
            <a:r>
              <a:rPr lang="en-US" sz="1800" spc="-10" dirty="0">
                <a:solidFill>
                  <a:srgbClr val="231F20"/>
                </a:solidFill>
                <a:effectLst/>
                <a:latin typeface="Times New Roman" panose="02020603050405020304" pitchFamily="18" charset="0"/>
                <a:ea typeface="Times New Roman" panose="02020603050405020304" pitchFamily="18" charset="0"/>
              </a:rPr>
              <a:t>Fanatic</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commitment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cleanliness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famous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feature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McDonald’s.</a:t>
            </a:r>
          </a:p>
          <a:p>
            <a:pPr marR="233045" algn="just">
              <a:lnSpc>
                <a:spcPct val="95000"/>
              </a:lnSpc>
              <a:tabLst>
                <a:tab pos="514350" algn="l"/>
              </a:tabLst>
            </a:pPr>
            <a:r>
              <a:rPr lang="en-US" sz="1800" dirty="0">
                <a:solidFill>
                  <a:srgbClr val="231F20"/>
                </a:solidFill>
                <a:effectLst/>
                <a:latin typeface="Times New Roman" panose="02020603050405020304" pitchFamily="18" charset="0"/>
                <a:ea typeface="Times New Roman" panose="02020603050405020304" pitchFamily="18" charset="0"/>
              </a:rPr>
              <a:t>Consistent</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preparation 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food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another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major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commitment.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These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two</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principles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values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 fibers that tie together a loose organization.</a:t>
            </a:r>
            <a:endParaRPr lang="en-IN" sz="1800" dirty="0">
              <a:effectLst/>
              <a:latin typeface="Times New Roman" panose="02020603050405020304" pitchFamily="18" charset="0"/>
              <a:ea typeface="Times New Roman" panose="02020603050405020304" pitchFamily="18" charset="0"/>
            </a:endParaRPr>
          </a:p>
          <a:p>
            <a:pPr>
              <a:spcBef>
                <a:spcPts val="45"/>
              </a:spcBef>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pic>
        <p:nvPicPr>
          <p:cNvPr id="2050" name="Picture 2" descr="Yellow Kevlar/Carbon 2x2 Twill 200gsm - Enhanced Composites">
            <a:extLst>
              <a:ext uri="{FF2B5EF4-FFF2-40B4-BE49-F238E27FC236}">
                <a16:creationId xmlns:a16="http://schemas.microsoft.com/office/drawing/2014/main" id="{B93AFECF-9EE2-C3A2-F8E3-E0F22A436D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3226" y="655490"/>
            <a:ext cx="4514850" cy="23200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in by awm 135 on Vintage Asia Scuba Woman | Scuba girl wetsuit ...">
            <a:extLst>
              <a:ext uri="{FF2B5EF4-FFF2-40B4-BE49-F238E27FC236}">
                <a16:creationId xmlns:a16="http://schemas.microsoft.com/office/drawing/2014/main" id="{FA8A17D6-CC57-616D-EF38-559AE1DDF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7422" y="3203541"/>
            <a:ext cx="2566458" cy="3428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1664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58CAA4-F866-3B4A-2F0D-ED31D44313D9}"/>
              </a:ext>
            </a:extLst>
          </p:cNvPr>
          <p:cNvSpPr txBox="1"/>
          <p:nvPr/>
        </p:nvSpPr>
        <p:spPr>
          <a:xfrm>
            <a:off x="345385" y="385871"/>
            <a:ext cx="6097656" cy="2078005"/>
          </a:xfrm>
          <a:prstGeom prst="rect">
            <a:avLst/>
          </a:prstGeom>
          <a:noFill/>
        </p:spPr>
        <p:txBody>
          <a:bodyPr wrap="square">
            <a:spAutoFit/>
          </a:bodyPr>
          <a:lstStyle/>
          <a:p>
            <a:pPr marL="209550" marR="233045" algn="just">
              <a:lnSpc>
                <a:spcPct val="110000"/>
              </a:lnSpc>
              <a:spcBef>
                <a:spcPts val="680"/>
              </a:spcBef>
              <a:spcAft>
                <a:spcPts val="0"/>
              </a:spcAft>
            </a:pPr>
            <a:r>
              <a:rPr lang="en-US" sz="1800" b="1" i="1" spc="-10" dirty="0">
                <a:solidFill>
                  <a:srgbClr val="231F20"/>
                </a:solidFill>
                <a:effectLst/>
                <a:latin typeface="Times New Roman" panose="02020603050405020304" pitchFamily="18" charset="0"/>
                <a:ea typeface="Times New Roman" panose="02020603050405020304" pitchFamily="18" charset="0"/>
              </a:rPr>
              <a:t>19. ENERGY (Self-service)</a:t>
            </a:r>
            <a:r>
              <a:rPr lang="en-US" b="1" i="1" spc="-10" dirty="0">
                <a:solidFill>
                  <a:srgbClr val="231F20"/>
                </a:solidFill>
                <a:latin typeface="Times New Roman" panose="02020603050405020304" pitchFamily="18" charset="0"/>
                <a:ea typeface="Times New Roman" panose="02020603050405020304" pitchFamily="18" charset="0"/>
              </a:rPr>
              <a:t> </a:t>
            </a:r>
          </a:p>
          <a:p>
            <a:pPr marL="209550" marR="233045" algn="just">
              <a:lnSpc>
                <a:spcPct val="110000"/>
              </a:lnSpc>
              <a:spcBef>
                <a:spcPts val="680"/>
              </a:spcBef>
              <a:spcAft>
                <a:spcPts val="0"/>
              </a:spcAft>
            </a:pPr>
            <a:endParaRPr lang="en-US" sz="1800" b="1" i="1" spc="-10" dirty="0">
              <a:solidFill>
                <a:srgbClr val="231F20"/>
              </a:solidFill>
              <a:effectLst/>
              <a:latin typeface="Times New Roman" panose="02020603050405020304" pitchFamily="18" charset="0"/>
              <a:ea typeface="Times New Roman" panose="02020603050405020304" pitchFamily="18" charset="0"/>
            </a:endParaRPr>
          </a:p>
          <a:p>
            <a:pPr marL="209550" marR="233045" algn="just">
              <a:lnSpc>
                <a:spcPct val="110000"/>
              </a:lnSpc>
              <a:spcBef>
                <a:spcPts val="680"/>
              </a:spcBef>
              <a:spcAft>
                <a:spcPts val="0"/>
              </a:spcAft>
            </a:pPr>
            <a:r>
              <a:rPr lang="en-US" sz="1800" i="1"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Make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system</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serve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itself</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by</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performing</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auxiliary</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helpful </a:t>
            </a:r>
            <a:r>
              <a:rPr lang="en-US" sz="1800" spc="-30" dirty="0">
                <a:solidFill>
                  <a:srgbClr val="231F20"/>
                </a:solidFill>
                <a:effectLst/>
                <a:latin typeface="Times New Roman" panose="02020603050405020304" pitchFamily="18" charset="0"/>
                <a:ea typeface="Times New Roman" panose="02020603050405020304" pitchFamily="18" charset="0"/>
              </a:rPr>
              <a:t>functions. </a:t>
            </a:r>
            <a:r>
              <a:rPr lang="en-US" sz="1800" spc="-30" dirty="0">
                <a:solidFill>
                  <a:srgbClr val="FF0000"/>
                </a:solidFill>
                <a:effectLst/>
                <a:latin typeface="Times New Roman" panose="02020603050405020304" pitchFamily="18" charset="0"/>
                <a:ea typeface="Times New Roman" panose="02020603050405020304" pitchFamily="18" charset="0"/>
              </a:rPr>
              <a:t>Use resources, including energy and materials especially those that were </a:t>
            </a:r>
            <a:r>
              <a:rPr lang="en-US" sz="1800" spc="-10" dirty="0">
                <a:solidFill>
                  <a:srgbClr val="FF0000"/>
                </a:solidFill>
                <a:effectLst/>
                <a:latin typeface="Times New Roman" panose="02020603050405020304" pitchFamily="18" charset="0"/>
                <a:ea typeface="Times New Roman" panose="02020603050405020304" pitchFamily="18" charset="0"/>
              </a:rPr>
              <a:t>originally</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wasted to</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enhance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the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system.</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Some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examples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783108C2-45CD-5D5B-FBE6-4E5F139AAF5B}"/>
              </a:ext>
            </a:extLst>
          </p:cNvPr>
          <p:cNvSpPr txBox="1"/>
          <p:nvPr/>
        </p:nvSpPr>
        <p:spPr>
          <a:xfrm>
            <a:off x="534229" y="2600865"/>
            <a:ext cx="6097656" cy="3139321"/>
          </a:xfrm>
          <a:prstGeom prst="rect">
            <a:avLst/>
          </a:prstGeom>
          <a:noFill/>
        </p:spPr>
        <p:txBody>
          <a:bodyPr wrap="square">
            <a:spAutoFit/>
          </a:bodyPr>
          <a:lstStyle/>
          <a:p>
            <a:pPr marL="285750" marR="234315" indent="-285750" algn="just">
              <a:spcBef>
                <a:spcPts val="1065"/>
              </a:spcBef>
              <a:spcAft>
                <a:spcPts val="0"/>
              </a:spcAft>
              <a:buFont typeface="Arial" panose="020B0604020202020204" pitchFamily="34" charset="0"/>
              <a:buChar char="•"/>
              <a:tabLst>
                <a:tab pos="514350" algn="l"/>
              </a:tabLst>
            </a:pP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tire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repairs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itself,</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liquids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sprayed</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inside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tire.</a:t>
            </a:r>
            <a:r>
              <a:rPr lang="en-US" spc="-3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When</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tire</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is punctured,</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liquid</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fills</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hole.</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When</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it</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contacts</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outside</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air,</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it</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solidi</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fies, forming a permanent repair.</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tabLst>
                <a:tab pos="514350" algn="l"/>
              </a:tabLst>
            </a:pP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classical</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example</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self-service</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business</a:t>
            </a:r>
            <a:r>
              <a:rPr lang="en-US"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6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is</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self-service</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fast</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food</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restaurant.</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tabLst>
                <a:tab pos="514350" algn="l"/>
              </a:tabLst>
            </a:pP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Many</a:t>
            </a:r>
            <a:r>
              <a:rPr lang="en-US" spc="-5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electronic</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business</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ideas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based</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on</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including</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customer</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customer’s</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resources</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4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resources</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 this</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includes</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everything</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US"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communities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interest</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chat</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rooms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data</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exchanges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such</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as</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Napster</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Gnutella.</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7CD6A9C9-9A2A-12EF-3A65-88E5FE6BD796}"/>
              </a:ext>
            </a:extLst>
          </p:cNvPr>
          <p:cNvGrpSpPr>
            <a:grpSpLocks/>
          </p:cNvGrpSpPr>
          <p:nvPr/>
        </p:nvGrpSpPr>
        <p:grpSpPr>
          <a:xfrm>
            <a:off x="7315199" y="1817106"/>
            <a:ext cx="4267200" cy="1850814"/>
            <a:chOff x="0" y="0"/>
            <a:chExt cx="4267200" cy="1851444"/>
          </a:xfrm>
        </p:grpSpPr>
        <p:pic>
          <p:nvPicPr>
            <p:cNvPr id="9" name="Image 519">
              <a:extLst>
                <a:ext uri="{FF2B5EF4-FFF2-40B4-BE49-F238E27FC236}">
                  <a16:creationId xmlns:a16="http://schemas.microsoft.com/office/drawing/2014/main" id="{E85ADDBC-484A-6222-9455-98E3293D3751}"/>
                </a:ext>
              </a:extLst>
            </p:cNvPr>
            <p:cNvPicPr/>
            <p:nvPr/>
          </p:nvPicPr>
          <p:blipFill>
            <a:blip r:embed="rId2" cstate="print"/>
            <a:stretch>
              <a:fillRect/>
            </a:stretch>
          </p:blipFill>
          <p:spPr>
            <a:xfrm>
              <a:off x="762000" y="0"/>
              <a:ext cx="2743200" cy="1799843"/>
            </a:xfrm>
            <a:prstGeom prst="rect">
              <a:avLst/>
            </a:prstGeom>
          </p:spPr>
        </p:pic>
        <p:sp>
          <p:nvSpPr>
            <p:cNvPr id="10" name="Graphic 520">
              <a:extLst>
                <a:ext uri="{FF2B5EF4-FFF2-40B4-BE49-F238E27FC236}">
                  <a16:creationId xmlns:a16="http://schemas.microsoft.com/office/drawing/2014/main" id="{1EB210DD-EC54-D541-1684-A9545342C7E4}"/>
                </a:ext>
              </a:extLst>
            </p:cNvPr>
            <p:cNvSpPr/>
            <p:nvPr/>
          </p:nvSpPr>
          <p:spPr>
            <a:xfrm>
              <a:off x="0" y="1850174"/>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2" name="TextBox 11">
            <a:extLst>
              <a:ext uri="{FF2B5EF4-FFF2-40B4-BE49-F238E27FC236}">
                <a16:creationId xmlns:a16="http://schemas.microsoft.com/office/drawing/2014/main" id="{85DDD36B-04FC-37B3-2A3F-36AB07B9AAA7}"/>
              </a:ext>
            </a:extLst>
          </p:cNvPr>
          <p:cNvSpPr txBox="1"/>
          <p:nvPr/>
        </p:nvSpPr>
        <p:spPr>
          <a:xfrm>
            <a:off x="6168058" y="3892952"/>
            <a:ext cx="6097656" cy="307777"/>
          </a:xfrm>
          <a:prstGeom prst="rect">
            <a:avLst/>
          </a:prstGeom>
          <a:noFill/>
        </p:spPr>
        <p:txBody>
          <a:bodyPr wrap="square">
            <a:spAutoFit/>
          </a:bodyPr>
          <a:lstStyle/>
          <a:p>
            <a:pPr algn="ct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Make</a:t>
            </a:r>
            <a:r>
              <a:rPr lang="en-US" sz="1400" b="1" spc="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a:t>
            </a:r>
            <a:r>
              <a:rPr lang="en-US" sz="1400" b="1" spc="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system</a:t>
            </a:r>
            <a:r>
              <a:rPr lang="en-US" sz="14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serve</a:t>
            </a:r>
            <a:r>
              <a:rPr lang="en-US" sz="1400" b="1" spc="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1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itself</a:t>
            </a:r>
            <a:endParaRPr lang="en-IN" sz="1400" dirty="0"/>
          </a:p>
        </p:txBody>
      </p:sp>
    </p:spTree>
    <p:extLst>
      <p:ext uri="{BB962C8B-B14F-4D97-AF65-F5344CB8AC3E}">
        <p14:creationId xmlns:p14="http://schemas.microsoft.com/office/powerpoint/2010/main" val="34905200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E88C9E7-965B-B6D9-3038-86D357C1410C}"/>
              </a:ext>
            </a:extLst>
          </p:cNvPr>
          <p:cNvSpPr txBox="1"/>
          <p:nvPr/>
        </p:nvSpPr>
        <p:spPr>
          <a:xfrm>
            <a:off x="337932" y="4332627"/>
            <a:ext cx="6403283" cy="2626360"/>
          </a:xfrm>
          <a:prstGeom prst="rect">
            <a:avLst/>
          </a:prstGeom>
          <a:noFill/>
        </p:spPr>
        <p:txBody>
          <a:bodyPr wrap="square">
            <a:spAutoFit/>
          </a:bodyPr>
          <a:lstStyle/>
          <a:p>
            <a:pPr marL="209550" indent="190500" algn="just">
              <a:lnSpc>
                <a:spcPct val="110000"/>
              </a:lnSpc>
              <a:spcBef>
                <a:spcPts val="1080"/>
              </a:spcBef>
            </a:pPr>
            <a:r>
              <a:rPr lang="en-US" sz="1800" spc="-10" dirty="0">
                <a:solidFill>
                  <a:srgbClr val="FF0000"/>
                </a:solidFill>
                <a:effectLst/>
                <a:latin typeface="Times New Roman" panose="02020603050405020304" pitchFamily="18" charset="0"/>
                <a:ea typeface="Times New Roman" panose="02020603050405020304" pitchFamily="18" charset="0"/>
              </a:rPr>
              <a:t>Self-service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is</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way</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to</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use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the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object’s</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resources</a:t>
            </a:r>
            <a:r>
              <a:rPr lang="en-US" sz="1800" spc="-10" dirty="0">
                <a:solidFill>
                  <a:srgbClr val="231F20"/>
                </a:solidFill>
                <a:effectLst/>
                <a:latin typeface="Times New Roman" panose="02020603050405020304" pitchFamily="18" charset="0"/>
                <a:ea typeface="Times New Roman" panose="02020603050405020304" pitchFamily="18" charset="0"/>
              </a:rPr>
              <a: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This</a:t>
            </a:r>
            <a:r>
              <a:rPr lang="en-US" spc="-40" dirty="0">
                <a:solidFill>
                  <a:srgbClr val="231F20"/>
                </a:solidFill>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principle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illustrates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 </a:t>
            </a:r>
            <a:r>
              <a:rPr lang="en-US" sz="1800" dirty="0">
                <a:solidFill>
                  <a:schemeClr val="accent1"/>
                </a:solidFill>
                <a:effectLst/>
                <a:latin typeface="Times New Roman" panose="02020603050405020304" pitchFamily="18" charset="0"/>
                <a:ea typeface="Times New Roman" panose="02020603050405020304" pitchFamily="18" charset="0"/>
              </a:rPr>
              <a:t>pattern</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of</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increasing</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ideality</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What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more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ideal</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serving</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itself?</a:t>
            </a:r>
            <a:r>
              <a:rPr lang="en-US" sz="1800" spc="-10" dirty="0">
                <a:solidFill>
                  <a:srgbClr val="231F20"/>
                </a:solidFill>
                <a:effectLst/>
                <a:latin typeface="Times New Roman" panose="02020603050405020304" pitchFamily="18" charset="0"/>
                <a:ea typeface="Lucida Sans Unicode" panose="020B0602030504020204" pitchFamily="34" charset="0"/>
              </a:rPr>
              <a:t> </a:t>
            </a:r>
          </a:p>
          <a:p>
            <a:pPr marL="209550" indent="190500" algn="just">
              <a:lnSpc>
                <a:spcPct val="110000"/>
              </a:lnSpc>
              <a:spcBef>
                <a:spcPts val="1080"/>
              </a:spcBef>
            </a:pPr>
            <a:r>
              <a:rPr lang="en-US" sz="1800" spc="-10" dirty="0">
                <a:solidFill>
                  <a:srgbClr val="231F20"/>
                </a:solidFill>
                <a:effectLst/>
                <a:latin typeface="Times New Roman" panose="02020603050405020304" pitchFamily="18" charset="0"/>
                <a:ea typeface="Lucida Sans Unicode" panose="020B0602030504020204" pitchFamily="34" charset="0"/>
              </a:rPr>
              <a:t>Modern</a:t>
            </a:r>
            <a:r>
              <a:rPr lang="en-US" sz="1800" spc="-6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technology</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of</a:t>
            </a:r>
            <a:r>
              <a:rPr lang="en-US" sz="1800" spc="-5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melting</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steel</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scrap</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uses</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the</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energy</a:t>
            </a:r>
            <a:r>
              <a:rPr lang="en-US" sz="1800" spc="-60"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of</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scrap</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itself;</a:t>
            </a:r>
            <a:r>
              <a:rPr lang="en-US" sz="1800" spc="-55" dirty="0">
                <a:solidFill>
                  <a:srgbClr val="FF0000"/>
                </a:solidFill>
                <a:effectLst/>
                <a:latin typeface="Times New Roman" panose="02020603050405020304" pitchFamily="18" charset="0"/>
                <a:ea typeface="Lucida Sans Unicode" panose="020B0602030504020204" pitchFamily="34" charset="0"/>
              </a:rPr>
              <a:t> </a:t>
            </a:r>
            <a:r>
              <a:rPr lang="en-US" sz="1800" spc="-10" dirty="0">
                <a:solidFill>
                  <a:srgbClr val="FF0000"/>
                </a:solidFill>
                <a:effectLst/>
                <a:latin typeface="Times New Roman" panose="02020603050405020304" pitchFamily="18" charset="0"/>
                <a:ea typeface="Lucida Sans Unicode" panose="020B0602030504020204" pitchFamily="34" charset="0"/>
              </a:rPr>
              <a:t>car</a:t>
            </a:r>
            <a:r>
              <a:rPr lang="en-US" sz="1800" spc="0" dirty="0">
                <a:solidFill>
                  <a:srgbClr val="FF0000"/>
                </a:solidFill>
                <a:effectLst/>
                <a:latin typeface="Times New Roman" panose="02020603050405020304" pitchFamily="18" charset="0"/>
                <a:ea typeface="Lucida Sans Unicode" panose="020B0602030504020204" pitchFamily="34" charset="0"/>
              </a:rPr>
              <a:t>bon and silicon are burned.</a:t>
            </a:r>
            <a:endParaRPr lang="en-IN" sz="1800" spc="0" dirty="0">
              <a:solidFill>
                <a:srgbClr val="FF0000"/>
              </a:solidFill>
              <a:effectLst/>
              <a:latin typeface="Times New Roman" panose="02020603050405020304" pitchFamily="18" charset="0"/>
              <a:ea typeface="Lucida Sans Unicode" panose="020B0602030504020204" pitchFamily="34" charset="0"/>
            </a:endParaRPr>
          </a:p>
          <a:p>
            <a:pPr marL="209550" indent="190500" algn="just">
              <a:lnSpc>
                <a:spcPct val="110000"/>
              </a:lnSpc>
              <a:spcBef>
                <a:spcPts val="1080"/>
              </a:spcBef>
              <a:spcAft>
                <a:spcPts val="0"/>
              </a:spcAft>
            </a:pPr>
            <a:endParaRPr lang="en-IN" sz="1800" dirty="0">
              <a:effectLst/>
              <a:latin typeface="Times New Roman" panose="02020603050405020304" pitchFamily="18" charset="0"/>
              <a:ea typeface="Times New Roman" panose="02020603050405020304" pitchFamily="18" charset="0"/>
            </a:endParaRPr>
          </a:p>
          <a:p>
            <a:pPr marL="209550" indent="190500" algn="just">
              <a:lnSpc>
                <a:spcPct val="110000"/>
              </a:lnSpc>
              <a:spcBef>
                <a:spcPts val="1080"/>
              </a:spcBef>
              <a:spcAft>
                <a:spcPts val="0"/>
              </a:spcAft>
            </a:pPr>
            <a:endParaRPr lang="en-IN" sz="1800" dirty="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C889EF30-999D-F5EA-38C3-B2522405DE08}"/>
              </a:ext>
            </a:extLst>
          </p:cNvPr>
          <p:cNvSpPr txBox="1"/>
          <p:nvPr/>
        </p:nvSpPr>
        <p:spPr>
          <a:xfrm>
            <a:off x="573985" y="725992"/>
            <a:ext cx="6097656" cy="3416320"/>
          </a:xfrm>
          <a:prstGeom prst="rect">
            <a:avLst/>
          </a:prstGeom>
          <a:noFill/>
        </p:spPr>
        <p:txBody>
          <a:bodyPr wrap="square">
            <a:spAutoFit/>
          </a:bodyPr>
          <a:lstStyle/>
          <a:p>
            <a:pPr algn="just">
              <a:tabLst>
                <a:tab pos="513715" algn="l"/>
              </a:tabLst>
            </a:pPr>
            <a:r>
              <a:rPr lang="en-US" dirty="0">
                <a:solidFill>
                  <a:schemeClr val="accent1"/>
                </a:solidFill>
                <a:effectLst/>
                <a:latin typeface="Times New Roman" panose="02020603050405020304" pitchFamily="18" charset="0"/>
                <a:ea typeface="Times New Roman" panose="02020603050405020304" pitchFamily="18" charset="0"/>
              </a:rPr>
              <a:t>Some</a:t>
            </a:r>
            <a:r>
              <a:rPr lang="en-US" spc="-5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search</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engines</a:t>
            </a:r>
            <a:r>
              <a:rPr lang="en-US" spc="-5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use</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the</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frequency</a:t>
            </a:r>
            <a:r>
              <a:rPr lang="en-US" spc="-5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of</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use</a:t>
            </a:r>
            <a:r>
              <a:rPr lang="en-US" spc="-5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of</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a</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Web</a:t>
            </a:r>
            <a:r>
              <a:rPr lang="en-US" spc="-55"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site</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as</a:t>
            </a:r>
            <a:r>
              <a:rPr lang="en-US" spc="-5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the</a:t>
            </a:r>
            <a:r>
              <a:rPr lang="en-US" spc="-55" dirty="0">
                <a:solidFill>
                  <a:schemeClr val="accent1"/>
                </a:solidFill>
                <a:effectLst/>
                <a:latin typeface="Times New Roman" panose="02020603050405020304" pitchFamily="18" charset="0"/>
                <a:ea typeface="Times New Roman" panose="02020603050405020304" pitchFamily="18" charset="0"/>
              </a:rPr>
              <a:t> </a:t>
            </a:r>
            <a:r>
              <a:rPr lang="en-US" spc="-10" dirty="0">
                <a:solidFill>
                  <a:schemeClr val="accent1"/>
                </a:solidFill>
                <a:effectLst/>
                <a:latin typeface="Times New Roman" panose="02020603050405020304" pitchFamily="18" charset="0"/>
                <a:ea typeface="Times New Roman" panose="02020603050405020304" pitchFamily="18" charset="0"/>
              </a:rPr>
              <a:t>indicator</a:t>
            </a:r>
            <a:r>
              <a:rPr lang="en-IN" spc="-10" dirty="0">
                <a:solidFill>
                  <a:schemeClr val="accent1"/>
                </a:solidFill>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of</a:t>
            </a:r>
            <a:r>
              <a:rPr lang="en-US" spc="-70" dirty="0">
                <a:solidFill>
                  <a:schemeClr val="accent1"/>
                </a:solidFill>
                <a:effectLst/>
                <a:latin typeface="Times New Roman" panose="02020603050405020304" pitchFamily="18" charset="0"/>
                <a:ea typeface="Times New Roman" panose="02020603050405020304" pitchFamily="18" charset="0"/>
              </a:rPr>
              <a:t> </a:t>
            </a:r>
            <a:r>
              <a:rPr lang="en-US" dirty="0">
                <a:solidFill>
                  <a:schemeClr val="accent1"/>
                </a:solidFill>
                <a:effectLst/>
                <a:latin typeface="Times New Roman" panose="02020603050405020304" pitchFamily="18" charset="0"/>
                <a:ea typeface="Times New Roman" panose="02020603050405020304" pitchFamily="18" charset="0"/>
              </a:rPr>
              <a:t>quality,</a:t>
            </a:r>
            <a:r>
              <a:rPr lang="en-US" spc="-65" dirty="0">
                <a:solidFill>
                  <a:schemeClr val="accent1"/>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so</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more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often</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site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a:t>
            </a:r>
            <a:r>
              <a:rPr lang="en-US" spc="-7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used,</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higher</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it</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rates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on</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their</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recommendation</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list.</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is</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combination</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of</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feedback</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(24)</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and</a:t>
            </a:r>
            <a:r>
              <a:rPr lang="en-US" spc="-4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self-service.</a:t>
            </a:r>
          </a:p>
          <a:p>
            <a:pPr marR="234315" algn="just"/>
            <a:endParaRPr lang="en-IN" dirty="0">
              <a:effectLst/>
              <a:latin typeface="Times New Roman" panose="02020603050405020304" pitchFamily="18" charset="0"/>
              <a:ea typeface="Times New Roman" panose="02020603050405020304" pitchFamily="18" charset="0"/>
            </a:endParaRPr>
          </a:p>
          <a:p>
            <a:pPr algn="just">
              <a:tabLst>
                <a:tab pos="513715" algn="l"/>
              </a:tabLst>
            </a:pPr>
            <a:r>
              <a:rPr lang="en-US" spc="-10" dirty="0">
                <a:solidFill>
                  <a:srgbClr val="231F20"/>
                </a:solidFill>
                <a:effectLst/>
                <a:latin typeface="Times New Roman" panose="02020603050405020304" pitchFamily="18" charset="0"/>
                <a:ea typeface="Times New Roman" panose="02020603050405020304" pitchFamily="18" charset="0"/>
              </a:rPr>
              <a:t>Self-treatment</a:t>
            </a:r>
            <a:r>
              <a:rPr lang="en-US" spc="1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and</a:t>
            </a:r>
            <a:r>
              <a:rPr lang="en-US" spc="1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self-test.</a:t>
            </a:r>
            <a:r>
              <a:rPr lang="en-US" spc="1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Patients</a:t>
            </a:r>
            <a:r>
              <a:rPr lang="en-US" spc="1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themselves</a:t>
            </a:r>
            <a:r>
              <a:rPr lang="en-US" spc="1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can</a:t>
            </a:r>
            <a:r>
              <a:rPr lang="en-US" spc="1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perform</a:t>
            </a:r>
            <a:r>
              <a:rPr lang="en-US" spc="1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some</a:t>
            </a:r>
            <a:r>
              <a:rPr lang="en-US" spc="10"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medical</a:t>
            </a:r>
            <a:r>
              <a:rPr lang="en-IN" dirty="0">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tests,</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like</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the</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measurement</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of</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blood</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pressure</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or</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blood</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sugar</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or</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testing</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for</a:t>
            </a:r>
            <a:r>
              <a:rPr lang="en-US" spc="-30" dirty="0">
                <a:solidFill>
                  <a:srgbClr val="231F20"/>
                </a:solidFill>
                <a:effectLst/>
                <a:latin typeface="Times New Roman" panose="02020603050405020304" pitchFamily="18" charset="0"/>
                <a:ea typeface="Times New Roman" panose="02020603050405020304" pitchFamily="18" charset="0"/>
              </a:rPr>
              <a:t> </a:t>
            </a:r>
            <a:r>
              <a:rPr lang="en-US" spc="-20" dirty="0">
                <a:solidFill>
                  <a:srgbClr val="231F20"/>
                </a:solidFill>
                <a:effectLst/>
                <a:latin typeface="Times New Roman" panose="02020603050405020304" pitchFamily="18" charset="0"/>
                <a:ea typeface="Times New Roman" panose="02020603050405020304" pitchFamily="18" charset="0"/>
              </a:rPr>
              <a:t>fer</a:t>
            </a:r>
            <a:r>
              <a:rPr lang="en-US" spc="-10" dirty="0">
                <a:solidFill>
                  <a:srgbClr val="231F20"/>
                </a:solidFill>
                <a:effectLst/>
                <a:latin typeface="Times New Roman" panose="02020603050405020304" pitchFamily="18" charset="0"/>
                <a:ea typeface="Times New Roman" panose="02020603050405020304" pitchFamily="18" charset="0"/>
              </a:rPr>
              <a:t>tility</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(then</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later</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testing</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for</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pregnancy)</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previously</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done</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only</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by</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medical</a:t>
            </a:r>
            <a:r>
              <a:rPr lang="en-US" spc="-35" dirty="0">
                <a:solidFill>
                  <a:srgbClr val="231F20"/>
                </a:solidFill>
                <a:effectLst/>
                <a:latin typeface="Times New Roman" panose="02020603050405020304" pitchFamily="18" charset="0"/>
                <a:ea typeface="Times New Roman" panose="02020603050405020304" pitchFamily="18" charset="0"/>
              </a:rPr>
              <a:t> </a:t>
            </a:r>
            <a:r>
              <a:rPr lang="en-US" spc="-10" dirty="0">
                <a:solidFill>
                  <a:srgbClr val="231F20"/>
                </a:solidFill>
                <a:effectLst/>
                <a:latin typeface="Times New Roman" panose="02020603050405020304" pitchFamily="18" charset="0"/>
                <a:ea typeface="Times New Roman" panose="02020603050405020304" pitchFamily="18" charset="0"/>
              </a:rPr>
              <a:t>per</a:t>
            </a:r>
            <a:r>
              <a:rPr lang="en-US" dirty="0">
                <a:solidFill>
                  <a:srgbClr val="231F20"/>
                </a:solidFill>
                <a:effectLst/>
                <a:latin typeface="Times New Roman" panose="02020603050405020304" pitchFamily="18" charset="0"/>
                <a:ea typeface="Times New Roman" panose="02020603050405020304" pitchFamily="18" charset="0"/>
              </a:rPr>
              <a:t>sonnel.</a:t>
            </a:r>
            <a:r>
              <a:rPr lang="en-US" spc="-70" dirty="0">
                <a:solidFill>
                  <a:srgbClr val="231F20"/>
                </a:solidFill>
                <a:effectLst/>
                <a:latin typeface="Times New Roman" panose="02020603050405020304" pitchFamily="18" charset="0"/>
                <a:ea typeface="Times New Roman" panose="02020603050405020304" pitchFamily="18" charset="0"/>
              </a:rPr>
              <a:t> </a:t>
            </a:r>
          </a:p>
          <a:p>
            <a:pPr algn="just">
              <a:tabLst>
                <a:tab pos="513715" algn="l"/>
              </a:tabLst>
            </a:pPr>
            <a:endParaRPr lang="en-US" spc="-70" dirty="0">
              <a:solidFill>
                <a:srgbClr val="231F20"/>
              </a:solidFill>
              <a:latin typeface="Times New Roman" panose="02020603050405020304" pitchFamily="18" charset="0"/>
              <a:ea typeface="Times New Roman" panose="02020603050405020304" pitchFamily="18" charset="0"/>
            </a:endParaRPr>
          </a:p>
          <a:p>
            <a:pPr algn="just">
              <a:tabLst>
                <a:tab pos="513715" algn="l"/>
              </a:tabLst>
            </a:pPr>
            <a:r>
              <a:rPr lang="en-US" dirty="0">
                <a:solidFill>
                  <a:srgbClr val="231F20"/>
                </a:solidFill>
                <a:effectLst/>
                <a:latin typeface="Times New Roman" panose="02020603050405020304" pitchFamily="18" charset="0"/>
                <a:ea typeface="Times New Roman" panose="02020603050405020304" pitchFamily="18" charset="0"/>
              </a:rPr>
              <a:t>In</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some</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cases,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patients</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also</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adjust</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their</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treatment</a:t>
            </a:r>
            <a:r>
              <a:rPr lang="en-US" spc="-70"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or</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behavior</a:t>
            </a:r>
            <a:r>
              <a:rPr lang="en-US" spc="-65" dirty="0">
                <a:solidFill>
                  <a:srgbClr val="231F20"/>
                </a:solidFill>
                <a:effectLst/>
                <a:latin typeface="Times New Roman" panose="02020603050405020304" pitchFamily="18" charset="0"/>
                <a:ea typeface="Times New Roman" panose="02020603050405020304" pitchFamily="18" charset="0"/>
              </a:rPr>
              <a:t> </a:t>
            </a:r>
            <a:r>
              <a:rPr lang="en-US" dirty="0">
                <a:solidFill>
                  <a:srgbClr val="231F20"/>
                </a:solidFill>
                <a:effectLst/>
                <a:latin typeface="Times New Roman" panose="02020603050405020304" pitchFamily="18" charset="0"/>
                <a:ea typeface="Times New Roman" panose="02020603050405020304" pitchFamily="18" charset="0"/>
              </a:rPr>
              <a:t>based on the test results.</a:t>
            </a:r>
            <a:endParaRPr lang="en-IN" dirty="0">
              <a:effectLst/>
              <a:latin typeface="Times New Roman" panose="02020603050405020304" pitchFamily="18" charset="0"/>
              <a:ea typeface="Times New Roman" panose="02020603050405020304" pitchFamily="18" charset="0"/>
            </a:endParaRPr>
          </a:p>
        </p:txBody>
      </p:sp>
      <p:pic>
        <p:nvPicPr>
          <p:cNvPr id="1026" name="Picture 2" descr="Metallurgy. the Iron and Steel Production. the Electric Arc Furnace ...">
            <a:extLst>
              <a:ext uri="{FF2B5EF4-FFF2-40B4-BE49-F238E27FC236}">
                <a16:creationId xmlns:a16="http://schemas.microsoft.com/office/drawing/2014/main" id="{C8D28FAB-B80A-BC95-8E98-B1CE117CA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086" y="457636"/>
            <a:ext cx="4919249" cy="613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5645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F49334-DA83-235D-79CE-5A357F15070B}"/>
              </a:ext>
            </a:extLst>
          </p:cNvPr>
          <p:cNvSpPr txBox="1"/>
          <p:nvPr/>
        </p:nvSpPr>
        <p:spPr>
          <a:xfrm>
            <a:off x="226529" y="299496"/>
            <a:ext cx="6097656" cy="1604927"/>
          </a:xfrm>
          <a:prstGeom prst="rect">
            <a:avLst/>
          </a:prstGeom>
          <a:noFill/>
        </p:spPr>
        <p:txBody>
          <a:bodyPr wrap="square">
            <a:spAutoFit/>
          </a:bodyPr>
          <a:lstStyle/>
          <a:p>
            <a:pPr marL="209550" marR="233045" algn="just">
              <a:lnSpc>
                <a:spcPct val="105000"/>
              </a:lnSpc>
              <a:spcBef>
                <a:spcPts val="625"/>
              </a:spcBef>
              <a:spcAft>
                <a:spcPts val="0"/>
              </a:spcAft>
            </a:pPr>
            <a:r>
              <a:rPr lang="en-US" sz="1800" b="1" i="1" dirty="0">
                <a:solidFill>
                  <a:srgbClr val="231F20"/>
                </a:solidFill>
                <a:effectLst/>
                <a:latin typeface="Times New Roman" panose="02020603050405020304" pitchFamily="18" charset="0"/>
                <a:ea typeface="Times New Roman" panose="02020603050405020304" pitchFamily="18" charset="0"/>
              </a:rPr>
              <a:t>19. DIMENSIONALITY CHANGE </a:t>
            </a:r>
          </a:p>
          <a:p>
            <a:pPr marL="209550" marR="233045" algn="just">
              <a:lnSpc>
                <a:spcPct val="105000"/>
              </a:lnSpc>
              <a:spcBef>
                <a:spcPts val="625"/>
              </a:spcBef>
              <a:spcAft>
                <a:spcPts val="0"/>
              </a:spcAft>
            </a:pPr>
            <a:r>
              <a:rPr lang="en-US" sz="1800" dirty="0">
                <a:solidFill>
                  <a:srgbClr val="FF0000"/>
                </a:solidFill>
                <a:effectLst/>
                <a:latin typeface="Times New Roman" panose="02020603050405020304" pitchFamily="18" charset="0"/>
                <a:ea typeface="Times New Roman" panose="02020603050405020304" pitchFamily="18" charset="0"/>
              </a:rPr>
              <a:t>Move an object or system in two or three dimensional space</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multistory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arrangement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instead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single-story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arrangement.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Tilt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reorient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object,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lay</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it</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on</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its</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side,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use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its</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other</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side.</a:t>
            </a:r>
            <a:endParaRPr lang="en-IN" sz="1800" dirty="0">
              <a:solidFill>
                <a:srgbClr val="FF0000"/>
              </a:solidFill>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AC6BCE05-EC97-FECD-5763-1441B72E666B}"/>
              </a:ext>
            </a:extLst>
          </p:cNvPr>
          <p:cNvSpPr txBox="1"/>
          <p:nvPr/>
        </p:nvSpPr>
        <p:spPr>
          <a:xfrm>
            <a:off x="454714" y="1904423"/>
            <a:ext cx="5641285" cy="2308324"/>
          </a:xfrm>
          <a:prstGeom prst="rect">
            <a:avLst/>
          </a:prstGeom>
          <a:noFill/>
        </p:spPr>
        <p:txBody>
          <a:bodyPr wrap="square">
            <a:spAutoFit/>
          </a:bodyPr>
          <a:lstStyle/>
          <a:p>
            <a:pPr algn="just"/>
            <a:r>
              <a:rPr lang="en-US" sz="1800" spc="-30" dirty="0">
                <a:solidFill>
                  <a:srgbClr val="231F20"/>
                </a:solidFill>
                <a:effectLst/>
                <a:latin typeface="Times New Roman" panose="02020603050405020304" pitchFamily="18" charset="0"/>
                <a:ea typeface="Times New Roman" panose="02020603050405020304" pitchFamily="18" charset="0"/>
              </a:rPr>
              <a:t>In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our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earlier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example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cultivation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carrots,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plants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are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placed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in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30" dirty="0">
                <a:solidFill>
                  <a:srgbClr val="231F20"/>
                </a:solidFill>
                <a:effectLst/>
                <a:latin typeface="Times New Roman" panose="02020603050405020304" pitchFamily="18" charset="0"/>
                <a:ea typeface="Times New Roman" panose="02020603050405020304" pitchFamily="18" charset="0"/>
              </a:rPr>
              <a:t>rows that </a:t>
            </a:r>
            <a:r>
              <a:rPr lang="en-US" sz="1800" spc="-40" dirty="0">
                <a:solidFill>
                  <a:srgbClr val="231F20"/>
                </a:solidFill>
                <a:effectLst/>
                <a:latin typeface="Times New Roman" panose="02020603050405020304" pitchFamily="18" charset="0"/>
                <a:ea typeface="Times New Roman" panose="02020603050405020304" pitchFamily="18" charset="0"/>
              </a:rPr>
              <a:t>is,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one</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dimensionally.</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Square-foot</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gardening</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is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a</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method</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developed</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for</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small</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40" dirty="0">
                <a:solidFill>
                  <a:srgbClr val="231F20"/>
                </a:solidFill>
                <a:effectLst/>
                <a:latin typeface="Times New Roman" panose="02020603050405020304" pitchFamily="18" charset="0"/>
                <a:ea typeface="Times New Roman" panose="02020603050405020304" pitchFamily="18" charset="0"/>
              </a:rPr>
              <a:t>gardens. </a:t>
            </a:r>
            <a:r>
              <a:rPr lang="en-US" sz="1800" spc="-30" dirty="0">
                <a:solidFill>
                  <a:srgbClr val="231F20"/>
                </a:solidFill>
                <a:effectLst/>
                <a:latin typeface="Times New Roman" panose="02020603050405020304" pitchFamily="18" charset="0"/>
                <a:ea typeface="Times New Roman" panose="02020603050405020304" pitchFamily="18" charset="0"/>
              </a:rPr>
              <a:t>Plants are placed in square blocks (a 4-foot block subdivided into 16 1-foot squares), </a:t>
            </a:r>
            <a:r>
              <a:rPr lang="en-US" sz="1800" spc="-10" dirty="0">
                <a:solidFill>
                  <a:srgbClr val="231F20"/>
                </a:solidFill>
                <a:effectLst/>
                <a:latin typeface="Times New Roman" panose="02020603050405020304" pitchFamily="18" charset="0"/>
                <a:ea typeface="Times New Roman" panose="02020603050405020304" pitchFamily="18" charset="0"/>
              </a:rPr>
              <a:t>that</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two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dimensionally.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placed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much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closer</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large-scale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agricul</a:t>
            </a:r>
            <a:r>
              <a:rPr lang="en-US" sz="1800" spc="-20" dirty="0">
                <a:solidFill>
                  <a:srgbClr val="231F20"/>
                </a:solidFill>
                <a:effectLst/>
                <a:latin typeface="Times New Roman" panose="02020603050405020304" pitchFamily="18" charset="0"/>
                <a:ea typeface="Times New Roman" panose="02020603050405020304" pitchFamily="18" charset="0"/>
              </a:rPr>
              <a:t>ture.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The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yield</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is</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higher</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and</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weeds</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almost</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nonexistent</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because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of</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the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close</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spc="-20" dirty="0">
                <a:solidFill>
                  <a:schemeClr val="accent1"/>
                </a:solidFill>
                <a:effectLst/>
                <a:latin typeface="Times New Roman" panose="02020603050405020304" pitchFamily="18" charset="0"/>
                <a:ea typeface="Times New Roman" panose="02020603050405020304" pitchFamily="18" charset="0"/>
              </a:rPr>
              <a:t>spacing.</a:t>
            </a:r>
            <a:endParaRPr lang="en-IN" dirty="0">
              <a:solidFill>
                <a:schemeClr val="accent1"/>
              </a:solidFill>
            </a:endParaRPr>
          </a:p>
        </p:txBody>
      </p:sp>
      <p:sp>
        <p:nvSpPr>
          <p:cNvPr id="7" name="TextBox 6">
            <a:extLst>
              <a:ext uri="{FF2B5EF4-FFF2-40B4-BE49-F238E27FC236}">
                <a16:creationId xmlns:a16="http://schemas.microsoft.com/office/drawing/2014/main" id="{596A60EA-6FE4-E3CD-40FD-6FFD8FE33A15}"/>
              </a:ext>
            </a:extLst>
          </p:cNvPr>
          <p:cNvSpPr txBox="1"/>
          <p:nvPr/>
        </p:nvSpPr>
        <p:spPr>
          <a:xfrm>
            <a:off x="226528" y="4212747"/>
            <a:ext cx="6097656" cy="2109680"/>
          </a:xfrm>
          <a:prstGeom prst="rect">
            <a:avLst/>
          </a:prstGeom>
          <a:noFill/>
        </p:spPr>
        <p:txBody>
          <a:bodyPr wrap="square">
            <a:spAutoFit/>
          </a:bodyPr>
          <a:lstStyle/>
          <a:p>
            <a:pPr marL="209550" marR="232410" indent="190500" algn="just">
              <a:lnSpc>
                <a:spcPct val="105000"/>
              </a:lnSpc>
              <a:spcBef>
                <a:spcPts val="15"/>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Use of underground tunnels and buildings is increasing. At the same time, more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high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buildings,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multilevel</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highways,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overpasses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built.</a:t>
            </a:r>
          </a:p>
          <a:p>
            <a:pPr marL="209550" marR="232410" indent="190500" algn="just">
              <a:lnSpc>
                <a:spcPct val="105000"/>
              </a:lnSpc>
              <a:spcBef>
                <a:spcPts val="15"/>
              </a:spcBef>
              <a:spcAft>
                <a:spcPts val="0"/>
              </a:spcAft>
            </a:pP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 </a:t>
            </a:r>
            <a:r>
              <a:rPr lang="en-US" sz="1800" spc="-10" dirty="0">
                <a:solidFill>
                  <a:srgbClr val="231F20"/>
                </a:solidFill>
                <a:effectLst/>
                <a:latin typeface="Times New Roman" panose="02020603050405020304" pitchFamily="18" charset="0"/>
                <a:ea typeface="Times New Roman" panose="02020603050405020304" pitchFamily="18" charset="0"/>
              </a:rPr>
              <a:t>winter,</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Toronto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becomes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multistory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city people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travel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more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five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miles </a:t>
            </a:r>
            <a:r>
              <a:rPr lang="en-US" sz="1800" dirty="0">
                <a:solidFill>
                  <a:srgbClr val="231F20"/>
                </a:solidFill>
                <a:effectLst/>
                <a:latin typeface="Times New Roman" panose="02020603050405020304" pitchFamily="18" charset="0"/>
                <a:ea typeface="Times New Roman" panose="02020603050405020304" pitchFamily="18" charset="0"/>
              </a:rPr>
              <a:t>indoors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by</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going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from</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basement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building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enclosed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walkways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 </a:t>
            </a:r>
            <a:r>
              <a:rPr lang="en-US" sz="1800" spc="-10" dirty="0">
                <a:solidFill>
                  <a:srgbClr val="231F20"/>
                </a:solidFill>
                <a:effectLst/>
                <a:latin typeface="Times New Roman" panose="02020603050405020304" pitchFamily="18" charset="0"/>
                <a:ea typeface="Times New Roman" panose="02020603050405020304" pitchFamily="18" charset="0"/>
              </a:rPr>
              <a:t>third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floor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another,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main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lobby</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next.</a:t>
            </a:r>
            <a:r>
              <a:rPr lang="en-US" sz="1800" spc="-35" dirty="0">
                <a:solidFill>
                  <a:srgbClr val="231F2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grpSp>
        <p:nvGrpSpPr>
          <p:cNvPr id="8" name="Group 7">
            <a:extLst>
              <a:ext uri="{FF2B5EF4-FFF2-40B4-BE49-F238E27FC236}">
                <a16:creationId xmlns:a16="http://schemas.microsoft.com/office/drawing/2014/main" id="{7A62EDC6-7FE5-609C-931C-87AA13B23AB5}"/>
              </a:ext>
            </a:extLst>
          </p:cNvPr>
          <p:cNvGrpSpPr>
            <a:grpSpLocks/>
          </p:cNvGrpSpPr>
          <p:nvPr/>
        </p:nvGrpSpPr>
        <p:grpSpPr>
          <a:xfrm>
            <a:off x="6814931" y="642910"/>
            <a:ext cx="4267200" cy="1505496"/>
            <a:chOff x="0" y="0"/>
            <a:chExt cx="4267200" cy="1505496"/>
          </a:xfrm>
        </p:grpSpPr>
        <p:pic>
          <p:nvPicPr>
            <p:cNvPr id="9" name="Image 496">
              <a:extLst>
                <a:ext uri="{FF2B5EF4-FFF2-40B4-BE49-F238E27FC236}">
                  <a16:creationId xmlns:a16="http://schemas.microsoft.com/office/drawing/2014/main" id="{A7625E49-C6DE-05C7-E7C1-EB126C743397}"/>
                </a:ext>
              </a:extLst>
            </p:cNvPr>
            <p:cNvPicPr/>
            <p:nvPr/>
          </p:nvPicPr>
          <p:blipFill>
            <a:blip r:embed="rId2" cstate="print"/>
            <a:stretch>
              <a:fillRect/>
            </a:stretch>
          </p:blipFill>
          <p:spPr>
            <a:xfrm>
              <a:off x="762000" y="0"/>
              <a:ext cx="2743200" cy="1453895"/>
            </a:xfrm>
            <a:prstGeom prst="rect">
              <a:avLst/>
            </a:prstGeom>
          </p:spPr>
        </p:pic>
        <p:sp>
          <p:nvSpPr>
            <p:cNvPr id="10" name="Graphic 497">
              <a:extLst>
                <a:ext uri="{FF2B5EF4-FFF2-40B4-BE49-F238E27FC236}">
                  <a16:creationId xmlns:a16="http://schemas.microsoft.com/office/drawing/2014/main" id="{AAB649F8-AD86-B6F6-B619-100F4329164A}"/>
                </a:ext>
              </a:extLst>
            </p:cNvPr>
            <p:cNvSpPr/>
            <p:nvPr/>
          </p:nvSpPr>
          <p:spPr>
            <a:xfrm>
              <a:off x="0" y="1504226"/>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12" name="TextBox 11">
            <a:extLst>
              <a:ext uri="{FF2B5EF4-FFF2-40B4-BE49-F238E27FC236}">
                <a16:creationId xmlns:a16="http://schemas.microsoft.com/office/drawing/2014/main" id="{F0953B30-1AD6-63F8-16D1-EF37F50855C4}"/>
              </a:ext>
            </a:extLst>
          </p:cNvPr>
          <p:cNvSpPr txBox="1"/>
          <p:nvPr/>
        </p:nvSpPr>
        <p:spPr>
          <a:xfrm>
            <a:off x="5980872" y="2147136"/>
            <a:ext cx="6097656" cy="307777"/>
          </a:xfrm>
          <a:prstGeom prst="rect">
            <a:avLst/>
          </a:prstGeom>
          <a:noFill/>
        </p:spPr>
        <p:txBody>
          <a:bodyPr wrap="square">
            <a:spAutoFit/>
          </a:bodyPr>
          <a:lstStyle/>
          <a:p>
            <a:pPr algn="ctr"/>
            <a:r>
              <a:rPr lang="en-US" sz="1400" b="1" spc="-4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Move</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an</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object</a:t>
            </a:r>
            <a:r>
              <a:rPr lang="en-US" sz="1400" b="1" spc="-4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or</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system</a:t>
            </a:r>
            <a:r>
              <a:rPr lang="en-US" sz="1400" b="1" spc="-4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in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two-</a:t>
            </a:r>
            <a:r>
              <a:rPr lang="en-US" sz="1400" b="1" spc="-7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or</a:t>
            </a:r>
            <a:r>
              <a:rPr lang="en-US" sz="1400" b="1" spc="-7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three-dimensional</a:t>
            </a:r>
            <a:r>
              <a:rPr lang="en-US" sz="1400" b="1" spc="-7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space.</a:t>
            </a:r>
            <a:endParaRPr lang="en-IN" sz="1400" dirty="0"/>
          </a:p>
        </p:txBody>
      </p:sp>
      <p:pic>
        <p:nvPicPr>
          <p:cNvPr id="1026" name="Picture 2" descr="Square Foot Gardening for Small Spaces">
            <a:extLst>
              <a:ext uri="{FF2B5EF4-FFF2-40B4-BE49-F238E27FC236}">
                <a16:creationId xmlns:a16="http://schemas.microsoft.com/office/drawing/2014/main" id="{EC6AB2CB-CB24-E8BE-C8BE-A9E09EBC29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0492" y="2915919"/>
            <a:ext cx="4053543" cy="3514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0140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786A76-D1D0-5A02-4182-068D23DE2755}"/>
              </a:ext>
            </a:extLst>
          </p:cNvPr>
          <p:cNvSpPr txBox="1"/>
          <p:nvPr/>
        </p:nvSpPr>
        <p:spPr>
          <a:xfrm>
            <a:off x="216176" y="439693"/>
            <a:ext cx="6097656" cy="4519571"/>
          </a:xfrm>
          <a:prstGeom prst="rect">
            <a:avLst/>
          </a:prstGeom>
          <a:noFill/>
        </p:spPr>
        <p:txBody>
          <a:bodyPr wrap="square">
            <a:spAutoFit/>
          </a:bodyPr>
          <a:lstStyle/>
          <a:p>
            <a:pPr marL="209550" marR="233045" indent="190500" algn="just">
              <a:spcBef>
                <a:spcPts val="20"/>
              </a:spcBef>
            </a:pPr>
            <a:r>
              <a:rPr lang="en-US" sz="1800" spc="-10" dirty="0">
                <a:solidFill>
                  <a:srgbClr val="231F20"/>
                </a:solidFill>
                <a:effectLst/>
                <a:latin typeface="Times New Roman" panose="02020603050405020304" pitchFamily="18" charset="0"/>
                <a:ea typeface="Times New Roman" panose="02020603050405020304" pitchFamily="18" charset="0"/>
              </a:rPr>
              <a:t>See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also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earlier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example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garbage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bin: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vertical</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dimension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used</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get</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space. </a:t>
            </a:r>
            <a:r>
              <a:rPr lang="en-US" sz="1800" spc="-20" dirty="0">
                <a:solidFill>
                  <a:srgbClr val="231F20"/>
                </a:solidFill>
                <a:effectLst/>
                <a:latin typeface="Times New Roman" panose="02020603050405020304" pitchFamily="18" charset="0"/>
                <a:ea typeface="Times New Roman" panose="02020603050405020304" pitchFamily="18" charset="0"/>
              </a:rPr>
              <a:t>Sometimes the additional dimension is invisible to the customer. </a:t>
            </a:r>
          </a:p>
          <a:p>
            <a:pPr marL="209550" marR="233045" indent="190500" algn="just">
              <a:spcBef>
                <a:spcPts val="20"/>
              </a:spcBef>
            </a:pPr>
            <a:r>
              <a:rPr lang="en-US" sz="1800" spc="-20" dirty="0">
                <a:solidFill>
                  <a:srgbClr val="231F20"/>
                </a:solidFill>
                <a:effectLst/>
                <a:latin typeface="Times New Roman" panose="02020603050405020304" pitchFamily="18" charset="0"/>
                <a:ea typeface="Times New Roman" panose="02020603050405020304" pitchFamily="18" charset="0"/>
              </a:rPr>
              <a:t>Disney World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Florida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pioneered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multidimensional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concept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now</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many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amusement </a:t>
            </a:r>
            <a:r>
              <a:rPr lang="en-US" sz="1800" spc="-20" dirty="0">
                <a:solidFill>
                  <a:srgbClr val="231F20"/>
                </a:solidFill>
                <a:effectLst/>
                <a:latin typeface="Times New Roman" panose="02020603050405020304" pitchFamily="18" charset="0"/>
                <a:ea typeface="Times New Roman" panose="02020603050405020304" pitchFamily="18" charset="0"/>
              </a:rPr>
              <a:t>parks.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network</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tunnels,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workshops,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dressing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rooms,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storerooms,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staff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cen</a:t>
            </a:r>
            <a:r>
              <a:rPr lang="en-US" sz="1800" dirty="0">
                <a:solidFill>
                  <a:srgbClr val="231F20"/>
                </a:solidFill>
                <a:effectLst/>
                <a:latin typeface="Times New Roman" panose="02020603050405020304" pitchFamily="18" charset="0"/>
                <a:ea typeface="Times New Roman" panose="02020603050405020304" pitchFamily="18" charset="0"/>
              </a:rPr>
              <a:t>ters runs under the park. Characters are never seen in part of the park that does not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match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their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role instead,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worker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vanishes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from</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25" dirty="0">
                <a:solidFill>
                  <a:srgbClr val="231F20"/>
                </a:solidFill>
                <a:effectLst/>
                <a:latin typeface="Times New Roman" panose="02020603050405020304" pitchFamily="18" charset="0"/>
                <a:ea typeface="Times New Roman" panose="02020603050405020304" pitchFamily="18" charset="0"/>
              </a:rPr>
              <a:t>the </a:t>
            </a:r>
            <a:r>
              <a:rPr lang="en-US" sz="1800" dirty="0">
                <a:solidFill>
                  <a:srgbClr val="231F20"/>
                </a:solidFill>
                <a:effectLst/>
                <a:latin typeface="Times New Roman" panose="02020603050405020304" pitchFamily="18" charset="0"/>
                <a:ea typeface="Times New Roman" panose="02020603050405020304" pitchFamily="18" charset="0"/>
              </a:rPr>
              <a:t>underground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travel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new</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rest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remove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replace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parts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costume.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preserves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“magic”</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visitors.</a:t>
            </a:r>
            <a:r>
              <a:rPr lang="en-US" sz="1800" spc="-60" dirty="0">
                <a:solidFill>
                  <a:srgbClr val="231F20"/>
                </a:solidFill>
                <a:effectLst/>
                <a:latin typeface="Times New Roman" panose="02020603050405020304" pitchFamily="18" charset="0"/>
                <a:ea typeface="Times New Roman" panose="02020603050405020304" pitchFamily="18" charset="0"/>
              </a:rPr>
              <a:t> </a:t>
            </a:r>
          </a:p>
          <a:p>
            <a:pPr marL="209550" marR="233045" indent="190500" algn="just">
              <a:spcBef>
                <a:spcPts val="20"/>
              </a:spcBef>
            </a:pPr>
            <a:r>
              <a:rPr lang="en-US" sz="1800" spc="-10" dirty="0">
                <a:solidFill>
                  <a:srgbClr val="231F20"/>
                </a:solidFill>
                <a:effectLst/>
                <a:latin typeface="Times New Roman" panose="02020603050405020304" pitchFamily="18" charset="0"/>
                <a:ea typeface="Times New Roman" panose="02020603050405020304" pitchFamily="18" charset="0"/>
              </a:rPr>
              <a:t>Less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glamorously,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garbage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 </a:t>
            </a:r>
            <a:r>
              <a:rPr lang="en-US" sz="1800" dirty="0">
                <a:solidFill>
                  <a:srgbClr val="231F20"/>
                </a:solidFill>
                <a:effectLst/>
                <a:latin typeface="Times New Roman" panose="02020603050405020304" pitchFamily="18" charset="0"/>
                <a:ea typeface="Times New Roman" panose="02020603050405020304" pitchFamily="18" charset="0"/>
              </a:rPr>
              <a:t>dumped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into</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another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tunnels,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visitors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never</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see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garbage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being</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transported through the park.</a:t>
            </a:r>
            <a:endParaRPr lang="en-IN" sz="1800" dirty="0">
              <a:effectLst/>
              <a:latin typeface="Times New Roman" panose="02020603050405020304" pitchFamily="18" charset="0"/>
              <a:ea typeface="Times New Roman" panose="02020603050405020304" pitchFamily="18" charset="0"/>
            </a:endParaRPr>
          </a:p>
          <a:p>
            <a:pPr marL="209550" marR="233045" indent="190500" algn="just">
              <a:lnSpc>
                <a:spcPct val="105000"/>
              </a:lnSpc>
              <a:spcBef>
                <a:spcPts val="20"/>
              </a:spcBef>
              <a:spcAft>
                <a:spcPts val="0"/>
              </a:spcAft>
            </a:pP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AEF4A232-5EB6-9094-7E29-C2D4CA48CC52}"/>
              </a:ext>
            </a:extLst>
          </p:cNvPr>
          <p:cNvSpPr txBox="1"/>
          <p:nvPr/>
        </p:nvSpPr>
        <p:spPr>
          <a:xfrm>
            <a:off x="408385" y="4774665"/>
            <a:ext cx="5905447" cy="1329659"/>
          </a:xfrm>
          <a:prstGeom prst="rect">
            <a:avLst/>
          </a:prstGeom>
          <a:noFill/>
        </p:spPr>
        <p:txBody>
          <a:bodyPr wrap="square">
            <a:spAutoFit/>
          </a:bodyPr>
          <a:lstStyle/>
          <a:p>
            <a:pPr marL="342900" lvl="0" indent="-342900">
              <a:lnSpc>
                <a:spcPct val="150000"/>
              </a:lnSpc>
              <a:spcBef>
                <a:spcPts val="1160"/>
              </a:spcBef>
              <a:spcAft>
                <a:spcPts val="0"/>
              </a:spcAft>
              <a:buClr>
                <a:srgbClr val="231F20"/>
              </a:buClr>
              <a:buSzPts val="1050"/>
              <a:buFont typeface="Wingdings" panose="05000000000000000000" pitchFamily="2" charset="2"/>
              <a:buChar char="Ø"/>
              <a:tabLst>
                <a:tab pos="513715" algn="l"/>
              </a:tabLst>
            </a:pPr>
            <a:r>
              <a:rPr lang="en-US" sz="1800" spc="-10" dirty="0">
                <a:solidFill>
                  <a:srgbClr val="231F20"/>
                </a:solidFill>
                <a:effectLst/>
                <a:latin typeface="Times New Roman" panose="02020603050405020304" pitchFamily="18" charset="0"/>
                <a:ea typeface="Lucida Sans Unicode" panose="020B0602030504020204" pitchFamily="34" charset="0"/>
              </a:rPr>
              <a:t>Holograms</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as</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three-dimensional</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photographs</a:t>
            </a:r>
            <a:endParaRPr lang="en-IN" sz="2000" spc="0" dirty="0">
              <a:effectLst/>
              <a:latin typeface="Times New Roman" panose="02020603050405020304" pitchFamily="18" charset="0"/>
              <a:ea typeface="Lucida Sans Unicode" panose="020B0602030504020204" pitchFamily="34" charset="0"/>
            </a:endParaRPr>
          </a:p>
          <a:p>
            <a:pPr marL="342900" lvl="0" indent="-342900">
              <a:lnSpc>
                <a:spcPct val="150000"/>
              </a:lnSpc>
              <a:buClr>
                <a:srgbClr val="231F20"/>
              </a:buClr>
              <a:buSzPts val="1050"/>
              <a:buFont typeface="Wingdings" panose="05000000000000000000" pitchFamily="2" charset="2"/>
              <a:buChar char="Ø"/>
              <a:tabLst>
                <a:tab pos="513715" algn="l"/>
              </a:tabLst>
            </a:pPr>
            <a:r>
              <a:rPr lang="en-US" sz="1800" spc="-10" dirty="0">
                <a:solidFill>
                  <a:srgbClr val="231F20"/>
                </a:solidFill>
                <a:effectLst/>
                <a:latin typeface="Times New Roman" panose="02020603050405020304" pitchFamily="18" charset="0"/>
                <a:ea typeface="Lucida Sans Unicode" panose="020B0602030504020204" pitchFamily="34" charset="0"/>
              </a:rPr>
              <a:t>IMAX</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movies</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with</a:t>
            </a:r>
            <a:r>
              <a:rPr lang="en-US" sz="1800" spc="-40"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three-dimensional</a:t>
            </a:r>
            <a:r>
              <a:rPr lang="en-US" sz="1800" spc="-45" dirty="0">
                <a:solidFill>
                  <a:srgbClr val="231F20"/>
                </a:solidFill>
                <a:effectLst/>
                <a:latin typeface="Times New Roman" panose="02020603050405020304" pitchFamily="18" charset="0"/>
                <a:ea typeface="Lucida Sans Unicode" panose="020B0602030504020204" pitchFamily="34" charset="0"/>
              </a:rPr>
              <a:t> </a:t>
            </a:r>
            <a:r>
              <a:rPr lang="en-US" sz="1800" spc="-10" dirty="0">
                <a:solidFill>
                  <a:srgbClr val="231F20"/>
                </a:solidFill>
                <a:effectLst/>
                <a:latin typeface="Times New Roman" panose="02020603050405020304" pitchFamily="18" charset="0"/>
                <a:ea typeface="Lucida Sans Unicode" panose="020B0602030504020204" pitchFamily="34" charset="0"/>
              </a:rPr>
              <a:t>effects</a:t>
            </a:r>
          </a:p>
          <a:p>
            <a:pPr marL="342900" lvl="0" indent="-342900">
              <a:lnSpc>
                <a:spcPct val="150000"/>
              </a:lnSpc>
              <a:buClr>
                <a:srgbClr val="231F20"/>
              </a:buClr>
              <a:buSzPts val="1050"/>
              <a:buFont typeface="Wingdings" panose="05000000000000000000" pitchFamily="2" charset="2"/>
              <a:buChar char="Ø"/>
              <a:tabLst>
                <a:tab pos="513715" algn="l"/>
              </a:tabLst>
            </a:pPr>
            <a:r>
              <a:rPr lang="en-US" dirty="0">
                <a:latin typeface="Times New Roman" panose="02020603050405020304" pitchFamily="18" charset="0"/>
                <a:cs typeface="Times New Roman" panose="02020603050405020304" pitchFamily="18" charset="0"/>
              </a:rPr>
              <a:t>Inflatable Products (Shape or Volume Change)</a:t>
            </a:r>
            <a:endParaRPr lang="en-IN" spc="0" dirty="0">
              <a:effectLst/>
              <a:latin typeface="Times New Roman" panose="02020603050405020304" pitchFamily="18" charset="0"/>
              <a:ea typeface="Lucida Sans Unicode" panose="020B0602030504020204" pitchFamily="34" charset="0"/>
              <a:cs typeface="Times New Roman" panose="02020603050405020304" pitchFamily="18" charset="0"/>
            </a:endParaRPr>
          </a:p>
        </p:txBody>
      </p:sp>
      <p:pic>
        <p:nvPicPr>
          <p:cNvPr id="2050" name="Picture 2" descr="FDA clears 3D hologram tech for 'science-fiction' surgical planning ...">
            <a:extLst>
              <a:ext uri="{FF2B5EF4-FFF2-40B4-BE49-F238E27FC236}">
                <a16:creationId xmlns:a16="http://schemas.microsoft.com/office/drawing/2014/main" id="{9B50BB38-9204-143F-B746-39F326224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0606" y="260788"/>
            <a:ext cx="4658967" cy="27905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17 Best images about Folding furniture on Pinterest | Furniture, Router ...">
            <a:extLst>
              <a:ext uri="{FF2B5EF4-FFF2-40B4-BE49-F238E27FC236}">
                <a16:creationId xmlns:a16="http://schemas.microsoft.com/office/drawing/2014/main" id="{90DA7C9B-CCA1-9E22-FA2A-DD53A2362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7635" y="3429000"/>
            <a:ext cx="4658967" cy="2881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2753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BFC99F-31A9-0512-9B3E-F4AA57FE0711}"/>
              </a:ext>
            </a:extLst>
          </p:cNvPr>
          <p:cNvSpPr txBox="1"/>
          <p:nvPr/>
        </p:nvSpPr>
        <p:spPr>
          <a:xfrm>
            <a:off x="265871" y="262038"/>
            <a:ext cx="6097656" cy="2223879"/>
          </a:xfrm>
          <a:prstGeom prst="rect">
            <a:avLst/>
          </a:prstGeom>
          <a:noFill/>
        </p:spPr>
        <p:txBody>
          <a:bodyPr wrap="square">
            <a:spAutoFit/>
          </a:bodyPr>
          <a:lstStyle/>
          <a:p>
            <a:pPr marL="209550" marR="233045" algn="just">
              <a:lnSpc>
                <a:spcPct val="107000"/>
              </a:lnSpc>
              <a:spcBef>
                <a:spcPts val="645"/>
              </a:spcBef>
              <a:spcAft>
                <a:spcPts val="0"/>
              </a:spcAft>
            </a:pPr>
            <a:r>
              <a:rPr lang="en-US" b="1" i="1" spc="-20" dirty="0">
                <a:solidFill>
                  <a:srgbClr val="231F20"/>
                </a:solidFill>
                <a:latin typeface="Times New Roman" panose="02020603050405020304" pitchFamily="18" charset="0"/>
                <a:ea typeface="Times New Roman" panose="02020603050405020304" pitchFamily="18" charset="0"/>
              </a:rPr>
              <a:t>20</a:t>
            </a:r>
            <a:r>
              <a:rPr lang="en-US" sz="1800" b="1" i="1" spc="-20" dirty="0">
                <a:solidFill>
                  <a:srgbClr val="231F20"/>
                </a:solidFill>
                <a:effectLst/>
                <a:latin typeface="Times New Roman" panose="02020603050405020304" pitchFamily="18" charset="0"/>
                <a:ea typeface="Times New Roman" panose="02020603050405020304" pitchFamily="18" charset="0"/>
              </a:rPr>
              <a:t>. DYNAMIC PARTS</a:t>
            </a:r>
          </a:p>
          <a:p>
            <a:pPr marL="209550" marR="233045" algn="just">
              <a:lnSpc>
                <a:spcPct val="107000"/>
              </a:lnSpc>
              <a:spcBef>
                <a:spcPts val="645"/>
              </a:spcBef>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Allow (or design) the characteristics of an object, external environ</a:t>
            </a:r>
            <a:r>
              <a:rPr lang="en-US" sz="1800" dirty="0">
                <a:solidFill>
                  <a:srgbClr val="231F20"/>
                </a:solidFill>
                <a:effectLst/>
                <a:latin typeface="Times New Roman" panose="02020603050405020304" pitchFamily="18" charset="0"/>
                <a:ea typeface="Times New Roman" panose="02020603050405020304" pitchFamily="18" charset="0"/>
              </a:rPr>
              <a:t>ment,</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process,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change</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to</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be</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optimal</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to</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find</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an</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optimal</a:t>
            </a:r>
            <a:r>
              <a:rPr lang="en-US" sz="1800" spc="-1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operating condition</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Divide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object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parts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capable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movement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relative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 </a:t>
            </a:r>
            <a:r>
              <a:rPr lang="en-US" sz="1800" spc="-20" dirty="0">
                <a:solidFill>
                  <a:srgbClr val="231F20"/>
                </a:solidFill>
                <a:effectLst/>
                <a:latin typeface="Times New Roman" panose="02020603050405020304" pitchFamily="18" charset="0"/>
                <a:ea typeface="Times New Roman" panose="02020603050405020304" pitchFamily="18" charset="0"/>
              </a:rPr>
              <a:t>each</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other.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If</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an</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object</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process</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system)</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is</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rigid</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or</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inflexible,</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make</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it</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movable </a:t>
            </a:r>
            <a:r>
              <a:rPr lang="en-US" sz="1800" dirty="0">
                <a:solidFill>
                  <a:srgbClr val="FF0000"/>
                </a:solidFill>
                <a:effectLst/>
                <a:latin typeface="Times New Roman" panose="02020603050405020304" pitchFamily="18" charset="0"/>
                <a:ea typeface="Times New Roman" panose="02020603050405020304" pitchFamily="18" charset="0"/>
              </a:rPr>
              <a:t>or adaptive.</a:t>
            </a:r>
            <a:endParaRPr lang="en-IN" sz="1800" dirty="0">
              <a:solidFill>
                <a:srgbClr val="FF0000"/>
              </a:solidFill>
              <a:effectLst/>
              <a:latin typeface="Times New Roman" panose="02020603050405020304" pitchFamily="18" charset="0"/>
              <a:ea typeface="Times New Roman" panose="02020603050405020304" pitchFamily="18" charset="0"/>
            </a:endParaRPr>
          </a:p>
        </p:txBody>
      </p:sp>
      <p:grpSp>
        <p:nvGrpSpPr>
          <p:cNvPr id="4" name="Group 3">
            <a:extLst>
              <a:ext uri="{FF2B5EF4-FFF2-40B4-BE49-F238E27FC236}">
                <a16:creationId xmlns:a16="http://schemas.microsoft.com/office/drawing/2014/main" id="{4C0B52E2-A144-6C5B-5EAC-4D036E7170A0}"/>
              </a:ext>
            </a:extLst>
          </p:cNvPr>
          <p:cNvGrpSpPr>
            <a:grpSpLocks/>
          </p:cNvGrpSpPr>
          <p:nvPr/>
        </p:nvGrpSpPr>
        <p:grpSpPr>
          <a:xfrm>
            <a:off x="7043530" y="1009002"/>
            <a:ext cx="4267200" cy="972096"/>
            <a:chOff x="0" y="0"/>
            <a:chExt cx="4267200" cy="972096"/>
          </a:xfrm>
        </p:grpSpPr>
        <p:pic>
          <p:nvPicPr>
            <p:cNvPr id="5" name="Image 491">
              <a:extLst>
                <a:ext uri="{FF2B5EF4-FFF2-40B4-BE49-F238E27FC236}">
                  <a16:creationId xmlns:a16="http://schemas.microsoft.com/office/drawing/2014/main" id="{76078123-8122-7A26-313A-4900C17C2395}"/>
                </a:ext>
              </a:extLst>
            </p:cNvPr>
            <p:cNvPicPr/>
            <p:nvPr/>
          </p:nvPicPr>
          <p:blipFill>
            <a:blip r:embed="rId2" cstate="print"/>
            <a:stretch>
              <a:fillRect/>
            </a:stretch>
          </p:blipFill>
          <p:spPr>
            <a:xfrm>
              <a:off x="914400" y="0"/>
              <a:ext cx="2438399" cy="920495"/>
            </a:xfrm>
            <a:prstGeom prst="rect">
              <a:avLst/>
            </a:prstGeom>
          </p:spPr>
        </p:pic>
        <p:sp>
          <p:nvSpPr>
            <p:cNvPr id="6" name="Graphic 492">
              <a:extLst>
                <a:ext uri="{FF2B5EF4-FFF2-40B4-BE49-F238E27FC236}">
                  <a16:creationId xmlns:a16="http://schemas.microsoft.com/office/drawing/2014/main" id="{6957AE8A-8219-A339-713B-CDAE86A0ED8F}"/>
                </a:ext>
              </a:extLst>
            </p:cNvPr>
            <p:cNvSpPr/>
            <p:nvPr/>
          </p:nvSpPr>
          <p:spPr>
            <a:xfrm>
              <a:off x="0" y="970826"/>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8" name="TextBox 7">
            <a:extLst>
              <a:ext uri="{FF2B5EF4-FFF2-40B4-BE49-F238E27FC236}">
                <a16:creationId xmlns:a16="http://schemas.microsoft.com/office/drawing/2014/main" id="{8F9B31C6-1254-6C91-7CA9-5960BF10865A}"/>
              </a:ext>
            </a:extLst>
          </p:cNvPr>
          <p:cNvSpPr txBox="1"/>
          <p:nvPr/>
        </p:nvSpPr>
        <p:spPr>
          <a:xfrm>
            <a:off x="6158119" y="2031429"/>
            <a:ext cx="6097656" cy="300723"/>
          </a:xfrm>
          <a:prstGeom prst="rect">
            <a:avLst/>
          </a:prstGeom>
          <a:noFill/>
        </p:spPr>
        <p:txBody>
          <a:bodyPr wrap="square">
            <a:spAutoFit/>
          </a:bodyPr>
          <a:lstStyle/>
          <a:p>
            <a:pPr marL="209550" marR="281940" algn="ctr">
              <a:lnSpc>
                <a:spcPct val="103000"/>
              </a:lnSpc>
              <a:spcBef>
                <a:spcPts val="505"/>
              </a:spcBef>
              <a:spcAft>
                <a:spcPts val="0"/>
              </a:spcAft>
            </a:pPr>
            <a:r>
              <a:rPr lang="en-US" sz="1400" b="1" spc="-30" dirty="0">
                <a:solidFill>
                  <a:srgbClr val="231F20"/>
                </a:solidFill>
                <a:effectLst/>
                <a:latin typeface="Trebuchet MS" panose="020B0603020202020204" pitchFamily="34" charset="0"/>
                <a:ea typeface="Times New Roman" panose="02020603050405020304" pitchFamily="18" charset="0"/>
              </a:rPr>
              <a:t>Make</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a</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system</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or</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process</a:t>
            </a:r>
            <a:r>
              <a:rPr lang="en-US" sz="1400" b="1" spc="-40" dirty="0">
                <a:solidFill>
                  <a:srgbClr val="231F20"/>
                </a:solidFill>
                <a:effectLst/>
                <a:latin typeface="Trebuchet MS" panose="020B0603020202020204" pitchFamily="34" charset="0"/>
                <a:ea typeface="Times New Roman" panose="02020603050405020304" pitchFamily="18" charset="0"/>
              </a:rPr>
              <a:t> </a:t>
            </a:r>
            <a:r>
              <a:rPr lang="en-US" sz="1400" b="1" spc="-30" dirty="0">
                <a:solidFill>
                  <a:srgbClr val="231F20"/>
                </a:solidFill>
                <a:effectLst/>
                <a:latin typeface="Trebuchet MS" panose="020B0603020202020204" pitchFamily="34" charset="0"/>
                <a:ea typeface="Times New Roman" panose="02020603050405020304" pitchFamily="18" charset="0"/>
              </a:rPr>
              <a:t>movable </a:t>
            </a:r>
            <a:r>
              <a:rPr lang="en-US" sz="1400" b="1" dirty="0">
                <a:solidFill>
                  <a:srgbClr val="231F20"/>
                </a:solidFill>
                <a:effectLst/>
                <a:latin typeface="Trebuchet MS" panose="020B0603020202020204" pitchFamily="34" charset="0"/>
                <a:ea typeface="Times New Roman" panose="02020603050405020304" pitchFamily="18" charset="0"/>
              </a:rPr>
              <a:t>or adaptive.</a:t>
            </a:r>
            <a:endParaRPr lang="en-IN" sz="14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A77A614D-9099-CA6E-8923-A9D4DB85875C}"/>
              </a:ext>
            </a:extLst>
          </p:cNvPr>
          <p:cNvSpPr txBox="1"/>
          <p:nvPr/>
        </p:nvSpPr>
        <p:spPr>
          <a:xfrm>
            <a:off x="203750" y="4014276"/>
            <a:ext cx="6127474" cy="2120068"/>
          </a:xfrm>
          <a:prstGeom prst="rect">
            <a:avLst/>
          </a:prstGeom>
          <a:noFill/>
        </p:spPr>
        <p:txBody>
          <a:bodyPr wrap="square">
            <a:spAutoFit/>
          </a:bodyPr>
          <a:lstStyle/>
          <a:p>
            <a:pPr marL="1600200" lvl="3" indent="-228600">
              <a:lnSpc>
                <a:spcPct val="150000"/>
              </a:lnSpc>
              <a:spcBef>
                <a:spcPts val="1065"/>
              </a:spcBef>
              <a:spcAft>
                <a:spcPts val="0"/>
              </a:spcAft>
              <a:buClr>
                <a:srgbClr val="231F20"/>
              </a:buClr>
              <a:buSzPts val="1050"/>
              <a:buFont typeface="Lucida Sans Unicode" panose="020B0602030504020204" pitchFamily="34" charset="0"/>
              <a:buChar char="■"/>
              <a:tabLst>
                <a:tab pos="513715" algn="l"/>
              </a:tabLst>
            </a:pPr>
            <a:r>
              <a:rPr lang="en-US" spc="-10" dirty="0">
                <a:solidFill>
                  <a:srgbClr val="231F20"/>
                </a:solidFill>
                <a:effectLst/>
                <a:latin typeface="Times New Roman" panose="02020603050405020304" pitchFamily="18" charset="0"/>
                <a:ea typeface="Lucida Sans Unicode" panose="020B0602030504020204" pitchFamily="34" charset="0"/>
              </a:rPr>
              <a:t>Rigid,</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immobile</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system</a:t>
            </a:r>
            <a:endParaRPr lang="en-IN" spc="0" dirty="0">
              <a:effectLst/>
              <a:latin typeface="Times New Roman" panose="02020603050405020304" pitchFamily="18" charset="0"/>
              <a:ea typeface="Lucida Sans Unicode" panose="020B0602030504020204" pitchFamily="34" charset="0"/>
            </a:endParaRPr>
          </a:p>
          <a:p>
            <a:pPr marL="1600200" lvl="3" indent="-228600">
              <a:lnSpc>
                <a:spcPct val="150000"/>
              </a:lnSpc>
              <a:buClr>
                <a:srgbClr val="231F20"/>
              </a:buClr>
              <a:buSzPts val="1050"/>
              <a:buFont typeface="Lucida Sans Unicode" panose="020B0602030504020204" pitchFamily="34" charset="0"/>
              <a:buChar char="■"/>
              <a:tabLst>
                <a:tab pos="513715" algn="l"/>
              </a:tabLst>
            </a:pPr>
            <a:r>
              <a:rPr lang="en-US" spc="0" dirty="0">
                <a:solidFill>
                  <a:srgbClr val="231F20"/>
                </a:solidFill>
                <a:effectLst/>
                <a:latin typeface="Times New Roman" panose="02020603050405020304" pitchFamily="18" charset="0"/>
                <a:ea typeface="Lucida Sans Unicode" panose="020B0602030504020204" pitchFamily="34" charset="0"/>
              </a:rPr>
              <a:t>One</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hinge</a:t>
            </a:r>
            <a:endParaRPr lang="en-IN" spc="0" dirty="0">
              <a:effectLst/>
              <a:latin typeface="Times New Roman" panose="02020603050405020304" pitchFamily="18" charset="0"/>
              <a:ea typeface="Lucida Sans Unicode" panose="020B0602030504020204" pitchFamily="34" charset="0"/>
            </a:endParaRPr>
          </a:p>
          <a:p>
            <a:pPr marL="1600200" lvl="3" indent="-228600">
              <a:lnSpc>
                <a:spcPct val="150000"/>
              </a:lnSpc>
              <a:buClr>
                <a:srgbClr val="231F20"/>
              </a:buClr>
              <a:buSzPts val="1050"/>
              <a:buFont typeface="Lucida Sans Unicode" panose="020B0602030504020204" pitchFamily="34" charset="0"/>
              <a:buChar char="■"/>
              <a:tabLst>
                <a:tab pos="513715" algn="l"/>
              </a:tabLst>
            </a:pPr>
            <a:r>
              <a:rPr lang="en-US" spc="0" dirty="0">
                <a:solidFill>
                  <a:srgbClr val="231F20"/>
                </a:solidFill>
                <a:effectLst/>
                <a:latin typeface="Times New Roman" panose="02020603050405020304" pitchFamily="18" charset="0"/>
                <a:ea typeface="Lucida Sans Unicode" panose="020B0602030504020204" pitchFamily="34" charset="0"/>
              </a:rPr>
              <a:t>Many</a:t>
            </a:r>
            <a:r>
              <a:rPr lang="en-US" spc="-55"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hinges</a:t>
            </a:r>
            <a:endParaRPr lang="en-IN" spc="0" dirty="0">
              <a:effectLst/>
              <a:latin typeface="Times New Roman" panose="02020603050405020304" pitchFamily="18" charset="0"/>
              <a:ea typeface="Lucida Sans Unicode" panose="020B0602030504020204" pitchFamily="34" charset="0"/>
            </a:endParaRPr>
          </a:p>
          <a:p>
            <a:pPr marL="1600200" lvl="3" indent="-228600">
              <a:lnSpc>
                <a:spcPct val="150000"/>
              </a:lnSpc>
              <a:buClr>
                <a:srgbClr val="231F20"/>
              </a:buClr>
              <a:buSzPts val="1050"/>
              <a:buFont typeface="Lucida Sans Unicode" panose="020B0602030504020204" pitchFamily="34" charset="0"/>
              <a:buChar char="■"/>
              <a:tabLst>
                <a:tab pos="513715" algn="l"/>
              </a:tabLst>
            </a:pPr>
            <a:r>
              <a:rPr lang="en-US" spc="0" dirty="0">
                <a:solidFill>
                  <a:srgbClr val="231F20"/>
                </a:solidFill>
                <a:effectLst/>
                <a:latin typeface="Times New Roman" panose="02020603050405020304" pitchFamily="18" charset="0"/>
                <a:ea typeface="Lucida Sans Unicode" panose="020B0602030504020204" pitchFamily="34" charset="0"/>
              </a:rPr>
              <a:t>Elastic</a:t>
            </a:r>
            <a:r>
              <a:rPr lang="en-US" spc="110" dirty="0">
                <a:solidFill>
                  <a:srgbClr val="231F20"/>
                </a:solidFill>
                <a:effectLst/>
                <a:latin typeface="Times New Roman" panose="02020603050405020304" pitchFamily="18" charset="0"/>
                <a:ea typeface="Lucida Sans Unicode" panose="020B0602030504020204" pitchFamily="34" charset="0"/>
              </a:rPr>
              <a:t> </a:t>
            </a:r>
            <a:r>
              <a:rPr lang="en-US" spc="-10" dirty="0">
                <a:solidFill>
                  <a:srgbClr val="231F20"/>
                </a:solidFill>
                <a:effectLst/>
                <a:latin typeface="Times New Roman" panose="02020603050405020304" pitchFamily="18" charset="0"/>
                <a:ea typeface="Lucida Sans Unicode" panose="020B0602030504020204" pitchFamily="34" charset="0"/>
              </a:rPr>
              <a:t>system</a:t>
            </a:r>
            <a:endParaRPr lang="en-IN" spc="0" dirty="0">
              <a:effectLst/>
              <a:latin typeface="Times New Roman" panose="02020603050405020304" pitchFamily="18" charset="0"/>
              <a:ea typeface="Lucida Sans Unicode" panose="020B0602030504020204" pitchFamily="34" charset="0"/>
            </a:endParaRPr>
          </a:p>
          <a:p>
            <a:pPr marL="1600200" lvl="3" indent="-228600">
              <a:lnSpc>
                <a:spcPct val="150000"/>
              </a:lnSpc>
              <a:buClr>
                <a:srgbClr val="231F20"/>
              </a:buClr>
              <a:buSzPts val="1050"/>
              <a:buFont typeface="Lucida Sans Unicode" panose="020B0602030504020204" pitchFamily="34" charset="0"/>
              <a:buChar char="■"/>
              <a:tabLst>
                <a:tab pos="513715" algn="l"/>
              </a:tabLst>
            </a:pPr>
            <a:r>
              <a:rPr lang="en-US" spc="-20" dirty="0">
                <a:solidFill>
                  <a:srgbClr val="231F20"/>
                </a:solidFill>
                <a:effectLst/>
                <a:latin typeface="Times New Roman" panose="02020603050405020304" pitchFamily="18" charset="0"/>
                <a:ea typeface="Lucida Sans Unicode" panose="020B0602030504020204" pitchFamily="34" charset="0"/>
              </a:rPr>
              <a:t>A</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field</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instead</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of</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a</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physical</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object</a:t>
            </a:r>
            <a:r>
              <a:rPr lang="en-US" spc="-30"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or</a:t>
            </a:r>
            <a:r>
              <a:rPr lang="en-US" spc="-35" dirty="0">
                <a:solidFill>
                  <a:srgbClr val="231F20"/>
                </a:solidFill>
                <a:effectLst/>
                <a:latin typeface="Times New Roman" panose="02020603050405020304" pitchFamily="18" charset="0"/>
                <a:ea typeface="Lucida Sans Unicode" panose="020B0602030504020204" pitchFamily="34" charset="0"/>
              </a:rPr>
              <a:t> </a:t>
            </a:r>
            <a:r>
              <a:rPr lang="en-US" spc="-20" dirty="0">
                <a:solidFill>
                  <a:srgbClr val="231F20"/>
                </a:solidFill>
                <a:effectLst/>
                <a:latin typeface="Times New Roman" panose="02020603050405020304" pitchFamily="18" charset="0"/>
                <a:ea typeface="Lucida Sans Unicode" panose="020B0602030504020204" pitchFamily="34" charset="0"/>
              </a:rPr>
              <a:t>system</a:t>
            </a:r>
            <a:endParaRPr lang="en-IN" spc="0" dirty="0">
              <a:effectLst/>
              <a:latin typeface="Times New Roman" panose="02020603050405020304" pitchFamily="18" charset="0"/>
              <a:ea typeface="Lucida Sans Unicode" panose="020B0602030504020204" pitchFamily="34" charset="0"/>
            </a:endParaRPr>
          </a:p>
        </p:txBody>
      </p:sp>
      <p:sp>
        <p:nvSpPr>
          <p:cNvPr id="12" name="TextBox 11">
            <a:extLst>
              <a:ext uri="{FF2B5EF4-FFF2-40B4-BE49-F238E27FC236}">
                <a16:creationId xmlns:a16="http://schemas.microsoft.com/office/drawing/2014/main" id="{BC0850A7-2F7E-5071-0E16-1853A7802822}"/>
              </a:ext>
            </a:extLst>
          </p:cNvPr>
          <p:cNvSpPr txBox="1"/>
          <p:nvPr/>
        </p:nvSpPr>
        <p:spPr>
          <a:xfrm>
            <a:off x="203750" y="2641853"/>
            <a:ext cx="6142382" cy="1216487"/>
          </a:xfrm>
          <a:prstGeom prst="rect">
            <a:avLst/>
          </a:prstGeom>
          <a:noFill/>
        </p:spPr>
        <p:txBody>
          <a:bodyPr wrap="square">
            <a:spAutoFit/>
          </a:bodyPr>
          <a:lstStyle/>
          <a:p>
            <a:pPr marL="209550" marR="234315" indent="190500" algn="just">
              <a:lnSpc>
                <a:spcPct val="103000"/>
              </a:lnSpc>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Repeated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principle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combination</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with</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the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principle</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of</a:t>
            </a:r>
            <a:r>
              <a:rPr lang="en-US" sz="1800" spc="-55"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segmenta</a:t>
            </a:r>
            <a:r>
              <a:rPr lang="en-US" sz="1800" dirty="0">
                <a:solidFill>
                  <a:schemeClr val="accent1"/>
                </a:solidFill>
                <a:effectLst/>
                <a:latin typeface="Times New Roman" panose="02020603050405020304" pitchFamily="18" charset="0"/>
                <a:ea typeface="Times New Roman" panose="02020603050405020304" pitchFamily="18" charset="0"/>
              </a:rPr>
              <a:t>tion</a:t>
            </a:r>
            <a:r>
              <a:rPr lang="en-US" sz="1800" spc="-7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results</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in</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pattern</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of</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increasing</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interactions</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and</a:t>
            </a:r>
            <a:r>
              <a:rPr lang="en-US" sz="1800" spc="-7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the</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pattern</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of</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transition</a:t>
            </a:r>
            <a:r>
              <a:rPr lang="en-US" sz="1800" spc="-6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to a</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microlevel.</a:t>
            </a:r>
            <a:r>
              <a:rPr lang="en-US" sz="1800" spc="-40"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Some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steps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increasing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dynamics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endParaRPr lang="en-IN" sz="1800" dirty="0">
              <a:effectLst/>
              <a:latin typeface="Times New Roman" panose="02020603050405020304" pitchFamily="18" charset="0"/>
              <a:ea typeface="Times New Roman" panose="02020603050405020304" pitchFamily="18" charset="0"/>
            </a:endParaRPr>
          </a:p>
        </p:txBody>
      </p:sp>
      <p:pic>
        <p:nvPicPr>
          <p:cNvPr id="1026" name="Picture 2" descr="Aperture-Style Retractable Roof at Atlanta’s Mercedes-Benz Stadium ...">
            <a:extLst>
              <a:ext uri="{FF2B5EF4-FFF2-40B4-BE49-F238E27FC236}">
                <a16:creationId xmlns:a16="http://schemas.microsoft.com/office/drawing/2014/main" id="{93846DAF-28CD-7E2C-6F9D-A50E4D1DDB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1224" y="2852530"/>
            <a:ext cx="5337314" cy="3466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2977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0CEB55-B6E4-A0A1-5842-15B8F15D3926}"/>
              </a:ext>
            </a:extLst>
          </p:cNvPr>
          <p:cNvSpPr txBox="1"/>
          <p:nvPr/>
        </p:nvSpPr>
        <p:spPr>
          <a:xfrm>
            <a:off x="5603185" y="613650"/>
            <a:ext cx="6097656" cy="2072490"/>
          </a:xfrm>
          <a:prstGeom prst="rect">
            <a:avLst/>
          </a:prstGeom>
          <a:noFill/>
        </p:spPr>
        <p:txBody>
          <a:bodyPr wrap="square">
            <a:spAutoFit/>
          </a:bodyPr>
          <a:lstStyle/>
          <a:p>
            <a:pPr marL="209550" marR="234315" indent="190500" algn="just">
              <a:lnSpc>
                <a:spcPct val="103000"/>
              </a:lnSpc>
              <a:spcAft>
                <a:spcPts val="0"/>
              </a:spcAft>
            </a:pPr>
            <a:r>
              <a:rPr lang="en-US" sz="1800" spc="-20" dirty="0">
                <a:solidFill>
                  <a:srgbClr val="FF0000"/>
                </a:solidFill>
                <a:effectLst/>
                <a:latin typeface="Times New Roman" panose="02020603050405020304" pitchFamily="18" charset="0"/>
                <a:ea typeface="Times New Roman" panose="02020603050405020304" pitchFamily="18" charset="0"/>
              </a:rPr>
              <a:t>Stiff and immovable structures are often replaced by more dynamic ones</a:t>
            </a:r>
            <a:r>
              <a:rPr lang="en-US" sz="1800" spc="-20" dirty="0">
                <a:solidFill>
                  <a:srgbClr val="231F20"/>
                </a:solidFill>
                <a:effectLst/>
                <a:latin typeface="Times New Roman" panose="02020603050405020304" pitchFamily="18" charset="0"/>
                <a:ea typeface="Times New Roman" panose="02020603050405020304" pitchFamily="18" charset="0"/>
              </a:rPr>
              <a:t>: flexible printed circuits and accumulator batteries in electronics, flexible and self-break</a:t>
            </a:r>
            <a:r>
              <a:rPr lang="en-US" sz="1800" dirty="0">
                <a:solidFill>
                  <a:srgbClr val="231F20"/>
                </a:solidFill>
                <a:effectLst/>
                <a:latin typeface="Times New Roman" panose="02020603050405020304" pitchFamily="18" charset="0"/>
                <a:ea typeface="Times New Roman" panose="02020603050405020304" pitchFamily="18" charset="0"/>
              </a:rPr>
              <a:t>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light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poles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roadsides,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wings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change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form</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airplanes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(through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 use</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flaps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slats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fixed-wing</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aircraft</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through</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motion</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wings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 fighter aircraft), and other dynamic structures.</a:t>
            </a:r>
            <a:endParaRPr lang="en-IN" sz="18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FDEABB9F-F0FF-09B6-B528-FDA0B771EABC}"/>
              </a:ext>
            </a:extLst>
          </p:cNvPr>
          <p:cNvSpPr txBox="1"/>
          <p:nvPr/>
        </p:nvSpPr>
        <p:spPr>
          <a:xfrm>
            <a:off x="265872" y="3750897"/>
            <a:ext cx="6097656" cy="2643159"/>
          </a:xfrm>
          <a:prstGeom prst="rect">
            <a:avLst/>
          </a:prstGeom>
          <a:noFill/>
        </p:spPr>
        <p:txBody>
          <a:bodyPr wrap="square">
            <a:spAutoFit/>
          </a:bodyPr>
          <a:lstStyle/>
          <a:p>
            <a:pPr marL="209550" marR="233680" indent="190500" algn="just">
              <a:lnSpc>
                <a:spcPct val="103000"/>
              </a:lnSpc>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first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step</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making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building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safe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earthquakes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was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make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more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rigid: </a:t>
            </a:r>
            <a:r>
              <a:rPr lang="en-US" sz="1800" dirty="0">
                <a:solidFill>
                  <a:srgbClr val="231F20"/>
                </a:solidFill>
                <a:effectLst/>
                <a:latin typeface="Times New Roman" panose="02020603050405020304" pitchFamily="18" charset="0"/>
                <a:ea typeface="Times New Roman" panose="02020603050405020304" pitchFamily="18" charset="0"/>
              </a:rPr>
              <a:t>thicker walls, for example. Later, to avoid impractical heavy structures, certain dynamics were added: the building now has bearings and shock absorbers that </a:t>
            </a:r>
            <a:r>
              <a:rPr lang="en-US" sz="1800" spc="-20" dirty="0">
                <a:solidFill>
                  <a:srgbClr val="231F20"/>
                </a:solidFill>
                <a:effectLst/>
                <a:latin typeface="Times New Roman" panose="02020603050405020304" pitchFamily="18" charset="0"/>
                <a:ea typeface="Times New Roman" panose="02020603050405020304" pitchFamily="18" charset="0"/>
              </a:rPr>
              <a:t>allow</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move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little.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Strength</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increased</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without</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extra</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weight.</a:t>
            </a:r>
            <a:r>
              <a:rPr lang="en-US" sz="1800" spc="-25" dirty="0">
                <a:solidFill>
                  <a:srgbClr val="FF0000"/>
                </a:solidFill>
                <a:effectLst/>
                <a:latin typeface="Times New Roman" panose="02020603050405020304" pitchFamily="18" charset="0"/>
                <a:ea typeface="Times New Roman" panose="02020603050405020304" pitchFamily="18" charset="0"/>
              </a:rPr>
              <a:t> </a:t>
            </a:r>
          </a:p>
          <a:p>
            <a:pPr marL="209550" marR="233680" indent="190500" algn="just">
              <a:lnSpc>
                <a:spcPct val="103000"/>
              </a:lnSpc>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automobile has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gone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through</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similar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evolution: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first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safety</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belts</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(passenger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fixed</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more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stiffly), </a:t>
            </a:r>
            <a:r>
              <a:rPr lang="en-US" sz="1800" dirty="0">
                <a:solidFill>
                  <a:srgbClr val="231F20"/>
                </a:solidFill>
                <a:effectLst/>
                <a:latin typeface="Times New Roman" panose="02020603050405020304" pitchFamily="18" charset="0"/>
                <a:ea typeface="Times New Roman" panose="02020603050405020304" pitchFamily="18" charset="0"/>
              </a:rPr>
              <a:t>then a dynamic part, the airbag, was added.</a:t>
            </a:r>
            <a:endParaRPr lang="en-IN" sz="1800" dirty="0">
              <a:effectLst/>
              <a:latin typeface="Times New Roman" panose="02020603050405020304" pitchFamily="18" charset="0"/>
              <a:ea typeface="Times New Roman" panose="02020603050405020304" pitchFamily="18" charset="0"/>
            </a:endParaRPr>
          </a:p>
        </p:txBody>
      </p:sp>
      <p:pic>
        <p:nvPicPr>
          <p:cNvPr id="2050" name="Picture 2" descr="Technology - EARTHQUAKES IN INDIA">
            <a:extLst>
              <a:ext uri="{FF2B5EF4-FFF2-40B4-BE49-F238E27FC236}">
                <a16:creationId xmlns:a16="http://schemas.microsoft.com/office/drawing/2014/main" id="{041E7D5C-58D6-84C2-226F-7E7E6EBB7A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3528" y="2981740"/>
            <a:ext cx="5255315" cy="3272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hapter 3 - Page 5 Aircraft Recognition">
            <a:extLst>
              <a:ext uri="{FF2B5EF4-FFF2-40B4-BE49-F238E27FC236}">
                <a16:creationId xmlns:a16="http://schemas.microsoft.com/office/drawing/2014/main" id="{D27DC55C-4D50-ADE3-0348-FE8CF0C8D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617" y="308112"/>
            <a:ext cx="4887568" cy="3120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08859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D56D5C-A057-D7A9-CC9F-E143F885F94B}"/>
              </a:ext>
            </a:extLst>
          </p:cNvPr>
          <p:cNvSpPr txBox="1"/>
          <p:nvPr/>
        </p:nvSpPr>
        <p:spPr>
          <a:xfrm>
            <a:off x="245993" y="603660"/>
            <a:ext cx="6097656" cy="1216487"/>
          </a:xfrm>
          <a:prstGeom prst="rect">
            <a:avLst/>
          </a:prstGeom>
          <a:noFill/>
        </p:spPr>
        <p:txBody>
          <a:bodyPr wrap="square">
            <a:spAutoFit/>
          </a:bodyPr>
          <a:lstStyle/>
          <a:p>
            <a:pPr marL="209550" marR="233045" indent="190500" algn="just">
              <a:lnSpc>
                <a:spcPct val="103000"/>
              </a:lnSpc>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Ways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increase </a:t>
            </a:r>
            <a:r>
              <a:rPr lang="en-US" sz="1800" dirty="0">
                <a:solidFill>
                  <a:srgbClr val="231F20"/>
                </a:solidFill>
                <a:effectLst/>
                <a:latin typeface="Times New Roman" panose="02020603050405020304" pitchFamily="18" charset="0"/>
                <a:ea typeface="Times New Roman" panose="02020603050405020304" pitchFamily="18" charset="0"/>
              </a:rPr>
              <a:t>flexibility are segmentation, flatter organizations (see Principle 12), preparing </a:t>
            </a:r>
            <a:r>
              <a:rPr lang="en-US" sz="1800" spc="-10" dirty="0">
                <a:solidFill>
                  <a:srgbClr val="231F20"/>
                </a:solidFill>
                <a:effectLst/>
                <a:latin typeface="Times New Roman" panose="02020603050405020304" pitchFamily="18" charset="0"/>
                <a:ea typeface="Times New Roman" panose="02020603050405020304" pitchFamily="18" charset="0"/>
              </a:rPr>
              <a:t>changes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before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encountering</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problem</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(Principles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9–11),</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discarding</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recover</a:t>
            </a:r>
            <a:r>
              <a:rPr lang="en-US" sz="1800" dirty="0">
                <a:solidFill>
                  <a:srgbClr val="231F20"/>
                </a:solidFill>
                <a:effectLst/>
                <a:latin typeface="Times New Roman" panose="02020603050405020304" pitchFamily="18" charset="0"/>
                <a:ea typeface="Times New Roman" panose="02020603050405020304" pitchFamily="18" charset="0"/>
              </a:rPr>
              <a:t>ing (Principle 34), and others.</a:t>
            </a:r>
            <a:endParaRPr lang="en-IN" sz="1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E42AD636-D39E-2BF8-554C-1D8FF46897EB}"/>
              </a:ext>
            </a:extLst>
          </p:cNvPr>
          <p:cNvSpPr txBox="1"/>
          <p:nvPr/>
        </p:nvSpPr>
        <p:spPr>
          <a:xfrm>
            <a:off x="325506" y="2035527"/>
            <a:ext cx="6097656" cy="4247317"/>
          </a:xfrm>
          <a:prstGeom prst="rect">
            <a:avLst/>
          </a:prstGeom>
          <a:noFill/>
        </p:spPr>
        <p:txBody>
          <a:bodyPr wrap="square">
            <a:spAutoFit/>
          </a:bodyPr>
          <a:lstStyle/>
          <a:p>
            <a:pPr marL="285750" indent="-285750" algn="just">
              <a:spcBef>
                <a:spcPts val="1010"/>
              </a:spcBef>
              <a:buFont typeface="Arial" panose="020B0604020202020204" pitchFamily="34" charset="0"/>
              <a:buChar char="•"/>
              <a:tabLst>
                <a:tab pos="513715" algn="l"/>
              </a:tabLst>
            </a:pPr>
            <a:r>
              <a:rPr lang="en-US" sz="1800" spc="-10" dirty="0">
                <a:solidFill>
                  <a:srgbClr val="FF0000"/>
                </a:solidFill>
                <a:effectLst/>
                <a:latin typeface="Times New Roman" panose="02020603050405020304" pitchFamily="18" charset="0"/>
                <a:ea typeface="Times New Roman" panose="02020603050405020304" pitchFamily="18" charset="0"/>
              </a:rPr>
              <a:t>NASA</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has</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successfully</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tested</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an</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aircraft</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that</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can</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inflate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its</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wings</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in</a:t>
            </a:r>
            <a:r>
              <a:rPr lang="en-US" sz="1800" spc="-4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flight.</a:t>
            </a:r>
            <a:endParaRPr lang="en-IN" sz="1800" dirty="0">
              <a:solidFill>
                <a:srgbClr val="FF0000"/>
              </a:solidFill>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tabLst>
                <a:tab pos="513715" algn="l"/>
              </a:tabLst>
            </a:pPr>
            <a:r>
              <a:rPr lang="en-US" sz="1800" spc="-20" dirty="0">
                <a:solidFill>
                  <a:srgbClr val="231F20"/>
                </a:solidFill>
                <a:effectLst/>
                <a:latin typeface="Times New Roman" panose="02020603050405020304" pitchFamily="18" charset="0"/>
                <a:ea typeface="Times New Roman" panose="02020603050405020304" pitchFamily="18" charset="0"/>
              </a:rPr>
              <a:t>Software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applications</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have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user-configurable</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toolbars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and</a:t>
            </a:r>
            <a:r>
              <a:rPr lang="en-US" sz="1800" spc="-1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interfaces.</a:t>
            </a:r>
            <a:endParaRPr lang="en-IN" sz="2000" dirty="0">
              <a:effectLst/>
              <a:latin typeface="Times New Roman" panose="02020603050405020304" pitchFamily="18" charset="0"/>
              <a:ea typeface="Times New Roman" panose="02020603050405020304" pitchFamily="18" charset="0"/>
            </a:endParaRPr>
          </a:p>
          <a:p>
            <a:pPr marL="285750" marR="233680" indent="-285750" algn="just">
              <a:buFont typeface="Arial" panose="020B0604020202020204" pitchFamily="34" charset="0"/>
              <a:buChar char="•"/>
              <a:tabLst>
                <a:tab pos="514350" algn="l"/>
              </a:tabLst>
            </a:pPr>
            <a:r>
              <a:rPr lang="en-US" sz="1800" spc="-20" dirty="0">
                <a:solidFill>
                  <a:srgbClr val="231F20"/>
                </a:solidFill>
                <a:effectLst/>
                <a:latin typeface="Times New Roman" panose="02020603050405020304" pitchFamily="18" charset="0"/>
                <a:ea typeface="Times New Roman" panose="02020603050405020304" pitchFamily="18" charset="0"/>
              </a:rPr>
              <a:t>“Cafeteria”</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benefits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allow</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employees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pick</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which</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types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insurance,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health </a:t>
            </a:r>
            <a:r>
              <a:rPr lang="en-US" sz="1800" dirty="0">
                <a:solidFill>
                  <a:srgbClr val="231F20"/>
                </a:solidFill>
                <a:effectLst/>
                <a:latin typeface="Times New Roman" panose="02020603050405020304" pitchFamily="18" charset="0"/>
                <a:ea typeface="Times New Roman" panose="02020603050405020304" pitchFamily="18" charset="0"/>
              </a:rPr>
              <a:t>coverage, and such, they want.</a:t>
            </a:r>
            <a:endParaRPr lang="en-IN" sz="2000" dirty="0">
              <a:effectLst/>
              <a:latin typeface="Times New Roman" panose="02020603050405020304" pitchFamily="18" charset="0"/>
              <a:ea typeface="Times New Roman" panose="02020603050405020304" pitchFamily="18" charset="0"/>
            </a:endParaRPr>
          </a:p>
          <a:p>
            <a:pPr marL="285750" marR="234315" indent="-285750" algn="just">
              <a:buFont typeface="Arial" panose="020B0604020202020204" pitchFamily="34" charset="0"/>
              <a:buChar char="•"/>
              <a:tabLst>
                <a:tab pos="514350" algn="l"/>
              </a:tabLst>
            </a:pPr>
            <a:r>
              <a:rPr lang="en-US" sz="1800" dirty="0">
                <a:solidFill>
                  <a:srgbClr val="231F20"/>
                </a:solidFill>
                <a:effectLst/>
                <a:latin typeface="Times New Roman" panose="02020603050405020304" pitchFamily="18" charset="0"/>
                <a:ea typeface="Times New Roman" panose="02020603050405020304" pitchFamily="18" charset="0"/>
              </a:rPr>
              <a:t>Traditional</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printed</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traffic</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signs</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often</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replaced</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by</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signs</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vary</a:t>
            </a:r>
            <a:r>
              <a:rPr lang="en-US" sz="1800" spc="1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 response to changes in weather and traffic conditions.</a:t>
            </a:r>
            <a:endParaRPr lang="en-IN" sz="20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tabLst>
                <a:tab pos="513715" algn="l"/>
              </a:tabLst>
            </a:pPr>
            <a:r>
              <a:rPr lang="en-US" sz="1800" spc="-20" dirty="0">
                <a:solidFill>
                  <a:srgbClr val="231F20"/>
                </a:solidFill>
                <a:effectLst/>
                <a:latin typeface="Times New Roman" panose="02020603050405020304" pitchFamily="18" charset="0"/>
                <a:ea typeface="Times New Roman" panose="02020603050405020304" pitchFamily="18" charset="0"/>
              </a:rPr>
              <a:t>In</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self-righting</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vessels,</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ballast</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shifts,</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making</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vessel</a:t>
            </a:r>
            <a:r>
              <a:rPr lang="en-US" sz="180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right</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itself.</a:t>
            </a:r>
            <a:endParaRPr lang="en-IN" sz="2000" dirty="0">
              <a:effectLst/>
              <a:latin typeface="Times New Roman" panose="02020603050405020304" pitchFamily="18" charset="0"/>
              <a:ea typeface="Times New Roman" panose="02020603050405020304" pitchFamily="18" charset="0"/>
            </a:endParaRPr>
          </a:p>
          <a:p>
            <a:pPr marL="285750" marR="234315" indent="-285750" algn="just">
              <a:buFont typeface="Arial" panose="020B0604020202020204" pitchFamily="34" charset="0"/>
              <a:buChar char="•"/>
              <a:tabLst>
                <a:tab pos="514350" algn="l"/>
              </a:tabLst>
            </a:pPr>
            <a:r>
              <a:rPr lang="en-US" sz="1800" dirty="0">
                <a:solidFill>
                  <a:srgbClr val="231F20"/>
                </a:solidFill>
                <a:effectLst/>
                <a:latin typeface="Times New Roman" panose="02020603050405020304" pitchFamily="18" charset="0"/>
                <a:ea typeface="Times New Roman" panose="02020603050405020304" pitchFamily="18" charset="0"/>
              </a:rPr>
              <a:t>Smart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traffic</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lights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help</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drivers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arrive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when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lights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green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discourage frequent starts and stops.</a:t>
            </a:r>
            <a:endParaRPr lang="en-IN" sz="20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tabLst>
                <a:tab pos="513715" algn="l"/>
              </a:tabLst>
            </a:pPr>
            <a:r>
              <a:rPr lang="en-US" sz="1800" spc="-20" dirty="0">
                <a:solidFill>
                  <a:srgbClr val="231F20"/>
                </a:solidFill>
                <a:effectLst/>
                <a:latin typeface="Times New Roman" panose="02020603050405020304" pitchFamily="18" charset="0"/>
                <a:ea typeface="Times New Roman" panose="02020603050405020304" pitchFamily="18" charset="0"/>
              </a:rPr>
              <a:t>Flexible</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manufacturing systems (FMSs)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are increasingly used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 industry.</a:t>
            </a:r>
            <a:endParaRPr lang="en-IN" sz="2000" dirty="0">
              <a:effectLst/>
              <a:latin typeface="Times New Roman" panose="02020603050405020304" pitchFamily="18" charset="0"/>
              <a:ea typeface="Times New Roman" panose="02020603050405020304" pitchFamily="18" charset="0"/>
            </a:endParaRPr>
          </a:p>
        </p:txBody>
      </p:sp>
      <p:pic>
        <p:nvPicPr>
          <p:cNvPr id="3074" name="Picture 2" descr="The Unsinkable Solar Boat for Arctic Exploration">
            <a:extLst>
              <a:ext uri="{FF2B5EF4-FFF2-40B4-BE49-F238E27FC236}">
                <a16:creationId xmlns:a16="http://schemas.microsoft.com/office/drawing/2014/main" id="{1D75A62A-395E-56E2-0EFA-53C3221C4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3162" y="1211903"/>
            <a:ext cx="5593247" cy="4574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2134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79EF3D-B1F8-D7FB-07F3-2238472E7B22}"/>
              </a:ext>
            </a:extLst>
          </p:cNvPr>
          <p:cNvSpPr txBox="1"/>
          <p:nvPr/>
        </p:nvSpPr>
        <p:spPr>
          <a:xfrm>
            <a:off x="723072" y="490745"/>
            <a:ext cx="5787058" cy="1477328"/>
          </a:xfrm>
          <a:prstGeom prst="rect">
            <a:avLst/>
          </a:prstGeom>
          <a:noFill/>
        </p:spPr>
        <p:txBody>
          <a:bodyPr wrap="square">
            <a:spAutoFit/>
          </a:bodyPr>
          <a:lstStyle/>
          <a:p>
            <a:r>
              <a:rPr lang="en-US" sz="1800" b="1" i="1" dirty="0">
                <a:solidFill>
                  <a:srgbClr val="231F20"/>
                </a:solidFill>
                <a:effectLst/>
                <a:latin typeface="Times New Roman" panose="02020603050405020304" pitchFamily="18" charset="0"/>
                <a:ea typeface="Times New Roman" panose="02020603050405020304" pitchFamily="18" charset="0"/>
              </a:rPr>
              <a:t>21. INTERMEDIARY.</a:t>
            </a:r>
          </a:p>
          <a:p>
            <a:r>
              <a:rPr lang="en-US" sz="1800" b="1" i="1" spc="-50" dirty="0">
                <a:solidFill>
                  <a:srgbClr val="231F20"/>
                </a:solidFill>
                <a:effectLst/>
                <a:latin typeface="Times New Roman" panose="02020603050405020304" pitchFamily="18" charset="0"/>
                <a:ea typeface="Times New Roman" panose="02020603050405020304" pitchFamily="18" charset="0"/>
              </a:rPr>
              <a:t> </a:t>
            </a:r>
          </a:p>
          <a:p>
            <a:pPr algn="just"/>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intermediary</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carrier</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article</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intermediary</a:t>
            </a:r>
            <a:r>
              <a:rPr lang="en-US" sz="1800" spc="-50"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process</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Merge </a:t>
            </a:r>
            <a:r>
              <a:rPr lang="en-US" sz="1800" spc="-10" dirty="0">
                <a:solidFill>
                  <a:schemeClr val="accent1"/>
                </a:solidFill>
                <a:effectLst/>
                <a:latin typeface="Times New Roman" panose="02020603050405020304" pitchFamily="18" charset="0"/>
                <a:ea typeface="Times New Roman" panose="02020603050405020304" pitchFamily="18" charset="0"/>
              </a:rPr>
              <a:t>one</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object</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temporarily</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with</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another</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that</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can</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be</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easily</a:t>
            </a:r>
            <a:r>
              <a:rPr lang="en-US" sz="1800" spc="-50" dirty="0">
                <a:solidFill>
                  <a:schemeClr val="accent1"/>
                </a:solidFill>
                <a:effectLst/>
                <a:latin typeface="Times New Roman" panose="02020603050405020304" pitchFamily="18" charset="0"/>
                <a:ea typeface="Times New Roman" panose="02020603050405020304" pitchFamily="18" charset="0"/>
              </a:rPr>
              <a:t> </a:t>
            </a:r>
            <a:r>
              <a:rPr lang="en-US" sz="1800" spc="-10" dirty="0">
                <a:solidFill>
                  <a:schemeClr val="accent1"/>
                </a:solidFill>
                <a:effectLst/>
                <a:latin typeface="Times New Roman" panose="02020603050405020304" pitchFamily="18" charset="0"/>
                <a:ea typeface="Times New Roman" panose="02020603050405020304" pitchFamily="18" charset="0"/>
              </a:rPr>
              <a:t>removed</a:t>
            </a:r>
            <a:endParaRPr lang="en-IN" dirty="0">
              <a:solidFill>
                <a:schemeClr val="accent1"/>
              </a:solidFill>
            </a:endParaRPr>
          </a:p>
        </p:txBody>
      </p:sp>
      <p:sp>
        <p:nvSpPr>
          <p:cNvPr id="5" name="TextBox 4">
            <a:extLst>
              <a:ext uri="{FF2B5EF4-FFF2-40B4-BE49-F238E27FC236}">
                <a16:creationId xmlns:a16="http://schemas.microsoft.com/office/drawing/2014/main" id="{CDFFFB93-1069-4890-6D77-7EB8D8C45420}"/>
              </a:ext>
            </a:extLst>
          </p:cNvPr>
          <p:cNvSpPr txBox="1"/>
          <p:nvPr/>
        </p:nvSpPr>
        <p:spPr>
          <a:xfrm>
            <a:off x="723072" y="1961094"/>
            <a:ext cx="6097656" cy="4247317"/>
          </a:xfrm>
          <a:prstGeom prst="rect">
            <a:avLst/>
          </a:prstGeom>
          <a:noFill/>
        </p:spPr>
        <p:txBody>
          <a:bodyPr wrap="square">
            <a:spAutoFit/>
          </a:bodyPr>
          <a:lstStyle/>
          <a:p>
            <a:pPr marL="285750" marR="233045" indent="-285750" algn="just">
              <a:spcBef>
                <a:spcPts val="890"/>
              </a:spcBef>
              <a:spcAft>
                <a:spcPts val="0"/>
              </a:spcAft>
              <a:buFont typeface="Arial" panose="020B0604020202020204" pitchFamily="34" charset="0"/>
              <a:buChar char="•"/>
              <a:tabLst>
                <a:tab pos="514350" algn="l"/>
              </a:tabLst>
            </a:pPr>
            <a:r>
              <a:rPr lang="en-US" sz="1800" spc="-10" dirty="0">
                <a:solidFill>
                  <a:srgbClr val="231F20"/>
                </a:solidFill>
                <a:effectLst/>
                <a:latin typeface="Times New Roman" panose="02020603050405020304" pitchFamily="18" charset="0"/>
                <a:ea typeface="Times New Roman" panose="02020603050405020304" pitchFamily="18" charset="0"/>
              </a:rPr>
              <a:t>Fixtures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jigs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are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position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parts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make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assembly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easy.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assem</a:t>
            </a:r>
            <a:r>
              <a:rPr lang="en-US" sz="1800" spc="-30" dirty="0">
                <a:solidFill>
                  <a:srgbClr val="231F20"/>
                </a:solidFill>
                <a:effectLst/>
                <a:latin typeface="Times New Roman" panose="02020603050405020304" pitchFamily="18" charset="0"/>
                <a:ea typeface="Times New Roman" panose="02020603050405020304" pitchFamily="18" charset="0"/>
              </a:rPr>
              <a:t>bled parts are removed and the jigs are used repeatedly. This concept is applied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home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well</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factory a</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baking</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gelatin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mold</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 “intermediary”</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shaping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dessert,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potholder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intermediary</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 carrying a hot dish to the table without burning the server’s hands.</a:t>
            </a:r>
            <a:endParaRPr lang="en-IN" sz="2000" dirty="0">
              <a:effectLst/>
              <a:latin typeface="Times New Roman" panose="02020603050405020304" pitchFamily="18" charset="0"/>
              <a:ea typeface="Times New Roman" panose="02020603050405020304" pitchFamily="18" charset="0"/>
            </a:endParaRPr>
          </a:p>
          <a:p>
            <a:pPr marL="285750" marR="233680" indent="-285750" algn="just">
              <a:spcBef>
                <a:spcPts val="20"/>
              </a:spcBef>
              <a:spcAft>
                <a:spcPts val="0"/>
              </a:spcAft>
              <a:buFont typeface="Arial" panose="020B0604020202020204" pitchFamily="34" charset="0"/>
              <a:buChar char="•"/>
              <a:tabLst>
                <a:tab pos="514350" algn="l"/>
              </a:tabLst>
            </a:pPr>
            <a:r>
              <a:rPr lang="en-US" sz="1800" spc="-20" dirty="0">
                <a:solidFill>
                  <a:srgbClr val="231F20"/>
                </a:solidFill>
                <a:effectLst/>
                <a:latin typeface="Times New Roman" panose="02020603050405020304" pitchFamily="18" charset="0"/>
                <a:ea typeface="Times New Roman" panose="02020603050405020304" pitchFamily="18" charset="0"/>
              </a:rPr>
              <a:t>Ice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can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used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hold</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small</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components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place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temporarily</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they</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will</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not be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harmed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water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when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ice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melts.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See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also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earlier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example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of</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fixing </a:t>
            </a:r>
            <a:r>
              <a:rPr lang="en-US" sz="1800" dirty="0">
                <a:solidFill>
                  <a:srgbClr val="231F20"/>
                </a:solidFill>
                <a:effectLst/>
                <a:latin typeface="Times New Roman" panose="02020603050405020304" pitchFamily="18" charset="0"/>
                <a:ea typeface="Times New Roman" panose="02020603050405020304" pitchFamily="18" charset="0"/>
              </a:rPr>
              <a:t>carrot seeds on tape.</a:t>
            </a:r>
            <a:endParaRPr lang="en-IN" sz="2000" dirty="0">
              <a:effectLst/>
              <a:latin typeface="Times New Roman" panose="02020603050405020304" pitchFamily="18" charset="0"/>
              <a:ea typeface="Times New Roman" panose="02020603050405020304" pitchFamily="18" charset="0"/>
            </a:endParaRPr>
          </a:p>
          <a:p>
            <a:pPr marL="285750" marR="234315" indent="-285750" algn="just">
              <a:spcBef>
                <a:spcPts val="10"/>
              </a:spcBef>
              <a:spcAft>
                <a:spcPts val="0"/>
              </a:spcAft>
              <a:buFont typeface="Arial" panose="020B0604020202020204" pitchFamily="34" charset="0"/>
              <a:buChar char="•"/>
              <a:tabLst>
                <a:tab pos="514350" algn="l"/>
              </a:tabLst>
            </a:pP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neutral</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third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party</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intermediary</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during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difficult</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negotia</a:t>
            </a:r>
            <a:r>
              <a:rPr lang="en-US" sz="1800" spc="-20" dirty="0">
                <a:solidFill>
                  <a:srgbClr val="231F20"/>
                </a:solidFill>
                <a:effectLst/>
                <a:latin typeface="Times New Roman" panose="02020603050405020304" pitchFamily="18" charset="0"/>
                <a:ea typeface="Times New Roman" panose="02020603050405020304" pitchFamily="18" charset="0"/>
              </a:rPr>
              <a:t>tions.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For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sales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promotion,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intermediary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who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seen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customer</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an </a:t>
            </a:r>
            <a:r>
              <a:rPr lang="en-US" sz="1800" dirty="0">
                <a:solidFill>
                  <a:srgbClr val="231F20"/>
                </a:solidFill>
                <a:effectLst/>
                <a:latin typeface="Times New Roman" panose="02020603050405020304" pitchFamily="18" charset="0"/>
                <a:ea typeface="Times New Roman" panose="02020603050405020304" pitchFamily="18" charset="0"/>
              </a:rPr>
              <a:t>impartial expert can make recommendations.</a:t>
            </a:r>
            <a:endParaRPr lang="en-IN" sz="2000" dirty="0">
              <a:effectLst/>
              <a:latin typeface="Times New Roman" panose="02020603050405020304" pitchFamily="18" charset="0"/>
              <a:ea typeface="Times New Roman" panose="02020603050405020304" pitchFamily="18" charset="0"/>
            </a:endParaRPr>
          </a:p>
        </p:txBody>
      </p:sp>
      <p:pic>
        <p:nvPicPr>
          <p:cNvPr id="1026" name="Picture 2" descr="What are Jigs and Fixtures | Reid Supply">
            <a:extLst>
              <a:ext uri="{FF2B5EF4-FFF2-40B4-BE49-F238E27FC236}">
                <a16:creationId xmlns:a16="http://schemas.microsoft.com/office/drawing/2014/main" id="{1BFD0890-B3BA-BA1C-A4A8-0BEBFC7C47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9378" y="690756"/>
            <a:ext cx="4253948" cy="255463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mage result for adapter">
            <a:extLst>
              <a:ext uri="{FF2B5EF4-FFF2-40B4-BE49-F238E27FC236}">
                <a16:creationId xmlns:a16="http://schemas.microsoft.com/office/drawing/2014/main" id="{99A10A42-29F4-DCD5-4042-968121270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0327" y="3722386"/>
            <a:ext cx="2486025" cy="24860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bank">
            <a:extLst>
              <a:ext uri="{FF2B5EF4-FFF2-40B4-BE49-F238E27FC236}">
                <a16:creationId xmlns:a16="http://schemas.microsoft.com/office/drawing/2014/main" id="{B5E7E868-BCA0-A2B0-5CC1-C9784D0D08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05951" y="3850973"/>
            <a:ext cx="2505075" cy="222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4799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CE3-F9CE-49F1-0E4C-4DFCF09A2FBD}"/>
              </a:ext>
            </a:extLst>
          </p:cNvPr>
          <p:cNvSpPr txBox="1"/>
          <p:nvPr/>
        </p:nvSpPr>
        <p:spPr>
          <a:xfrm>
            <a:off x="236054" y="588298"/>
            <a:ext cx="6097656" cy="2511713"/>
          </a:xfrm>
          <a:prstGeom prst="rect">
            <a:avLst/>
          </a:prstGeom>
          <a:noFill/>
        </p:spPr>
        <p:txBody>
          <a:bodyPr wrap="square">
            <a:spAutoFit/>
          </a:bodyPr>
          <a:lstStyle/>
          <a:p>
            <a:pPr marL="209550" marR="234315" algn="just">
              <a:lnSpc>
                <a:spcPct val="103000"/>
              </a:lnSpc>
              <a:spcBef>
                <a:spcPts val="595"/>
              </a:spcBef>
              <a:spcAft>
                <a:spcPts val="0"/>
              </a:spcAft>
            </a:pPr>
            <a:r>
              <a:rPr lang="en-US" sz="1800" b="1" i="1" spc="-20" dirty="0">
                <a:solidFill>
                  <a:srgbClr val="231F20"/>
                </a:solidFill>
                <a:effectLst/>
                <a:latin typeface="Times New Roman" panose="02020603050405020304" pitchFamily="18" charset="0"/>
                <a:ea typeface="Times New Roman" panose="02020603050405020304" pitchFamily="18" charset="0"/>
              </a:rPr>
              <a:t>22.CONTINUITY</a:t>
            </a:r>
            <a:r>
              <a:rPr lang="en-US" sz="1800" b="1" i="1" spc="-30"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OF</a:t>
            </a:r>
            <a:r>
              <a:rPr lang="en-US" sz="1800" b="1" i="1" spc="-30"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USEFUL</a:t>
            </a:r>
            <a:r>
              <a:rPr lang="en-US" sz="1800" b="1" i="1" spc="-30" dirty="0">
                <a:solidFill>
                  <a:srgbClr val="231F20"/>
                </a:solidFill>
                <a:effectLst/>
                <a:latin typeface="Times New Roman" panose="02020603050405020304" pitchFamily="18" charset="0"/>
                <a:ea typeface="Times New Roman" panose="02020603050405020304" pitchFamily="18" charset="0"/>
              </a:rPr>
              <a:t> </a:t>
            </a:r>
            <a:r>
              <a:rPr lang="en-US" sz="1800" b="1" i="1" spc="-20" dirty="0">
                <a:solidFill>
                  <a:srgbClr val="231F20"/>
                </a:solidFill>
                <a:effectLst/>
                <a:latin typeface="Times New Roman" panose="02020603050405020304" pitchFamily="18" charset="0"/>
                <a:ea typeface="Times New Roman" panose="02020603050405020304" pitchFamily="18" charset="0"/>
              </a:rPr>
              <a:t>ACTION</a:t>
            </a:r>
            <a:endParaRPr lang="en-US" sz="1800" b="1" i="1" spc="-25" dirty="0">
              <a:solidFill>
                <a:srgbClr val="231F20"/>
              </a:solidFill>
              <a:effectLst/>
              <a:latin typeface="Times New Roman" panose="02020603050405020304" pitchFamily="18" charset="0"/>
              <a:ea typeface="Times New Roman" panose="02020603050405020304" pitchFamily="18" charset="0"/>
            </a:endParaRPr>
          </a:p>
          <a:p>
            <a:pPr marL="209550" marR="234315" algn="just">
              <a:lnSpc>
                <a:spcPct val="103000"/>
              </a:lnSpc>
              <a:spcBef>
                <a:spcPts val="595"/>
              </a:spcBef>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Carry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work</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continuously;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make</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all</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parts</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of</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an</a:t>
            </a:r>
            <a:r>
              <a:rPr lang="en-US" sz="1800" spc="-25"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object </a:t>
            </a:r>
            <a:r>
              <a:rPr lang="en-US" sz="1800" dirty="0">
                <a:solidFill>
                  <a:srgbClr val="FF0000"/>
                </a:solidFill>
                <a:effectLst/>
                <a:latin typeface="Times New Roman" panose="02020603050405020304" pitchFamily="18" charset="0"/>
                <a:ea typeface="Times New Roman" panose="02020603050405020304" pitchFamily="18" charset="0"/>
              </a:rPr>
              <a:t>or</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system</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work</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at</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full</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load</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all</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the</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dirty="0">
                <a:solidFill>
                  <a:srgbClr val="FF0000"/>
                </a:solidFill>
                <a:effectLst/>
                <a:latin typeface="Times New Roman" panose="02020603050405020304" pitchFamily="18" charset="0"/>
                <a:ea typeface="Times New Roman" panose="02020603050405020304" pitchFamily="18" charset="0"/>
              </a:rPr>
              <a:t>time</a:t>
            </a:r>
            <a:r>
              <a:rPr lang="en-US" sz="1800" dirty="0">
                <a:solidFill>
                  <a:srgbClr val="231F20"/>
                </a:solidFill>
                <a:effectLst/>
                <a:latin typeface="Times New Roman" panose="02020603050405020304" pitchFamily="18" charset="0"/>
                <a:ea typeface="Times New Roman" panose="02020603050405020304" pitchFamily="18" charset="0"/>
              </a:rPr>
              <a:t>.</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Eliminate</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all</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idle</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or</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intermittent</a:t>
            </a:r>
            <a:r>
              <a:rPr lang="en-US" sz="1800" spc="-35" dirty="0">
                <a:solidFill>
                  <a:schemeClr val="accent1"/>
                </a:solidFill>
                <a:effectLst/>
                <a:latin typeface="Times New Roman" panose="02020603050405020304" pitchFamily="18" charset="0"/>
                <a:ea typeface="Times New Roman" panose="02020603050405020304" pitchFamily="18" charset="0"/>
              </a:rPr>
              <a:t> </a:t>
            </a:r>
            <a:r>
              <a:rPr lang="en-US" sz="1800" dirty="0">
                <a:solidFill>
                  <a:schemeClr val="accent1"/>
                </a:solidFill>
                <a:effectLst/>
                <a:latin typeface="Times New Roman" panose="02020603050405020304" pitchFamily="18" charset="0"/>
                <a:ea typeface="Times New Roman" panose="02020603050405020304" pitchFamily="18" charset="0"/>
              </a:rPr>
              <a:t>actions. </a:t>
            </a:r>
          </a:p>
          <a:p>
            <a:pPr marL="209550" marR="234315" algn="just">
              <a:lnSpc>
                <a:spcPct val="103000"/>
              </a:lnSpc>
              <a:spcBef>
                <a:spcPts val="595"/>
              </a:spcBef>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if</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you</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eliminate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all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inter</a:t>
            </a:r>
            <a:r>
              <a:rPr lang="en-US" sz="1800" dirty="0">
                <a:solidFill>
                  <a:srgbClr val="231F20"/>
                </a:solidFill>
                <a:effectLst/>
                <a:latin typeface="Times New Roman" panose="02020603050405020304" pitchFamily="18" charset="0"/>
                <a:ea typeface="Times New Roman" panose="02020603050405020304" pitchFamily="18" charset="0"/>
              </a:rPr>
              <a:t>mittent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actions,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you</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will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have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pauses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just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emphasizes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that</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 </a:t>
            </a:r>
            <a:r>
              <a:rPr lang="en-US" sz="1800" spc="-10" dirty="0">
                <a:solidFill>
                  <a:srgbClr val="231F20"/>
                </a:solidFill>
                <a:effectLst/>
                <a:latin typeface="Times New Roman" panose="02020603050405020304" pitchFamily="18" charset="0"/>
                <a:ea typeface="Times New Roman" panose="02020603050405020304" pitchFamily="18" charset="0"/>
              </a:rPr>
              <a:t>various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suggestions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each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principle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must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applied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with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common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sense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par</a:t>
            </a:r>
            <a:r>
              <a:rPr lang="en-US" sz="1800" dirty="0">
                <a:solidFill>
                  <a:srgbClr val="231F20"/>
                </a:solidFill>
                <a:effectLst/>
                <a:latin typeface="Times New Roman" panose="02020603050405020304" pitchFamily="18" charset="0"/>
                <a:ea typeface="Times New Roman" panose="02020603050405020304" pitchFamily="18" charset="0"/>
              </a:rPr>
              <a:t>ticular situation.</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9F48947B-78F1-C8D9-7F98-297FD0DF38D2}"/>
              </a:ext>
            </a:extLst>
          </p:cNvPr>
          <p:cNvSpPr txBox="1"/>
          <p:nvPr/>
        </p:nvSpPr>
        <p:spPr>
          <a:xfrm>
            <a:off x="236054" y="3429000"/>
            <a:ext cx="6097656" cy="1216487"/>
          </a:xfrm>
          <a:prstGeom prst="rect">
            <a:avLst/>
          </a:prstGeom>
          <a:noFill/>
        </p:spPr>
        <p:txBody>
          <a:bodyPr wrap="square">
            <a:spAutoFit/>
          </a:bodyPr>
          <a:lstStyle/>
          <a:p>
            <a:pPr marL="209550" marR="233045" indent="190500" algn="just">
              <a:lnSpc>
                <a:spcPct val="103000"/>
              </a:lnSpc>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changing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character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manufacturing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shows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considerable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influence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this </a:t>
            </a:r>
            <a:r>
              <a:rPr lang="en-US" sz="1800" dirty="0">
                <a:solidFill>
                  <a:srgbClr val="231F20"/>
                </a:solidFill>
                <a:effectLst/>
                <a:latin typeface="Times New Roman" panose="02020603050405020304" pitchFamily="18" charset="0"/>
                <a:ea typeface="Times New Roman" panose="02020603050405020304" pitchFamily="18" charset="0"/>
              </a:rPr>
              <a:t>principle. Lean and JIT manufacturing methods both emphasize small, customized production runs instead of long series.</a:t>
            </a:r>
            <a:endParaRPr lang="en-IN" sz="18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4BAA91B2-7D05-D6C7-AF12-FA4BB1A13E4A}"/>
              </a:ext>
            </a:extLst>
          </p:cNvPr>
          <p:cNvSpPr txBox="1"/>
          <p:nvPr/>
        </p:nvSpPr>
        <p:spPr>
          <a:xfrm>
            <a:off x="494472" y="5093212"/>
            <a:ext cx="6097656" cy="646331"/>
          </a:xfrm>
          <a:prstGeom prst="rect">
            <a:avLst/>
          </a:prstGeom>
          <a:noFill/>
        </p:spPr>
        <p:txBody>
          <a:bodyPr wrap="square">
            <a:spAutoFit/>
          </a:bodyPr>
          <a:lstStyle/>
          <a:p>
            <a:pPr marL="285750" indent="-285750">
              <a:spcBef>
                <a:spcPts val="1100"/>
              </a:spcBef>
              <a:buFont typeface="Arial" panose="020B0604020202020204" pitchFamily="34" charset="0"/>
              <a:buChar char="•"/>
              <a:tabLst>
                <a:tab pos="513715" algn="l"/>
              </a:tabLst>
            </a:pPr>
            <a:r>
              <a:rPr lang="en-US" sz="1800" spc="-10" dirty="0">
                <a:solidFill>
                  <a:srgbClr val="231F20"/>
                </a:solidFill>
                <a:effectLst/>
                <a:latin typeface="Times New Roman" panose="02020603050405020304" pitchFamily="18" charset="0"/>
                <a:ea typeface="Times New Roman" panose="02020603050405020304" pitchFamily="18" charset="0"/>
              </a:rPr>
              <a:t>Continuous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casting</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 steel</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 other</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metals</a:t>
            </a:r>
            <a:endParaRPr lang="en-IN" sz="2000" dirty="0">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tabLst>
                <a:tab pos="513715" algn="l"/>
              </a:tabLst>
            </a:pPr>
            <a:r>
              <a:rPr lang="en-US" sz="1800" spc="-20" dirty="0">
                <a:solidFill>
                  <a:srgbClr val="231F20"/>
                </a:solidFill>
                <a:effectLst/>
                <a:latin typeface="Times New Roman" panose="02020603050405020304" pitchFamily="18" charset="0"/>
                <a:ea typeface="Times New Roman" panose="02020603050405020304" pitchFamily="18" charset="0"/>
              </a:rPr>
              <a:t>Continuously</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variable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automatic</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transmission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(CVT)</a:t>
            </a:r>
            <a:endParaRPr lang="en-IN" sz="2000" dirty="0">
              <a:effectLst/>
              <a:latin typeface="Times New Roman" panose="02020603050405020304" pitchFamily="18" charset="0"/>
              <a:ea typeface="Times New Roman" panose="02020603050405020304" pitchFamily="18" charset="0"/>
            </a:endParaRPr>
          </a:p>
        </p:txBody>
      </p:sp>
      <p:pic>
        <p:nvPicPr>
          <p:cNvPr id="5122" name="Picture 2" descr="Image result for conveyor belt">
            <a:extLst>
              <a:ext uri="{FF2B5EF4-FFF2-40B4-BE49-F238E27FC236}">
                <a16:creationId xmlns:a16="http://schemas.microsoft.com/office/drawing/2014/main" id="{0E57EB37-D7B9-DF4E-8235-BD474CEE2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6417" y="691256"/>
            <a:ext cx="4839529" cy="252902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continuous life support">
            <a:extLst>
              <a:ext uri="{FF2B5EF4-FFF2-40B4-BE49-F238E27FC236}">
                <a16:creationId xmlns:a16="http://schemas.microsoft.com/office/drawing/2014/main" id="{FF417A4C-1A96-66AF-767C-8EF0479BE2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7971" y="3937894"/>
            <a:ext cx="2847975" cy="222885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Next Generation Automated Lubrication Systems | Lubecore International">
            <a:extLst>
              <a:ext uri="{FF2B5EF4-FFF2-40B4-BE49-F238E27FC236}">
                <a16:creationId xmlns:a16="http://schemas.microsoft.com/office/drawing/2014/main" id="{7592A381-D4FC-F1C7-6195-B99115BE80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2140" y="3827286"/>
            <a:ext cx="2564296" cy="244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78660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61B8AB-6508-8A14-DCCC-AB44B76CB4D2}"/>
              </a:ext>
            </a:extLst>
          </p:cNvPr>
          <p:cNvSpPr txBox="1"/>
          <p:nvPr/>
        </p:nvSpPr>
        <p:spPr>
          <a:xfrm>
            <a:off x="233796" y="685801"/>
            <a:ext cx="6097656" cy="5616794"/>
          </a:xfrm>
          <a:prstGeom prst="rect">
            <a:avLst/>
          </a:prstGeom>
          <a:noFill/>
        </p:spPr>
        <p:txBody>
          <a:bodyPr wrap="square">
            <a:spAutoFit/>
          </a:bodyPr>
          <a:lstStyle/>
          <a:p>
            <a:pPr marL="209550" marR="233045" algn="just">
              <a:lnSpc>
                <a:spcPct val="105000"/>
              </a:lnSpc>
              <a:spcBef>
                <a:spcPts val="625"/>
              </a:spcBef>
              <a:spcAft>
                <a:spcPts val="0"/>
              </a:spcAft>
            </a:pPr>
            <a:r>
              <a:rPr lang="en-US" sz="1800" b="1" i="1" spc="-20" dirty="0">
                <a:solidFill>
                  <a:srgbClr val="231F20"/>
                </a:solidFill>
                <a:effectLst/>
                <a:latin typeface="Times New Roman" panose="02020603050405020304" pitchFamily="18" charset="0"/>
                <a:ea typeface="Times New Roman" panose="02020603050405020304" pitchFamily="18" charset="0"/>
              </a:rPr>
              <a:t>23. EQUIPOTENTIALITY</a:t>
            </a:r>
            <a:r>
              <a:rPr lang="en-US" sz="1800" b="1" i="1" spc="-30" dirty="0">
                <a:solidFill>
                  <a:srgbClr val="231F20"/>
                </a:solidFill>
                <a:effectLst/>
                <a:latin typeface="Times New Roman" panose="02020603050405020304" pitchFamily="18" charset="0"/>
                <a:ea typeface="Times New Roman" panose="02020603050405020304" pitchFamily="18" charset="0"/>
              </a:rPr>
              <a:t> </a:t>
            </a:r>
          </a:p>
          <a:p>
            <a:pPr marL="209550" marR="233045" algn="just">
              <a:lnSpc>
                <a:spcPct val="105000"/>
              </a:lnSpc>
              <a:spcBef>
                <a:spcPts val="625"/>
              </a:spcBef>
              <a:spcAft>
                <a:spcPts val="0"/>
              </a:spcAft>
            </a:pPr>
            <a:r>
              <a:rPr lang="en-US" sz="1800" spc="-20" dirty="0">
                <a:solidFill>
                  <a:srgbClr val="FF0000"/>
                </a:solidFill>
                <a:effectLst/>
                <a:latin typeface="Times New Roman" panose="02020603050405020304" pitchFamily="18" charset="0"/>
                <a:ea typeface="Times New Roman" panose="02020603050405020304" pitchFamily="18" charset="0"/>
              </a:rPr>
              <a:t>Change</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operating</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conditions</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to</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eliminate</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the</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need</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to</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work</a:t>
            </a:r>
            <a:r>
              <a:rPr lang="en-US" sz="1800" spc="-30" dirty="0">
                <a:solidFill>
                  <a:srgbClr val="FF0000"/>
                </a:solidFill>
                <a:effectLst/>
                <a:latin typeface="Times New Roman" panose="02020603050405020304" pitchFamily="18" charset="0"/>
                <a:ea typeface="Times New Roman" panose="02020603050405020304" pitchFamily="18" charset="0"/>
              </a:rPr>
              <a:t> </a:t>
            </a:r>
            <a:r>
              <a:rPr lang="en-US" sz="1800" spc="-20" dirty="0">
                <a:solidFill>
                  <a:srgbClr val="FF0000"/>
                </a:solidFill>
                <a:effectLst/>
                <a:latin typeface="Times New Roman" panose="02020603050405020304" pitchFamily="18" charset="0"/>
                <a:ea typeface="Times New Roman" panose="02020603050405020304" pitchFamily="18" charset="0"/>
              </a:rPr>
              <a:t>against </a:t>
            </a:r>
            <a:r>
              <a:rPr lang="en-US" sz="1800" spc="-10" dirty="0">
                <a:solidFill>
                  <a:srgbClr val="FF0000"/>
                </a:solidFill>
                <a:effectLst/>
                <a:latin typeface="Times New Roman" panose="02020603050405020304" pitchFamily="18" charset="0"/>
                <a:ea typeface="Times New Roman" panose="02020603050405020304" pitchFamily="18" charset="0"/>
              </a:rPr>
              <a:t>a</a:t>
            </a:r>
            <a:r>
              <a:rPr lang="en-US" sz="1800" spc="-6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potential</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field</a:t>
            </a:r>
            <a:r>
              <a:rPr lang="en-US" sz="1800" spc="-5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eliminate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need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raise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lower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gravity</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field). </a:t>
            </a:r>
          </a:p>
          <a:p>
            <a:pPr marL="209550" marR="233045" algn="just">
              <a:lnSpc>
                <a:spcPct val="105000"/>
              </a:lnSpc>
              <a:spcBef>
                <a:spcPts val="625"/>
              </a:spcBef>
              <a:spcAft>
                <a:spcPts val="0"/>
              </a:spcAft>
            </a:pPr>
            <a:endParaRPr lang="en-US" sz="1800" spc="-10" dirty="0">
              <a:solidFill>
                <a:srgbClr val="231F20"/>
              </a:solidFill>
              <a:effectLst/>
              <a:latin typeface="Times New Roman" panose="02020603050405020304" pitchFamily="18" charset="0"/>
              <a:ea typeface="Times New Roman" panose="02020603050405020304" pitchFamily="18" charset="0"/>
            </a:endParaRPr>
          </a:p>
          <a:p>
            <a:pPr marL="209550" marR="233045" algn="just">
              <a:lnSpc>
                <a:spcPct val="105000"/>
              </a:lnSpc>
              <a:spcBef>
                <a:spcPts val="625"/>
              </a:spcBef>
              <a:spcAft>
                <a:spcPts val="0"/>
              </a:spcAft>
            </a:pPr>
            <a:r>
              <a:rPr lang="en-US" dirty="0">
                <a:solidFill>
                  <a:schemeClr val="accent1"/>
                </a:solidFill>
                <a:latin typeface="Times New Roman" panose="02020603050405020304" pitchFamily="18" charset="0"/>
                <a:cs typeface="Times New Roman" panose="02020603050405020304" pitchFamily="18" charset="0"/>
              </a:rPr>
              <a:t>This principle suggests eliminating differences in potential</a:t>
            </a:r>
            <a:r>
              <a:rPr lang="en-US" dirty="0">
                <a:latin typeface="Times New Roman" panose="02020603050405020304" pitchFamily="18" charset="0"/>
                <a:cs typeface="Times New Roman" panose="02020603050405020304" pitchFamily="18" charset="0"/>
              </a:rPr>
              <a:t>, such as differences in energy, pressure, height, and so on, that cause problems or inefficiencies in a system. </a:t>
            </a:r>
            <a:r>
              <a:rPr lang="en-US" dirty="0">
                <a:solidFill>
                  <a:srgbClr val="FF0000"/>
                </a:solidFill>
                <a:latin typeface="Times New Roman" panose="02020603050405020304" pitchFamily="18" charset="0"/>
                <a:cs typeface="Times New Roman" panose="02020603050405020304" pitchFamily="18" charset="0"/>
              </a:rPr>
              <a:t>The goal is to bring elements of the system to the same potential level </a:t>
            </a:r>
            <a:r>
              <a:rPr lang="en-US" dirty="0">
                <a:latin typeface="Times New Roman" panose="02020603050405020304" pitchFamily="18" charset="0"/>
                <a:cs typeface="Times New Roman" panose="02020603050405020304" pitchFamily="18" charset="0"/>
              </a:rPr>
              <a:t>to prevent unnecessary energy consumption or mechanical stress.</a:t>
            </a:r>
          </a:p>
          <a:p>
            <a:pPr marL="209550" marR="233045" algn="just">
              <a:lnSpc>
                <a:spcPct val="105000"/>
              </a:lnSpc>
              <a:spcBef>
                <a:spcPts val="625"/>
              </a:spcBef>
              <a:spcAft>
                <a:spcPts val="0"/>
              </a:spcAft>
            </a:pPr>
            <a:endParaRPr lang="en-IN" sz="1800" dirty="0">
              <a:effectLst/>
              <a:latin typeface="Times New Roman" panose="02020603050405020304" pitchFamily="18" charset="0"/>
              <a:ea typeface="Times New Roman" panose="02020603050405020304" pitchFamily="18" charset="0"/>
            </a:endParaRPr>
          </a:p>
          <a:p>
            <a:pPr marL="209550" marR="233680" indent="190500" algn="just">
              <a:lnSpc>
                <a:spcPct val="105000"/>
              </a:lnSpc>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flat</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factory,</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there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high</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shelving;</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does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not</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practically</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raise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 lower components.</a:t>
            </a:r>
          </a:p>
          <a:p>
            <a:pPr marL="209550" marR="233680" indent="190500" algn="just">
              <a:lnSpc>
                <a:spcPct val="105000"/>
              </a:lnSpc>
              <a:spcAft>
                <a:spcPts val="0"/>
              </a:spcAft>
            </a:pPr>
            <a:endParaRPr lang="en-IN" sz="1800" dirty="0">
              <a:effectLst/>
              <a:latin typeface="Times New Roman" panose="02020603050405020304" pitchFamily="18" charset="0"/>
              <a:ea typeface="Times New Roman" panose="02020603050405020304" pitchFamily="18" charset="0"/>
            </a:endParaRPr>
          </a:p>
          <a:p>
            <a:pPr marL="209550" marR="234315" indent="190500" algn="just">
              <a:lnSpc>
                <a:spcPct val="105000"/>
              </a:lnSpc>
              <a:spcBef>
                <a:spcPts val="5"/>
              </a:spcBef>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spring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systems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lift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sheets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of</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wood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right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height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that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workers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can </a:t>
            </a:r>
            <a:r>
              <a:rPr lang="en-US" sz="1800" dirty="0">
                <a:solidFill>
                  <a:srgbClr val="231F20"/>
                </a:solidFill>
                <a:effectLst/>
                <a:latin typeface="Times New Roman" panose="02020603050405020304" pitchFamily="18" charset="0"/>
                <a:ea typeface="Times New Roman" panose="02020603050405020304" pitchFamily="18" charset="0"/>
              </a:rPr>
              <a:t>slide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them</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machine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next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step</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process.</a:t>
            </a:r>
            <a:r>
              <a:rPr lang="en-US" sz="1800" spc="-45" dirty="0">
                <a:solidFill>
                  <a:srgbClr val="231F20"/>
                </a:solidFill>
                <a:effectLst/>
                <a:latin typeface="Times New Roman" panose="02020603050405020304" pitchFamily="18" charset="0"/>
                <a:ea typeface="Times New Roman" panose="02020603050405020304" pitchFamily="18" charset="0"/>
              </a:rPr>
              <a:t> </a:t>
            </a:r>
          </a:p>
        </p:txBody>
      </p:sp>
      <p:grpSp>
        <p:nvGrpSpPr>
          <p:cNvPr id="4" name="Group 3">
            <a:extLst>
              <a:ext uri="{FF2B5EF4-FFF2-40B4-BE49-F238E27FC236}">
                <a16:creationId xmlns:a16="http://schemas.microsoft.com/office/drawing/2014/main" id="{48224F8A-C471-670C-3F13-2BC97FF17277}"/>
              </a:ext>
            </a:extLst>
          </p:cNvPr>
          <p:cNvGrpSpPr>
            <a:grpSpLocks/>
          </p:cNvGrpSpPr>
          <p:nvPr/>
        </p:nvGrpSpPr>
        <p:grpSpPr>
          <a:xfrm>
            <a:off x="6798365" y="685801"/>
            <a:ext cx="4860235" cy="1178752"/>
            <a:chOff x="0" y="0"/>
            <a:chExt cx="4267200" cy="600240"/>
          </a:xfrm>
        </p:grpSpPr>
        <p:pic>
          <p:nvPicPr>
            <p:cNvPr id="5" name="Image 482">
              <a:extLst>
                <a:ext uri="{FF2B5EF4-FFF2-40B4-BE49-F238E27FC236}">
                  <a16:creationId xmlns:a16="http://schemas.microsoft.com/office/drawing/2014/main" id="{A54A0C6A-98A5-2757-7D85-231AF3DADE7A}"/>
                </a:ext>
              </a:extLst>
            </p:cNvPr>
            <p:cNvPicPr/>
            <p:nvPr/>
          </p:nvPicPr>
          <p:blipFill>
            <a:blip r:embed="rId2" cstate="print"/>
            <a:stretch>
              <a:fillRect/>
            </a:stretch>
          </p:blipFill>
          <p:spPr>
            <a:xfrm>
              <a:off x="762000" y="0"/>
              <a:ext cx="2743200" cy="548639"/>
            </a:xfrm>
            <a:prstGeom prst="rect">
              <a:avLst/>
            </a:prstGeom>
          </p:spPr>
        </p:pic>
        <p:sp>
          <p:nvSpPr>
            <p:cNvPr id="6" name="Graphic 483">
              <a:extLst>
                <a:ext uri="{FF2B5EF4-FFF2-40B4-BE49-F238E27FC236}">
                  <a16:creationId xmlns:a16="http://schemas.microsoft.com/office/drawing/2014/main" id="{488F3BE5-DBD9-B67C-9DED-059A215A6113}"/>
                </a:ext>
              </a:extLst>
            </p:cNvPr>
            <p:cNvSpPr/>
            <p:nvPr/>
          </p:nvSpPr>
          <p:spPr>
            <a:xfrm>
              <a:off x="0" y="598970"/>
              <a:ext cx="4267200" cy="1270"/>
            </a:xfrm>
            <a:custGeom>
              <a:avLst/>
              <a:gdLst/>
              <a:ahLst/>
              <a:cxnLst/>
              <a:rect l="l" t="t" r="r" b="b"/>
              <a:pathLst>
                <a:path w="4267200">
                  <a:moveTo>
                    <a:pt x="0" y="0"/>
                  </a:moveTo>
                  <a:lnTo>
                    <a:pt x="4267200" y="0"/>
                  </a:lnTo>
                </a:path>
              </a:pathLst>
            </a:custGeom>
            <a:ln w="25400">
              <a:solidFill>
                <a:srgbClr val="231F20"/>
              </a:solidFill>
              <a:prstDash val="solid"/>
            </a:ln>
          </p:spPr>
          <p:txBody>
            <a:bodyPr wrap="square" lIns="0" tIns="0" rIns="0" bIns="0" rtlCol="0">
              <a:prstTxWarp prst="textNoShape">
                <a:avLst/>
              </a:prstTxWarp>
              <a:noAutofit/>
            </a:bodyPr>
            <a:lstStyle/>
            <a:p>
              <a:endParaRPr lang="en-IN"/>
            </a:p>
          </p:txBody>
        </p:sp>
      </p:grpSp>
      <p:sp>
        <p:nvSpPr>
          <p:cNvPr id="8" name="TextBox 7">
            <a:extLst>
              <a:ext uri="{FF2B5EF4-FFF2-40B4-BE49-F238E27FC236}">
                <a16:creationId xmlns:a16="http://schemas.microsoft.com/office/drawing/2014/main" id="{B9C5FBF4-AFF0-06E4-77B3-904C02E90DA5}"/>
              </a:ext>
            </a:extLst>
          </p:cNvPr>
          <p:cNvSpPr txBox="1"/>
          <p:nvPr/>
        </p:nvSpPr>
        <p:spPr>
          <a:xfrm>
            <a:off x="6096000" y="2000531"/>
            <a:ext cx="6097656" cy="523220"/>
          </a:xfrm>
          <a:prstGeom prst="rect">
            <a:avLst/>
          </a:prstGeom>
          <a:noFill/>
        </p:spPr>
        <p:txBody>
          <a:bodyPr wrap="square">
            <a:spAutoFit/>
          </a:bodyPr>
          <a:lstStyle/>
          <a:p>
            <a:pPr algn="ct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Eliminate the need to raise or lower objects</a:t>
            </a:r>
            <a:r>
              <a:rPr lang="en-US" sz="1400" b="1" spc="-7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or</a:t>
            </a:r>
            <a:r>
              <a:rPr lang="en-US" sz="1400" b="1" spc="-7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“walk</a:t>
            </a:r>
            <a:r>
              <a:rPr lang="en-US" sz="1400" b="1" spc="-7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uphill”</a:t>
            </a:r>
            <a:r>
              <a:rPr lang="en-US" sz="1400" b="1" spc="-75"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some</a:t>
            </a:r>
            <a:r>
              <a:rPr lang="en-US" sz="1400" b="1" spc="-70"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400" b="1" dirty="0">
                <a:solidFill>
                  <a:srgbClr val="231F20"/>
                </a:solidFill>
                <a:effectLst/>
                <a:latin typeface="Trebuchet MS" panose="020B0603020202020204" pitchFamily="34" charset="0"/>
                <a:ea typeface="Times New Roman" panose="02020603050405020304" pitchFamily="18" charset="0"/>
                <a:cs typeface="Times New Roman" panose="02020603050405020304" pitchFamily="18" charset="0"/>
              </a:rPr>
              <a:t>way.</a:t>
            </a:r>
            <a:endParaRPr lang="en-IN" sz="1400" dirty="0"/>
          </a:p>
        </p:txBody>
      </p:sp>
      <p:sp>
        <p:nvSpPr>
          <p:cNvPr id="10" name="TextBox 9">
            <a:extLst>
              <a:ext uri="{FF2B5EF4-FFF2-40B4-BE49-F238E27FC236}">
                <a16:creationId xmlns:a16="http://schemas.microsoft.com/office/drawing/2014/main" id="{632F826D-9B44-7059-76CF-07AD77A25EAF}"/>
              </a:ext>
            </a:extLst>
          </p:cNvPr>
          <p:cNvSpPr txBox="1"/>
          <p:nvPr/>
        </p:nvSpPr>
        <p:spPr>
          <a:xfrm>
            <a:off x="6181348" y="4722360"/>
            <a:ext cx="6094268" cy="1237134"/>
          </a:xfrm>
          <a:prstGeom prst="rect">
            <a:avLst/>
          </a:prstGeom>
          <a:noFill/>
        </p:spPr>
        <p:txBody>
          <a:bodyPr wrap="square">
            <a:spAutoFit/>
          </a:bodyPr>
          <a:lstStyle/>
          <a:p>
            <a:pPr marL="209550" marR="234315" indent="190500" algn="just">
              <a:lnSpc>
                <a:spcPct val="105000"/>
              </a:lnSpc>
              <a:spcBef>
                <a:spcPts val="5"/>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err="1">
                <a:solidFill>
                  <a:srgbClr val="231F20"/>
                </a:solidFill>
                <a:effectLst/>
                <a:latin typeface="Times New Roman" panose="02020603050405020304" pitchFamily="18" charset="0"/>
                <a:ea typeface="Times New Roman" panose="02020603050405020304" pitchFamily="18" charset="0"/>
              </a:rPr>
              <a:t>Bishamon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Company</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makes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these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devices.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When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sold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productivity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tools,</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were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moderate </a:t>
            </a:r>
            <a:r>
              <a:rPr lang="en-US" sz="1800" spc="-20" dirty="0">
                <a:solidFill>
                  <a:srgbClr val="231F20"/>
                </a:solidFill>
                <a:effectLst/>
                <a:latin typeface="Times New Roman" panose="02020603050405020304" pitchFamily="18" charset="0"/>
                <a:ea typeface="Times New Roman" panose="02020603050405020304" pitchFamily="18" charset="0"/>
              </a:rPr>
              <a:t>success.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When</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advertised</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tools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prevent</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workers’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back</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injuries,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sales</a:t>
            </a:r>
            <a:r>
              <a:rPr lang="en-US" sz="1800" spc="-2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increased </a:t>
            </a:r>
            <a:r>
              <a:rPr lang="en-US" sz="1800" spc="-10" dirty="0">
                <a:solidFill>
                  <a:srgbClr val="231F20"/>
                </a:solidFill>
                <a:effectLst/>
                <a:latin typeface="Times New Roman" panose="02020603050405020304" pitchFamily="18" charset="0"/>
                <a:ea typeface="Times New Roman" panose="02020603050405020304" pitchFamily="18" charset="0"/>
              </a:rPr>
              <a:t>dramatically.</a:t>
            </a:r>
            <a:endParaRPr lang="en-IN" sz="1800" dirty="0">
              <a:effectLst/>
              <a:latin typeface="Times New Roman" panose="02020603050405020304" pitchFamily="18" charset="0"/>
              <a:ea typeface="Times New Roman" panose="02020603050405020304" pitchFamily="18" charset="0"/>
            </a:endParaRPr>
          </a:p>
        </p:txBody>
      </p:sp>
      <p:pic>
        <p:nvPicPr>
          <p:cNvPr id="3074" name="Picture 2" descr="Image result for bishamon lift tables">
            <a:extLst>
              <a:ext uri="{FF2B5EF4-FFF2-40B4-BE49-F238E27FC236}">
                <a16:creationId xmlns:a16="http://schemas.microsoft.com/office/drawing/2014/main" id="{AEF9785B-2681-50C2-214B-64D6424BD5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8272" y="2464935"/>
            <a:ext cx="2124075" cy="225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3750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82F45B-F91B-B14A-D052-0FB2D84D0DA6}"/>
              </a:ext>
            </a:extLst>
          </p:cNvPr>
          <p:cNvSpPr txBox="1"/>
          <p:nvPr/>
        </p:nvSpPr>
        <p:spPr>
          <a:xfrm>
            <a:off x="424898" y="581454"/>
            <a:ext cx="6097656" cy="2109680"/>
          </a:xfrm>
          <a:prstGeom prst="rect">
            <a:avLst/>
          </a:prstGeom>
          <a:noFill/>
        </p:spPr>
        <p:txBody>
          <a:bodyPr wrap="square">
            <a:spAutoFit/>
          </a:bodyPr>
          <a:lstStyle/>
          <a:p>
            <a:pPr marL="209550" marR="234315" indent="190500" algn="just">
              <a:lnSpc>
                <a:spcPct val="105000"/>
              </a:lnSpc>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grounding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straps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bring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people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equal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electrical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potential</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 </a:t>
            </a:r>
            <a:r>
              <a:rPr lang="en-US" sz="1800" dirty="0">
                <a:solidFill>
                  <a:srgbClr val="231F20"/>
                </a:solidFill>
                <a:effectLst/>
                <a:latin typeface="Times New Roman" panose="02020603050405020304" pitchFamily="18" charset="0"/>
                <a:ea typeface="Times New Roman" panose="02020603050405020304" pitchFamily="18" charset="0"/>
              </a:rPr>
              <a:t>prevent harm from static electricity.</a:t>
            </a:r>
          </a:p>
          <a:p>
            <a:pPr marL="209550" marR="234315" indent="190500" algn="just">
              <a:lnSpc>
                <a:spcPct val="105000"/>
              </a:lnSpc>
              <a:spcAft>
                <a:spcPts val="0"/>
              </a:spcAft>
            </a:pPr>
            <a:endParaRPr lang="en-IN" sz="1800" dirty="0">
              <a:effectLst/>
              <a:latin typeface="Times New Roman" panose="02020603050405020304" pitchFamily="18" charset="0"/>
              <a:ea typeface="Times New Roman" panose="02020603050405020304" pitchFamily="18" charset="0"/>
            </a:endParaRPr>
          </a:p>
          <a:p>
            <a:pPr marL="209550" marR="234315" indent="190500" algn="just">
              <a:lnSpc>
                <a:spcPct val="105000"/>
              </a:lnSpc>
              <a:spcBef>
                <a:spcPts val="5"/>
              </a:spcBef>
              <a:spcAft>
                <a:spcPts val="0"/>
              </a:spcAft>
            </a:pP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business</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analogy</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might</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transition</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flatter</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organization</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with</a:t>
            </a:r>
            <a:r>
              <a:rPr lang="en-US" sz="1800" spc="-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fewer </a:t>
            </a:r>
            <a:r>
              <a:rPr lang="en-US" sz="1800" spc="-10" dirty="0">
                <a:solidFill>
                  <a:srgbClr val="231F20"/>
                </a:solidFill>
                <a:effectLst/>
                <a:latin typeface="Times New Roman" panose="02020603050405020304" pitchFamily="18" charset="0"/>
                <a:ea typeface="Times New Roman" panose="02020603050405020304" pitchFamily="18" charset="0"/>
              </a:rPr>
              <a:t>hierarchical</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layers.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One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step</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team</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formation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is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bring</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all</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team</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members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 </a:t>
            </a:r>
            <a:r>
              <a:rPr lang="en-US" sz="1800" dirty="0">
                <a:solidFill>
                  <a:srgbClr val="231F20"/>
                </a:solidFill>
                <a:effectLst/>
                <a:latin typeface="Times New Roman" panose="02020603050405020304" pitchFamily="18" charset="0"/>
                <a:ea typeface="Times New Roman" panose="02020603050405020304" pitchFamily="18" charset="0"/>
              </a:rPr>
              <a:t>same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level eliminate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hierarchical</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behaviors.</a:t>
            </a:r>
            <a:endParaRPr lang="en-IN" sz="1800" dirty="0">
              <a:effectLst/>
              <a:latin typeface="Times New Roman" panose="02020603050405020304" pitchFamily="18" charset="0"/>
              <a:ea typeface="Times New Roman" panose="02020603050405020304" pitchFamily="18" charset="0"/>
            </a:endParaRPr>
          </a:p>
        </p:txBody>
      </p:sp>
      <p:sp>
        <p:nvSpPr>
          <p:cNvPr id="5" name="Rectangle 2">
            <a:extLst>
              <a:ext uri="{FF2B5EF4-FFF2-40B4-BE49-F238E27FC236}">
                <a16:creationId xmlns:a16="http://schemas.microsoft.com/office/drawing/2014/main" id="{676D376B-91F8-D8A5-C976-B151001F434B}"/>
              </a:ext>
            </a:extLst>
          </p:cNvPr>
          <p:cNvSpPr>
            <a:spLocks noChangeArrowheads="1"/>
          </p:cNvSpPr>
          <p:nvPr/>
        </p:nvSpPr>
        <p:spPr bwMode="auto">
          <a:xfrm>
            <a:off x="640170" y="3261974"/>
            <a:ext cx="588238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Hydraulic systems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Maintaining equal pressure across all parts of the system to ensure smooth operation and prevent damage from pressure differences.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Electrical systems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Grounding circuits properly so that electrical potential is balanced, avoiding current surges. </a:t>
            </a:r>
          </a:p>
        </p:txBody>
      </p:sp>
      <p:pic>
        <p:nvPicPr>
          <p:cNvPr id="2052" name="Picture 4" descr="BISHAMON, Pallet Positioner and Level Loader - 2MNX3|EZO-25E - Grainger">
            <a:extLst>
              <a:ext uri="{FF2B5EF4-FFF2-40B4-BE49-F238E27FC236}">
                <a16:creationId xmlns:a16="http://schemas.microsoft.com/office/drawing/2014/main" id="{391A3771-E1E8-33E2-C1F5-F5CCEBDF1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4481" y="876300"/>
            <a:ext cx="5105400"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1679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0364A3-E630-7190-86C2-F6FC323F32B3}"/>
              </a:ext>
            </a:extLst>
          </p:cNvPr>
          <p:cNvSpPr txBox="1"/>
          <p:nvPr/>
        </p:nvSpPr>
        <p:spPr>
          <a:xfrm>
            <a:off x="385141" y="382513"/>
            <a:ext cx="6097656" cy="1200329"/>
          </a:xfrm>
          <a:prstGeom prst="rect">
            <a:avLst/>
          </a:prstGeom>
          <a:noFill/>
        </p:spPr>
        <p:txBody>
          <a:bodyPr wrap="square">
            <a:spAutoFit/>
          </a:bodyPr>
          <a:lstStyle/>
          <a:p>
            <a:r>
              <a:rPr lang="en-US" sz="1800" b="1" i="1" spc="-20" dirty="0">
                <a:solidFill>
                  <a:srgbClr val="231F20"/>
                </a:solidFill>
                <a:effectLst/>
                <a:latin typeface="Times New Roman" panose="02020603050405020304" pitchFamily="18" charset="0"/>
                <a:ea typeface="Times New Roman" panose="02020603050405020304" pitchFamily="18" charset="0"/>
              </a:rPr>
              <a:t>24. FEEDBACK</a:t>
            </a:r>
            <a:r>
              <a:rPr lang="en-US" b="1" i="1" spc="-20" dirty="0">
                <a:solidFill>
                  <a:srgbClr val="231F20"/>
                </a:solidFill>
                <a:latin typeface="Times New Roman" panose="02020603050405020304" pitchFamily="18" charset="0"/>
                <a:ea typeface="Times New Roman" panose="02020603050405020304" pitchFamily="18" charset="0"/>
              </a:rPr>
              <a:t> / SERVO SYSTEM</a:t>
            </a:r>
            <a:r>
              <a:rPr lang="en-US" sz="1800" b="1" i="1" spc="-35" dirty="0">
                <a:solidFill>
                  <a:srgbClr val="231F20"/>
                </a:solidFill>
                <a:effectLst/>
                <a:latin typeface="Times New Roman" panose="02020603050405020304" pitchFamily="18" charset="0"/>
                <a:ea typeface="Times New Roman" panose="02020603050405020304" pitchFamily="18" charset="0"/>
              </a:rPr>
              <a:t> (CONTROL SYSTEM)</a:t>
            </a:r>
          </a:p>
          <a:p>
            <a:endParaRPr lang="en-US" sz="1800" b="1" i="1" spc="-35" dirty="0">
              <a:solidFill>
                <a:srgbClr val="231F20"/>
              </a:solidFill>
              <a:effectLst/>
              <a:latin typeface="Times New Roman" panose="02020603050405020304" pitchFamily="18" charset="0"/>
              <a:ea typeface="Times New Roman" panose="02020603050405020304" pitchFamily="18" charset="0"/>
            </a:endParaRPr>
          </a:p>
          <a:p>
            <a:r>
              <a:rPr lang="en-US" sz="1800" spc="-20" dirty="0">
                <a:solidFill>
                  <a:srgbClr val="231F20"/>
                </a:solidFill>
                <a:effectLst/>
                <a:latin typeface="Times New Roman" panose="02020603050405020304" pitchFamily="18" charset="0"/>
                <a:ea typeface="Times New Roman" panose="02020603050405020304" pitchFamily="18" charset="0"/>
              </a:rPr>
              <a:t>Introduce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feedback</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improve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process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or</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action.</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If</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chemeClr val="accent2"/>
                </a:solidFill>
                <a:effectLst/>
                <a:latin typeface="Times New Roman" panose="02020603050405020304" pitchFamily="18" charset="0"/>
                <a:ea typeface="Times New Roman" panose="02020603050405020304" pitchFamily="18" charset="0"/>
              </a:rPr>
              <a:t>feedback</a:t>
            </a:r>
            <a:r>
              <a:rPr lang="en-US" sz="1800" spc="-35" dirty="0">
                <a:solidFill>
                  <a:schemeClr val="accent2"/>
                </a:solidFill>
                <a:effectLst/>
                <a:latin typeface="Times New Roman" panose="02020603050405020304" pitchFamily="18" charset="0"/>
                <a:ea typeface="Times New Roman" panose="02020603050405020304" pitchFamily="18" charset="0"/>
              </a:rPr>
              <a:t> </a:t>
            </a:r>
            <a:r>
              <a:rPr lang="en-US" sz="1800" spc="-20" dirty="0">
                <a:solidFill>
                  <a:schemeClr val="accent2"/>
                </a:solidFill>
                <a:effectLst/>
                <a:latin typeface="Times New Roman" panose="02020603050405020304" pitchFamily="18" charset="0"/>
                <a:ea typeface="Times New Roman" panose="02020603050405020304" pitchFamily="18" charset="0"/>
              </a:rPr>
              <a:t>is</a:t>
            </a:r>
            <a:r>
              <a:rPr lang="en-US" sz="1800" spc="-35" dirty="0">
                <a:solidFill>
                  <a:schemeClr val="accent2"/>
                </a:solidFill>
                <a:effectLst/>
                <a:latin typeface="Times New Roman" panose="02020603050405020304" pitchFamily="18" charset="0"/>
                <a:ea typeface="Times New Roman" panose="02020603050405020304" pitchFamily="18" charset="0"/>
              </a:rPr>
              <a:t> </a:t>
            </a:r>
            <a:r>
              <a:rPr lang="en-US" sz="1800" spc="-20" dirty="0">
                <a:solidFill>
                  <a:schemeClr val="accent2"/>
                </a:solidFill>
                <a:effectLst/>
                <a:latin typeface="Times New Roman" panose="02020603050405020304" pitchFamily="18" charset="0"/>
                <a:ea typeface="Times New Roman" panose="02020603050405020304" pitchFamily="18" charset="0"/>
              </a:rPr>
              <a:t>already </a:t>
            </a:r>
            <a:r>
              <a:rPr lang="en-US" sz="1800" dirty="0">
                <a:solidFill>
                  <a:schemeClr val="accent2"/>
                </a:solidFill>
                <a:effectLst/>
                <a:latin typeface="Times New Roman" panose="02020603050405020304" pitchFamily="18" charset="0"/>
                <a:ea typeface="Times New Roman" panose="02020603050405020304" pitchFamily="18" charset="0"/>
              </a:rPr>
              <a:t>used,</a:t>
            </a:r>
            <a:r>
              <a:rPr lang="en-US" sz="1800" spc="-15" dirty="0">
                <a:solidFill>
                  <a:schemeClr val="accent2"/>
                </a:solidFill>
                <a:effectLst/>
                <a:latin typeface="Times New Roman" panose="02020603050405020304" pitchFamily="18" charset="0"/>
                <a:ea typeface="Times New Roman" panose="02020603050405020304" pitchFamily="18" charset="0"/>
              </a:rPr>
              <a:t> </a:t>
            </a:r>
            <a:r>
              <a:rPr lang="en-US" sz="1800" dirty="0">
                <a:solidFill>
                  <a:schemeClr val="accent2"/>
                </a:solidFill>
                <a:effectLst/>
                <a:latin typeface="Times New Roman" panose="02020603050405020304" pitchFamily="18" charset="0"/>
                <a:ea typeface="Times New Roman" panose="02020603050405020304" pitchFamily="18" charset="0"/>
              </a:rPr>
              <a:t>change</a:t>
            </a:r>
            <a:r>
              <a:rPr lang="en-US" sz="1800" spc="-20" dirty="0">
                <a:solidFill>
                  <a:schemeClr val="accent2"/>
                </a:solidFill>
                <a:effectLst/>
                <a:latin typeface="Times New Roman" panose="02020603050405020304" pitchFamily="18" charset="0"/>
                <a:ea typeface="Times New Roman" panose="02020603050405020304" pitchFamily="18" charset="0"/>
              </a:rPr>
              <a:t> </a:t>
            </a:r>
            <a:r>
              <a:rPr lang="en-US" sz="1800" dirty="0">
                <a:solidFill>
                  <a:schemeClr val="accent2"/>
                </a:solidFill>
                <a:effectLst/>
                <a:latin typeface="Times New Roman" panose="02020603050405020304" pitchFamily="18" charset="0"/>
                <a:ea typeface="Times New Roman" panose="02020603050405020304" pitchFamily="18" charset="0"/>
              </a:rPr>
              <a:t>its</a:t>
            </a:r>
            <a:r>
              <a:rPr lang="en-US" sz="1800" spc="-15" dirty="0">
                <a:solidFill>
                  <a:schemeClr val="accent2"/>
                </a:solidFill>
                <a:effectLst/>
                <a:latin typeface="Times New Roman" panose="02020603050405020304" pitchFamily="18" charset="0"/>
                <a:ea typeface="Times New Roman" panose="02020603050405020304" pitchFamily="18" charset="0"/>
              </a:rPr>
              <a:t> </a:t>
            </a:r>
            <a:r>
              <a:rPr lang="en-US" sz="1800" dirty="0">
                <a:solidFill>
                  <a:schemeClr val="accent2"/>
                </a:solidFill>
                <a:effectLst/>
                <a:latin typeface="Times New Roman" panose="02020603050405020304" pitchFamily="18" charset="0"/>
                <a:ea typeface="Times New Roman" panose="02020603050405020304" pitchFamily="18" charset="0"/>
              </a:rPr>
              <a:t>magnitude</a:t>
            </a:r>
            <a:r>
              <a:rPr lang="en-US" sz="1800" spc="-20" dirty="0">
                <a:solidFill>
                  <a:schemeClr val="accent2"/>
                </a:solidFill>
                <a:effectLst/>
                <a:latin typeface="Times New Roman" panose="02020603050405020304" pitchFamily="18" charset="0"/>
                <a:ea typeface="Times New Roman" panose="02020603050405020304" pitchFamily="18" charset="0"/>
              </a:rPr>
              <a:t> </a:t>
            </a:r>
            <a:r>
              <a:rPr lang="en-US" sz="1800" dirty="0">
                <a:solidFill>
                  <a:schemeClr val="accent2"/>
                </a:solidFill>
                <a:effectLst/>
                <a:latin typeface="Times New Roman" panose="02020603050405020304" pitchFamily="18" charset="0"/>
                <a:ea typeface="Times New Roman" panose="02020603050405020304" pitchFamily="18" charset="0"/>
              </a:rPr>
              <a:t>or</a:t>
            </a:r>
            <a:r>
              <a:rPr lang="en-US" sz="1800" spc="-15" dirty="0">
                <a:solidFill>
                  <a:schemeClr val="accent2"/>
                </a:solidFill>
                <a:effectLst/>
                <a:latin typeface="Times New Roman" panose="02020603050405020304" pitchFamily="18" charset="0"/>
                <a:ea typeface="Times New Roman" panose="02020603050405020304" pitchFamily="18" charset="0"/>
              </a:rPr>
              <a:t> </a:t>
            </a:r>
            <a:r>
              <a:rPr lang="en-US" sz="1800" dirty="0">
                <a:solidFill>
                  <a:schemeClr val="accent2"/>
                </a:solidFill>
                <a:effectLst/>
                <a:latin typeface="Times New Roman" panose="02020603050405020304" pitchFamily="18" charset="0"/>
                <a:ea typeface="Times New Roman" panose="02020603050405020304" pitchFamily="18" charset="0"/>
              </a:rPr>
              <a:t>influence</a:t>
            </a:r>
            <a:r>
              <a:rPr lang="en-US" spc="-20" dirty="0">
                <a:solidFill>
                  <a:schemeClr val="accent2"/>
                </a:solidFill>
                <a:latin typeface="Times New Roman" panose="02020603050405020304" pitchFamily="18" charset="0"/>
                <a:ea typeface="Times New Roman" panose="02020603050405020304" pitchFamily="18" charset="0"/>
              </a:rPr>
              <a:t>. </a:t>
            </a:r>
            <a:endParaRPr lang="en-IN" dirty="0">
              <a:solidFill>
                <a:schemeClr val="accent2"/>
              </a:solidFill>
            </a:endParaRPr>
          </a:p>
        </p:txBody>
      </p:sp>
      <p:sp>
        <p:nvSpPr>
          <p:cNvPr id="5" name="TextBox 4">
            <a:extLst>
              <a:ext uri="{FF2B5EF4-FFF2-40B4-BE49-F238E27FC236}">
                <a16:creationId xmlns:a16="http://schemas.microsoft.com/office/drawing/2014/main" id="{1342B65B-0BC0-714D-CC12-39DD35A0F404}"/>
              </a:ext>
            </a:extLst>
          </p:cNvPr>
          <p:cNvSpPr txBox="1"/>
          <p:nvPr/>
        </p:nvSpPr>
        <p:spPr>
          <a:xfrm>
            <a:off x="385141" y="1836219"/>
            <a:ext cx="5936146" cy="2308324"/>
          </a:xfrm>
          <a:prstGeom prst="rect">
            <a:avLst/>
          </a:prstGeom>
          <a:noFill/>
        </p:spPr>
        <p:txBody>
          <a:bodyPr wrap="square">
            <a:spAutoFit/>
          </a:bodyPr>
          <a:lstStyle/>
          <a:p>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technical</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example:</a:t>
            </a:r>
          </a:p>
          <a:p>
            <a:pPr marL="285750" indent="-285750" algn="just">
              <a:buFont typeface="Arial" panose="020B0604020202020204" pitchFamily="34" charset="0"/>
              <a:buChar char="•"/>
            </a:pPr>
            <a:r>
              <a:rPr lang="en-US" spc="-10" dirty="0">
                <a:solidFill>
                  <a:srgbClr val="231F20"/>
                </a:solidFill>
                <a:latin typeface="Times New Roman" panose="02020603050405020304" pitchFamily="18" charset="0"/>
                <a:ea typeface="Times New Roman" panose="02020603050405020304" pitchFamily="18" charset="0"/>
              </a:rPr>
              <a:t>I</a:t>
            </a:r>
            <a:r>
              <a:rPr lang="en-US" sz="1800" spc="-10" dirty="0">
                <a:solidFill>
                  <a:srgbClr val="231F20"/>
                </a:solidFill>
                <a:effectLst/>
                <a:latin typeface="Times New Roman" panose="02020603050405020304" pitchFamily="18" charset="0"/>
                <a:ea typeface="Times New Roman" panose="02020603050405020304" pitchFamily="18" charset="0"/>
              </a:rPr>
              <a:t>n</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typical</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driver</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makes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observations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uses</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the steering</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mechanism,</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brakes,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other</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“actuators”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to</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make</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necessary</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corrections. </a:t>
            </a:r>
          </a:p>
          <a:p>
            <a:pPr marL="285750" indent="-285750" algn="just">
              <a:buFont typeface="Arial" panose="020B0604020202020204" pitchFamily="34" charset="0"/>
              <a:buChar char="•"/>
            </a:pPr>
            <a:r>
              <a:rPr lang="en-US" sz="1800" spc="-20" dirty="0">
                <a:solidFill>
                  <a:srgbClr val="231F20"/>
                </a:solidFill>
                <a:effectLst/>
                <a:latin typeface="Times New Roman" panose="02020603050405020304" pitchFamily="18" charset="0"/>
                <a:ea typeface="Times New Roman" panose="02020603050405020304" pitchFamily="18" charset="0"/>
              </a:rPr>
              <a:t>In</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new</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designs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under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development,</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car</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has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active</a:t>
            </a:r>
            <a:r>
              <a:rPr lang="en-US" sz="1800" spc="-5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driver-assistance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systems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with </a:t>
            </a:r>
            <a:r>
              <a:rPr lang="en-US" sz="1800" dirty="0">
                <a:solidFill>
                  <a:srgbClr val="231F20"/>
                </a:solidFill>
                <a:effectLst/>
                <a:latin typeface="Times New Roman" panose="02020603050405020304" pitchFamily="18" charset="0"/>
                <a:ea typeface="Times New Roman" panose="02020603050405020304" pitchFamily="18" charset="0"/>
              </a:rPr>
              <a:t>feedback. </a:t>
            </a:r>
          </a:p>
          <a:p>
            <a:pPr marL="285750" indent="-285750" algn="just">
              <a:buFont typeface="Arial" panose="020B0604020202020204" pitchFamily="34" charset="0"/>
              <a:buChar char="•"/>
            </a:pPr>
            <a:r>
              <a:rPr lang="en-US" sz="1800" dirty="0">
                <a:solidFill>
                  <a:srgbClr val="231F20"/>
                </a:solidFill>
                <a:effectLst/>
                <a:latin typeface="Times New Roman" panose="02020603050405020304" pitchFamily="18" charset="0"/>
                <a:ea typeface="Times New Roman" panose="02020603050405020304" pitchFamily="18" charset="0"/>
              </a:rPr>
              <a:t>If the driver, for example, takes a curve too fast, the system turns the steering wheel automatically.</a:t>
            </a:r>
            <a:endParaRPr lang="en-IN" dirty="0"/>
          </a:p>
        </p:txBody>
      </p:sp>
      <p:sp>
        <p:nvSpPr>
          <p:cNvPr id="7" name="TextBox 6">
            <a:extLst>
              <a:ext uri="{FF2B5EF4-FFF2-40B4-BE49-F238E27FC236}">
                <a16:creationId xmlns:a16="http://schemas.microsoft.com/office/drawing/2014/main" id="{7E0AB2DB-FE44-3F8D-25FC-DFBF6EA19111}"/>
              </a:ext>
            </a:extLst>
          </p:cNvPr>
          <p:cNvSpPr txBox="1"/>
          <p:nvPr/>
        </p:nvSpPr>
        <p:spPr>
          <a:xfrm>
            <a:off x="550378" y="4144543"/>
            <a:ext cx="5850422" cy="2585323"/>
          </a:xfrm>
          <a:prstGeom prst="rect">
            <a:avLst/>
          </a:prstGeom>
          <a:noFill/>
        </p:spPr>
        <p:txBody>
          <a:bodyPr wrap="square">
            <a:spAutoFit/>
          </a:bodyPr>
          <a:lstStyle/>
          <a:p>
            <a:pPr marL="285750" indent="-285750" algn="just">
              <a:buFont typeface="Wingdings" panose="05000000000000000000" pitchFamily="2" charset="2"/>
              <a:buChar char="ü"/>
            </a:pPr>
            <a:r>
              <a:rPr lang="en-US" sz="1800" spc="-30" dirty="0">
                <a:solidFill>
                  <a:srgbClr val="231F20"/>
                </a:solidFill>
                <a:effectLst/>
                <a:latin typeface="Times New Roman" panose="02020603050405020304" pitchFamily="18" charset="0"/>
                <a:ea typeface="Times New Roman" panose="02020603050405020304" pitchFamily="18" charset="0"/>
              </a:rPr>
              <a:t>The evolution of measurements and control is another example. </a:t>
            </a:r>
          </a:p>
          <a:p>
            <a:pPr marL="285750" indent="-285750" algn="just">
              <a:buFont typeface="Wingdings" panose="05000000000000000000" pitchFamily="2" charset="2"/>
              <a:buChar char="ü"/>
            </a:pPr>
            <a:r>
              <a:rPr lang="en-US" sz="1800" spc="-30" dirty="0">
                <a:solidFill>
                  <a:srgbClr val="231F20"/>
                </a:solidFill>
                <a:effectLst/>
                <a:latin typeface="Times New Roman" panose="02020603050405020304" pitchFamily="18" charset="0"/>
                <a:ea typeface="Times New Roman" panose="02020603050405020304" pitchFamily="18" charset="0"/>
              </a:rPr>
              <a:t>Online measure</a:t>
            </a:r>
            <a:r>
              <a:rPr lang="en-US" sz="1800" dirty="0">
                <a:solidFill>
                  <a:srgbClr val="231F20"/>
                </a:solidFill>
                <a:effectLst/>
                <a:latin typeface="Times New Roman" panose="02020603050405020304" pitchFamily="18" charset="0"/>
                <a:ea typeface="Times New Roman" panose="02020603050405020304" pitchFamily="18" charset="0"/>
              </a:rPr>
              <a:t>ments</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and</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online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control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increased.</a:t>
            </a:r>
            <a:r>
              <a:rPr lang="en-US" sz="1800" spc="-65" dirty="0">
                <a:solidFill>
                  <a:srgbClr val="231F20"/>
                </a:solidFill>
                <a:effectLst/>
                <a:latin typeface="Times New Roman" panose="02020603050405020304" pitchFamily="18" charset="0"/>
                <a:ea typeface="Times New Roman" panose="02020603050405020304" pitchFamily="18" charset="0"/>
              </a:rPr>
              <a:t> </a:t>
            </a:r>
          </a:p>
          <a:p>
            <a:pPr marL="285750" indent="-285750" algn="just">
              <a:buFont typeface="Wingdings" panose="05000000000000000000" pitchFamily="2" charset="2"/>
              <a:buChar char="ü"/>
            </a:pPr>
            <a:r>
              <a:rPr lang="en-US" sz="1800" dirty="0">
                <a:solidFill>
                  <a:srgbClr val="231F20"/>
                </a:solidFill>
                <a:effectLst/>
                <a:latin typeface="Times New Roman" panose="02020603050405020304" pitchFamily="18" charset="0"/>
                <a:ea typeface="Times New Roman" panose="02020603050405020304" pitchFamily="18" charset="0"/>
              </a:rPr>
              <a:t>Quality</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control</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production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improved by introducing the immediate measurement and control during the production process,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rather</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than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inspection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after</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production.</a:t>
            </a:r>
            <a:r>
              <a:rPr lang="en-US" sz="1800" spc="-15" dirty="0">
                <a:solidFill>
                  <a:srgbClr val="231F20"/>
                </a:solidFill>
                <a:effectLst/>
                <a:latin typeface="Times New Roman" panose="02020603050405020304" pitchFamily="18" charset="0"/>
                <a:ea typeface="Times New Roman" panose="02020603050405020304" pitchFamily="18" charset="0"/>
              </a:rPr>
              <a:t> </a:t>
            </a:r>
          </a:p>
          <a:p>
            <a:pPr marL="285750" indent="-285750" algn="just">
              <a:buFont typeface="Wingdings" panose="05000000000000000000" pitchFamily="2" charset="2"/>
              <a:buChar char="ü"/>
            </a:pPr>
            <a:r>
              <a:rPr lang="en-US" sz="1800" dirty="0">
                <a:solidFill>
                  <a:srgbClr val="231F20"/>
                </a:solidFill>
                <a:effectLst/>
                <a:latin typeface="Times New Roman" panose="02020603050405020304" pitchFamily="18" charset="0"/>
                <a:ea typeface="Times New Roman" panose="02020603050405020304" pitchFamily="18" charset="0"/>
              </a:rPr>
              <a:t>In</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business,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systems</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for</a:t>
            </a:r>
            <a:r>
              <a:rPr lang="en-US" sz="1800" spc="-1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getting feedback</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from</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customers</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being</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continuously</a:t>
            </a:r>
            <a:r>
              <a:rPr lang="en-US" sz="1800" spc="-3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improved.</a:t>
            </a:r>
            <a:endParaRPr lang="en-IN" dirty="0"/>
          </a:p>
        </p:txBody>
      </p:sp>
      <p:pic>
        <p:nvPicPr>
          <p:cNvPr id="6146" name="Picture 2" descr="Robot Robotics Cyborg - Free image on Pixabay">
            <a:extLst>
              <a:ext uri="{FF2B5EF4-FFF2-40B4-BE49-F238E27FC236}">
                <a16:creationId xmlns:a16="http://schemas.microsoft.com/office/drawing/2014/main" id="{DC30CA80-6E58-086E-D026-5510975DF6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4974" y="1113182"/>
            <a:ext cx="2929007" cy="4631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6110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7F04A7-5F90-0F10-2866-B3DE192D3540}"/>
              </a:ext>
            </a:extLst>
          </p:cNvPr>
          <p:cNvSpPr txBox="1"/>
          <p:nvPr/>
        </p:nvSpPr>
        <p:spPr>
          <a:xfrm>
            <a:off x="385141" y="585726"/>
            <a:ext cx="6097656" cy="3316934"/>
          </a:xfrm>
          <a:prstGeom prst="rect">
            <a:avLst/>
          </a:prstGeom>
          <a:noFill/>
        </p:spPr>
        <p:txBody>
          <a:bodyPr wrap="square">
            <a:spAutoFit/>
          </a:bodyPr>
          <a:lstStyle/>
          <a:p>
            <a:pPr marL="209550" marR="232410" algn="just">
              <a:lnSpc>
                <a:spcPct val="106000"/>
              </a:lnSpc>
              <a:spcBef>
                <a:spcPts val="630"/>
              </a:spcBef>
              <a:spcAft>
                <a:spcPts val="0"/>
              </a:spcAft>
            </a:pPr>
            <a:r>
              <a:rPr lang="en-US" sz="1800" b="1" i="1" spc="-10" dirty="0">
                <a:solidFill>
                  <a:srgbClr val="231F20"/>
                </a:solidFill>
                <a:effectLst/>
                <a:latin typeface="Times New Roman" panose="02020603050405020304" pitchFamily="18" charset="0"/>
                <a:ea typeface="Times New Roman" panose="02020603050405020304" pitchFamily="18" charset="0"/>
              </a:rPr>
              <a:t>25.MECHANICAL</a:t>
            </a:r>
            <a:r>
              <a:rPr lang="en-US" sz="1800" b="1" i="1" spc="-35" dirty="0">
                <a:solidFill>
                  <a:srgbClr val="231F20"/>
                </a:solidFill>
                <a:effectLst/>
                <a:latin typeface="Times New Roman" panose="02020603050405020304" pitchFamily="18" charset="0"/>
                <a:ea typeface="Times New Roman" panose="02020603050405020304" pitchFamily="18" charset="0"/>
              </a:rPr>
              <a:t> </a:t>
            </a:r>
            <a:r>
              <a:rPr lang="en-US" sz="1800" b="1" i="1" spc="-10" dirty="0">
                <a:solidFill>
                  <a:srgbClr val="231F20"/>
                </a:solidFill>
                <a:effectLst/>
                <a:latin typeface="Times New Roman" panose="02020603050405020304" pitchFamily="18" charset="0"/>
                <a:ea typeface="Times New Roman" panose="02020603050405020304" pitchFamily="18" charset="0"/>
              </a:rPr>
              <a:t>INTERACTION</a:t>
            </a:r>
            <a:r>
              <a:rPr lang="en-US" sz="1800" b="1" i="1" spc="-35" dirty="0">
                <a:solidFill>
                  <a:srgbClr val="231F20"/>
                </a:solidFill>
                <a:effectLst/>
                <a:latin typeface="Times New Roman" panose="02020603050405020304" pitchFamily="18" charset="0"/>
                <a:ea typeface="Times New Roman" panose="02020603050405020304" pitchFamily="18" charset="0"/>
              </a:rPr>
              <a:t> </a:t>
            </a:r>
            <a:r>
              <a:rPr lang="en-US" sz="1800" b="1" i="1" spc="-10" dirty="0">
                <a:solidFill>
                  <a:srgbClr val="231F20"/>
                </a:solidFill>
                <a:effectLst/>
                <a:latin typeface="Times New Roman" panose="02020603050405020304" pitchFamily="18" charset="0"/>
                <a:ea typeface="Times New Roman" panose="02020603050405020304" pitchFamily="18" charset="0"/>
              </a:rPr>
              <a:t>SUBSTITUTION (SMART SYSTEM)</a:t>
            </a:r>
            <a:endParaRPr lang="en-US" sz="1800" b="1" i="1" spc="-35" dirty="0">
              <a:solidFill>
                <a:srgbClr val="231F20"/>
              </a:solidFill>
              <a:effectLst/>
              <a:latin typeface="Times New Roman" panose="02020603050405020304" pitchFamily="18" charset="0"/>
              <a:ea typeface="Times New Roman" panose="02020603050405020304" pitchFamily="18" charset="0"/>
            </a:endParaRPr>
          </a:p>
          <a:p>
            <a:pPr marL="209550" marR="232410" algn="just">
              <a:lnSpc>
                <a:spcPct val="106000"/>
              </a:lnSpc>
              <a:spcBef>
                <a:spcPts val="630"/>
              </a:spcBef>
              <a:spcAft>
                <a:spcPts val="0"/>
              </a:spcAft>
            </a:pPr>
            <a:r>
              <a:rPr lang="en-US" sz="1800" spc="-10" dirty="0">
                <a:solidFill>
                  <a:srgbClr val="FF0000"/>
                </a:solidFill>
                <a:effectLst/>
                <a:latin typeface="Times New Roman" panose="02020603050405020304" pitchFamily="18" charset="0"/>
                <a:ea typeface="Times New Roman" panose="02020603050405020304" pitchFamily="18" charset="0"/>
              </a:rPr>
              <a:t>Replace</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mechanical</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method</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with</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a:t>
            </a:r>
            <a:r>
              <a:rPr lang="en-US" sz="1800" spc="-35"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sensory (optical,</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acoustic,</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taste,</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or</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smell)</a:t>
            </a:r>
            <a:r>
              <a:rPr lang="en-US" sz="1800" spc="-40" dirty="0">
                <a:solidFill>
                  <a:srgbClr val="FF0000"/>
                </a:solidFill>
                <a:effectLst/>
                <a:latin typeface="Times New Roman" panose="02020603050405020304" pitchFamily="18" charset="0"/>
                <a:ea typeface="Times New Roman" panose="02020603050405020304" pitchFamily="18" charset="0"/>
              </a:rPr>
              <a:t> </a:t>
            </a:r>
            <a:r>
              <a:rPr lang="en-US" sz="1800" spc="-10" dirty="0">
                <a:solidFill>
                  <a:srgbClr val="FF0000"/>
                </a:solidFill>
                <a:effectLst/>
                <a:latin typeface="Times New Roman" panose="02020603050405020304" pitchFamily="18" charset="0"/>
                <a:ea typeface="Times New Roman" panose="02020603050405020304" pitchFamily="18" charset="0"/>
              </a:rPr>
              <a:t>method.</a:t>
            </a:r>
            <a:r>
              <a:rPr lang="en-US" sz="1800" spc="-40" dirty="0">
                <a:solidFill>
                  <a:srgbClr val="FF0000"/>
                </a:solidFill>
                <a:effectLst/>
                <a:latin typeface="Times New Roman" panose="02020603050405020304" pitchFamily="18" charset="0"/>
                <a:ea typeface="Times New Roman" panose="02020603050405020304" pitchFamily="18" charset="0"/>
              </a:rPr>
              <a:t> </a:t>
            </a:r>
          </a:p>
          <a:p>
            <a:pPr marL="209550" marR="232410" algn="just">
              <a:lnSpc>
                <a:spcPct val="106000"/>
              </a:lnSpc>
              <a:spcBef>
                <a:spcPts val="630"/>
              </a:spcBef>
              <a:spcAft>
                <a:spcPts val="0"/>
              </a:spcAft>
            </a:pP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electric,</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magnetic,</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and</a:t>
            </a:r>
            <a:r>
              <a:rPr lang="en-US" sz="1800" spc="-4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electromag</a:t>
            </a:r>
            <a:r>
              <a:rPr lang="en-US" sz="1800" spc="-20" dirty="0">
                <a:solidFill>
                  <a:srgbClr val="231F20"/>
                </a:solidFill>
                <a:effectLst/>
                <a:latin typeface="Times New Roman" panose="02020603050405020304" pitchFamily="18" charset="0"/>
                <a:ea typeface="Times New Roman" panose="02020603050405020304" pitchFamily="18" charset="0"/>
              </a:rPr>
              <a:t>netic</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fields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interact</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with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object.</a:t>
            </a:r>
            <a:r>
              <a:rPr lang="en-US" sz="1800" spc="-30" dirty="0">
                <a:solidFill>
                  <a:srgbClr val="231F20"/>
                </a:solidFill>
                <a:effectLst/>
                <a:latin typeface="Times New Roman" panose="02020603050405020304" pitchFamily="18" charset="0"/>
                <a:ea typeface="Times New Roman" panose="02020603050405020304" pitchFamily="18" charset="0"/>
              </a:rPr>
              <a:t> </a:t>
            </a:r>
          </a:p>
          <a:p>
            <a:pPr marL="209550" marR="232410" algn="just">
              <a:lnSpc>
                <a:spcPct val="106000"/>
              </a:lnSpc>
              <a:spcBef>
                <a:spcPts val="630"/>
              </a:spcBef>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Change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from</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static</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movable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fields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to</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those having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structure.</a:t>
            </a:r>
            <a:r>
              <a:rPr lang="en-US" sz="1800" spc="-30" dirty="0">
                <a:solidFill>
                  <a:srgbClr val="231F20"/>
                </a:solidFill>
                <a:effectLst/>
                <a:latin typeface="Times New Roman" panose="02020603050405020304" pitchFamily="18" charset="0"/>
                <a:ea typeface="Times New Roman" panose="02020603050405020304" pitchFamily="18" charset="0"/>
              </a:rPr>
              <a:t> </a:t>
            </a:r>
          </a:p>
          <a:p>
            <a:pPr marL="209550" marR="232410" algn="just">
              <a:lnSpc>
                <a:spcPct val="106000"/>
              </a:lnSpc>
              <a:spcBef>
                <a:spcPts val="630"/>
              </a:spcBef>
              <a:spcAft>
                <a:spcPts val="0"/>
              </a:spcAft>
            </a:pPr>
            <a:r>
              <a:rPr lang="en-US" sz="1800" spc="-20" dirty="0">
                <a:solidFill>
                  <a:srgbClr val="231F20"/>
                </a:solidFill>
                <a:effectLst/>
                <a:latin typeface="Times New Roman" panose="02020603050405020304" pitchFamily="18" charset="0"/>
                <a:ea typeface="Times New Roman" panose="02020603050405020304" pitchFamily="18" charset="0"/>
              </a:rPr>
              <a:t>Use</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fields</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in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conjunction</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with</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field-activated</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(e.g.,</a:t>
            </a:r>
            <a:r>
              <a:rPr lang="en-US" sz="1800" spc="-30" dirty="0">
                <a:solidFill>
                  <a:srgbClr val="231F20"/>
                </a:solidFill>
                <a:effectLst/>
                <a:latin typeface="Times New Roman" panose="02020603050405020304" pitchFamily="18" charset="0"/>
                <a:ea typeface="Times New Roman" panose="02020603050405020304" pitchFamily="18" charset="0"/>
              </a:rPr>
              <a:t> </a:t>
            </a:r>
            <a:r>
              <a:rPr lang="en-US" sz="1800" spc="-20" dirty="0">
                <a:solidFill>
                  <a:srgbClr val="231F20"/>
                </a:solidFill>
                <a:effectLst/>
                <a:latin typeface="Times New Roman" panose="02020603050405020304" pitchFamily="18" charset="0"/>
                <a:ea typeface="Times New Roman" panose="02020603050405020304" pitchFamily="18" charset="0"/>
              </a:rPr>
              <a:t>ferromagnetic) </a:t>
            </a:r>
            <a:r>
              <a:rPr lang="en-US" sz="1800" dirty="0">
                <a:solidFill>
                  <a:srgbClr val="231F20"/>
                </a:solidFill>
                <a:effectLst/>
                <a:latin typeface="Times New Roman" panose="02020603050405020304" pitchFamily="18" charset="0"/>
                <a:ea typeface="Times New Roman" panose="02020603050405020304" pitchFamily="18" charset="0"/>
              </a:rPr>
              <a:t>particles.</a:t>
            </a:r>
            <a:r>
              <a:rPr lang="en-US" sz="1800" spc="-65" dirty="0">
                <a:solidFill>
                  <a:srgbClr val="231F2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11B2EA21-04CB-A62D-986D-398DC017FC75}"/>
              </a:ext>
            </a:extLst>
          </p:cNvPr>
          <p:cNvSpPr txBox="1"/>
          <p:nvPr/>
        </p:nvSpPr>
        <p:spPr>
          <a:xfrm>
            <a:off x="524289" y="4086242"/>
            <a:ext cx="6097656" cy="2548390"/>
          </a:xfrm>
          <a:prstGeom prst="rect">
            <a:avLst/>
          </a:prstGeom>
          <a:noFill/>
        </p:spPr>
        <p:txBody>
          <a:bodyPr wrap="square">
            <a:spAutoFit/>
          </a:bodyPr>
          <a:lstStyle/>
          <a:p>
            <a:pPr marL="285750" marR="234315" indent="-285750" algn="just">
              <a:lnSpc>
                <a:spcPct val="150000"/>
              </a:lnSpc>
              <a:spcBef>
                <a:spcPts val="1190"/>
              </a:spcBef>
              <a:spcAft>
                <a:spcPts val="0"/>
              </a:spcAft>
              <a:buFont typeface="Arial" panose="020B0604020202020204" pitchFamily="34" charset="0"/>
              <a:buChar char="•"/>
              <a:tabLst>
                <a:tab pos="514350" algn="l"/>
              </a:tabLst>
            </a:pP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best-known</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example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smell</a:t>
            </a:r>
            <a:r>
              <a:rPr lang="en-US" sz="1800" spc="-7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warning</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is</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6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incorporation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of</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bad</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odors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natural</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gas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warn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users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when</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the</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system</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has</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a:t>
            </a:r>
            <a:r>
              <a:rPr lang="en-US" sz="1800" spc="-45"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leak.</a:t>
            </a:r>
            <a:endParaRPr lang="en-IN" sz="2000" dirty="0">
              <a:effectLst/>
              <a:latin typeface="Times New Roman" panose="02020603050405020304" pitchFamily="18" charset="0"/>
              <a:ea typeface="Times New Roman" panose="02020603050405020304" pitchFamily="18" charset="0"/>
            </a:endParaRPr>
          </a:p>
          <a:p>
            <a:pPr marL="285750" marR="234315" indent="-285750" algn="just">
              <a:lnSpc>
                <a:spcPct val="150000"/>
              </a:lnSpc>
              <a:spcBef>
                <a:spcPts val="70"/>
              </a:spcBef>
              <a:spcAft>
                <a:spcPts val="0"/>
              </a:spcAft>
              <a:buFont typeface="Arial" panose="020B0604020202020204" pitchFamily="34" charset="0"/>
              <a:buChar char="•"/>
              <a:tabLst>
                <a:tab pos="514350" algn="l"/>
              </a:tabLst>
            </a:pPr>
            <a:r>
              <a:rPr lang="en-US" sz="1800" spc="-10" dirty="0">
                <a:solidFill>
                  <a:srgbClr val="231F20"/>
                </a:solidFill>
                <a:effectLst/>
                <a:latin typeface="Times New Roman" panose="02020603050405020304" pitchFamily="18" charset="0"/>
                <a:ea typeface="Times New Roman" panose="02020603050405020304" pitchFamily="18" charset="0"/>
              </a:rPr>
              <a:t>The</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JIT</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manufacturing</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systems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use</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Kanban</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cards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or</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objects</a:t>
            </a:r>
            <a:r>
              <a:rPr lang="en-US" sz="1800" spc="-60"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such</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as</a:t>
            </a:r>
            <a:r>
              <a:rPr lang="en-US" sz="1800" spc="-55" dirty="0">
                <a:solidFill>
                  <a:srgbClr val="231F20"/>
                </a:solidFill>
                <a:effectLst/>
                <a:latin typeface="Times New Roman" panose="02020603050405020304" pitchFamily="18" charset="0"/>
                <a:ea typeface="Times New Roman" panose="02020603050405020304" pitchFamily="18" charset="0"/>
              </a:rPr>
              <a:t> </a:t>
            </a:r>
            <a:r>
              <a:rPr lang="en-US" sz="1800" spc="-10" dirty="0">
                <a:solidFill>
                  <a:srgbClr val="231F20"/>
                </a:solidFill>
                <a:effectLst/>
                <a:latin typeface="Times New Roman" panose="02020603050405020304" pitchFamily="18" charset="0"/>
                <a:ea typeface="Times New Roman" panose="02020603050405020304" pitchFamily="18" charset="0"/>
              </a:rPr>
              <a:t>portable </a:t>
            </a:r>
            <a:r>
              <a:rPr lang="en-US" sz="1800" dirty="0">
                <a:solidFill>
                  <a:srgbClr val="231F20"/>
                </a:solidFill>
                <a:effectLst/>
                <a:latin typeface="Times New Roman" panose="02020603050405020304" pitchFamily="18" charset="0"/>
                <a:ea typeface="Times New Roman" panose="02020603050405020304" pitchFamily="18" charset="0"/>
              </a:rPr>
              <a:t>bins</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to</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indicate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visibly</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when</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supplies</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are</a:t>
            </a:r>
            <a:r>
              <a:rPr lang="en-US" sz="1800" spc="-20" dirty="0">
                <a:solidFill>
                  <a:srgbClr val="231F20"/>
                </a:solidFill>
                <a:effectLst/>
                <a:latin typeface="Times New Roman" panose="02020603050405020304" pitchFamily="18" charset="0"/>
                <a:ea typeface="Times New Roman" panose="02020603050405020304" pitchFamily="18" charset="0"/>
              </a:rPr>
              <a:t> </a:t>
            </a:r>
            <a:r>
              <a:rPr lang="en-US" sz="1800" dirty="0">
                <a:solidFill>
                  <a:srgbClr val="231F20"/>
                </a:solidFill>
                <a:effectLst/>
                <a:latin typeface="Times New Roman" panose="02020603050405020304" pitchFamily="18" charset="0"/>
                <a:ea typeface="Times New Roman" panose="02020603050405020304" pitchFamily="18" charset="0"/>
              </a:rPr>
              <a:t>needed.</a:t>
            </a:r>
            <a:endParaRPr lang="en-IN" sz="2000" dirty="0">
              <a:effectLst/>
              <a:latin typeface="Times New Roman" panose="02020603050405020304" pitchFamily="18" charset="0"/>
              <a:ea typeface="Times New Roman" panose="02020603050405020304" pitchFamily="18" charset="0"/>
            </a:endParaRPr>
          </a:p>
        </p:txBody>
      </p:sp>
      <p:pic>
        <p:nvPicPr>
          <p:cNvPr id="1026" name="Picture 2" descr="What Is an Automation System: Examples, Types, Benefits">
            <a:extLst>
              <a:ext uri="{FF2B5EF4-FFF2-40B4-BE49-F238E27FC236}">
                <a16:creationId xmlns:a16="http://schemas.microsoft.com/office/drawing/2014/main" id="{F7B0972E-1D9D-D8CA-D238-797290DFF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8304" y="3699634"/>
            <a:ext cx="4859407" cy="26216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art home concept on screen. Automation and technology in every day ...">
            <a:extLst>
              <a:ext uri="{FF2B5EF4-FFF2-40B4-BE49-F238E27FC236}">
                <a16:creationId xmlns:a16="http://schemas.microsoft.com/office/drawing/2014/main" id="{BFD50570-D838-4278-AB08-11004C412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8821" y="372455"/>
            <a:ext cx="5159445" cy="3056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2886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43E8C9-AF74-6DA7-723F-C9035743DE04}"/>
              </a:ext>
            </a:extLst>
          </p:cNvPr>
          <p:cNvSpPr txBox="1"/>
          <p:nvPr/>
        </p:nvSpPr>
        <p:spPr>
          <a:xfrm>
            <a:off x="683315" y="500506"/>
            <a:ext cx="6097656" cy="6346417"/>
          </a:xfrm>
          <a:prstGeom prst="rect">
            <a:avLst/>
          </a:prstGeom>
          <a:noFill/>
        </p:spPr>
        <p:txBody>
          <a:bodyPr wrap="square">
            <a:spAutoFit/>
          </a:bodyPr>
          <a:lstStyle/>
          <a:p>
            <a:pPr marL="342900" marR="233680" indent="-342900" algn="just">
              <a:lnSpc>
                <a:spcPct val="150000"/>
              </a:lnSpc>
              <a:spcBef>
                <a:spcPts val="845"/>
              </a:spcBef>
              <a:spcAft>
                <a:spcPts val="0"/>
              </a:spcAft>
              <a:buFont typeface="Arial" panose="020B0604020202020204" pitchFamily="34" charset="0"/>
              <a:buChar char="•"/>
              <a:tabLst>
                <a:tab pos="514350" algn="l"/>
              </a:tabLst>
            </a:pPr>
            <a:r>
              <a:rPr lang="en-US" sz="2000" spc="-3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 pattern of evolution called “the increase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interactions.”</a:t>
            </a:r>
          </a:p>
          <a:p>
            <a:pPr marL="342900" marR="233680" indent="-342900" algn="just">
              <a:lnSpc>
                <a:spcPct val="150000"/>
              </a:lnSpc>
              <a:spcBef>
                <a:spcPts val="845"/>
              </a:spcBef>
              <a:spcAft>
                <a:spcPts val="0"/>
              </a:spcAft>
              <a:buFont typeface="Arial" panose="020B0604020202020204" pitchFamily="34" charset="0"/>
              <a:buChar char="•"/>
              <a:tabLst>
                <a:tab pos="514350" algn="l"/>
              </a:tabLst>
            </a:pP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history</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technology</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full</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examples</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which</a:t>
            </a:r>
            <a:r>
              <a:rPr lang="en-US" sz="2000" spc="-3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mechanical</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means</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doing</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something</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first</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supplemented</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by</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2000" spc="-2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electrical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then</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replaced</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by</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electrical</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or</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electronic</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a:t>
            </a:r>
            <a:r>
              <a:rPr lang="en-US" sz="2000" spc="-5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342900" marR="233680" indent="-342900" algn="just">
              <a:lnSpc>
                <a:spcPct val="150000"/>
              </a:lnSpc>
              <a:spcBef>
                <a:spcPts val="845"/>
              </a:spcBef>
              <a:spcAft>
                <a:spcPts val="0"/>
              </a:spcAft>
              <a:buFont typeface="Arial" panose="020B0604020202020204" pitchFamily="34" charset="0"/>
              <a:buChar char="•"/>
              <a:tabLst>
                <a:tab pos="514350" algn="l"/>
              </a:tabLst>
            </a:pP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Automobile steering</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systems</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mainly</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mechanical,</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but</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control</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by</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wire</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(already</a:t>
            </a:r>
            <a:r>
              <a:rPr lang="en-US" sz="2000" spc="-1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used extensively</a:t>
            </a:r>
            <a:r>
              <a:rPr lang="en-US" sz="2000"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aviation)</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intensively</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studied</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automotive</a:t>
            </a:r>
            <a:r>
              <a:rPr lang="en-US" sz="2000" spc="-7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industry.</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342900" marR="233680" indent="-342900" algn="just">
              <a:lnSpc>
                <a:spcPct val="150000"/>
              </a:lnSpc>
              <a:spcBef>
                <a:spcPts val="845"/>
              </a:spcBef>
              <a:spcAft>
                <a:spcPts val="0"/>
              </a:spcAft>
              <a:buFont typeface="Arial" panose="020B0604020202020204" pitchFamily="34" charset="0"/>
              <a:buChar char="•"/>
              <a:tabLst>
                <a:tab pos="514350" algn="l"/>
              </a:tabLst>
            </a:pP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 telecommunications,</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infrared</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radio</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waves</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other</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wireless</a:t>
            </a:r>
            <a:r>
              <a:rPr lang="en-US" sz="2000" spc="-65"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solidFill>
                  <a:srgbClr val="231F20"/>
                </a:solidFill>
                <a:effectLst/>
                <a:latin typeface="Times New Roman" panose="02020603050405020304" pitchFamily="18" charset="0"/>
                <a:ea typeface="Times New Roman" panose="02020603050405020304" pitchFamily="18" charset="0"/>
                <a:cs typeface="Times New Roman" panose="02020603050405020304" pitchFamily="18" charset="0"/>
              </a:rPr>
              <a:t>technologies are increasingly used.</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052" name="Picture 4" descr="Arriba 100+ Foto Imagenes De La Tecnologia En La Vida Cotidiana Alta ...">
            <a:extLst>
              <a:ext uri="{FF2B5EF4-FFF2-40B4-BE49-F238E27FC236}">
                <a16:creationId xmlns:a16="http://schemas.microsoft.com/office/drawing/2014/main" id="{039195C2-63C4-70FF-ABD2-75FF0B3C69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0971" y="382656"/>
            <a:ext cx="5135217" cy="6092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9571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eme of solution of problems using TRIZ [13]. | Download Scientific ...">
            <a:extLst>
              <a:ext uri="{FF2B5EF4-FFF2-40B4-BE49-F238E27FC236}">
                <a16:creationId xmlns:a16="http://schemas.microsoft.com/office/drawing/2014/main" id="{91D56C53-B113-ABD5-E8A7-BB57453C3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8679" y="914400"/>
            <a:ext cx="8736496" cy="4439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527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4504</TotalTime>
  <Words>11234</Words>
  <Application>Microsoft Office PowerPoint</Application>
  <PresentationFormat>Widescreen</PresentationFormat>
  <Paragraphs>647</Paragraphs>
  <Slides>100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100</vt:i4>
      </vt:variant>
    </vt:vector>
  </HeadingPairs>
  <TitlesOfParts>
    <vt:vector size="108" baseType="lpstr">
      <vt:lpstr>Arial</vt:lpstr>
      <vt:lpstr>Calibri</vt:lpstr>
      <vt:lpstr>Calibri Light</vt:lpstr>
      <vt:lpstr>Lucida Sans Unicode</vt:lpstr>
      <vt:lpstr>Times New Roman</vt:lpstr>
      <vt:lpstr>Trebuchet MS</vt:lpstr>
      <vt:lpstr>Wingdings</vt:lpstr>
      <vt:lpstr>Office Theme</vt:lpstr>
      <vt:lpstr>Agnel Institute Of Design And Technology Faculty Of Mechanical And Automation Engineering</vt:lpstr>
      <vt:lpstr>PowerPoint Presentation</vt:lpstr>
      <vt:lpstr>Unit – 3 </vt:lpstr>
      <vt:lpstr>Introduction </vt:lpstr>
      <vt:lpstr>TRIZ</vt:lpstr>
      <vt:lpstr>TRIZ</vt:lpstr>
      <vt:lpstr>Why we need triz?</vt:lpstr>
      <vt:lpstr>TRIZ</vt:lpstr>
      <vt:lpstr>EXAMPLES OF GOOD SOLUTION </vt:lpstr>
      <vt:lpstr>TRIZ</vt:lpstr>
      <vt:lpstr>?</vt:lpstr>
      <vt:lpstr>PowerPoint Presentation</vt:lpstr>
      <vt:lpstr>Common features of good solutions</vt:lpstr>
      <vt:lpstr>Trade off contradiction</vt:lpstr>
      <vt:lpstr>Physical (or "inherent") contradictions</vt:lpstr>
      <vt:lpstr>Common features of good solutions</vt:lpstr>
      <vt:lpstr>FEATURES OF GOOD SOLUTION</vt:lpstr>
      <vt:lpstr>REORGANIZATION OF CREATIVE ACTIVITY</vt:lpstr>
      <vt:lpstr>PowerPoint Presentation</vt:lpstr>
      <vt:lpstr>RESOLVING CONTRADICTIONS</vt:lpstr>
      <vt:lpstr>RESOLVING CONTRADICTIONS</vt:lpstr>
      <vt:lpstr>RESOLVING CONTRADICTIONS</vt:lpstr>
      <vt:lpstr>RESOLVING CONTRADICTIONS</vt:lpstr>
      <vt:lpstr>RESOURCES</vt:lpstr>
      <vt:lpstr>RESOURCES</vt:lpstr>
      <vt:lpstr>RESOURCES</vt:lpstr>
      <vt:lpstr>IDEALITY</vt:lpstr>
      <vt:lpstr>IDEALITY</vt:lpstr>
      <vt:lpstr>IDEALITY</vt:lpstr>
      <vt:lpstr>PATTERNS OF EVOLUTION</vt:lpstr>
      <vt:lpstr>INNOVATIVE PRINCIPLES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jessy selvaraj</dc:creator>
  <cp:lastModifiedBy>jessy selvaraj</cp:lastModifiedBy>
  <cp:revision>18</cp:revision>
  <dcterms:created xsi:type="dcterms:W3CDTF">2024-08-13T13:23:33Z</dcterms:created>
  <dcterms:modified xsi:type="dcterms:W3CDTF">2024-10-23T07:05:43Z</dcterms:modified>
</cp:coreProperties>
</file>