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sldIdLst>
    <p:sldId id="256" r:id="rId2"/>
    <p:sldId id="257" r:id="rId3"/>
    <p:sldId id="289" r:id="rId4"/>
    <p:sldId id="290" r:id="rId5"/>
    <p:sldId id="291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87" r:id="rId14"/>
    <p:sldId id="288" r:id="rId15"/>
    <p:sldId id="268" r:id="rId16"/>
    <p:sldId id="265" r:id="rId17"/>
    <p:sldId id="266" r:id="rId18"/>
    <p:sldId id="267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61E121-0C24-46FD-B9A1-4662F4F733AA}" v="4" dt="2025-11-30T14:07:03.5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B0EAEA-8477-43C3-9D44-DA5161694EA1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767B00-6315-40DC-8D94-3A8C9CBAD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051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67B00-6315-40DC-8D94-3A8C9CBADEE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99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1. The Bridge from Theory to Reality</a:t>
            </a:r>
          </a:p>
          <a:p>
            <a:r>
              <a:rPr lang="en-US" dirty="0"/>
              <a:t>In your first year, you learned the "What" (Calculus, Linear Algebra, and Stats). This year, we learn the </a:t>
            </a:r>
            <a:r>
              <a:rPr lang="en-US" b="1" dirty="0"/>
              <a:t>"How."</a:t>
            </a:r>
            <a:r>
              <a:rPr lang="en-US" dirty="0"/>
              <a:t> We take those abstract equations and turn them into logic that allows a computer to make decisions, predict trends, and solve problems that are too complex for a human to hard-code.</a:t>
            </a:r>
          </a:p>
          <a:p>
            <a:r>
              <a:rPr lang="en-US" b="1" dirty="0"/>
              <a:t>2. Learning to "Talk" to Data</a:t>
            </a:r>
          </a:p>
          <a:p>
            <a:r>
              <a:rPr lang="en-US" dirty="0"/>
              <a:t>Modern engineering isn't just about writing code; it's about </a:t>
            </a:r>
            <a:r>
              <a:rPr lang="en-US" b="1" dirty="0"/>
              <a:t>Data Literacy.</a:t>
            </a:r>
            <a:r>
              <a:rPr lang="en-US" dirty="0"/>
              <a:t> You will learn how to clean, transform, and represent messy, real-world information so that a machine can actually understand it. This is the #1 skill sought after in internships today—being the person who knows how to make data useful.</a:t>
            </a:r>
          </a:p>
          <a:p>
            <a:r>
              <a:rPr lang="en-US" b="1" dirty="0"/>
              <a:t>3. Mastering the "Smart" Toolbox</a:t>
            </a:r>
          </a:p>
          <a:p>
            <a:r>
              <a:rPr lang="en-US" dirty="0"/>
              <a:t>Think of this course as building your professional toolkit. You’ll learn specific "hammers" and "saws" like </a:t>
            </a:r>
            <a:r>
              <a:rPr lang="en-US" b="1" dirty="0"/>
              <a:t>Support Vector Machines (SVMs)</a:t>
            </a:r>
            <a:r>
              <a:rPr lang="en-US" dirty="0"/>
              <a:t> and </a:t>
            </a:r>
            <a:r>
              <a:rPr lang="en-US" b="1" dirty="0"/>
              <a:t>Decision Trees</a:t>
            </a:r>
            <a:r>
              <a:rPr lang="en-US" dirty="0"/>
              <a:t>. By the end of the semester, you won’t just know these names; you’ll know exactly which tool to pick to solve a specific problem efficiently.</a:t>
            </a:r>
          </a:p>
          <a:p>
            <a:r>
              <a:rPr lang="en-US" b="1" dirty="0"/>
              <a:t>4. Avoiding the "Overfitting" Trap</a:t>
            </a:r>
          </a:p>
          <a:p>
            <a:r>
              <a:rPr lang="en-US" dirty="0"/>
              <a:t>A bad engineer builds a solution that only works in the lab; a great engineer builds one that works in the real world. We will focus on </a:t>
            </a:r>
            <a:r>
              <a:rPr lang="en-US" b="1" dirty="0"/>
              <a:t>Generalization</a:t>
            </a:r>
            <a:r>
              <a:rPr lang="en-US" dirty="0"/>
              <a:t>—the art of making sure your model doesn't just "memorize" the past, but actually "understands" how to handle new, unseen situations.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67B00-6315-40DC-8D94-3A8C9CBADEEE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9926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Pre-programmed/Rule-Based:</a:t>
            </a:r>
            <a:r>
              <a:rPr lang="en-US" dirty="0"/>
              <a:t> Most machines, including conventional robots and early AI systems, operate solely based on explicit, pre-defined instructions (</a:t>
            </a:r>
            <a:r>
              <a:rPr lang="en-US" b="1" dirty="0"/>
              <a:t>algorithms</a:t>
            </a:r>
            <a:r>
              <a:rPr lang="en-US" dirty="0"/>
              <a:t>) given by a human programmer.</a:t>
            </a:r>
          </a:p>
          <a:p>
            <a:r>
              <a:rPr lang="en-US" b="1" dirty="0"/>
              <a:t>The Computational Hypothesis:</a:t>
            </a:r>
            <a:r>
              <a:rPr lang="en-US" dirty="0"/>
              <a:t> This is the belief that cognitive processes—like </a:t>
            </a:r>
            <a:r>
              <a:rPr lang="en-US" b="1" dirty="0"/>
              <a:t>learning</a:t>
            </a:r>
            <a:r>
              <a:rPr lang="en-US" dirty="0"/>
              <a:t>, </a:t>
            </a:r>
            <a:r>
              <a:rPr lang="en-US" b="1" dirty="0"/>
              <a:t>problem-solving</a:t>
            </a:r>
            <a:r>
              <a:rPr lang="en-US" dirty="0"/>
              <a:t>, </a:t>
            </a:r>
            <a:r>
              <a:rPr lang="en-US" b="1" dirty="0"/>
              <a:t>perception</a:t>
            </a:r>
            <a:r>
              <a:rPr lang="en-US" dirty="0"/>
              <a:t>, and </a:t>
            </a:r>
            <a:r>
              <a:rPr lang="en-US" b="1" dirty="0"/>
              <a:t>reasoning</a:t>
            </a:r>
            <a:r>
              <a:rPr lang="en-US" dirty="0"/>
              <a:t>—are fundamentally a form of computation. If they are computational, they can theoretically be replicated and executed by a machine.</a:t>
            </a:r>
          </a:p>
          <a:p>
            <a:r>
              <a:rPr lang="en-US" b="1" dirty="0"/>
              <a:t>The Rise of Learning Models:</a:t>
            </a:r>
            <a:r>
              <a:rPr lang="en-US" dirty="0"/>
              <a:t> Recent research, particularly in </a:t>
            </a:r>
            <a:r>
              <a:rPr lang="en-US" b="1" dirty="0"/>
              <a:t>Machine Learning (ML)</a:t>
            </a:r>
            <a:r>
              <a:rPr lang="en-US" dirty="0"/>
              <a:t> and </a:t>
            </a:r>
            <a:r>
              <a:rPr lang="en-US" b="1" dirty="0"/>
              <a:t>Deep Learning (DL)</a:t>
            </a:r>
            <a:r>
              <a:rPr lang="en-US" dirty="0"/>
              <a:t>, focuses on creating systems that </a:t>
            </a:r>
            <a:r>
              <a:rPr lang="en-US" i="1" dirty="0"/>
              <a:t>don't</a:t>
            </a:r>
            <a:r>
              <a:rPr lang="en-US" dirty="0"/>
              <a:t> need explicit commands for every action. Instead, they are given </a:t>
            </a:r>
            <a:r>
              <a:rPr lang="en-US" b="1" dirty="0"/>
              <a:t>data</a:t>
            </a:r>
            <a:r>
              <a:rPr lang="en-US" dirty="0"/>
              <a:t> and algorithms to </a:t>
            </a:r>
            <a:r>
              <a:rPr lang="en-US" b="1" dirty="0"/>
              <a:t>learn patterns and rules</a:t>
            </a:r>
            <a:r>
              <a:rPr lang="en-US" dirty="0"/>
              <a:t> on their own. This allows the intelligence to be "cast" into the system through training, rather than hard-coded command by command.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67B00-6315-40DC-8D94-3A8C9CBADEEE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95137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67B00-6315-40DC-8D94-3A8C9CBADEEE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3337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Examples: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Text: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Emails, social media posts, news articles, open-ended survey responses.</a:t>
            </a:r>
          </a:p>
          <a:p>
            <a:pPr lvl="1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Media: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Images, audio files, videos.</a:t>
            </a:r>
          </a:p>
          <a:p>
            <a:pPr lvl="1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 Data: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Content from websites.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67B00-6315-40DC-8D94-3A8C9CBADEEE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6285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67B00-6315-40DC-8D94-3A8C9CBADEEE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4115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5E9D903-5E25-4BE0-8CF6-CA9592154EA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9939D762-1AB1-43DE-94CD-EF45B8FED2B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1292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9D903-5E25-4BE0-8CF6-CA9592154EA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D762-1AB1-43DE-94CD-EF45B8FED2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191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9D903-5E25-4BE0-8CF6-CA9592154EA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D762-1AB1-43DE-94CD-EF45B8FED2B3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737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9D903-5E25-4BE0-8CF6-CA9592154EA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D762-1AB1-43DE-94CD-EF45B8FED2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345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9D903-5E25-4BE0-8CF6-CA9592154EA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D762-1AB1-43DE-94CD-EF45B8FED2B3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554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9D903-5E25-4BE0-8CF6-CA9592154EA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D762-1AB1-43DE-94CD-EF45B8FED2B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324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9D903-5E25-4BE0-8CF6-CA9592154EA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D762-1AB1-43DE-94CD-EF45B8FED2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092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9D903-5E25-4BE0-8CF6-CA9592154EA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D762-1AB1-43DE-94CD-EF45B8FED2B3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771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9D903-5E25-4BE0-8CF6-CA9592154EA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D762-1AB1-43DE-94CD-EF45B8FED2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726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9D903-5E25-4BE0-8CF6-CA9592154EA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D762-1AB1-43DE-94CD-EF45B8FED2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5432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9D903-5E25-4BE0-8CF6-CA9592154EA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D762-1AB1-43DE-94CD-EF45B8FED2B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64319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9D903-5E25-4BE0-8CF6-CA9592154EA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D762-1AB1-43DE-94CD-EF45B8FED2B3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996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9D903-5E25-4BE0-8CF6-CA9592154EA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D762-1AB1-43DE-94CD-EF45B8FED2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7112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9D903-5E25-4BE0-8CF6-CA9592154EA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D762-1AB1-43DE-94CD-EF45B8FED2B3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24780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9D903-5E25-4BE0-8CF6-CA9592154EA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D762-1AB1-43DE-94CD-EF45B8FED2B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86413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9D903-5E25-4BE0-8CF6-CA9592154EA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D762-1AB1-43DE-94CD-EF45B8FED2B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20774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9D903-5E25-4BE0-8CF6-CA9592154EA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D762-1AB1-43DE-94CD-EF45B8FED2B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228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5E9D903-5E25-4BE0-8CF6-CA9592154EA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939D762-1AB1-43DE-94CD-EF45B8FED2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037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259A5-2764-DFF9-72E9-DACBE7559F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Machine Learning </a:t>
            </a:r>
            <a:endParaRPr lang="en-IN" sz="5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6900D9-C7AA-93F2-FCBA-479AD43395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3657596"/>
            <a:ext cx="7179390" cy="186612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Shrikrishna Anand Narvekar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Assitant Professor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Engineering Department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Agnel Institute of Technology and Design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8878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9AF36-3E8D-9052-8F59-1B98FC400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C9440-E792-A70C-F75B-D8696AB57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Well Posed Machine Learning problems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representation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Diversity of data 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871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1A3E0-A4DA-DDA9-9FBF-7B48E67B3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the course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E24E1-D8F4-4092-926A-E0E5FAAAA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are we here ?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isn't magic; it's a process of improving performance (P) at some task (T) with experience (E).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Mention how data representation (Unit 1)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transforms raw "noise"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into the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intelligence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behind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Netflix recommendations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diagnoses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self-driving cars.</a:t>
            </a: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560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6B3AD-91DC-134F-BAD3-CDD84B5E0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Syllabus Roadmap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444BCF5-8DFC-9F95-9B05-8269AAB128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7645212"/>
              </p:ext>
            </p:extLst>
          </p:nvPr>
        </p:nvGraphicFramePr>
        <p:xfrm>
          <a:off x="839755" y="2477862"/>
          <a:ext cx="10384971" cy="3651250"/>
        </p:xfrm>
        <a:graphic>
          <a:graphicData uri="http://schemas.openxmlformats.org/drawingml/2006/table">
            <a:tbl>
              <a:tblPr/>
              <a:tblGrid>
                <a:gridCol w="3461657">
                  <a:extLst>
                    <a:ext uri="{9D8B030D-6E8A-4147-A177-3AD203B41FA5}">
                      <a16:colId xmlns:a16="http://schemas.microsoft.com/office/drawing/2014/main" val="3746472317"/>
                    </a:ext>
                  </a:extLst>
                </a:gridCol>
                <a:gridCol w="3461657">
                  <a:extLst>
                    <a:ext uri="{9D8B030D-6E8A-4147-A177-3AD203B41FA5}">
                      <a16:colId xmlns:a16="http://schemas.microsoft.com/office/drawing/2014/main" val="4050317046"/>
                    </a:ext>
                  </a:extLst>
                </a:gridCol>
                <a:gridCol w="3461657">
                  <a:extLst>
                    <a:ext uri="{9D8B030D-6E8A-4147-A177-3AD203B41FA5}">
                      <a16:colId xmlns:a16="http://schemas.microsoft.com/office/drawing/2014/main" val="3651859017"/>
                    </a:ext>
                  </a:extLst>
                </a:gridCol>
              </a:tblGrid>
              <a:tr h="39211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487" marR="90487" marT="60325" marB="6032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487" marR="90487" marT="60325" marB="6032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Concept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487" marR="90487" marT="60325" marB="6032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8924375"/>
                  </a:ext>
                </a:extLst>
              </a:tr>
              <a:tr h="66357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Foundations (Unit 1)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487" marR="90487" marT="60325" marB="6032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"Rules" of Learning</a:t>
                      </a:r>
                    </a:p>
                  </a:txBody>
                  <a:tcPr marL="90487" marR="90487" marT="60325" marB="6032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Bias-Variance tradeoff &amp; how to avoid overfitting.</a:t>
                      </a:r>
                    </a:p>
                  </a:txBody>
                  <a:tcPr marL="90487" marR="90487" marT="60325" marB="6032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087506"/>
                  </a:ext>
                </a:extLst>
              </a:tr>
              <a:tr h="66357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Statistical Rigor (Unit 2)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487" marR="90487" marT="60325" marB="6032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"Math" of Prediction</a:t>
                      </a:r>
                    </a:p>
                  </a:txBody>
                  <a:tcPr marL="90487" marR="90487" marT="60325" marB="6032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Moving from Bayesian reasoning to k-NN and SVMs.</a:t>
                      </a:r>
                    </a:p>
                  </a:txBody>
                  <a:tcPr marL="90487" marR="90487" marT="60325" marB="6032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756876"/>
                  </a:ext>
                </a:extLst>
              </a:tr>
              <a:tr h="93503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Uncovering Patterns (Unit 3)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487" marR="90487" marT="60325" marB="6032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"Structure" of Data</a:t>
                      </a:r>
                    </a:p>
                  </a:txBody>
                  <a:tcPr marL="90487" marR="90487" marT="60325" marB="6032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Clustering and Data Transformations (finding hidden groups).</a:t>
                      </a:r>
                    </a:p>
                  </a:txBody>
                  <a:tcPr marL="90487" marR="90487" marT="60325" marB="6032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0629643"/>
                  </a:ext>
                </a:extLst>
              </a:tr>
              <a:tr h="66357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Tree-Based Logic (Unit 4)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487" marR="90487" marT="60325" marB="6032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"Decision" Making</a:t>
                      </a:r>
                    </a:p>
                  </a:txBody>
                  <a:tcPr marL="90487" marR="90487" marT="60325" marB="6032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How ID3, C4.5, and Random Forests mimic human logic.</a:t>
                      </a:r>
                    </a:p>
                  </a:txBody>
                  <a:tcPr marL="90487" marR="90487" marT="60325" marB="6032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4593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3491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68A6A-CEBD-A50A-E4FF-7CB56B06C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Relevance of the course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410FD-4A37-2B87-9308-CCCDECD59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Bridge from Theory to Reality</a:t>
            </a:r>
          </a:p>
          <a:p>
            <a:pPr marL="457200" indent="-457200"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to "Talk" to Data</a:t>
            </a:r>
          </a:p>
          <a:p>
            <a:pPr marL="457200" indent="-457200"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Mastering the "Smart" Toolbox</a:t>
            </a:r>
          </a:p>
          <a:p>
            <a:pPr marL="457200" indent="-457200"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Avoiding the "Overfitting" Trap</a:t>
            </a:r>
          </a:p>
        </p:txBody>
      </p:sp>
    </p:spTree>
    <p:extLst>
      <p:ext uri="{BB962C8B-B14F-4D97-AF65-F5344CB8AC3E}">
        <p14:creationId xmlns:p14="http://schemas.microsoft.com/office/powerpoint/2010/main" val="2143740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99379-427E-CD19-459C-B085FA821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DE1DF-7EB5-F705-9C4D-7459566A7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 being have always dreamt of creating machines with human like traits.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today’s world of technology machines have match several functions or even outdone them with several human function.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some cases, machines have performed even much better than humans with extraordinary capacities and abilities.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Robots in manufacturing, mining , agriculture, space ocean exploration, and health sciences are only few examples.</a:t>
            </a:r>
          </a:p>
          <a:p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573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E9922-0643-211B-2234-06F051524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1749" y="1057824"/>
            <a:ext cx="10096499" cy="5285933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robots and early AI systems are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enslaved by commands.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are solely based on predefined set of instructions given by human programmer.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lack the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capacity to </a:t>
            </a:r>
            <a:r>
              <a:rPr lang="en-US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reason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make truly independent decisions outside the boundaries of their code.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makes them powerful tool but not truly intelligent.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Intelligent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can be cast into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Hypothesis: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Cognitive processes—like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problem-solving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perception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reasoning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—are fundamentally a form of computation.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Rise of learning models: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DL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you don’t need to give explicit commands for every action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0354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4C0FC-AD8C-CE83-D999-2A7C1D520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 Posed Machine learning Problems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36550-7AD2-1339-8752-1C71D9FE9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 is about constructing computer programs that improve their performance at a task through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experience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well-defined learning problem must clearly identify the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task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 of performance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the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experience.</a:t>
            </a:r>
          </a:p>
          <a:p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"learning from experience" behaviour embedded in ML, similar to animal learning, includes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remembering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adapting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generalizing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</a:p>
          <a:p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181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E4D89-0FCB-D844-519E-5407A6298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0" y="718457"/>
            <a:ext cx="10608907" cy="5467739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Remembering and adapting: </a:t>
            </a:r>
            <a:r>
              <a:rPr lang="en-IN" b="1" dirty="0"/>
              <a:t>:</a:t>
            </a:r>
            <a:r>
              <a:rPr lang="en-IN" dirty="0"/>
              <a:t> 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Recognizing that last time in a similar situation, a certain action (that resulted in this output) was attempted and had worked; therefore, it should be tried again or this same action failed in the last attempt in a similar situation, and so something different should be tried.  </a:t>
            </a:r>
          </a:p>
          <a:p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Imagine you are trying to open a door.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lvl="0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 time you pushed the door, but it did not open. </a:t>
            </a:r>
          </a:p>
          <a:p>
            <a:pPr lvl="0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then pulled the door, and it opened. </a:t>
            </a:r>
          </a:p>
          <a:p>
            <a:pPr marL="0" indent="0">
              <a:buNone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 time you reach the same door: </a:t>
            </a:r>
          </a:p>
          <a:p>
            <a:pPr lvl="0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</a:t>
            </a:r>
            <a:r>
              <a:rPr lang="en-IN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remember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pulling worked. </a:t>
            </a:r>
          </a:p>
          <a:p>
            <a:pPr lvl="0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</a:t>
            </a:r>
            <a:r>
              <a:rPr lang="en-IN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your action and pull the door immediately. </a:t>
            </a:r>
          </a:p>
          <a:p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how a robot or machine learns too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  <a:b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an action works in a situation, store that experience. </a:t>
            </a:r>
            <a:b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it fails, try something else next time. </a:t>
            </a:r>
          </a:p>
          <a:p>
            <a:endPara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0906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15780-4ED3-E714-2379-350F1BEE4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1722" y="765109"/>
            <a:ext cx="10338319" cy="5346441"/>
          </a:xfrm>
        </p:spPr>
        <p:txBody>
          <a:bodyPr>
            <a:normAutofit/>
          </a:bodyPr>
          <a:lstStyle/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Generalizing: 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aspect is regarding recognizing similarity between different situations. This makes learning useful because we can use our knowledge in situations unseen earlier. </a:t>
            </a:r>
          </a:p>
          <a:p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Suppose you learned that: </a:t>
            </a:r>
          </a:p>
          <a:p>
            <a:pPr lvl="0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Pulling opens the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library door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</a:p>
          <a:p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Later you see a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door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 the cafeteria. It looks similar: </a:t>
            </a:r>
          </a:p>
          <a:p>
            <a:pPr lvl="0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has the same type of handle. </a:t>
            </a:r>
          </a:p>
          <a:p>
            <a:pPr lvl="0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signboard is in the same place. </a:t>
            </a:r>
          </a:p>
          <a:p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try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pulling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even though you never used this cafeteria door before. </a:t>
            </a:r>
          </a:p>
          <a:p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Generalization: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your earlier experience with a </a:t>
            </a:r>
            <a:r>
              <a:rPr lang="en-IN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but similar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door. </a:t>
            </a:r>
          </a:p>
          <a:p>
            <a:endPara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1339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0489D-4A80-82A0-9F07-12BC9903B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learning tasks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A05A2-593B-F0B9-749F-17CA76033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are four primary types of learning tasks</a:t>
            </a:r>
          </a:p>
          <a:p>
            <a:pPr lvl="0"/>
            <a:r>
              <a:rPr lang="en-IN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Classification:</a:t>
            </a:r>
            <a:r>
              <a:rPr lang="en-IN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Learning a technique to assign observations to a </a:t>
            </a:r>
            <a:r>
              <a:rPr lang="en-IN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discrete class</a:t>
            </a:r>
            <a:r>
              <a:rPr lang="en-IN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(e.g., classifying an email as 'Spam' or 'Not Spam').</a:t>
            </a:r>
          </a:p>
          <a:p>
            <a:pPr lvl="0"/>
            <a:r>
              <a:rPr lang="en-IN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Regression:</a:t>
            </a:r>
            <a:r>
              <a:rPr lang="en-IN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Predicting a </a:t>
            </a:r>
            <a:r>
              <a:rPr lang="en-IN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 numeric quantity</a:t>
            </a:r>
            <a:r>
              <a:rPr lang="en-IN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(e.g., predicting house price).</a:t>
            </a:r>
          </a:p>
          <a:p>
            <a:pPr lvl="0"/>
            <a:r>
              <a:rPr lang="en-IN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Association:</a:t>
            </a:r>
            <a:r>
              <a:rPr lang="en-IN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Finding </a:t>
            </a:r>
            <a:r>
              <a:rPr lang="en-IN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relationship</a:t>
            </a:r>
            <a:r>
              <a:rPr lang="en-IN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between observations (e.g., market basket analysis).</a:t>
            </a:r>
          </a:p>
          <a:p>
            <a:pPr lvl="0"/>
            <a:r>
              <a:rPr lang="en-IN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Clustering:</a:t>
            </a:r>
            <a:r>
              <a:rPr lang="en-IN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Grouping observations that </a:t>
            </a:r>
            <a:r>
              <a:rPr lang="en-IN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belong together</a:t>
            </a:r>
            <a:r>
              <a:rPr lang="en-IN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based on similarity.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4701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94CD5-2180-C43D-4167-3A4D0097F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48" y="257120"/>
            <a:ext cx="9601196" cy="130386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major types of learning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D2696E1-E126-A981-F50C-3DD719657C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5484722"/>
              </p:ext>
            </p:extLst>
          </p:nvPr>
        </p:nvGraphicFramePr>
        <p:xfrm>
          <a:off x="1063689" y="1560987"/>
          <a:ext cx="10347649" cy="465635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25851">
                  <a:extLst>
                    <a:ext uri="{9D8B030D-6E8A-4147-A177-3AD203B41FA5}">
                      <a16:colId xmlns:a16="http://schemas.microsoft.com/office/drawing/2014/main" val="29768813"/>
                    </a:ext>
                  </a:extLst>
                </a:gridCol>
                <a:gridCol w="5021798">
                  <a:extLst>
                    <a:ext uri="{9D8B030D-6E8A-4147-A177-3AD203B41FA5}">
                      <a16:colId xmlns:a16="http://schemas.microsoft.com/office/drawing/2014/main" val="2173584883"/>
                    </a:ext>
                  </a:extLst>
                </a:gridCol>
              </a:tblGrid>
              <a:tr h="31308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Supervised learning</a:t>
                      </a:r>
                      <a:endParaRPr lang="en-IN" sz="22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Unsupervised learning</a:t>
                      </a:r>
                      <a:endParaRPr lang="en-IN" sz="2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70980858"/>
                  </a:ext>
                </a:extLst>
              </a:tr>
              <a:tr h="31308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Models are trained using labelled data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Models are trained using unlabelled data 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9084766"/>
                  </a:ext>
                </a:extLst>
              </a:tr>
              <a:tr h="145906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goal of supervised learning is to train the model so that it can predict the output when new data   is given to it.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goal of unsupervised learning is to find the hidden patterns and useful insights from the unknown dataset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28190707"/>
                  </a:ext>
                </a:extLst>
              </a:tr>
              <a:tr h="130102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is typically used for </a:t>
                      </a: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regression (</a:t>
                      </a: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predicting continuous values)</a:t>
                      </a: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Classification (</a:t>
                      </a: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predicting categorical values)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for clustering (grouping similar items), association (finding relationships between variables), and dimensionality reduction (reducing the number of variables).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25220837"/>
                  </a:ext>
                </a:extLst>
              </a:tr>
              <a:tr h="112975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output is typically a specific prediction or classification based on the labelled data.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results are generally more exploratory and descriptive.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067061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6615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3397C-8C2C-E58B-F1A4-482B4A141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Labelled images">
            <a:extLst>
              <a:ext uri="{FF2B5EF4-FFF2-40B4-BE49-F238E27FC236}">
                <a16:creationId xmlns:a16="http://schemas.microsoft.com/office/drawing/2014/main" id="{3C2750E2-36FE-86D9-B478-55B482DDE3B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2" y="2557993"/>
            <a:ext cx="4693187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Dogs vs Cats Image Classification using ResNet | by Anubhav Shrimal |  Anubhav Shrimal | Medium">
            <a:extLst>
              <a:ext uri="{FF2B5EF4-FFF2-40B4-BE49-F238E27FC236}">
                <a16:creationId xmlns:a16="http://schemas.microsoft.com/office/drawing/2014/main" id="{FA4489DF-4F9D-412C-D434-32F65F301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2677" y="2733870"/>
            <a:ext cx="4511869" cy="253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1603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256B4-294B-B730-F788-D04477FE3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E34197-E93F-24F2-9484-8F99630A51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5402" y="2407643"/>
                <a:ext cx="9601196" cy="3318936"/>
              </a:xfrm>
            </p:spPr>
            <p:txBody>
              <a:bodyPr/>
              <a:lstStyle/>
              <a:p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training data </a:t>
                </a:r>
                <a:r>
                  <a:rPr lang="en-IN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does not include the desired output (y). 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goal is to uncover the inherent</a:t>
                </a:r>
                <a:r>
                  <a:rPr lang="en-IN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underlying similarities, patterns, or structure within the input data,</a:t>
                </a:r>
                <a:r>
                  <a:rPr lang="en-IN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sz="220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IN" sz="22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20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IN" sz="220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IN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E34197-E93F-24F2-9484-8F99630A51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402" y="2407643"/>
                <a:ext cx="9601196" cy="3318936"/>
              </a:xfrm>
              <a:blipFill>
                <a:blip r:embed="rId2"/>
                <a:stretch>
                  <a:fillRect l="-953" t="-2206" r="-5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Visualization of discovered groupings">
            <a:extLst>
              <a:ext uri="{FF2B5EF4-FFF2-40B4-BE49-F238E27FC236}">
                <a16:creationId xmlns:a16="http://schemas.microsoft.com/office/drawing/2014/main" id="{168D6B7E-22B7-1CCD-0440-E4802A6694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2" y="3512975"/>
            <a:ext cx="3547132" cy="2507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Dogs vs Cats Image Classification using ResNet | by Anubhav Shrimal |  Anubhav Shrimal | Medium">
            <a:extLst>
              <a:ext uri="{FF2B5EF4-FFF2-40B4-BE49-F238E27FC236}">
                <a16:creationId xmlns:a16="http://schemas.microsoft.com/office/drawing/2014/main" id="{ACB67B5D-A722-1E78-14D8-B5F92D42BD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8868" y="3418534"/>
            <a:ext cx="4511869" cy="253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8849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B5EA5-82DC-B432-F6CF-643479128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5598" y="944810"/>
            <a:ext cx="9601196" cy="130386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Machine Learns(Input)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90FCF-0401-8AF8-F46E-770CAE523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046" y="2621900"/>
            <a:ext cx="10394301" cy="4114802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learns from experience, which is the data you give it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formats: Number is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format.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data, whether it's simple measurements or complex things like images and audio, is converted into a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fixed-length vector of numerical values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 list of numbers).</a:t>
            </a: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Numerical Data?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Using numbers lets the machine use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geometry and algebra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"see" patterns in the data (like plotting points in a space).</a:t>
            </a: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Measuring Similarity: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When data is numerical, the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similarity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between two pieces of data is measured by the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between their vectors (e.g., using Euclidean distance).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Trade-off: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Converting complex data (like an image) into simple vectors causes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of information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it's necessary for the learning process.</a:t>
            </a:r>
          </a:p>
          <a:p>
            <a:r>
              <a:rPr lang="en-IN" dirty="0"/>
              <a:t> </a:t>
            </a:r>
          </a:p>
          <a:p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981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12159-7AC4-83FE-33E2-EBD95A8AE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193" y="653487"/>
            <a:ext cx="10517154" cy="5756644"/>
          </a:xfrm>
        </p:spPr>
        <p:txBody>
          <a:bodyPr>
            <a:norm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 data inputs:</a:t>
            </a:r>
          </a:p>
          <a:p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Nominal/Categorical Data: 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non-numerical data described using words (e.g., </a:t>
            </a:r>
            <a:r>
              <a:rPr lang="en-IN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'Red', 'Blue’). Since there are no numbers,  similarity is found using nonmetric methods.</a:t>
            </a:r>
          </a:p>
          <a:p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 Knowledge (IF-THEN Rules):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Sometimes, the machine is trained not on data, but on human expertise given as structured knowledge, such as a list of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IF-THEN rules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This can be used instead of, or in addition to, a dataset.</a:t>
            </a:r>
          </a:p>
          <a:p>
            <a:endParaRPr lang="en-IN" dirty="0"/>
          </a:p>
          <a:p>
            <a:endParaRPr lang="en-IN" dirty="0"/>
          </a:p>
          <a:p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44081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C01E2-A1F2-CA82-4A8D-C0D93129C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machine Produces(Output)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B0132-B254-168B-D4C0-FD210B09F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591941"/>
          </a:xfrm>
        </p:spPr>
        <p:txBody>
          <a:bodyPr>
            <a:normAutofit fontScale="92500"/>
          </a:bodyPr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The Output: The Model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output is the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learned knowledge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which is called a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model captures the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structural patterns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hidden within the training data.</a:t>
            </a: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The Model's Purpose (Prediction/Decision)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user uses this model for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decision-making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you feed the model a piece of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data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(an observation not seen during training), the model provides a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based on what it learned.</a:t>
            </a:r>
          </a:p>
        </p:txBody>
      </p:sp>
    </p:spTree>
    <p:extLst>
      <p:ext uri="{BB962C8B-B14F-4D97-AF65-F5344CB8AC3E}">
        <p14:creationId xmlns:p14="http://schemas.microsoft.com/office/powerpoint/2010/main" val="12252696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A5F72-BF09-C92B-9DB4-715AE2A3F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The Goal: Generalization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model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must be able to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generalize well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—meaning it can make accurate predictions for new, unseen data, not just the data it was trained 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02339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CFDBA-ECC3-0C4A-3F0E-77651D13C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Diagrammatic representation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A256886-751D-5539-0D71-0770BD97BE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4348" y="2557993"/>
            <a:ext cx="7222130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4227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2DCE5-85C6-A749-D703-A2AB93693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Representation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FE03A-0E45-8B20-D5E8-9A27E441A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3474" y="2435634"/>
            <a:ext cx="9601196" cy="3318936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will learn here how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data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processed to create an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system</a:t>
            </a:r>
            <a:r>
              <a:rPr lang="en-US" sz="2200" dirty="0"/>
              <a:t>, 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 Information System: The Data Table Structure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information system is primarily represented as a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table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(like a spreadsheet), often called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D5F399-A986-C7F4-6166-43986E7AA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5458" y="3818468"/>
            <a:ext cx="6233068" cy="2341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3760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8123EA-2FEC-9E05-0A1D-491F5FC8AC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1506" y="812108"/>
                <a:ext cx="10563807" cy="5439402"/>
              </a:xfrm>
            </p:spPr>
            <p:txBody>
              <a:bodyPr>
                <a:normAutofit/>
              </a:bodyPr>
              <a:lstStyle/>
              <a:p>
                <a:pPr lvl="0"/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Rows (Instances/Observations):</a:t>
                </a: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Each row represents a single </a:t>
                </a:r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measurement</a:t>
                </a: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observation</a:t>
                </a: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record</a:t>
                </a: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instance</a:t>
                </a: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sample</a:t>
                </a: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or </a:t>
                </a:r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</a:t>
                </a: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In the example, each row is a "Patient index."</a:t>
                </a:r>
              </a:p>
              <a:p>
                <a:pPr lvl="0"/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set of all possible instances is denoted as </a:t>
                </a:r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The total number of instances is </a:t>
                </a:r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0"/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Columns (Attributes/Features):</a:t>
                </a: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Each column represents an </a:t>
                </a:r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attribute</a:t>
                </a: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or </a:t>
                </a:r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</a:t>
                </a: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 These describe the properties of the instances.</a:t>
                </a:r>
              </a:p>
              <a:p>
                <a:pPr lvl="0"/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total number of features is n.</a:t>
                </a:r>
              </a:p>
              <a:p>
                <a:pPr lvl="0"/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single instance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characterized by vector of its feature values:           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[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,….</a:t>
                </a:r>
                <a:r>
                  <a:rPr lang="en-IN" sz="22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</a:p>
              <a:p>
                <a:pPr lvl="0"/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set of all feature vectors forms the </a:t>
                </a:r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representation space</a:t>
                </a: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8123EA-2FEC-9E05-0A1D-491F5FC8AC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1506" y="812108"/>
                <a:ext cx="10563807" cy="5439402"/>
              </a:xfrm>
              <a:blipFill>
                <a:blip r:embed="rId2"/>
                <a:stretch>
                  <a:fillRect l="-866" t="-13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54008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3C823-6A6D-4AE7-2F58-C70A71158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869" y="643812"/>
            <a:ext cx="10534261" cy="5570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Attributes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Nominal attribute</a:t>
            </a:r>
          </a:p>
          <a:p>
            <a:pPr marL="0" indent="0">
              <a:buNone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Attributes (features) are classified based on the nature of the values they can hold:</a:t>
            </a:r>
          </a:p>
          <a:p>
            <a:pPr lvl="0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take values from a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prespecified finite set of possibilities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 finite set of discrete values).</a:t>
            </a:r>
          </a:p>
          <a:p>
            <a:pPr lvl="0"/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Table 1.1: "Headache" (no, yes), "Muscle-pain" (yes, no), "Temperature" (high, very high, normal), and "Flu" (yes, no).</a:t>
            </a:r>
          </a:p>
          <a:p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often the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linguistic form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knowledge representation.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 Attributes (Continuous/Integer):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adopt values that are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numbers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integer values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 for Class: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term 'continuous' is often used but is technically only correct for real-valued attributes, not integer-valued ones.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29560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566BA-D2F7-2DE4-0A9D-7C60E8689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212" y="578498"/>
            <a:ext cx="10599576" cy="5701004"/>
          </a:xfrm>
        </p:spPr>
        <p:txBody>
          <a:bodyPr/>
          <a:lstStyle/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table given below represents continuous real value attributes as well as integer values 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Height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Attendance %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IN" sz="22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 (real-valued)</a:t>
            </a:r>
            <a:endPara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are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infinitely many possible values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between two numbers.</a:t>
            </a:r>
          </a:p>
          <a:p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Number_of_Projects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IN" sz="22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Integer-valued numeric</a:t>
            </a:r>
            <a:endPara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Values are numeric but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discrete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C221D99-73A9-E28E-1924-3647C7A2F0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006839"/>
              </p:ext>
            </p:extLst>
          </p:nvPr>
        </p:nvGraphicFramePr>
        <p:xfrm>
          <a:off x="1286069" y="1061082"/>
          <a:ext cx="7400731" cy="24082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02568">
                  <a:extLst>
                    <a:ext uri="{9D8B030D-6E8A-4147-A177-3AD203B41FA5}">
                      <a16:colId xmlns:a16="http://schemas.microsoft.com/office/drawing/2014/main" val="1924502239"/>
                    </a:ext>
                  </a:extLst>
                </a:gridCol>
                <a:gridCol w="1156781">
                  <a:extLst>
                    <a:ext uri="{9D8B030D-6E8A-4147-A177-3AD203B41FA5}">
                      <a16:colId xmlns:a16="http://schemas.microsoft.com/office/drawing/2014/main" val="3319011715"/>
                    </a:ext>
                  </a:extLst>
                </a:gridCol>
                <a:gridCol w="1530435">
                  <a:extLst>
                    <a:ext uri="{9D8B030D-6E8A-4147-A177-3AD203B41FA5}">
                      <a16:colId xmlns:a16="http://schemas.microsoft.com/office/drawing/2014/main" val="1934256182"/>
                    </a:ext>
                  </a:extLst>
                </a:gridCol>
                <a:gridCol w="1492898">
                  <a:extLst>
                    <a:ext uri="{9D8B030D-6E8A-4147-A177-3AD203B41FA5}">
                      <a16:colId xmlns:a16="http://schemas.microsoft.com/office/drawing/2014/main" val="3037942834"/>
                    </a:ext>
                  </a:extLst>
                </a:gridCol>
                <a:gridCol w="2118049">
                  <a:extLst>
                    <a:ext uri="{9D8B030D-6E8A-4147-A177-3AD203B41FA5}">
                      <a16:colId xmlns:a16="http://schemas.microsoft.com/office/drawing/2014/main" val="928091505"/>
                    </a:ext>
                  </a:extLst>
                </a:gridCol>
              </a:tblGrid>
              <a:tr h="485719"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Student_ID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 (Integer)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Height_cm (Real)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Attendance (%) (Real)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Number_of_Projects (Integer)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49413575"/>
                  </a:ext>
                </a:extLst>
              </a:tr>
              <a:tr h="247781"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160.5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85.75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42318856"/>
                  </a:ext>
                </a:extLst>
              </a:tr>
              <a:tr h="247781"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158.2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92.50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55545031"/>
                  </a:ext>
                </a:extLst>
              </a:tr>
              <a:tr h="247781"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172.8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78.00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13645930"/>
                  </a:ext>
                </a:extLst>
              </a:tr>
              <a:tr h="247781"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165.0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88.25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362374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34047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DAC67-FA4F-7FB6-9D53-0DFE0766C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747" y="821094"/>
            <a:ext cx="10394302" cy="505477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Decision System: Supervised Learning Input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System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special type of Information System used for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directed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problems.</a:t>
            </a:r>
          </a:p>
          <a:p>
            <a:pPr lvl="0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It includes a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distinguished attribute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called the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Attribute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(or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y).</a:t>
            </a:r>
          </a:p>
          <a:p>
            <a:pPr lvl="0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decision attribute holds the known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label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each observation.</a:t>
            </a:r>
          </a:p>
          <a:p>
            <a:pPr lvl="0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Table 1.1: The column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"Flu"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the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Attribute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The other columns (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Headache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Muscle-pain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Temperature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are the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 Attributes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The task is to learn the relationship between the condition attributes and the decision attribute.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a tuple (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S, X, Y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where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the set of condition features and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the decision attribute.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06108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10228-AE6F-9980-588B-D116D6CB8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440" y="559837"/>
            <a:ext cx="10543593" cy="5458408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values which decision attribute take defines the machine learning tasks.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problem (Two class classification)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Predicting if a patient has flu (Yes/No</a:t>
            </a: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Here, the decision attribute (Y) takes finite discrete values.</a:t>
            </a:r>
          </a:p>
          <a:p>
            <a:endPara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Vy​={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Yes,No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Finite classes (M = 2)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=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F82A7A1-F6FD-FFBA-4D89-EF3D7174C5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367670"/>
              </p:ext>
            </p:extLst>
          </p:nvPr>
        </p:nvGraphicFramePr>
        <p:xfrm>
          <a:off x="1332725" y="2321141"/>
          <a:ext cx="5338663" cy="1707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01147">
                  <a:extLst>
                    <a:ext uri="{9D8B030D-6E8A-4147-A177-3AD203B41FA5}">
                      <a16:colId xmlns:a16="http://schemas.microsoft.com/office/drawing/2014/main" val="3053751528"/>
                    </a:ext>
                  </a:extLst>
                </a:gridCol>
                <a:gridCol w="1492895">
                  <a:extLst>
                    <a:ext uri="{9D8B030D-6E8A-4147-A177-3AD203B41FA5}">
                      <a16:colId xmlns:a16="http://schemas.microsoft.com/office/drawing/2014/main" val="2846630953"/>
                    </a:ext>
                  </a:extLst>
                </a:gridCol>
                <a:gridCol w="1101015">
                  <a:extLst>
                    <a:ext uri="{9D8B030D-6E8A-4147-A177-3AD203B41FA5}">
                      <a16:colId xmlns:a16="http://schemas.microsoft.com/office/drawing/2014/main" val="3188645445"/>
                    </a:ext>
                  </a:extLst>
                </a:gridCol>
                <a:gridCol w="1343606">
                  <a:extLst>
                    <a:ext uri="{9D8B030D-6E8A-4147-A177-3AD203B41FA5}">
                      <a16:colId xmlns:a16="http://schemas.microsoft.com/office/drawing/2014/main" val="40843678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Patient_ID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Temperature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Cough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Flu (Y)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843535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101.2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8353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98.4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73483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100.5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78825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97.8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407136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56675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9931F-57CC-E1A0-A5C8-DDD6021F0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192" y="751114"/>
            <a:ext cx="10459616" cy="5355771"/>
          </a:xfrm>
        </p:spPr>
        <p:txBody>
          <a:bodyPr/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Problem (Multi-class classification Problem)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Example: Predicting type of fruit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Here,</a:t>
            </a:r>
          </a:p>
          <a:p>
            <a:pPr lvl="0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Vy={</a:t>
            </a:r>
            <a:r>
              <a:rPr lang="en-IN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Apple,Mango,Orange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lvl="0"/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Finite set with M = 3 classes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=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Multi-class classification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6E3909-F133-B62C-9132-CD6EDC16DA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241297"/>
              </p:ext>
            </p:extLst>
          </p:nvPr>
        </p:nvGraphicFramePr>
        <p:xfrm>
          <a:off x="1024813" y="1632769"/>
          <a:ext cx="6962192" cy="1707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25082">
                  <a:extLst>
                    <a:ext uri="{9D8B030D-6E8A-4147-A177-3AD203B41FA5}">
                      <a16:colId xmlns:a16="http://schemas.microsoft.com/office/drawing/2014/main" val="3919981178"/>
                    </a:ext>
                  </a:extLst>
                </a:gridCol>
                <a:gridCol w="1296955">
                  <a:extLst>
                    <a:ext uri="{9D8B030D-6E8A-4147-A177-3AD203B41FA5}">
                      <a16:colId xmlns:a16="http://schemas.microsoft.com/office/drawing/2014/main" val="623480096"/>
                    </a:ext>
                  </a:extLst>
                </a:gridCol>
                <a:gridCol w="1996751">
                  <a:extLst>
                    <a:ext uri="{9D8B030D-6E8A-4147-A177-3AD203B41FA5}">
                      <a16:colId xmlns:a16="http://schemas.microsoft.com/office/drawing/2014/main" val="3065360358"/>
                    </a:ext>
                  </a:extLst>
                </a:gridCol>
                <a:gridCol w="2043404">
                  <a:extLst>
                    <a:ext uri="{9D8B030D-6E8A-4147-A177-3AD203B41FA5}">
                      <a16:colId xmlns:a16="http://schemas.microsoft.com/office/drawing/2014/main" val="33161686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Sample_ID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Color_Intensity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Fruit_Type (Y)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47590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Apple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71315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Mango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503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Orange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65749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Apple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009153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17942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FCA0E-C5EC-AB7A-99C8-1788E75E7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763" y="564502"/>
            <a:ext cx="10422294" cy="5728996"/>
          </a:xfrm>
        </p:spPr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 (Y= Real Number)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Predict house price</a:t>
            </a:r>
          </a:p>
          <a:p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Here,</a:t>
            </a:r>
          </a:p>
          <a:p>
            <a:pPr lvl="0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Vy=R</a:t>
            </a:r>
          </a:p>
          <a:p>
            <a:pPr lvl="0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 can be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real number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=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 (numeric prediction)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immediately see that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is numeric, continuous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unlike labels in classification</a:t>
            </a:r>
          </a:p>
          <a:p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5AAA75F-CAD6-B927-528D-0C2D56AF18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1551734"/>
              </p:ext>
            </p:extLst>
          </p:nvPr>
        </p:nvGraphicFramePr>
        <p:xfrm>
          <a:off x="1315616" y="1427494"/>
          <a:ext cx="5747657" cy="1707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12591602"/>
                    </a:ext>
                  </a:extLst>
                </a:gridCol>
                <a:gridCol w="1464906">
                  <a:extLst>
                    <a:ext uri="{9D8B030D-6E8A-4147-A177-3AD203B41FA5}">
                      <a16:colId xmlns:a16="http://schemas.microsoft.com/office/drawing/2014/main" val="26930044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637781176"/>
                    </a:ext>
                  </a:extLst>
                </a:gridCol>
                <a:gridCol w="1332722">
                  <a:extLst>
                    <a:ext uri="{9D8B030D-6E8A-4147-A177-3AD203B41FA5}">
                      <a16:colId xmlns:a16="http://schemas.microsoft.com/office/drawing/2014/main" val="18650087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House_ID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Area_sqft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Bedrooms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 (Y)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68497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45.6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22927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60.2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818710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30.8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86856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75.1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29389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35952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1660E5-D796-DE75-875D-B69B7A651B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1094" y="765110"/>
                <a:ext cx="10524930" cy="547707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State space visualization</a:t>
                </a:r>
              </a:p>
              <a:p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features with numerical values, an instance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can be visualized as a </a:t>
                </a:r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point in an n-dimensional state space</a:t>
                </a: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you have </a:t>
                </a:r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 numeric features</a:t>
                </a: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each instance becomes a </a:t>
                </a:r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point</a:t>
                </a: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an </a:t>
                </a:r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n-dimensional space</a:t>
                </a: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lvl="0"/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feature → </a:t>
                </a:r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</a:t>
                </a:r>
                <a:endParaRPr lang="en-IN" sz="2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features → </a:t>
                </a:r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2D plane</a:t>
                </a:r>
                <a:endParaRPr lang="en-IN" sz="2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 features → </a:t>
                </a:r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3D space</a:t>
                </a:r>
                <a:endParaRPr lang="en-IN" sz="2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 features → </a:t>
                </a:r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n-dimensional space</a:t>
                </a: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(cannot visualize directly, but concept is same)</a:t>
                </a:r>
              </a:p>
              <a:p>
                <a:pPr marL="0" indent="0">
                  <a:buNone/>
                </a:pPr>
                <a:endParaRPr lang="en-IN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1660E5-D796-DE75-875D-B69B7A651B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1094" y="765110"/>
                <a:ext cx="10524930" cy="5477070"/>
              </a:xfrm>
              <a:blipFill>
                <a:blip r:embed="rId2"/>
                <a:stretch>
                  <a:fillRect l="-869" t="-780" r="-11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72691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652F3A-790B-21E9-83AD-D94FBE5445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1094" y="699795"/>
                <a:ext cx="10552922" cy="5467739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IN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1: 2 Features (2D State Space)</a:t>
                </a:r>
                <a:endParaRPr lang="en-IN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Dataset:</a:t>
                </a:r>
              </a:p>
              <a:p>
                <a:endParaRPr lang="en-IN" sz="2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2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2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 instance becomes a point:</a:t>
                </a:r>
              </a:p>
              <a:p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IN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)=(Height, weight)</a:t>
                </a: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Points in 2D space:</a:t>
                </a:r>
              </a:p>
              <a:p>
                <a:pPr lvl="0"/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Student 1 → </a:t>
                </a:r>
                <a:r>
                  <a:rPr lang="en-IN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(160, 55)</a:t>
                </a:r>
                <a:endParaRPr lang="en-I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Student 2 → </a:t>
                </a:r>
                <a:r>
                  <a:rPr lang="en-IN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(165, 60)</a:t>
                </a:r>
                <a:endParaRPr lang="en-I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Student 3 → </a:t>
                </a:r>
                <a:r>
                  <a:rPr lang="en-IN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(170, 62)</a:t>
                </a:r>
                <a:endParaRPr lang="en-I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Student 4 → </a:t>
                </a:r>
                <a:r>
                  <a:rPr lang="en-IN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(172, 65)</a:t>
                </a:r>
                <a:endParaRPr lang="en-I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652F3A-790B-21E9-83AD-D94FBE5445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1094" y="699795"/>
                <a:ext cx="10552922" cy="5467739"/>
              </a:xfrm>
              <a:blipFill>
                <a:blip r:embed="rId2"/>
                <a:stretch>
                  <a:fillRect l="-867" t="-15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B31B72E-3308-230B-D898-73779F23BF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060320"/>
              </p:ext>
            </p:extLst>
          </p:nvPr>
        </p:nvGraphicFramePr>
        <p:xfrm>
          <a:off x="5690119" y="699795"/>
          <a:ext cx="4900127" cy="1707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97090">
                  <a:extLst>
                    <a:ext uri="{9D8B030D-6E8A-4147-A177-3AD203B41FA5}">
                      <a16:colId xmlns:a16="http://schemas.microsoft.com/office/drawing/2014/main" val="1377097767"/>
                    </a:ext>
                  </a:extLst>
                </a:gridCol>
                <a:gridCol w="1623526">
                  <a:extLst>
                    <a:ext uri="{9D8B030D-6E8A-4147-A177-3AD203B41FA5}">
                      <a16:colId xmlns:a16="http://schemas.microsoft.com/office/drawing/2014/main" val="572081447"/>
                    </a:ext>
                  </a:extLst>
                </a:gridCol>
                <a:gridCol w="1679511">
                  <a:extLst>
                    <a:ext uri="{9D8B030D-6E8A-4147-A177-3AD203B41FA5}">
                      <a16:colId xmlns:a16="http://schemas.microsoft.com/office/drawing/2014/main" val="30197060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Student_ID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Height (cm)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 (kg)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50010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65366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165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16438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68758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172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77747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67291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17FCF7-A6DC-C711-5163-9AE9394862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8416" y="783771"/>
                <a:ext cx="10450286" cy="5439747"/>
              </a:xfrm>
            </p:spPr>
            <p:txBody>
              <a:bodyPr>
                <a:normAutofit/>
              </a:bodyPr>
              <a:lstStyle/>
              <a:p>
                <a:r>
                  <a:rPr lang="en-IN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2: 3 Features (3D State Space)</a:t>
                </a:r>
                <a:endParaRPr lang="en-IN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Dataset:</a:t>
                </a:r>
              </a:p>
              <a:p>
                <a:endParaRPr lang="en-IN" sz="2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2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 instance:</a:t>
                </a:r>
              </a:p>
              <a:p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IN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IN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lvl="0"/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Car 1 → </a:t>
                </a:r>
                <a:r>
                  <a:rPr lang="en-IN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(1.2, 18, 7.5)</a:t>
                </a:r>
                <a:endParaRPr lang="en-IN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Car 2 → </a:t>
                </a:r>
                <a:r>
                  <a:rPr lang="en-IN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(1.5, 15, 8.2)</a:t>
                </a:r>
                <a:endParaRPr lang="en-IN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Car 3 → </a:t>
                </a:r>
                <a:r>
                  <a:rPr lang="en-IN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(2.0, 12, 10.1)</a:t>
                </a:r>
                <a:endParaRPr lang="en-IN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Here the state space is </a:t>
                </a:r>
                <a:r>
                  <a:rPr lang="en-IN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3D (ℝ³)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cannot draw it easily on paper, but conceptually, each car is a </a:t>
                </a:r>
                <a:r>
                  <a:rPr lang="en-IN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point in 3D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IN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17FCF7-A6DC-C711-5163-9AE9394862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8416" y="783771"/>
                <a:ext cx="10450286" cy="5439747"/>
              </a:xfrm>
              <a:blipFill>
                <a:blip r:embed="rId2"/>
                <a:stretch>
                  <a:fillRect l="-875" t="-13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5E5031B-F0A2-7B45-D77F-A0F40BE08E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004314"/>
              </p:ext>
            </p:extLst>
          </p:nvPr>
        </p:nvGraphicFramePr>
        <p:xfrm>
          <a:off x="2701212" y="1152987"/>
          <a:ext cx="5332445" cy="1365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35833">
                  <a:extLst>
                    <a:ext uri="{9D8B030D-6E8A-4147-A177-3AD203B41FA5}">
                      <a16:colId xmlns:a16="http://schemas.microsoft.com/office/drawing/2014/main" val="1616565549"/>
                    </a:ext>
                  </a:extLst>
                </a:gridCol>
                <a:gridCol w="1623526">
                  <a:extLst>
                    <a:ext uri="{9D8B030D-6E8A-4147-A177-3AD203B41FA5}">
                      <a16:colId xmlns:a16="http://schemas.microsoft.com/office/drawing/2014/main" val="2529966082"/>
                    </a:ext>
                  </a:extLst>
                </a:gridCol>
                <a:gridCol w="1296955">
                  <a:extLst>
                    <a:ext uri="{9D8B030D-6E8A-4147-A177-3AD203B41FA5}">
                      <a16:colId xmlns:a16="http://schemas.microsoft.com/office/drawing/2014/main" val="1693743572"/>
                    </a:ext>
                  </a:extLst>
                </a:gridCol>
                <a:gridCol w="1076131">
                  <a:extLst>
                    <a:ext uri="{9D8B030D-6E8A-4147-A177-3AD203B41FA5}">
                      <a16:colId xmlns:a16="http://schemas.microsoft.com/office/drawing/2014/main" val="3959090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Car_ID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Engine_Size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Mileage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98587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7.5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673817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8.2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66170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10.1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52451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39479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6E176-CA89-29E1-29D7-9EB695F51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Diversity of data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0C988-E55B-CEA5-1630-ACD597186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10022632" cy="3787884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data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the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data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most initial machine learning algorithms are designed to handle.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that has a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predefined format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fits neatly into a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 schema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Think of a meticulously organized library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catalog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where every book has a title, author, and ISBN in the exact same format.</a:t>
            </a:r>
          </a:p>
          <a:p>
            <a:pPr lvl="1"/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Predefined Format: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Follows a strict order and data type (e.g., date in MM/DD/YYYY, account number as a 12-digit integer).</a:t>
            </a:r>
          </a:p>
          <a:p>
            <a:pPr lvl="1"/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 Fields: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Every piece of information has a designated, labelled column.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2443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C1E6E-3168-C196-EB81-70047B506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structured data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B4016EF-0060-7F32-7DEB-D36BACEB4E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7893429"/>
              </p:ext>
            </p:extLst>
          </p:nvPr>
        </p:nvGraphicFramePr>
        <p:xfrm>
          <a:off x="1104120" y="3371296"/>
          <a:ext cx="9601200" cy="1365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411450236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481909259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76491584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339516346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39228153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Customer_ID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Address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Order_ID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56917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Amit Sharma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Panaji, Goa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ORD1001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739949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102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Neha Verma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Mapusa, Goa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ORD1002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59188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103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Ravi Kumar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Margao, Goa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ORD1003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5857503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4E05FB4-D126-1A83-B351-7EE44F3674F4}"/>
              </a:ext>
            </a:extLst>
          </p:cNvPr>
          <p:cNvSpPr txBox="1"/>
          <p:nvPr/>
        </p:nvSpPr>
        <p:spPr>
          <a:xfrm>
            <a:off x="1024811" y="2394902"/>
            <a:ext cx="1047983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Databases (SQL):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records with distinct columns for Name, Address, Age,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Customer Records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409283-28E4-C7BB-4BF4-DB1EC9D76589}"/>
              </a:ext>
            </a:extLst>
          </p:cNvPr>
          <p:cNvSpPr txBox="1"/>
          <p:nvPr/>
        </p:nvSpPr>
        <p:spPr>
          <a:xfrm>
            <a:off x="1024811" y="5029200"/>
            <a:ext cx="4424267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Spreadsheets: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Financial data where each column is clearly defined (e.g., Stock Symbol, Closing Price, Volume).</a:t>
            </a:r>
          </a:p>
          <a:p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23DDE86-3DBB-0533-67DE-F351B2B02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194770"/>
              </p:ext>
            </p:extLst>
          </p:nvPr>
        </p:nvGraphicFramePr>
        <p:xfrm>
          <a:off x="5449078" y="4830362"/>
          <a:ext cx="5873621" cy="1365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54973">
                  <a:extLst>
                    <a:ext uri="{9D8B030D-6E8A-4147-A177-3AD203B41FA5}">
                      <a16:colId xmlns:a16="http://schemas.microsoft.com/office/drawing/2014/main" val="4192957398"/>
                    </a:ext>
                  </a:extLst>
                </a:gridCol>
                <a:gridCol w="2419271">
                  <a:extLst>
                    <a:ext uri="{9D8B030D-6E8A-4147-A177-3AD203B41FA5}">
                      <a16:colId xmlns:a16="http://schemas.microsoft.com/office/drawing/2014/main" val="1991227817"/>
                    </a:ext>
                  </a:extLst>
                </a:gridCol>
                <a:gridCol w="1299377">
                  <a:extLst>
                    <a:ext uri="{9D8B030D-6E8A-4147-A177-3AD203B41FA5}">
                      <a16:colId xmlns:a16="http://schemas.microsoft.com/office/drawing/2014/main" val="12419965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Stock_Symbol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Closing_Price (₹)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Volume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86080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TCS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3520.50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120000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59950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INFY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1495.75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98000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40489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RELIANCE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2450.00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150000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23147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70535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91EC9-D84F-5600-AC95-9F4E3A955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Unstructured data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03596-BB16-23D0-CBA9-4DE3A0225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2763" y="2360989"/>
            <a:ext cx="10283890" cy="4077133"/>
          </a:xfrm>
        </p:spPr>
        <p:txBody>
          <a:bodyPr>
            <a:normAutofit fontScale="85000" lnSpcReduction="20000"/>
          </a:bodyPr>
          <a:lstStyle/>
          <a:p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is dominant in the digital world and presents the core challenge for "next-generation" machine learning</a:t>
            </a:r>
            <a:r>
              <a:rPr lang="en-IN" sz="2800" dirty="0">
                <a:solidFill>
                  <a:schemeClr val="tx1"/>
                </a:solidFill>
              </a:rPr>
              <a:t>.</a:t>
            </a:r>
          </a:p>
          <a:p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that does </a:t>
            </a: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have a predefined format or schema. We have very little control over its organization.</a:t>
            </a:r>
          </a:p>
          <a:p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Think of a large collection of notes, letters, and random photos thrown into a box—there is no fixed structure or order.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Fixed Format: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or systems don't follow specific grammar, ordering, or vocabulary standards (e.g., social media text).</a:t>
            </a:r>
          </a:p>
          <a:p>
            <a:pPr lvl="1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"Capture Everything" Approach: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is collected as-is, and structure/meaning must be extracted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20170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E289E-3DA1-8F20-DD92-BF21A941D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challenge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ECA24-7B09-8567-5602-97ACD797C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combination of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massive volume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the high proportion of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unstructured data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what defines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Big Data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problems.</a:t>
            </a:r>
          </a:p>
          <a:p>
            <a:pPr lvl="0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Focus: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major research challenge is how to process and mine complex unstructured data, including:</a:t>
            </a:r>
          </a:p>
          <a:p>
            <a:pPr lvl="1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Mining sequence data (e.g., time series, gene sequences).</a:t>
            </a:r>
          </a:p>
          <a:p>
            <a:pPr lvl="1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Mining graphs and networks (e.g., social connections).</a:t>
            </a:r>
          </a:p>
          <a:p>
            <a:pPr lvl="1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Mining multimedia data (text, image, audio combined).</a:t>
            </a:r>
          </a:p>
          <a:p>
            <a:r>
              <a:rPr lang="en-IN" dirty="0"/>
              <a:t>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70815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149D3-6BA2-BA8C-E68B-D9664C839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523" y="709469"/>
            <a:ext cx="10507823" cy="5467395"/>
          </a:xfrm>
        </p:spPr>
        <p:txBody>
          <a:bodyPr>
            <a:normAutofit/>
          </a:bodyPr>
          <a:lstStyle/>
          <a:p>
            <a:pPr lvl="0"/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Evolution: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First-Generation ML: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Works well on structured data (or structured patterns extracted from unstructured data).</a:t>
            </a:r>
          </a:p>
          <a:p>
            <a:pPr lvl="1"/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Next-Generation ML: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Required to effectively analyse and derive insights from the full complexity of unstructured Big Data.</a:t>
            </a:r>
          </a:p>
          <a:p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Strategic Importance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though unstructured data is difficult, organizations cannot ignore it because of its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value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combined with their traditional, structured data.</a:t>
            </a:r>
          </a:p>
          <a:p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Cohesive Strategy: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Successful organizations must have a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cohesive data strategy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integrates both structured and unstructured data, rather than treating Big Data as a separate "stand-alone" concept.</a:t>
            </a:r>
          </a:p>
          <a:p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01589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5E013-6C24-E01A-0B0C-3015F4E8B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2E85D-C4AE-9B5D-FD0F-3F1FF98A9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99244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511</TotalTime>
  <Words>3289</Words>
  <Application>Microsoft Office PowerPoint</Application>
  <PresentationFormat>Widescreen</PresentationFormat>
  <Paragraphs>410</Paragraphs>
  <Slides>36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Aptos</vt:lpstr>
      <vt:lpstr>Arial</vt:lpstr>
      <vt:lpstr>Cambria Math</vt:lpstr>
      <vt:lpstr>Garamond</vt:lpstr>
      <vt:lpstr>Times New Roman</vt:lpstr>
      <vt:lpstr>Wingdings</vt:lpstr>
      <vt:lpstr>Organic</vt:lpstr>
      <vt:lpstr>Applied Machine Learning </vt:lpstr>
      <vt:lpstr>Content </vt:lpstr>
      <vt:lpstr>Importance of the course</vt:lpstr>
      <vt:lpstr>Syllabus Roadmap </vt:lpstr>
      <vt:lpstr>Relevance of the course</vt:lpstr>
      <vt:lpstr>Introduction</vt:lpstr>
      <vt:lpstr>PowerPoint Presentation</vt:lpstr>
      <vt:lpstr>Well Posed Machine learning Problems</vt:lpstr>
      <vt:lpstr>PowerPoint Presentation</vt:lpstr>
      <vt:lpstr>PowerPoint Presentation</vt:lpstr>
      <vt:lpstr>Types of learning tasks</vt:lpstr>
      <vt:lpstr>Two major types of learning</vt:lpstr>
      <vt:lpstr>Classification</vt:lpstr>
      <vt:lpstr>Unsupervised learning</vt:lpstr>
      <vt:lpstr>How Machine Learns(Input)</vt:lpstr>
      <vt:lpstr>PowerPoint Presentation</vt:lpstr>
      <vt:lpstr>What machine Produces(Output)</vt:lpstr>
      <vt:lpstr>PowerPoint Presentation</vt:lpstr>
      <vt:lpstr>Diagrammatic representation</vt:lpstr>
      <vt:lpstr>Data Representation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Diversity of data</vt:lpstr>
      <vt:lpstr>Examples of structured data </vt:lpstr>
      <vt:lpstr>Unstructured data </vt:lpstr>
      <vt:lpstr>Big Data challenge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Shrikrishna Narvekar</dc:creator>
  <cp:lastModifiedBy>Shrikrishna Narvekar</cp:lastModifiedBy>
  <cp:revision>13</cp:revision>
  <dcterms:created xsi:type="dcterms:W3CDTF">2025-11-24T06:09:27Z</dcterms:created>
  <dcterms:modified xsi:type="dcterms:W3CDTF">2026-02-02T09:13:27Z</dcterms:modified>
</cp:coreProperties>
</file>