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82" r:id="rId23"/>
    <p:sldId id="283" r:id="rId24"/>
    <p:sldId id="277" r:id="rId25"/>
    <p:sldId id="278" r:id="rId26"/>
    <p:sldId id="279" r:id="rId27"/>
    <p:sldId id="281" r:id="rId28"/>
    <p:sldId id="284" r:id="rId29"/>
    <p:sldId id="280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5" r:id="rId40"/>
    <p:sldId id="294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5256" autoAdjust="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8241D-3F18-4805-8B31-2E9FADA3AFA2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4CD61-7041-4874-BE8A-9D9616481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821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Bayesian (The "Believer"):</a:t>
            </a:r>
            <a:r>
              <a:rPr lang="en-US" dirty="0"/>
              <a:t> Uses </a:t>
            </a:r>
            <a:r>
              <a:rPr lang="en-US" b="1" dirty="0"/>
              <a:t>Prior Belief + New Data</a:t>
            </a:r>
            <a:r>
              <a:rPr lang="en-US" dirty="0"/>
              <a:t> to reach a conclusion.</a:t>
            </a:r>
          </a:p>
          <a:p>
            <a:r>
              <a:rPr lang="en-US" i="1" dirty="0"/>
              <a:t>The "Doctor" Example:</a:t>
            </a:r>
            <a:r>
              <a:rPr lang="en-US" dirty="0"/>
              <a:t> You think a young patient is healthy (Prior). They have chest pain (New Data). You still conclude it’s likely not heart disease because the Prior is so strong.</a:t>
            </a:r>
          </a:p>
          <a:p>
            <a:r>
              <a:rPr lang="en-US" b="1" dirty="0"/>
              <a:t>Classical (The "Observer"):</a:t>
            </a:r>
            <a:r>
              <a:rPr lang="en-US" dirty="0"/>
              <a:t> Uses </a:t>
            </a:r>
            <a:r>
              <a:rPr lang="en-US" b="1" dirty="0"/>
              <a:t>Only the Current Data</a:t>
            </a:r>
            <a:r>
              <a:rPr lang="en-US" dirty="0"/>
              <a:t>.</a:t>
            </a:r>
          </a:p>
          <a:p>
            <a:r>
              <a:rPr lang="en-US" i="1" dirty="0"/>
              <a:t>The "Coin Flip" Example:</a:t>
            </a:r>
            <a:r>
              <a:rPr lang="en-US" dirty="0"/>
              <a:t> It doesn’t matter if the coin "felt" lucky yesterday. If you flip it 100 times now and get 50 heads, that is your only truth.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4CD61-7041-4874-BE8A-9D9616481B1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89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Deductive (Conventional Statistics):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"All humans need water. John is a human. Therefore, John needs water."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Inductive (Machine Learning):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baby touches a hot stove, a hot iron, and a hot soup bowl. After three painful experiences, the baby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induces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rule: "Glowing/steaming things shouldn't be touched." The baby discovered the rule from the data.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4CD61-7041-4874-BE8A-9D9616481B1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656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 Computing (Analytical Models):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This is like following a strict recipe. You use specific mathematical equations to get an exact answer. If you have the right formula and the right input, you get the 100% correct output every time.</a:t>
            </a:r>
          </a:p>
          <a:p>
            <a:pPr lvl="0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Day-to-Day Example: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Calculator.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When you type 567×432, the computer uses a "hard" mathematical rule. There is no guesswork; the answer is either right or wrong.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 </a:t>
            </a:r>
            <a:r>
              <a:rPr lang="en-I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(Machine Learning):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This is more like a human learning to recognize a face. There isn't one single equation for "what a face looks like." Instead, the computer looks at thousands of photos and builds a "soft" model that says, "This is </a:t>
            </a:r>
            <a:r>
              <a:rPr lang="en-I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probably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face."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Day-to-Day Example: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Netflix Recommendations.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There is no "hard" rule that says if you liked </a:t>
            </a:r>
            <a:r>
              <a:rPr lang="en-I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Stranger Things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will definitely like </a:t>
            </a:r>
            <a:r>
              <a:rPr lang="en-I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Wednesday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computer uses a "soft model" to guess your preferences based on patterns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4CD61-7041-4874-BE8A-9D9616481B1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605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Noise: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Sometimes the GPS "jitters," making it look like you suddenly jumped 20 feet to the left and back. That "jump" is noise.</a:t>
            </a:r>
          </a:p>
          <a:p>
            <a:pPr lvl="0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Missing Values: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run through a tunnel, and the GPS loses signal for 30 seconds. That is a missing value.</a:t>
            </a:r>
          </a:p>
          <a:p>
            <a:pPr lvl="0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Solution: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app uses probability to "smooth out" the jitter and "guess" your path through the tunnel. It handles the uncertainty so the final map looks correct.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4CD61-7041-4874-BE8A-9D9616481B1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166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1. Noise (Irrelevant or Extreme Values)</a:t>
            </a:r>
          </a:p>
          <a:p>
            <a:r>
              <a:rPr lang="en-US" dirty="0"/>
              <a:t>👉 Row: </a:t>
            </a:r>
            <a:r>
              <a:rPr lang="en-US" b="1" dirty="0"/>
              <a:t>E103 – Salary ₹150 Lakhs</a:t>
            </a:r>
            <a:endParaRPr lang="en-US" dirty="0"/>
          </a:p>
          <a:p>
            <a:r>
              <a:rPr lang="en-US" dirty="0"/>
              <a:t>Others earn between 4–7 Lakhs.</a:t>
            </a:r>
          </a:p>
          <a:p>
            <a:r>
              <a:rPr lang="en-US" dirty="0"/>
              <a:t>₹150 Lakhs looks unrealistic.</a:t>
            </a:r>
          </a:p>
          <a:p>
            <a:r>
              <a:rPr lang="en-US" dirty="0"/>
              <a:t>Could be:</a:t>
            </a:r>
          </a:p>
          <a:p>
            <a:pPr lvl="1"/>
            <a:r>
              <a:rPr lang="en-US" dirty="0"/>
              <a:t>Typing mistake (15 instead of 150)</a:t>
            </a:r>
          </a:p>
          <a:p>
            <a:pPr lvl="1"/>
            <a:r>
              <a:rPr lang="en-US" dirty="0"/>
              <a:t>Extra zero added</a:t>
            </a:r>
          </a:p>
          <a:p>
            <a:pPr lvl="1"/>
            <a:r>
              <a:rPr lang="en-US" dirty="0"/>
              <a:t>Data entry error</a:t>
            </a:r>
          </a:p>
          <a:p>
            <a:r>
              <a:rPr lang="en-US" dirty="0"/>
              <a:t>✔ This extreme value is </a:t>
            </a:r>
            <a:r>
              <a:rPr lang="en-US" b="1" dirty="0"/>
              <a:t>Noise (Outlier)</a:t>
            </a:r>
            <a:br>
              <a:rPr lang="en-US" dirty="0"/>
            </a:br>
            <a:r>
              <a:rPr lang="en-US" dirty="0"/>
              <a:t>It can distort average salary calculations.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🟡 2. Missing Values (Data Gaps)</a:t>
            </a:r>
          </a:p>
          <a:p>
            <a:r>
              <a:rPr lang="en-US" dirty="0"/>
              <a:t>👉 Row: </a:t>
            </a:r>
            <a:r>
              <a:rPr lang="en-US" b="1" dirty="0"/>
              <a:t>E104 – Age is missing (–)</a:t>
            </a:r>
            <a:endParaRPr lang="en-US" dirty="0"/>
          </a:p>
          <a:p>
            <a:r>
              <a:rPr lang="en-US" dirty="0"/>
              <a:t>Age not recorded.</a:t>
            </a:r>
          </a:p>
          <a:p>
            <a:r>
              <a:rPr lang="en-US" dirty="0"/>
              <a:t>We don’t know whether employee is 22 or 45.</a:t>
            </a:r>
          </a:p>
          <a:p>
            <a:r>
              <a:rPr lang="en-US" dirty="0"/>
              <a:t>✔ This is a </a:t>
            </a:r>
            <a:r>
              <a:rPr lang="en-US" b="1" dirty="0"/>
              <a:t>Missing Value</a:t>
            </a:r>
            <a:endParaRPr lang="en-US" dirty="0"/>
          </a:p>
          <a:p>
            <a:r>
              <a:rPr lang="en-US" dirty="0"/>
              <a:t>Machine Learning must:</a:t>
            </a:r>
          </a:p>
          <a:p>
            <a:r>
              <a:rPr lang="en-US" dirty="0"/>
              <a:t>Remove the row</a:t>
            </a:r>
          </a:p>
          <a:p>
            <a:r>
              <a:rPr lang="en-US" dirty="0"/>
              <a:t>Or replace with average age</a:t>
            </a:r>
          </a:p>
          <a:p>
            <a:r>
              <a:rPr lang="en-US" dirty="0"/>
              <a:t>Or predict age using other features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🟠 3. Inconsistencies (Contradicting Data)</a:t>
            </a:r>
          </a:p>
          <a:p>
            <a:r>
              <a:rPr lang="en-US" dirty="0"/>
              <a:t>👉 Row: </a:t>
            </a:r>
            <a:r>
              <a:rPr lang="en-US" b="1" dirty="0"/>
              <a:t>E105 – 12 Years Experience but Department = Intern</a:t>
            </a:r>
            <a:endParaRPr lang="en-US" dirty="0"/>
          </a:p>
          <a:p>
            <a:r>
              <a:rPr lang="en-US" dirty="0"/>
              <a:t>Interns usually have 0–1 years experience.</a:t>
            </a:r>
          </a:p>
          <a:p>
            <a:r>
              <a:rPr lang="en-US" dirty="0"/>
              <a:t>12 years experience contradicts job role.</a:t>
            </a:r>
          </a:p>
          <a:p>
            <a:r>
              <a:rPr lang="en-US" dirty="0"/>
              <a:t>✔ This is </a:t>
            </a:r>
            <a:r>
              <a:rPr lang="en-US" b="1" dirty="0"/>
              <a:t>Inconsistent Data</a:t>
            </a:r>
            <a:endParaRPr lang="en-US" dirty="0"/>
          </a:p>
          <a:p>
            <a:r>
              <a:rPr lang="en-US" dirty="0"/>
              <a:t>Possible causes:</a:t>
            </a:r>
          </a:p>
          <a:p>
            <a:r>
              <a:rPr lang="en-US" dirty="0"/>
              <a:t>Wrong department entry</a:t>
            </a:r>
          </a:p>
          <a:p>
            <a:r>
              <a:rPr lang="en-US" dirty="0"/>
              <a:t>Wrong experience value</a:t>
            </a:r>
          </a:p>
          <a:p>
            <a:r>
              <a:rPr lang="en-US" dirty="0"/>
              <a:t>Data merged from two sources incorrectly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4CD61-7041-4874-BE8A-9D9616481B1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8384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Probability that your commute time is </a:t>
            </a:r>
            <a:r>
              <a:rPr lang="en-US" b="1" dirty="0"/>
              <a:t>exactly 20.000000 minutes</a:t>
            </a:r>
            <a:r>
              <a:rPr lang="en-US" dirty="0"/>
              <a:t> = 0</a:t>
            </a:r>
          </a:p>
          <a:p>
            <a:r>
              <a:rPr lang="en-US" dirty="0"/>
              <a:t>Why?</a:t>
            </a:r>
          </a:p>
          <a:p>
            <a:r>
              <a:rPr lang="en-US" dirty="0"/>
              <a:t>Because time can be:</a:t>
            </a:r>
            <a:br>
              <a:rPr lang="en-US" dirty="0"/>
            </a:br>
            <a:r>
              <a:rPr lang="en-US" dirty="0"/>
              <a:t>20.000001</a:t>
            </a:r>
            <a:br>
              <a:rPr lang="en-US" dirty="0"/>
            </a:br>
            <a:r>
              <a:rPr lang="en-US" dirty="0"/>
              <a:t>20.000002</a:t>
            </a:r>
            <a:br>
              <a:rPr lang="en-US" dirty="0"/>
            </a:br>
            <a:r>
              <a:rPr lang="en-US" dirty="0"/>
              <a:t>20.000003</a:t>
            </a:r>
          </a:p>
          <a:p>
            <a:r>
              <a:rPr lang="en-US" dirty="0"/>
              <a:t>There are infinite options!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4CD61-7041-4874-BE8A-9D9616481B1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3972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Self-Driving Car Example (Very Practical)</a:t>
            </a:r>
          </a:p>
          <a:p>
            <a:r>
              <a:rPr lang="en-IN" dirty="0"/>
              <a:t>A self-driving car uses both PMF and PDF:</a:t>
            </a:r>
          </a:p>
          <a:p>
            <a:r>
              <a:rPr lang="en-IN" b="1" dirty="0"/>
              <a:t>🟥 PMF (Discrete Decision)</a:t>
            </a:r>
          </a:p>
          <a:p>
            <a:r>
              <a:rPr lang="en-IN" dirty="0"/>
              <a:t>Traffic light </a:t>
            </a:r>
            <a:r>
              <a:rPr lang="en-IN" dirty="0" err="1"/>
              <a:t>color</a:t>
            </a:r>
            <a:r>
              <a:rPr lang="en-IN" dirty="0"/>
              <a:t>:</a:t>
            </a:r>
          </a:p>
          <a:p>
            <a:r>
              <a:rPr lang="en-IN" dirty="0"/>
              <a:t>Red</a:t>
            </a:r>
          </a:p>
          <a:p>
            <a:r>
              <a:rPr lang="en-IN" dirty="0"/>
              <a:t>Green</a:t>
            </a:r>
          </a:p>
          <a:p>
            <a:r>
              <a:rPr lang="en-IN" dirty="0"/>
              <a:t>Yellow</a:t>
            </a:r>
          </a:p>
          <a:p>
            <a:r>
              <a:rPr lang="en-IN" dirty="0"/>
              <a:t>These are countable categories → PMF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📏 PDF (Continuous Measurement)</a:t>
            </a:r>
          </a:p>
          <a:p>
            <a:r>
              <a:rPr lang="en-IN" dirty="0"/>
              <a:t>Distance from car in front:</a:t>
            </a:r>
          </a:p>
          <a:p>
            <a:r>
              <a:rPr lang="en-IN" dirty="0"/>
              <a:t>10.25 meters</a:t>
            </a:r>
          </a:p>
          <a:p>
            <a:r>
              <a:rPr lang="en-IN" dirty="0"/>
              <a:t>10.256 meters</a:t>
            </a:r>
          </a:p>
          <a:p>
            <a:r>
              <a:rPr lang="en-IN" dirty="0"/>
              <a:t>10.25678 meters</a:t>
            </a:r>
          </a:p>
          <a:p>
            <a:r>
              <a:rPr lang="en-IN" dirty="0"/>
              <a:t>Infinite possible values → PDF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4CD61-7041-4874-BE8A-9D9616481B11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798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4CD61-7041-4874-BE8A-9D9616481B11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0421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b="1" dirty="0"/>
                  <a:t>3. Additivity Rule</a:t>
                </a:r>
              </a:p>
              <a:p>
                <a:r>
                  <a:rPr lang="en-IN" dirty="0"/>
                  <a:t>Suppose:</a:t>
                </a:r>
              </a:p>
              <a:p>
                <a:r>
                  <a:rPr lang="en-IN" dirty="0"/>
                  <a:t>Daily food expense = average ₹200</a:t>
                </a:r>
                <a:br>
                  <a:rPr lang="en-IN" dirty="0"/>
                </a:br>
                <a:r>
                  <a:rPr lang="en-IN" dirty="0"/>
                  <a:t>Daily travel expense = average ₹100</a:t>
                </a:r>
              </a:p>
              <a:p>
                <a:r>
                  <a:rPr lang="en-IN" dirty="0"/>
                  <a:t>Total expense = ₹300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👉 Average total expense = sum of averages.</a:t>
                </a:r>
              </a:p>
              <a:p>
                <a:endParaRPr lang="en-IN" dirty="0"/>
              </a:p>
              <a:p>
                <a:r>
                  <a:rPr lang="en-IN" b="1" dirty="0"/>
                  <a:t>What Does the Double Integral Mean?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∫</m:t>
                          </m:r>
                        </m:e>
                      </m:nary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ar-AE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 </m:t>
                      </m:r>
                      <m:r>
                        <a:rPr lang="ar-AE" sz="1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sepChr m:val=","/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200" b="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200" b="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ar-AE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 </m:t>
                      </m:r>
                      <m:r>
                        <a:rPr lang="ar-AE" sz="1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𝑑</m:t>
                      </m:r>
                      <m:sSub>
                        <m:sSub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lang="ar-AE" sz="1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𝑑</m:t>
                      </m:r>
                      <m:sSub>
                        <m:sSub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b="0" dirty="0"/>
              </a:p>
              <a:p>
                <a:r>
                  <a:rPr lang="en-IN" dirty="0"/>
                  <a:t>In simple words:</a:t>
                </a:r>
              </a:p>
              <a:p>
                <a:r>
                  <a:rPr lang="en-IN" dirty="0"/>
                  <a:t>Take all possible values of X₁ and X₂</a:t>
                </a:r>
              </a:p>
              <a:p>
                <a:r>
                  <a:rPr lang="en-IN" dirty="0"/>
                  <a:t>Multiply them</a:t>
                </a:r>
              </a:p>
              <a:p>
                <a:r>
                  <a:rPr lang="en-IN" dirty="0"/>
                  <a:t>Multiply by how likely they occur together</a:t>
                </a:r>
              </a:p>
              <a:p>
                <a:r>
                  <a:rPr lang="en-IN" dirty="0"/>
                  <a:t>Add everything up</a:t>
                </a:r>
              </a:p>
              <a:p>
                <a:r>
                  <a:rPr lang="en-IN" dirty="0"/>
                  <a:t>That’s it.</a:t>
                </a:r>
              </a:p>
              <a:p>
                <a:r>
                  <a:rPr lang="en-IN" dirty="0"/>
                  <a:t>The double integral is just a continuous version of adding all combinations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b="1" dirty="0"/>
                  <a:t>3. Additivity Rule</a:t>
                </a:r>
              </a:p>
              <a:p>
                <a:r>
                  <a:rPr lang="en-IN" dirty="0"/>
                  <a:t>Suppose:</a:t>
                </a:r>
              </a:p>
              <a:p>
                <a:r>
                  <a:rPr lang="en-IN" dirty="0"/>
                  <a:t>Daily food expense = average ₹200</a:t>
                </a:r>
                <a:br>
                  <a:rPr lang="en-IN" dirty="0"/>
                </a:br>
                <a:r>
                  <a:rPr lang="en-IN" dirty="0"/>
                  <a:t>Daily travel expense = average ₹100</a:t>
                </a:r>
              </a:p>
              <a:p>
                <a:r>
                  <a:rPr lang="en-IN" dirty="0"/>
                  <a:t>Total expense = ₹300</a:t>
                </a:r>
              </a:p>
              <a:p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𝐸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[𝑋+𝑌]=𝐸[𝑋]+𝐸[𝑌]</a:t>
                </a:r>
                <a:endParaRPr lang="ar-AE" dirty="0"/>
              </a:p>
              <a:p>
                <a:r>
                  <a:rPr lang="en-IN" dirty="0"/>
                  <a:t>👉 Average total expense = sum of averages.</a:t>
                </a:r>
              </a:p>
              <a:p>
                <a:endParaRPr lang="en-IN" dirty="0"/>
              </a:p>
              <a:p>
                <a:r>
                  <a:rPr lang="en-IN" b="1" dirty="0"/>
                  <a:t>What Does the Double Integral Mean?</a:t>
                </a:r>
              </a:p>
              <a:p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𝐸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[𝑋_1 𝑋_2 ]=∫128▒∫ 𝑥_1 𝑥_2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 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𝑝(𝑥_1ⓜ,𝑥_2 )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 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𝑑𝑥_1 𝑑𝑥_2</a:t>
                </a:r>
                <a:endParaRPr lang="ar-AE" b="0" dirty="0"/>
              </a:p>
              <a:p>
                <a:r>
                  <a:rPr lang="en-IN" dirty="0"/>
                  <a:t>In simple words:</a:t>
                </a:r>
              </a:p>
              <a:p>
                <a:r>
                  <a:rPr lang="en-IN" dirty="0"/>
                  <a:t>Take all possible values of X₁ and X₂</a:t>
                </a:r>
              </a:p>
              <a:p>
                <a:r>
                  <a:rPr lang="en-IN" dirty="0"/>
                  <a:t>Multiply them</a:t>
                </a:r>
              </a:p>
              <a:p>
                <a:r>
                  <a:rPr lang="en-IN" dirty="0"/>
                  <a:t>Multiply by how likely they occur together</a:t>
                </a:r>
              </a:p>
              <a:p>
                <a:r>
                  <a:rPr lang="en-IN" dirty="0"/>
                  <a:t>Add everything up</a:t>
                </a:r>
              </a:p>
              <a:p>
                <a:r>
                  <a:rPr lang="en-IN" dirty="0"/>
                  <a:t>That’s it.</a:t>
                </a:r>
              </a:p>
              <a:p>
                <a:r>
                  <a:rPr lang="en-IN" dirty="0"/>
                  <a:t>The double integral is just a continuous version of adding all combinations</a:t>
                </a:r>
              </a:p>
              <a:p>
                <a:endParaRPr lang="en-IN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4CD61-7041-4874-BE8A-9D9616481B11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8225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dirty="0"/>
                  <a:t>In Machine Learning:</a:t>
                </a:r>
              </a:p>
              <a:p>
                <a:r>
                  <a:rPr lang="en-IN" dirty="0"/>
                  <a:t>Data point = vector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𝑋</m:t>
                      </m:r>
                      <m:r>
                        <a:rPr lang="en-I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</m:t>
                              </m:r>
                            </m:sub>
                          </m:sSub>
                        </m:e>
                        <m:e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</m:t>
                          </m:r>
                        </m:e>
                        <m:e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..</m:t>
                          </m:r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Expected value gives:</a:t>
                </a:r>
              </a:p>
              <a:p>
                <a:r>
                  <a:rPr lang="en-IN" dirty="0"/>
                  <a:t>Mean vector</a:t>
                </a:r>
              </a:p>
              <a:p>
                <a:r>
                  <a:rPr lang="en-IN" dirty="0"/>
                  <a:t>Which is used in:</a:t>
                </a:r>
              </a:p>
              <a:p>
                <a:r>
                  <a:rPr lang="en-IN" dirty="0"/>
                  <a:t>Clustering</a:t>
                </a:r>
              </a:p>
              <a:p>
                <a:r>
                  <a:rPr lang="en-IN" dirty="0"/>
                  <a:t>Gaussian distribution</a:t>
                </a:r>
              </a:p>
              <a:p>
                <a:r>
                  <a:rPr lang="en-IN" dirty="0"/>
                  <a:t>Covariance matrix</a:t>
                </a:r>
              </a:p>
              <a:p>
                <a:r>
                  <a:rPr lang="en-IN" dirty="0"/>
                  <a:t>PCA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dirty="0"/>
                  <a:t>In Machine Learning:</a:t>
                </a:r>
              </a:p>
              <a:p>
                <a:r>
                  <a:rPr lang="en-IN" dirty="0"/>
                  <a:t>Data point = vector</a:t>
                </a:r>
              </a:p>
              <a:p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𝑋=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(𝑥_1ⓜ,𝑥_2ⓜ,𝑥_3ⓜ,.ⓜ,..𝑥_𝑛 )</a:t>
                </a:r>
                <a:endParaRPr lang="ar-AE" dirty="0"/>
              </a:p>
              <a:p>
                <a:r>
                  <a:rPr lang="en-IN" dirty="0"/>
                  <a:t>Expected value gives:</a:t>
                </a:r>
              </a:p>
              <a:p>
                <a:r>
                  <a:rPr lang="en-IN" dirty="0"/>
                  <a:t>Mean vector</a:t>
                </a:r>
              </a:p>
              <a:p>
                <a:r>
                  <a:rPr lang="en-IN" dirty="0"/>
                  <a:t>Which is used in:</a:t>
                </a:r>
              </a:p>
              <a:p>
                <a:r>
                  <a:rPr lang="en-IN" dirty="0"/>
                  <a:t>Clustering</a:t>
                </a:r>
              </a:p>
              <a:p>
                <a:r>
                  <a:rPr lang="en-IN" dirty="0"/>
                  <a:t>Gaussian distribution</a:t>
                </a:r>
              </a:p>
              <a:p>
                <a:r>
                  <a:rPr lang="en-IN" dirty="0"/>
                  <a:t>Covariance matrix</a:t>
                </a:r>
              </a:p>
              <a:p>
                <a:r>
                  <a:rPr lang="en-IN" dirty="0"/>
                  <a:t>PCA</a:t>
                </a:r>
              </a:p>
              <a:p>
                <a:endParaRPr lang="en-IN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4CD61-7041-4874-BE8A-9D9616481B11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3234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we cannot say:</a:t>
            </a:r>
          </a:p>
          <a:p>
            <a:r>
              <a:rPr lang="en-US" dirty="0"/>
              <a:t>50 is weak</a:t>
            </a:r>
          </a:p>
          <a:p>
            <a:r>
              <a:rPr lang="en-US" dirty="0"/>
              <a:t>50,000 is strong</a:t>
            </a:r>
          </a:p>
          <a:p>
            <a:r>
              <a:rPr lang="en-US" dirty="0"/>
              <a:t>Because units are different.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4CD61-7041-4874-BE8A-9D9616481B11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4128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Diagonal elements = Variance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(How much each variable spreads)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Off-diagonal elements = Covariance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(How two variables move together)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Matrix is symmetric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(X₁,X₂) =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(X₂,X₁)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4CD61-7041-4874-BE8A-9D9616481B11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363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2CB11AAF-0986-42B1-AA2D-C54184C9E56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131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11AAF-0986-42B1-AA2D-C54184C9E56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445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11AAF-0986-42B1-AA2D-C54184C9E56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96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11AAF-0986-42B1-AA2D-C54184C9E56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853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11AAF-0986-42B1-AA2D-C54184C9E56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222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11AAF-0986-42B1-AA2D-C54184C9E56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6224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11AAF-0986-42B1-AA2D-C54184C9E56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374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11AAF-0986-42B1-AA2D-C54184C9E56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1392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11AAF-0986-42B1-AA2D-C54184C9E56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925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11AAF-0986-42B1-AA2D-C54184C9E56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390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11AAF-0986-42B1-AA2D-C54184C9E56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289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11AAF-0986-42B1-AA2D-C54184C9E56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8821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11AAF-0986-42B1-AA2D-C54184C9E56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344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11AAF-0986-42B1-AA2D-C54184C9E56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88786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11AAF-0986-42B1-AA2D-C54184C9E56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40771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11AAF-0986-42B1-AA2D-C54184C9E56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72754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11AAF-0986-42B1-AA2D-C54184C9E56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3143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CB11AAF-0986-42B1-AA2D-C54184C9E56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567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8F7F5-A9F1-2191-D151-1FBC0DF580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learning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A69416-C1CE-30F4-1089-9437FBC133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Shrikrishna Anand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Narvekar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Agnel Institute of Technology and Design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094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C5FA-F1E8-6888-3AB1-B3A4A6608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996CE-0192-3C36-AF4B-E413C90FF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we learn rules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Descriptive vs Inferential statistics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9619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AB7EA-6993-A609-C05A-3E08F4AFE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137CC-A788-401D-FBF8-C505CCFC1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10148046" cy="331893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 saw the development of two branches in the 18th century-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Bayesian Statistics(Believer):Uses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 Belief + New Data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reach a conclusion</a:t>
            </a:r>
            <a:r>
              <a:rPr lang="en-US" dirty="0"/>
              <a:t>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Classical Statistics(Observer):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the Current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deal with probability, but in different ways.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460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BB29A-B090-A71C-920A-708DB98C4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we learn rules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908D3-23D1-C239-D61C-A2BF444D0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892552" cy="3318936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Deductive (Top-Down):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Start with a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apply it to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Logic: “All humans need water” →"John is human" → “John needs water”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Inductive (</a:t>
            </a:r>
            <a:r>
              <a:rPr lang="en-IN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Botttom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-up):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with a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apply it to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"Baby" Example: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Touching a hot stove + hot soup + hot iron = "Don't touch hot things!"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194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6042-D0C4-2FBA-7ABF-9855F0D9C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vs. Inferential Statistics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2D9C13B-95B6-7558-ACCC-1854C29A0A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1436250"/>
              </p:ext>
            </p:extLst>
          </p:nvPr>
        </p:nvGraphicFramePr>
        <p:xfrm>
          <a:off x="1107141" y="2423162"/>
          <a:ext cx="10174942" cy="3840480"/>
        </p:xfrm>
        <a:graphic>
          <a:graphicData uri="http://schemas.openxmlformats.org/drawingml/2006/table">
            <a:tbl>
              <a:tblPr/>
              <a:tblGrid>
                <a:gridCol w="3352210">
                  <a:extLst>
                    <a:ext uri="{9D8B030D-6E8A-4147-A177-3AD203B41FA5}">
                      <a16:colId xmlns:a16="http://schemas.microsoft.com/office/drawing/2014/main" val="3973877177"/>
                    </a:ext>
                  </a:extLst>
                </a:gridCol>
                <a:gridCol w="3588836">
                  <a:extLst>
                    <a:ext uri="{9D8B030D-6E8A-4147-A177-3AD203B41FA5}">
                      <a16:colId xmlns:a16="http://schemas.microsoft.com/office/drawing/2014/main" val="3183654905"/>
                    </a:ext>
                  </a:extLst>
                </a:gridCol>
                <a:gridCol w="3233896">
                  <a:extLst>
                    <a:ext uri="{9D8B030D-6E8A-4147-A177-3AD203B41FA5}">
                      <a16:colId xmlns:a16="http://schemas.microsoft.com/office/drawing/2014/main" val="37936501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0858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Descriptive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Summarizes the </a:t>
                      </a:r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Past</a:t>
                      </a: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fitness app showing you walked </a:t>
                      </a: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10,000 steps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yesterday.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7382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Inferential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Predicts the </a:t>
                      </a:r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Future/Whole</a:t>
                      </a: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Asking </a:t>
                      </a:r>
                      <a:r>
                        <a:rPr lang="en-US" sz="24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1,000 voters</a:t>
                      </a:r>
                      <a:r>
                        <a:rPr lang="en-US" sz="24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their opinion to predict how </a:t>
                      </a:r>
                      <a:r>
                        <a:rPr lang="en-US" sz="24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 million</a:t>
                      </a:r>
                      <a:r>
                        <a:rPr lang="en-US" sz="24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will vote.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24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3237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0B2E0-A0F9-3760-845E-4C25BBF47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signals in the Mess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CDAA8-C710-A519-1D13-2FB649BDF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"Noise"?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Random errors or irrelevant data that distract from the pattern.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 friend’s voice (the data you want).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loud music and crowd shouting (the distraction).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Machine Learning acts like "Noise-Cancelling Headphones"—it filters out the music to hear the message.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095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DAA92-2B9F-BB81-2157-3F8E577B6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Explaining noise in terms of data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5B5E49B-EABE-F717-EF6D-855F8786A1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7684443"/>
              </p:ext>
            </p:extLst>
          </p:nvPr>
        </p:nvGraphicFramePr>
        <p:xfrm>
          <a:off x="1295402" y="2554343"/>
          <a:ext cx="3034554" cy="3474720"/>
        </p:xfrm>
        <a:graphic>
          <a:graphicData uri="http://schemas.openxmlformats.org/drawingml/2006/table">
            <a:tbl>
              <a:tblPr/>
              <a:tblGrid>
                <a:gridCol w="1517277">
                  <a:extLst>
                    <a:ext uri="{9D8B030D-6E8A-4147-A177-3AD203B41FA5}">
                      <a16:colId xmlns:a16="http://schemas.microsoft.com/office/drawing/2014/main" val="1045678438"/>
                    </a:ext>
                  </a:extLst>
                </a:gridCol>
                <a:gridCol w="1517277">
                  <a:extLst>
                    <a:ext uri="{9D8B030D-6E8A-4147-A177-3AD203B41FA5}">
                      <a16:colId xmlns:a16="http://schemas.microsoft.com/office/drawing/2014/main" val="3427650570"/>
                    </a:ext>
                  </a:extLst>
                </a:gridCol>
              </a:tblGrid>
              <a:tr h="282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House Size (</a:t>
                      </a:r>
                      <a:r>
                        <a:rPr lang="en-IN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sq.ft</a:t>
                      </a: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 Price (₹ Lakhs)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247698"/>
                  </a:ext>
                </a:extLst>
              </a:tr>
              <a:tr h="282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4226279"/>
                  </a:ext>
                </a:extLst>
              </a:tr>
              <a:tr h="282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489013"/>
                  </a:ext>
                </a:extLst>
              </a:tr>
              <a:tr h="282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846391"/>
                  </a:ext>
                </a:extLst>
              </a:tr>
              <a:tr h="282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852481"/>
                  </a:ext>
                </a:extLst>
              </a:tr>
              <a:tr h="282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90099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9377575-2F44-1262-3A6A-3CFDD5254599}"/>
              </a:ext>
            </a:extLst>
          </p:cNvPr>
          <p:cNvSpPr txBox="1"/>
          <p:nvPr/>
        </p:nvSpPr>
        <p:spPr>
          <a:xfrm>
            <a:off x="4329956" y="2459548"/>
            <a:ext cx="656664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four rows show a clear pattern: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Bigger house → Higher price 📈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last row: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2000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sq.ft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₹500 Lakhs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value is unusually high and may be: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entry error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Luxury villa in different location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Typing mistake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abnormal value is called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(Outlier)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597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427F9-4528-1005-E8A7-EBE82CC94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vs. Soft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C0461-75F4-1331-5100-708444DAA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10148046" cy="3548033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 Computing (Analytical):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Following a strict, 100% exact recipe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Rule: 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 + B = C then C is always same</a:t>
            </a:r>
          </a:p>
          <a:p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: 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you type 567×432, the computer uses a "hard" mathematical rule. There is no guesswork; the answer is either right or wrong.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modelling: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patterns to make a "best guess.“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Rule: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thousands of examples, this is probably the answer.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Netflix Recommendations.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 is no "hard" rule that says if you liked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Stranger Things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you will definitely like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Wednesday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25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DE190-FA5B-45D7-A5CB-7C3A9AD05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Dealing with messy data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45716-A2BE-AB9B-1D18-69B7B5944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is rarely perfect. We have to manage three main problems: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Irrelevant "jitter" or extra info that hides the truth.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Gaps where data wasn't recorded.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Inconsistencies: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that contradicts itself.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100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BD9FC145-6C9F-E2AA-ED90-4898671DAD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1127600"/>
              </p:ext>
            </p:extLst>
          </p:nvPr>
        </p:nvGraphicFramePr>
        <p:xfrm>
          <a:off x="793376" y="726141"/>
          <a:ext cx="7180729" cy="54460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6146">
                  <a:extLst>
                    <a:ext uri="{9D8B030D-6E8A-4147-A177-3AD203B41FA5}">
                      <a16:colId xmlns:a16="http://schemas.microsoft.com/office/drawing/2014/main" val="1687641680"/>
                    </a:ext>
                  </a:extLst>
                </a:gridCol>
                <a:gridCol w="1436146">
                  <a:extLst>
                    <a:ext uri="{9D8B030D-6E8A-4147-A177-3AD203B41FA5}">
                      <a16:colId xmlns:a16="http://schemas.microsoft.com/office/drawing/2014/main" val="3023937516"/>
                    </a:ext>
                  </a:extLst>
                </a:gridCol>
                <a:gridCol w="1704084">
                  <a:extLst>
                    <a:ext uri="{9D8B030D-6E8A-4147-A177-3AD203B41FA5}">
                      <a16:colId xmlns:a16="http://schemas.microsoft.com/office/drawing/2014/main" val="344894910"/>
                    </a:ext>
                  </a:extLst>
                </a:gridCol>
                <a:gridCol w="1462938">
                  <a:extLst>
                    <a:ext uri="{9D8B030D-6E8A-4147-A177-3AD203B41FA5}">
                      <a16:colId xmlns:a16="http://schemas.microsoft.com/office/drawing/2014/main" val="2672913618"/>
                    </a:ext>
                  </a:extLst>
                </a:gridCol>
                <a:gridCol w="1141415">
                  <a:extLst>
                    <a:ext uri="{9D8B030D-6E8A-4147-A177-3AD203B41FA5}">
                      <a16:colId xmlns:a16="http://schemas.microsoft.com/office/drawing/2014/main" val="2652320881"/>
                    </a:ext>
                  </a:extLst>
                </a:gridCol>
              </a:tblGrid>
              <a:tr h="1180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Employee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Experience (Years)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Salary (₹ Lakhs)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7176219"/>
                  </a:ext>
                </a:extLst>
              </a:tr>
              <a:tr h="710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921953"/>
                  </a:ext>
                </a:extLst>
              </a:tr>
              <a:tr h="710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Marketing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754993"/>
                  </a:ext>
                </a:extLst>
              </a:tr>
              <a:tr h="710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150.0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3295522"/>
                  </a:ext>
                </a:extLst>
              </a:tr>
              <a:tr h="710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–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8815672"/>
                  </a:ext>
                </a:extLst>
              </a:tr>
              <a:tr h="710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12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6549"/>
                  </a:ext>
                </a:extLst>
              </a:tr>
              <a:tr h="710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49813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3268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23461-DE25-3B8C-468D-CE250E78D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Space &amp; Sample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188C5-E699-6422-1DB2-A1042CF2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556932"/>
            <a:ext cx="10134599" cy="3669056"/>
          </a:xfrm>
        </p:spPr>
        <p:txBody>
          <a:bodyPr>
            <a:normAutofit lnSpcReduction="10000"/>
          </a:bodyPr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Sample Space (D):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the "world" of all possible outcomes. In Machine Learning, your entire dataset (the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Matrix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is your Sample Space.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If you are analysing a deck of cards, the Sample Space is all 52 cards.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Points (x):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a single "event" or a single row in your data. It is one specific instance from the Sample Space.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Drawing the 7 of Hearts is a "sample point." In a medical study, one single patient’s records would be a sample point</a:t>
            </a:r>
          </a:p>
        </p:txBody>
      </p:sp>
    </p:spTree>
    <p:extLst>
      <p:ext uri="{BB962C8B-B14F-4D97-AF65-F5344CB8AC3E}">
        <p14:creationId xmlns:p14="http://schemas.microsoft.com/office/powerpoint/2010/main" val="4220728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BCE22-E57D-438F-5781-6BBF7081E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Variables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1BDC8-0134-5878-2EE2-E6ADAA1FE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556931"/>
            <a:ext cx="10027023" cy="3655609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call the characteristics of our data "Random Variables" because we don't know the value until we actually look at a specific example.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are the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your table (Attributes).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"House Hunting" Example: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If you are looking for a house, the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Variables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Bedrooms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Square Footage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3838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C692FB-0F05-AD52-567B-909CBC333F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0119" y="612842"/>
                <a:ext cx="10340502" cy="5321030"/>
              </a:xfrm>
            </p:spPr>
            <p:txBody>
              <a:bodyPr/>
              <a:lstStyle/>
              <a:p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“Zero Probability” Problem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Since there are infinite possible values: The probability of getting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exactly one specific value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ZERO.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Instead of asking: 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 is probability of exactly 20 minutes?</a:t>
                </a:r>
              </a:p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ask:</a:t>
                </a:r>
              </a:p>
              <a:p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 is probability that commute time is between 18 and 22 minutes?</a:t>
                </a:r>
              </a:p>
              <a:p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continuous variables, we always find probability for a </a:t>
                </a:r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range</a:t>
                </a:r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Instead of looking at a single point, we look at the probability of a value falling within a </a:t>
                </a:r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range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lang="en-I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C692FB-0F05-AD52-567B-909CBC333F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0119" y="612842"/>
                <a:ext cx="10340502" cy="5321030"/>
              </a:xfrm>
              <a:blipFill>
                <a:blip r:embed="rId3"/>
                <a:stretch>
                  <a:fillRect l="-1061" t="-1720" r="-11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7A1EAD4-BD49-C4EE-85CD-E8D2B53CA5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5521" y="4506209"/>
            <a:ext cx="6712922" cy="16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388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B9826-2104-35FB-8AA1-B7CE3E9E2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PDF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BEE19-CE07-F289-E979-8CA9077D8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196" y="2556931"/>
            <a:ext cx="4580105" cy="3318936"/>
          </a:xfrm>
        </p:spPr>
        <p:txBody>
          <a:bodyPr>
            <a:normAutofit lnSpcReduction="10000"/>
          </a:bodyPr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Density Function (PDF)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is:</a:t>
            </a: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smooth curve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shows how values are distributed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is the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 under the curve</a:t>
            </a:r>
            <a:br>
              <a:rPr lang="en-US" dirty="0"/>
            </a:b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looks like a smooth wave (not spikes like PMF).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6.1: Probability Density Functions - Statistics LibreTexts">
            <a:extLst>
              <a:ext uri="{FF2B5EF4-FFF2-40B4-BE49-F238E27FC236}">
                <a16:creationId xmlns:a16="http://schemas.microsoft.com/office/drawing/2014/main" id="{B58F0F76-BF8F-5288-999B-2FABDD00D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0614" y="3429000"/>
            <a:ext cx="6962775" cy="258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6896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346AD-0248-A373-C321-D88B461F4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 we calculate Probability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4E785-7D56-3733-ED6A-2366B1797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950" y="2663936"/>
            <a:ext cx="9601196" cy="331893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find probability between two values: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calculate the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 under the curve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between those two points.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Mathematically, we use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meaning: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= Area under curve between V₁ and V₂</a:t>
            </a: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14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0212C-36E1-C31B-F2D1-3ABD081A8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 of PDF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C8D70-8337-F31F-748B-AB078251B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 1: Density must be zero or positive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p(x) ≥ 0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cannot have negative density.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 2: Total area under curve must equal 1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entire area under the curve = 1 (which means 100%)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total area ≠ 1 → it is not a valid PDF.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1727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779C3-C04C-1ED7-9078-C288D0C38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941" y="739302"/>
            <a:ext cx="10544782" cy="5428034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Small Interval Idea (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Δx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Concept)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we take a very small range: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x₀ to x₀ +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Δx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Then,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≈ Density at that point × Width of range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simple words: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Probability ≈ Height × Width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 like area of a rectangle.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7D80F8-C423-E91B-D8F0-F34045F3A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973" y="4825323"/>
            <a:ext cx="8383973" cy="102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5039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3AE6B-0CE5-733C-6F62-91891956D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672" y="797667"/>
            <a:ext cx="10466962" cy="5408579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Scientist perspective: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a data point of view: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Density means: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frequently values occur in a very tiny interval.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total observations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ΔN = number of values in small interval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Density = (Relative frequency) ÷ (Width of interval)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interval becomes extremely small → it becomes PDF.</a:t>
            </a: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11F316-E73A-99B1-9343-29B661475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528" y="3501956"/>
            <a:ext cx="3773720" cy="101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102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E3D95-944A-25C5-5509-40D7FE270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Descriptive Measures of Probability Distributions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DEE8D-A3E2-8809-A11D-49E36EFB5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of the most important descriptive values of a random variable is the point around which distribution is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centered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known as measure of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 tendency.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expected (mean or average) value is the best measure for central tendency. 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value is just the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a random situation.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175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FB711E-AC10-E5C1-237B-3A3FD2A71B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8485" y="535021"/>
                <a:ext cx="10603149" cy="583659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1: Dice Roll (Discrete Case)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Suppose you roll a fair dice.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Possible outcomes:</a:t>
                </a:r>
                <a:b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1, 2, 3, 4, 5, 6</a:t>
                </a:r>
                <a:b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has probability = 1/6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Expected value: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ctrlP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ctrlP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ctrlP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ctrlP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  <a:endParaRPr lang="ar-AE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ar-AE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You will </a:t>
                </a:r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never actually get 3.5</a:t>
                </a:r>
                <a:b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if you roll many times, the average will approach 3.5.</a:t>
                </a:r>
              </a:p>
              <a:p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Discrete Data (Countable steps, like a dice roll):</a:t>
                </a:r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You use simple addition. You multiply each outcome by its probability and sum them up.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E [x]=</a:t>
                </a:r>
                <a14:m>
                  <m:oMath xmlns:m="http://schemas.openxmlformats.org/officeDocument/2006/math">
                    <m:r>
                      <a:rPr lang="en-I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µ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€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𝑥𝑝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P(x) is probability mass function</a:t>
                </a:r>
              </a:p>
              <a:p>
                <a:pPr marL="0" indent="0">
                  <a:buNone/>
                </a:pPr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FB711E-AC10-E5C1-237B-3A3FD2A71B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8485" y="535021"/>
                <a:ext cx="10603149" cy="5836595"/>
              </a:xfrm>
              <a:blipFill>
                <a:blip r:embed="rId2"/>
                <a:stretch>
                  <a:fillRect l="-863" t="-1776" b="-37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73570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41CA71-959B-9F12-AE8F-2D817337CE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9848" y="573932"/>
                <a:ext cx="10758790" cy="577823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2: Rainfall (Continuous Case)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Suppose rainfall can be any value like: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12.2 mm, 12.25 mm, 12.251 mm…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Here values are continuous.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 instead of adding, we use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integration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concept is same: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Multiply each value by how likely it is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 everything together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 gives the average rainfall.</a:t>
                </a:r>
              </a:p>
              <a:p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Continuous Data (Smooth curves):</a:t>
                </a:r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You use calculus (integration). You multiply every possible value (x) by its likelihood (p(x)) and add them all up.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E [x]= µ=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𝑥𝑝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dx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p(x) is the probability density function.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41CA71-959B-9F12-AE8F-2D817337CE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9848" y="573932"/>
                <a:ext cx="10758790" cy="5778230"/>
              </a:xfrm>
              <a:blipFill>
                <a:blip r:embed="rId2"/>
                <a:stretch>
                  <a:fillRect l="-850" t="-17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02949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F1366-0D22-1A2E-90C9-7B9AE2203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E8485-F300-D793-11E0-F200B6D0E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data scientist is evaluating a simple "Recommender System" for a streaming app. The random variable  x represents the number of stars (1 to 4) a user is likely to give a specific genre based on historical data.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Questions: Verify that this is valid PMF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Calculate Expected Value E[x]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(Average Rating)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Find Variance and Standard deviations</a:t>
            </a: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FF687EF-63EA-322E-985E-0E27750871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975324"/>
              </p:ext>
            </p:extLst>
          </p:nvPr>
        </p:nvGraphicFramePr>
        <p:xfrm>
          <a:off x="1742751" y="3854752"/>
          <a:ext cx="1737568" cy="1976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784">
                  <a:extLst>
                    <a:ext uri="{9D8B030D-6E8A-4147-A177-3AD203B41FA5}">
                      <a16:colId xmlns:a16="http://schemas.microsoft.com/office/drawing/2014/main" val="573016539"/>
                    </a:ext>
                  </a:extLst>
                </a:gridCol>
                <a:gridCol w="868784">
                  <a:extLst>
                    <a:ext uri="{9D8B030D-6E8A-4147-A177-3AD203B41FA5}">
                      <a16:colId xmlns:a16="http://schemas.microsoft.com/office/drawing/2014/main" val="2491409624"/>
                    </a:ext>
                  </a:extLst>
                </a:gridCol>
              </a:tblGrid>
              <a:tr h="382008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P(x)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924980"/>
                  </a:ext>
                </a:extLst>
              </a:tr>
              <a:tr h="38200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103054"/>
                  </a:ext>
                </a:extLst>
              </a:tr>
              <a:tr h="38200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114236"/>
                  </a:ext>
                </a:extLst>
              </a:tr>
              <a:tr h="38200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302949"/>
                  </a:ext>
                </a:extLst>
              </a:tr>
              <a:tr h="434617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812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06721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F3233-3B08-E745-164D-3AF986C54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416" y="625151"/>
            <a:ext cx="10571584" cy="5617029"/>
          </a:xfrm>
        </p:spPr>
        <p:txBody>
          <a:bodyPr>
            <a:normAutofit fontScale="92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food delivery company tracks number of orders received per hour. The following data was collected: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Questions: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 the probability mass function P(x).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 that it is a valid PMF.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the expected number of orders per hour.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variance and standard deviation.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AB35087-7EFE-273F-C7CE-89A03BBED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840824"/>
              </p:ext>
            </p:extLst>
          </p:nvPr>
        </p:nvGraphicFramePr>
        <p:xfrm>
          <a:off x="7192345" y="1207481"/>
          <a:ext cx="3808448" cy="26281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04224">
                  <a:extLst>
                    <a:ext uri="{9D8B030D-6E8A-4147-A177-3AD203B41FA5}">
                      <a16:colId xmlns:a16="http://schemas.microsoft.com/office/drawing/2014/main" val="3593920453"/>
                    </a:ext>
                  </a:extLst>
                </a:gridCol>
                <a:gridCol w="1904224">
                  <a:extLst>
                    <a:ext uri="{9D8B030D-6E8A-4147-A177-3AD203B41FA5}">
                      <a16:colId xmlns:a16="http://schemas.microsoft.com/office/drawing/2014/main" val="836432354"/>
                    </a:ext>
                  </a:extLst>
                </a:gridCol>
              </a:tblGrid>
              <a:tr h="500840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IN" sz="2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Orders per hour (x)</a:t>
                      </a:r>
                      <a:endParaRPr lang="en-IN" sz="2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Frequency</a:t>
                      </a:r>
                      <a:endParaRPr lang="en-IN" sz="2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80815926"/>
                  </a:ext>
                </a:extLst>
              </a:tr>
              <a:tr h="255495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IN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2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2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65843575"/>
                  </a:ext>
                </a:extLst>
              </a:tr>
              <a:tr h="255495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IN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2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2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56062243"/>
                  </a:ext>
                </a:extLst>
              </a:tr>
              <a:tr h="255495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IN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IN" sz="2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7303402"/>
                  </a:ext>
                </a:extLst>
              </a:tr>
              <a:tr h="255495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IN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2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94730507"/>
                  </a:ext>
                </a:extLst>
              </a:tr>
              <a:tr h="255495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IN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2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2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35909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1384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7D196-EB5F-C68F-7397-647572B7F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properties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D70B9F-99B0-8F82-4F28-D3F6428E89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0" y="2556931"/>
                <a:ext cx="10095689" cy="3649315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Constants stay the same: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"average" of a constant number (like 5) is always 5. E [C] = C; C = constant </a:t>
                </a:r>
              </a:p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you always get ₹500 salary bonus:  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Average of 500 is 500.</a:t>
                </a:r>
              </a:p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Scaling: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If you multiply all your data by 10, your average also multiplies by 10.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[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Cx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= C E [x]</a:t>
                </a:r>
              </a:p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daily salary is ₹1000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Now company doubles it → ₹2000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New average also doubles.</a:t>
                </a:r>
              </a:p>
              <a:p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D70B9F-99B0-8F82-4F28-D3F6428E89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0" y="2556931"/>
                <a:ext cx="10095689" cy="3649315"/>
              </a:xfrm>
              <a:blipFill>
                <a:blip r:embed="rId2"/>
                <a:stretch>
                  <a:fillRect l="-906" t="-3673" r="-10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04910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1ACB11-1628-2DAE-0DBA-52AAEF9B18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6306" y="680935"/>
                <a:ext cx="10525328" cy="540857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</a:t>
                </a:r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Additivity: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average of a bunch of things added together is the same as adding their individual averages.</a:t>
                </a:r>
              </a:p>
              <a:p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14:m>
                  <m:oMath xmlns:m="http://schemas.openxmlformats.org/officeDocument/2006/math">
                    <m:r>
                      <a:rPr lang="en-IN" sz="2200" i="1">
                        <a:latin typeface="Cambria Math" panose="02040503050406030204" pitchFamily="18" charset="0"/>
                      </a:rPr>
                      <m:t>[</m:t>
                    </m:r>
                    <m:nary>
                      <m:naryPr>
                        <m:chr m:val="∑"/>
                        <m:limLoc m:val="undOvr"/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I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2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I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2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</a:t>
                </a:r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Joint Variables: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dealing with two variables at once (like height and weight), you use their "joint" probability to find the average of their product.</a:t>
                </a:r>
              </a:p>
              <a:p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there are two random variables x1 and x2 defined on a sample space, then</a:t>
                </a:r>
              </a:p>
              <a:p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IN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] = </a:t>
                </a:r>
                <a14:m>
                  <m:oMath xmlns:m="http://schemas.openxmlformats.org/officeDocument/2006/math">
                    <m:nary>
                      <m:naryPr>
                        <m:chr m:val="∬"/>
                        <m:limLoc m:val="subSup"/>
                        <m:ctrlPr>
                          <a:rPr lang="en-IN" sz="22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IN" sz="2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2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IN" sz="22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IN" sz="2200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sSub>
                          <m:sSubPr>
                            <m:ctrlPr>
                              <a:rPr lang="en-IN" sz="2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2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IN" sz="22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IN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IN" sz="22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IN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𝒅𝒙</m:t>
                        </m:r>
                      </m:e>
                      <m:sub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IN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Why Do We Need Joint Probability?</a:t>
                </a:r>
              </a:p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Because now two things are happening together.</a:t>
                </a:r>
              </a:p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sz="2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Height,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sz="2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</a:t>
                </a:r>
              </a:p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Height and weight are related.</a:t>
                </a:r>
                <a:b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 we must look at their </a:t>
                </a:r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joint behaviour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how they occur together</a:t>
                </a:r>
              </a:p>
              <a:p>
                <a:endParaRPr lang="en-IN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1ACB11-1628-2DAE-0DBA-52AAEF9B18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6306" y="680935"/>
                <a:ext cx="10525328" cy="5408579"/>
              </a:xfrm>
              <a:blipFill>
                <a:blip r:embed="rId3"/>
                <a:stretch>
                  <a:fillRect l="-869" t="-19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89842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0ACA42-DBD8-0B99-DF7C-1865A33C3C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7941" y="768485"/>
                <a:ext cx="10632332" cy="537939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5. Functions: 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you want the average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you just plug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into the formula where x used to be.</a:t>
                </a:r>
              </a:p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[f(x)] = µ=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IN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dx</a:t>
                </a:r>
              </a:p>
              <a:p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Vectors: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If your data is a list of numbers (a vector) rather than a single value, the math works exactly the same way—you just do it for the whole list at once.</a:t>
                </a:r>
              </a:p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 vector random variable x,</a:t>
                </a:r>
              </a:p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</a:t>
                </a:r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[x]= µ=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en-IN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IN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IN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𝒙𝒑</m:t>
                        </m:r>
                        <m:r>
                          <a:rPr lang="en-IN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IN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dx</a:t>
                </a:r>
                <a:endParaRPr lang="en-IN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discrete case,</a:t>
                </a:r>
              </a:p>
              <a:p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E [x]=</a:t>
                </a:r>
                <a14:m>
                  <m:oMath xmlns:m="http://schemas.openxmlformats.org/officeDocument/2006/math">
                    <m:r>
                      <a:rPr lang="en-IN" sz="22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µ</m:t>
                    </m:r>
                    <m:r>
                      <a:rPr lang="en-IN" sz="2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IN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IN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€</m:t>
                        </m:r>
                        <m:r>
                          <a:rPr lang="en-IN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  <m:sup/>
                      <m:e>
                        <m:r>
                          <a:rPr lang="en-IN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𝒙𝒑</m:t>
                        </m:r>
                        <m:r>
                          <a:rPr lang="en-IN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IN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IN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/>
                  <a:t> 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0ACA42-DBD8-0B99-DF7C-1865A33C3C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7941" y="768485"/>
                <a:ext cx="10632332" cy="5379395"/>
              </a:xfrm>
              <a:blipFill>
                <a:blip r:embed="rId3"/>
                <a:stretch>
                  <a:fillRect l="-1032" t="-793" r="-57" b="-26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67278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89D1D-CCA4-9801-A48C-3B2C61A61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4296F1-D784-CDFB-9089-616CBAB940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multi-specialty hospital has deployed a </a:t>
                </a:r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Machine Learning-based patient triage system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The ML model predicts patient severity and dynamically allocates doctors. After analysing historical data, the </a:t>
                </a:r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 science team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observes that the waiting time (in minutes) for patients follows a probability density function:</a:t>
                </a:r>
              </a:p>
              <a:p>
                <a14:m>
                  <m:oMath xmlns:m="http://schemas.openxmlformats.org/officeDocument/2006/math">
                    <m:r>
                      <a:rPr lang="en-IN" sz="2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sz="22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200" i="1">
                        <a:latin typeface="Cambria Math" panose="02040503050406030204" pitchFamily="18" charset="0"/>
                      </a:rPr>
                      <m:t>𝑘𝑥</m:t>
                    </m:r>
                    <m:r>
                      <a:rPr lang="ar-AE" sz="22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200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for</m:t>
                    </m:r>
                    <m:r>
                      <m:rPr>
                        <m:nor/>
                      </m:rPr>
                      <a:rPr lang="en-IN" sz="2200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IN" sz="22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20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20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20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lang="en-IN" sz="22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Value of k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probability patient waits between 2 and 5 minutes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Expected waiting time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4296F1-D784-CDFB-9089-616CBAB940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3" t="-2936" r="-12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23007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67CB0-7E46-E363-6AB6-379DAB917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DA4444-9EB8-6728-2E20-58D250E8C0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autonomous vehicle uses a machine learning–based distance estimation model to predict the distance 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(in meters) to nearby objects. The predicted distance follows a continuous probability density function: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for</m:t>
                    </m:r>
                    <m:r>
                      <m:rPr>
                        <m:nor/>
                      </m:rPr>
                      <a:rPr lang="en-IN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I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lang="en-IN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Assuming the model output follows this distribution, compute the probability that an object is detected between </a:t>
                </a:r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and 5 meters</a:t>
                </a:r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the vehicle.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DA4444-9EB8-6728-2E20-58D250E8C0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4" t="-25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02243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F238-2AC0-7085-FB19-53C07F3C6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72291-F7EA-A9E9-EAAF-7AB1CFDD9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expected value (mean) describes the central tendency of a random variable.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also need to measure the spread of values around the mean.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Variance is desired to know the ‘spread’ of the random variable about the mean.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denoted as Var[X] or σ² 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8844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1F6CD-A72E-4C13-51D1-3ABC4B7DB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 (Discrete Case)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5137C-07A5-27B5-AF88-198D4D7D5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Var[X] = σ² = E[(X - μ)²]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Summation Form: Var[X] = </a:t>
            </a:r>
            <a:r>
              <a:rPr lang="el-G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 (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- </a:t>
            </a:r>
            <a:r>
              <a:rPr lang="el-G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μ)²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P(x), x ∈ 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represents weighted squared deviations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the mean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5468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CE34C-D8D0-F445-B269-15A992670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Derivation of Variance 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E4B8F-C534-99B9-3484-B9E3108DB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Var[X] = E[(X - E[X])²]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E[X² - 2X E[X] + (E[X])²]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linearity of expectation: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E[X²] - (E[X])²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Formula:      Var[X] = E[X²] - (E[X])²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form is often easier to compute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practical problems</a:t>
            </a:r>
          </a:p>
        </p:txBody>
      </p:sp>
    </p:spTree>
    <p:extLst>
      <p:ext uri="{BB962C8B-B14F-4D97-AF65-F5344CB8AC3E}">
        <p14:creationId xmlns:p14="http://schemas.microsoft.com/office/powerpoint/2010/main" val="17610563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D4AD4-95F3-1874-C9CE-6037D6769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Covariance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25D938-EF52-B553-41B7-142C8AAD9D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7313" y="2472956"/>
                <a:ext cx="6906207" cy="3498635"/>
              </a:xfrm>
            </p:spPr>
            <p:txBody>
              <a:bodyPr/>
              <a:lstStyle/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Covariance tells us:</a:t>
                </a:r>
              </a:p>
              <a:p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 two variables move together or in opposite directions?</a:t>
                </a:r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Mathematically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  <a:r>
                  <a:rPr lang="en-IN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</a:t>
                </a:r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E[(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)]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25D938-EF52-B553-41B7-142C8AAD9D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7313" y="2472956"/>
                <a:ext cx="6906207" cy="3498635"/>
              </a:xfrm>
              <a:blipFill>
                <a:blip r:embed="rId2"/>
                <a:stretch>
                  <a:fillRect l="-1589" t="-26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C27F55-925C-4871-64E7-F412BCC5B5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345184"/>
              </p:ext>
            </p:extLst>
          </p:nvPr>
        </p:nvGraphicFramePr>
        <p:xfrm>
          <a:off x="7623111" y="2554272"/>
          <a:ext cx="3741576" cy="33215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09115">
                  <a:extLst>
                    <a:ext uri="{9D8B030D-6E8A-4147-A177-3AD203B41FA5}">
                      <a16:colId xmlns:a16="http://schemas.microsoft.com/office/drawing/2014/main" val="2891344366"/>
                    </a:ext>
                  </a:extLst>
                </a:gridCol>
                <a:gridCol w="2032461">
                  <a:extLst>
                    <a:ext uri="{9D8B030D-6E8A-4147-A177-3AD203B41FA5}">
                      <a16:colId xmlns:a16="http://schemas.microsoft.com/office/drawing/2014/main" val="106867616"/>
                    </a:ext>
                  </a:extLst>
                </a:gridCol>
              </a:tblGrid>
              <a:tr h="5144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Covariance Value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Meaning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17765558"/>
                  </a:ext>
                </a:extLst>
              </a:tr>
              <a:tr h="82037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Positive (+)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Both increase together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82770856"/>
                  </a:ext>
                </a:extLst>
              </a:tr>
              <a:tr h="82037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Negative (−)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 increases, other decreases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14396636"/>
                  </a:ext>
                </a:extLst>
              </a:tr>
              <a:tr h="105613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 (0)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 linear relationship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68624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35433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E0B39-916D-E394-2F3C-BA8560E6F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covariance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AAFE4-3F34-93A8-6318-4CCED010C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1: CPU Usage vs Temperature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CPU usage increases, temperature increases.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Covariance &gt; 0 (Positive)</a:t>
            </a:r>
          </a:p>
          <a:p>
            <a:r>
              <a:rPr lang="en-IN" b="1" dirty="0"/>
              <a:t> </a:t>
            </a:r>
            <a:endParaRPr lang="en-IN" dirty="0"/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BFD813C-1BC6-371A-8050-2FB4F53A21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033421"/>
              </p:ext>
            </p:extLst>
          </p:nvPr>
        </p:nvGraphicFramePr>
        <p:xfrm>
          <a:off x="8116076" y="2556932"/>
          <a:ext cx="3192624" cy="2057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6312">
                  <a:extLst>
                    <a:ext uri="{9D8B030D-6E8A-4147-A177-3AD203B41FA5}">
                      <a16:colId xmlns:a16="http://schemas.microsoft.com/office/drawing/2014/main" val="1503350979"/>
                    </a:ext>
                  </a:extLst>
                </a:gridCol>
                <a:gridCol w="1596312">
                  <a:extLst>
                    <a:ext uri="{9D8B030D-6E8A-4147-A177-3AD203B41FA5}">
                      <a16:colId xmlns:a16="http://schemas.microsoft.com/office/drawing/2014/main" val="4218245744"/>
                    </a:ext>
                  </a:extLst>
                </a:gridCol>
              </a:tblGrid>
              <a:tr h="24074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CPU Usage (%)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 (°C)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12061210"/>
                  </a:ext>
                </a:extLst>
              </a:tr>
              <a:tr h="24074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86222861"/>
                  </a:ext>
                </a:extLst>
              </a:tr>
              <a:tr h="24074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96578904"/>
                  </a:ext>
                </a:extLst>
              </a:tr>
              <a:tr h="24074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92332201"/>
                  </a:ext>
                </a:extLst>
              </a:tr>
              <a:tr h="24074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97841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00880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AC3CE-9FDF-06F2-A112-C2B1D40D2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covariance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D7248-09DD-8B80-D211-BB8576DBD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2: Internet Speed vs Download Time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speed increases, download time decreases.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Covariance &lt; 0 (Negative)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Covariance alone is not enough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Covariance depends on the scale (units) of the variables.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means if we change the units, the covariance value changes — even though the relationship between variables is exactly the same.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39A357-F749-62B8-A0C2-69F86E4C2E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463479"/>
              </p:ext>
            </p:extLst>
          </p:nvPr>
        </p:nvGraphicFramePr>
        <p:xfrm>
          <a:off x="8004110" y="2683205"/>
          <a:ext cx="2978020" cy="17162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9010">
                  <a:extLst>
                    <a:ext uri="{9D8B030D-6E8A-4147-A177-3AD203B41FA5}">
                      <a16:colId xmlns:a16="http://schemas.microsoft.com/office/drawing/2014/main" val="2110413995"/>
                    </a:ext>
                  </a:extLst>
                </a:gridCol>
                <a:gridCol w="1489010">
                  <a:extLst>
                    <a:ext uri="{9D8B030D-6E8A-4147-A177-3AD203B41FA5}">
                      <a16:colId xmlns:a16="http://schemas.microsoft.com/office/drawing/2014/main" val="2825642537"/>
                    </a:ext>
                  </a:extLst>
                </a:gridCol>
              </a:tblGrid>
              <a:tr h="24359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Speed (Mbps)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Download Time (min)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46690392"/>
                  </a:ext>
                </a:extLst>
              </a:tr>
              <a:tr h="24359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30682896"/>
                  </a:ext>
                </a:extLst>
              </a:tr>
              <a:tr h="24359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10681563"/>
                  </a:ext>
                </a:extLst>
              </a:tr>
              <a:tr h="16895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06369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07465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EA46A8-864B-A2E5-11A7-D36E0F8AA4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93102" y="681135"/>
                <a:ext cx="4722069" cy="5374432"/>
              </a:xfrm>
            </p:spPr>
            <p:txBody>
              <a:bodyPr>
                <a:normAutofit/>
              </a:bodyPr>
              <a:lstStyle/>
              <a:p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1: Small Scale Variables</a:t>
                </a:r>
              </a:p>
              <a:p>
                <a:endParaRPr lang="en-IN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These are perfectly positively related.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Covariance might be something like:</a:t>
                </a:r>
              </a:p>
              <a:p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endParaRPr lang="ar-AE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EA46A8-864B-A2E5-11A7-D36E0F8AA4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3102" y="681135"/>
                <a:ext cx="4722069" cy="5374432"/>
              </a:xfrm>
              <a:blipFill>
                <a:blip r:embed="rId3"/>
                <a:stretch>
                  <a:fillRect l="-2323" t="-13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993F81-E018-487C-3BAE-86FBE1EA82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406546"/>
              </p:ext>
            </p:extLst>
          </p:nvPr>
        </p:nvGraphicFramePr>
        <p:xfrm>
          <a:off x="894959" y="1376162"/>
          <a:ext cx="4722069" cy="2194560"/>
        </p:xfrm>
        <a:graphic>
          <a:graphicData uri="http://schemas.openxmlformats.org/drawingml/2006/table">
            <a:tbl>
              <a:tblPr/>
              <a:tblGrid>
                <a:gridCol w="1574023">
                  <a:extLst>
                    <a:ext uri="{9D8B030D-6E8A-4147-A177-3AD203B41FA5}">
                      <a16:colId xmlns:a16="http://schemas.microsoft.com/office/drawing/2014/main" val="2067394416"/>
                    </a:ext>
                  </a:extLst>
                </a:gridCol>
                <a:gridCol w="1574023">
                  <a:extLst>
                    <a:ext uri="{9D8B030D-6E8A-4147-A177-3AD203B41FA5}">
                      <a16:colId xmlns:a16="http://schemas.microsoft.com/office/drawing/2014/main" val="2845586720"/>
                    </a:ext>
                  </a:extLst>
                </a:gridCol>
                <a:gridCol w="1574023">
                  <a:extLst>
                    <a:ext uri="{9D8B030D-6E8A-4147-A177-3AD203B41FA5}">
                      <a16:colId xmlns:a16="http://schemas.microsoft.com/office/drawing/2014/main" val="2669522476"/>
                    </a:ext>
                  </a:extLst>
                </a:gridCol>
              </a:tblGrid>
              <a:tr h="341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Marks (X)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Stipend (₹ thousands) (Y)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327279"/>
                  </a:ext>
                </a:extLst>
              </a:tr>
              <a:tr h="341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306777"/>
                  </a:ext>
                </a:extLst>
              </a:tr>
              <a:tr h="341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8897366"/>
                  </a:ext>
                </a:extLst>
              </a:tr>
              <a:tr h="341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5618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FAABC6F-AA25-24BB-CD62-B7065B8A5C21}"/>
                  </a:ext>
                </a:extLst>
              </p:cNvPr>
              <p:cNvSpPr txBox="1"/>
              <p:nvPr/>
            </p:nvSpPr>
            <p:spPr>
              <a:xfrm>
                <a:off x="6096000" y="585903"/>
                <a:ext cx="5302898" cy="63094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2: Same Data, Bigger Units</a:t>
                </a:r>
              </a:p>
              <a:p>
                <a:endParaRPr 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Now the relationship is </a:t>
                </a:r>
                <a:r>
                  <a:rPr lang="en-US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exactly the same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covariance becomes: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sepChr m:val=","/>
                          <m:ctrlPr>
                            <a:rPr lang="ar-AE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ar-AE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ar-AE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50</m:t>
                      </m:r>
                      <m:r>
                        <a:rPr lang="ar-AE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ar-AE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Did Relationship Change?</a:t>
                </a:r>
              </a:p>
              <a:p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</a:t>
                </a:r>
                <a:endParaRPr 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Only units changed</a:t>
                </a:r>
                <a:endParaRPr 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covariance changed from 50 → 50,000</a:t>
                </a:r>
                <a:endParaRPr 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 means:</a:t>
                </a:r>
              </a:p>
              <a:p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Covariance magnitude depends on scale.</a:t>
                </a:r>
              </a:p>
              <a:p>
                <a:endParaRPr 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FAABC6F-AA25-24BB-CD62-B7065B8A5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85903"/>
                <a:ext cx="5302898" cy="6309420"/>
              </a:xfrm>
              <a:prstGeom prst="rect">
                <a:avLst/>
              </a:prstGeom>
              <a:blipFill>
                <a:blip r:embed="rId4"/>
                <a:stretch>
                  <a:fillRect l="-1724" t="-6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C8E38B6-C4D9-7A75-FC9E-EC40A72DA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042247"/>
              </p:ext>
            </p:extLst>
          </p:nvPr>
        </p:nvGraphicFramePr>
        <p:xfrm>
          <a:off x="6277169" y="1224299"/>
          <a:ext cx="5019872" cy="2042160"/>
        </p:xfrm>
        <a:graphic>
          <a:graphicData uri="http://schemas.openxmlformats.org/drawingml/2006/table">
            <a:tbl>
              <a:tblPr/>
              <a:tblGrid>
                <a:gridCol w="1673291">
                  <a:extLst>
                    <a:ext uri="{9D8B030D-6E8A-4147-A177-3AD203B41FA5}">
                      <a16:colId xmlns:a16="http://schemas.microsoft.com/office/drawing/2014/main" val="3810204569"/>
                    </a:ext>
                  </a:extLst>
                </a:gridCol>
                <a:gridCol w="1673581">
                  <a:extLst>
                    <a:ext uri="{9D8B030D-6E8A-4147-A177-3AD203B41FA5}">
                      <a16:colId xmlns:a16="http://schemas.microsoft.com/office/drawing/2014/main" val="844414662"/>
                    </a:ext>
                  </a:extLst>
                </a:gridCol>
                <a:gridCol w="1673000">
                  <a:extLst>
                    <a:ext uri="{9D8B030D-6E8A-4147-A177-3AD203B41FA5}">
                      <a16:colId xmlns:a16="http://schemas.microsoft.com/office/drawing/2014/main" val="32428664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Marks (X)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Salary (₹) (Y)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572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7021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947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9319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67281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0EB5C9-B2BF-6C33-8E86-4177B8F31B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3434" y="849430"/>
                <a:ext cx="10162590" cy="5271452"/>
              </a:xfrm>
            </p:spPr>
            <p:txBody>
              <a:bodyPr>
                <a:normAutofit/>
              </a:bodyPr>
              <a:lstStyle/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Their covariance numbers will look very different and hard to compare.</a:t>
                </a:r>
              </a:p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 we use…</a:t>
                </a:r>
              </a:p>
              <a:p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Correlation Coefficient (ρ)</a:t>
                </a:r>
                <a:endParaRPr lang="en-IN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ρ=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Cov</m:t>
                        </m:r>
                        <m:r>
                          <a:rPr lang="en-IN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[</m:t>
                        </m:r>
                        <m:sSub>
                          <m:sSubPr>
                            <m:ctrlPr>
                              <a:rPr lang="en-IN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IN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sSub>
                          <m:sSubPr>
                            <m:ctrlPr>
                              <a:rPr lang="en-IN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IN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IN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IN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called </a:t>
                </a:r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Pearson’s Correlation Coefficient</a:t>
                </a:r>
              </a:p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Correlation is normalized covariance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always lies between: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−1≤ρ≤1 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0EB5C9-B2BF-6C33-8E86-4177B8F31B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3434" y="849430"/>
                <a:ext cx="10162590" cy="5271452"/>
              </a:xfrm>
              <a:blipFill>
                <a:blip r:embed="rId2"/>
                <a:stretch>
                  <a:fillRect l="-1080" t="-12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EF8098-F455-4AAF-25AC-CB37089D0A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031194"/>
              </p:ext>
            </p:extLst>
          </p:nvPr>
        </p:nvGraphicFramePr>
        <p:xfrm>
          <a:off x="7388290" y="2972453"/>
          <a:ext cx="3957734" cy="2651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78867">
                  <a:extLst>
                    <a:ext uri="{9D8B030D-6E8A-4147-A177-3AD203B41FA5}">
                      <a16:colId xmlns:a16="http://schemas.microsoft.com/office/drawing/2014/main" val="2993094839"/>
                    </a:ext>
                  </a:extLst>
                </a:gridCol>
                <a:gridCol w="1978867">
                  <a:extLst>
                    <a:ext uri="{9D8B030D-6E8A-4147-A177-3AD203B41FA5}">
                      <a16:colId xmlns:a16="http://schemas.microsoft.com/office/drawing/2014/main" val="3710565977"/>
                    </a:ext>
                  </a:extLst>
                </a:gridCol>
              </a:tblGrid>
              <a:tr h="26925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ρ             Value</a:t>
                      </a:r>
                      <a:endParaRPr lang="en-IN" sz="2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  <a:endParaRPr lang="en-IN" sz="2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46778813"/>
                  </a:ext>
                </a:extLst>
              </a:tr>
              <a:tr h="26925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</a:t>
                      </a:r>
                      <a:endParaRPr lang="en-IN" sz="2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Perfect positive relationship</a:t>
                      </a:r>
                      <a:endParaRPr lang="en-IN" sz="2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95002482"/>
                  </a:ext>
                </a:extLst>
              </a:tr>
              <a:tr h="26925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−1</a:t>
                      </a:r>
                      <a:endParaRPr lang="en-IN" sz="2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Perfect negative relationship</a:t>
                      </a:r>
                      <a:endParaRPr lang="en-IN" sz="2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34269338"/>
                  </a:ext>
                </a:extLst>
              </a:tr>
              <a:tr h="26925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2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linear relation</a:t>
                      </a:r>
                      <a:endParaRPr lang="en-IN" sz="2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54300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91638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E4C55-FD4B-7CB7-0B0E-849463CB9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7490" y="849429"/>
            <a:ext cx="10349203" cy="5299443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Covariance Matrix – When We Have Multiple Features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Machine Learning, we don’t have just 2 variables.</a:t>
            </a: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may have:</a:t>
            </a:r>
          </a:p>
          <a:p>
            <a:pPr lvl="0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</a:p>
          <a:p>
            <a:pPr lvl="0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</a:p>
          <a:p>
            <a:pPr lvl="0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</a:t>
            </a:r>
          </a:p>
          <a:p>
            <a:pPr lvl="0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hours</a:t>
            </a:r>
          </a:p>
          <a:p>
            <a:pPr lvl="0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Productivity</a:t>
            </a: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 we want to know:</a:t>
            </a: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every feature relates to every other feature?</a:t>
            </a: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is where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Covariance Matrix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20584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BDE821-BD52-6075-C654-7F031ADB6C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7078" y="718457"/>
                <a:ext cx="9963536" cy="498946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Covariance Matrix is: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table that shows covariance between every pair of variables.</a:t>
                </a:r>
              </a:p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ML Example (Feature Relationship)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Suppose we have 3 features:</a:t>
                </a:r>
              </a:p>
              <a:p>
                <a:pPr lvl="0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X₁ = RAM usage</a:t>
                </a:r>
              </a:p>
              <a:p>
                <a:pPr lvl="0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X₂ = CPU usage</a:t>
                </a:r>
              </a:p>
              <a:p>
                <a:pPr lvl="0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X₃ = Power consumption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Covariance Matrix looks like: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𝛴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>
                              <a:latin typeface="Cambria Math" panose="02040503050406030204" pitchFamily="18" charset="0"/>
                            </a:rPr>
                            <m:t>) </m:t>
                          </m:r>
                        </m:e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𝐶𝑜𝑣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𝐶𝑜𝑣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mr>
                      <m:m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𝐶𝑜𝑣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𝐶𝑜𝑣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mr>
                      <m:m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𝐶𝑜𝑣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𝐶𝑜𝑣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mr>
                    </m:m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BDE821-BD52-6075-C654-7F031ADB6C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7078" y="718457"/>
                <a:ext cx="9963536" cy="4989460"/>
              </a:xfrm>
              <a:blipFill>
                <a:blip r:embed="rId3"/>
                <a:stretch>
                  <a:fillRect l="-918" t="-20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30381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1F602-7C3F-A3B8-2D13-31835F0AF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D5A83-4120-B4D2-1E33-D85197C2A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3528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2BC0C-1420-0E72-55F3-DBDEE04FA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Descriptive Measures from Data Sample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DBB4F-FA0B-5625-F3B2-E0F324CA2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49364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1178</TotalTime>
  <Words>3600</Words>
  <Application>Microsoft Office PowerPoint</Application>
  <PresentationFormat>Widescreen</PresentationFormat>
  <Paragraphs>508</Paragraphs>
  <Slides>40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Arial</vt:lpstr>
      <vt:lpstr>Calibri</vt:lpstr>
      <vt:lpstr>Cambria Math</vt:lpstr>
      <vt:lpstr>Garamond</vt:lpstr>
      <vt:lpstr>Times New Roman</vt:lpstr>
      <vt:lpstr>Wingdings</vt:lpstr>
      <vt:lpstr>Organic</vt:lpstr>
      <vt:lpstr>Statistical learning</vt:lpstr>
      <vt:lpstr>Content</vt:lpstr>
      <vt:lpstr>Introduction </vt:lpstr>
      <vt:lpstr>How we learn rules</vt:lpstr>
      <vt:lpstr>Descriptive vs. Inferential Statistics</vt:lpstr>
      <vt:lpstr>Finding signals in the Mess</vt:lpstr>
      <vt:lpstr>Explaining noise in terms of data</vt:lpstr>
      <vt:lpstr>Hard vs. Soft Modelling</vt:lpstr>
      <vt:lpstr>Dealing with messy data</vt:lpstr>
      <vt:lpstr>PowerPoint Presentation</vt:lpstr>
      <vt:lpstr>Sample Space &amp; Sample Points</vt:lpstr>
      <vt:lpstr>Random Variables</vt:lpstr>
      <vt:lpstr>PowerPoint Presentation</vt:lpstr>
      <vt:lpstr>What is PDF</vt:lpstr>
      <vt:lpstr>How do we calculate Probability</vt:lpstr>
      <vt:lpstr>Rules of PDF</vt:lpstr>
      <vt:lpstr>PowerPoint Presentation</vt:lpstr>
      <vt:lpstr>PowerPoint Presentation</vt:lpstr>
      <vt:lpstr>Descriptive Measures of Probability Distributions </vt:lpstr>
      <vt:lpstr>PowerPoint Presentation</vt:lpstr>
      <vt:lpstr>PowerPoint Presentation</vt:lpstr>
      <vt:lpstr>Numerical</vt:lpstr>
      <vt:lpstr>PowerPoint Presentation</vt:lpstr>
      <vt:lpstr>Important properties</vt:lpstr>
      <vt:lpstr>PowerPoint Presentation</vt:lpstr>
      <vt:lpstr>PowerPoint Presentation</vt:lpstr>
      <vt:lpstr>Numerical</vt:lpstr>
      <vt:lpstr>Numerical</vt:lpstr>
      <vt:lpstr>Variance</vt:lpstr>
      <vt:lpstr>Variance (Discrete Case)</vt:lpstr>
      <vt:lpstr>Derivation of Variance Formula</vt:lpstr>
      <vt:lpstr>Covariance</vt:lpstr>
      <vt:lpstr>Positive covariance </vt:lpstr>
      <vt:lpstr>Negative covariance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Descriptive Measures from Data Sample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Shrikrishna Narvekar</cp:lastModifiedBy>
  <cp:revision>15</cp:revision>
  <dcterms:created xsi:type="dcterms:W3CDTF">2026-02-21T11:28:52Z</dcterms:created>
  <dcterms:modified xsi:type="dcterms:W3CDTF">2026-02-26T10:14:56Z</dcterms:modified>
</cp:coreProperties>
</file>