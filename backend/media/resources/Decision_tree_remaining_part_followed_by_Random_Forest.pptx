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ikrishna Narvekar" userId="f4bc5d624d5605f5" providerId="LiveId" clId="{E501AC10-1211-415A-BBFC-3F4A7702021C}"/>
    <pc:docChg chg="undo custSel addSld modSld">
      <pc:chgData name="Shrikrishna Narvekar" userId="f4bc5d624d5605f5" providerId="LiveId" clId="{E501AC10-1211-415A-BBFC-3F4A7702021C}" dt="2026-05-17T14:24:35.421" v="214" actId="255"/>
      <pc:docMkLst>
        <pc:docMk/>
      </pc:docMkLst>
      <pc:sldChg chg="modSp new mod">
        <pc:chgData name="Shrikrishna Narvekar" userId="f4bc5d624d5605f5" providerId="LiveId" clId="{E501AC10-1211-415A-BBFC-3F4A7702021C}" dt="2026-05-17T14:09:06.987" v="37" actId="207"/>
        <pc:sldMkLst>
          <pc:docMk/>
          <pc:sldMk cId="2025770457" sldId="273"/>
        </pc:sldMkLst>
        <pc:spChg chg="mod">
          <ac:chgData name="Shrikrishna Narvekar" userId="f4bc5d624d5605f5" providerId="LiveId" clId="{E501AC10-1211-415A-BBFC-3F4A7702021C}" dt="2026-05-17T14:04:43.074" v="27" actId="113"/>
          <ac:spMkLst>
            <pc:docMk/>
            <pc:sldMk cId="2025770457" sldId="273"/>
            <ac:spMk id="2" creationId="{68CCCEA0-DD26-1D60-0A99-6BDCA39CBE95}"/>
          </ac:spMkLst>
        </pc:spChg>
        <pc:spChg chg="mod">
          <ac:chgData name="Shrikrishna Narvekar" userId="f4bc5d624d5605f5" providerId="LiveId" clId="{E501AC10-1211-415A-BBFC-3F4A7702021C}" dt="2026-05-17T14:09:06.987" v="37" actId="207"/>
          <ac:spMkLst>
            <pc:docMk/>
            <pc:sldMk cId="2025770457" sldId="273"/>
            <ac:spMk id="3" creationId="{AFADB7E9-7AFE-8129-FB2E-B8356B5BE08B}"/>
          </ac:spMkLst>
        </pc:spChg>
      </pc:sldChg>
      <pc:sldChg chg="modSp new mod">
        <pc:chgData name="Shrikrishna Narvekar" userId="f4bc5d624d5605f5" providerId="LiveId" clId="{E501AC10-1211-415A-BBFC-3F4A7702021C}" dt="2026-05-17T14:10:00.267" v="50" actId="207"/>
        <pc:sldMkLst>
          <pc:docMk/>
          <pc:sldMk cId="828767316" sldId="274"/>
        </pc:sldMkLst>
        <pc:spChg chg="mod">
          <ac:chgData name="Shrikrishna Narvekar" userId="f4bc5d624d5605f5" providerId="LiveId" clId="{E501AC10-1211-415A-BBFC-3F4A7702021C}" dt="2026-05-17T14:09:30.288" v="43" actId="2711"/>
          <ac:spMkLst>
            <pc:docMk/>
            <pc:sldMk cId="828767316" sldId="274"/>
            <ac:spMk id="2" creationId="{70FACDEB-AB92-5269-0FF5-08191824B06E}"/>
          </ac:spMkLst>
        </pc:spChg>
        <pc:spChg chg="mod">
          <ac:chgData name="Shrikrishna Narvekar" userId="f4bc5d624d5605f5" providerId="LiveId" clId="{E501AC10-1211-415A-BBFC-3F4A7702021C}" dt="2026-05-17T14:10:00.267" v="50" actId="207"/>
          <ac:spMkLst>
            <pc:docMk/>
            <pc:sldMk cId="828767316" sldId="274"/>
            <ac:spMk id="3" creationId="{A13EE15F-C24F-C81F-1DFD-5D2BD98C5F74}"/>
          </ac:spMkLst>
        </pc:spChg>
      </pc:sldChg>
      <pc:sldChg chg="delSp modSp new mod">
        <pc:chgData name="Shrikrishna Narvekar" userId="f4bc5d624d5605f5" providerId="LiveId" clId="{E501AC10-1211-415A-BBFC-3F4A7702021C}" dt="2026-05-17T14:10:22.173" v="56" actId="123"/>
        <pc:sldMkLst>
          <pc:docMk/>
          <pc:sldMk cId="2629921717" sldId="275"/>
        </pc:sldMkLst>
        <pc:spChg chg="del">
          <ac:chgData name="Shrikrishna Narvekar" userId="f4bc5d624d5605f5" providerId="LiveId" clId="{E501AC10-1211-415A-BBFC-3F4A7702021C}" dt="2026-05-17T14:10:16.892" v="53" actId="21"/>
          <ac:spMkLst>
            <pc:docMk/>
            <pc:sldMk cId="2629921717" sldId="275"/>
            <ac:spMk id="2" creationId="{7C762CC2-AEBC-D1A8-F916-5787E4BF07C2}"/>
          </ac:spMkLst>
        </pc:spChg>
        <pc:spChg chg="mod">
          <ac:chgData name="Shrikrishna Narvekar" userId="f4bc5d624d5605f5" providerId="LiveId" clId="{E501AC10-1211-415A-BBFC-3F4A7702021C}" dt="2026-05-17T14:10:22.173" v="56" actId="123"/>
          <ac:spMkLst>
            <pc:docMk/>
            <pc:sldMk cId="2629921717" sldId="275"/>
            <ac:spMk id="3" creationId="{EB6C3E78-0ACF-041A-FD7A-505E7E3AA1D5}"/>
          </ac:spMkLst>
        </pc:spChg>
      </pc:sldChg>
      <pc:sldChg chg="addSp delSp modSp new mod">
        <pc:chgData name="Shrikrishna Narvekar" userId="f4bc5d624d5605f5" providerId="LiveId" clId="{E501AC10-1211-415A-BBFC-3F4A7702021C}" dt="2026-05-17T14:14:28.683" v="115" actId="207"/>
        <pc:sldMkLst>
          <pc:docMk/>
          <pc:sldMk cId="3227605575" sldId="276"/>
        </pc:sldMkLst>
        <pc:spChg chg="del mod">
          <ac:chgData name="Shrikrishna Narvekar" userId="f4bc5d624d5605f5" providerId="LiveId" clId="{E501AC10-1211-415A-BBFC-3F4A7702021C}" dt="2026-05-17T14:11:05.185" v="70" actId="21"/>
          <ac:spMkLst>
            <pc:docMk/>
            <pc:sldMk cId="3227605575" sldId="276"/>
            <ac:spMk id="2" creationId="{4675F9E0-FE76-16F5-1958-885EE296D758}"/>
          </ac:spMkLst>
        </pc:spChg>
        <pc:spChg chg="mod">
          <ac:chgData name="Shrikrishna Narvekar" userId="f4bc5d624d5605f5" providerId="LiveId" clId="{E501AC10-1211-415A-BBFC-3F4A7702021C}" dt="2026-05-17T14:14:28.683" v="115" actId="207"/>
          <ac:spMkLst>
            <pc:docMk/>
            <pc:sldMk cId="3227605575" sldId="276"/>
            <ac:spMk id="3" creationId="{83301435-9FA2-7D5C-C6BE-00A017299D53}"/>
          </ac:spMkLst>
        </pc:spChg>
        <pc:picChg chg="add mod">
          <ac:chgData name="Shrikrishna Narvekar" userId="f4bc5d624d5605f5" providerId="LiveId" clId="{E501AC10-1211-415A-BBFC-3F4A7702021C}" dt="2026-05-17T14:13:07.921" v="98" actId="1076"/>
          <ac:picMkLst>
            <pc:docMk/>
            <pc:sldMk cId="3227605575" sldId="276"/>
            <ac:picMk id="3074" creationId="{C0B21C9E-0430-1051-0351-20A42182C7C3}"/>
          </ac:picMkLst>
        </pc:picChg>
      </pc:sldChg>
      <pc:sldChg chg="addSp delSp modSp new mod">
        <pc:chgData name="Shrikrishna Narvekar" userId="f4bc5d624d5605f5" providerId="LiveId" clId="{E501AC10-1211-415A-BBFC-3F4A7702021C}" dt="2026-05-17T14:15:27.480" v="139" actId="1076"/>
        <pc:sldMkLst>
          <pc:docMk/>
          <pc:sldMk cId="1863805293" sldId="277"/>
        </pc:sldMkLst>
        <pc:spChg chg="del">
          <ac:chgData name="Shrikrishna Narvekar" userId="f4bc5d624d5605f5" providerId="LiveId" clId="{E501AC10-1211-415A-BBFC-3F4A7702021C}" dt="2026-05-17T14:15:02.154" v="122" actId="21"/>
          <ac:spMkLst>
            <pc:docMk/>
            <pc:sldMk cId="1863805293" sldId="277"/>
            <ac:spMk id="2" creationId="{F820ABAF-5D92-AE14-079E-22DE018E79E4}"/>
          </ac:spMkLst>
        </pc:spChg>
        <pc:spChg chg="del">
          <ac:chgData name="Shrikrishna Narvekar" userId="f4bc5d624d5605f5" providerId="LiveId" clId="{E501AC10-1211-415A-BBFC-3F4A7702021C}" dt="2026-05-17T14:14:59.998" v="121" actId="21"/>
          <ac:spMkLst>
            <pc:docMk/>
            <pc:sldMk cId="1863805293" sldId="277"/>
            <ac:spMk id="3" creationId="{CDAAB654-54D4-B9B2-9972-D564AE0DCCF1}"/>
          </ac:spMkLst>
        </pc:spChg>
        <pc:picChg chg="add">
          <ac:chgData name="Shrikrishna Narvekar" userId="f4bc5d624d5605f5" providerId="LiveId" clId="{E501AC10-1211-415A-BBFC-3F4A7702021C}" dt="2026-05-17T14:14:49.249" v="117"/>
          <ac:picMkLst>
            <pc:docMk/>
            <pc:sldMk cId="1863805293" sldId="277"/>
            <ac:picMk id="4098" creationId="{AB0AA325-1EE2-ED2E-66AE-A721F0496EC5}"/>
          </ac:picMkLst>
        </pc:picChg>
        <pc:picChg chg="add">
          <ac:chgData name="Shrikrishna Narvekar" userId="f4bc5d624d5605f5" providerId="LiveId" clId="{E501AC10-1211-415A-BBFC-3F4A7702021C}" dt="2026-05-17T14:14:49.249" v="117"/>
          <ac:picMkLst>
            <pc:docMk/>
            <pc:sldMk cId="1863805293" sldId="277"/>
            <ac:picMk id="4099" creationId="{4858E42A-489E-9378-6AFC-282F36BE0BDD}"/>
          </ac:picMkLst>
        </pc:picChg>
        <pc:picChg chg="add mod">
          <ac:chgData name="Shrikrishna Narvekar" userId="f4bc5d624d5605f5" providerId="LiveId" clId="{E501AC10-1211-415A-BBFC-3F4A7702021C}" dt="2026-05-17T14:15:21.653" v="136" actId="1076"/>
          <ac:picMkLst>
            <pc:docMk/>
            <pc:sldMk cId="1863805293" sldId="277"/>
            <ac:picMk id="4101" creationId="{E3E1CC06-63CF-D0E0-0F5E-B42D23FCF3DE}"/>
          </ac:picMkLst>
        </pc:picChg>
        <pc:picChg chg="add mod">
          <ac:chgData name="Shrikrishna Narvekar" userId="f4bc5d624d5605f5" providerId="LiveId" clId="{E501AC10-1211-415A-BBFC-3F4A7702021C}" dt="2026-05-17T14:15:27.480" v="139" actId="1076"/>
          <ac:picMkLst>
            <pc:docMk/>
            <pc:sldMk cId="1863805293" sldId="277"/>
            <ac:picMk id="4102" creationId="{D56E8D51-8CE6-6B22-0555-B67409E42003}"/>
          </ac:picMkLst>
        </pc:picChg>
      </pc:sldChg>
      <pc:sldChg chg="delSp modSp new mod">
        <pc:chgData name="Shrikrishna Narvekar" userId="f4bc5d624d5605f5" providerId="LiveId" clId="{E501AC10-1211-415A-BBFC-3F4A7702021C}" dt="2026-05-17T14:17:27.160" v="153" actId="207"/>
        <pc:sldMkLst>
          <pc:docMk/>
          <pc:sldMk cId="2809731670" sldId="278"/>
        </pc:sldMkLst>
        <pc:spChg chg="del">
          <ac:chgData name="Shrikrishna Narvekar" userId="f4bc5d624d5605f5" providerId="LiveId" clId="{E501AC10-1211-415A-BBFC-3F4A7702021C}" dt="2026-05-17T14:16:04.560" v="142" actId="21"/>
          <ac:spMkLst>
            <pc:docMk/>
            <pc:sldMk cId="2809731670" sldId="278"/>
            <ac:spMk id="2" creationId="{CEA6E26B-6949-FE90-50E1-80CEBF6DE73D}"/>
          </ac:spMkLst>
        </pc:spChg>
        <pc:spChg chg="mod">
          <ac:chgData name="Shrikrishna Narvekar" userId="f4bc5d624d5605f5" providerId="LiveId" clId="{E501AC10-1211-415A-BBFC-3F4A7702021C}" dt="2026-05-17T14:17:27.160" v="153" actId="207"/>
          <ac:spMkLst>
            <pc:docMk/>
            <pc:sldMk cId="2809731670" sldId="278"/>
            <ac:spMk id="3" creationId="{C0F0198D-5D71-75E5-8911-B01950887800}"/>
          </ac:spMkLst>
        </pc:spChg>
      </pc:sldChg>
      <pc:sldChg chg="addSp delSp modSp new mod">
        <pc:chgData name="Shrikrishna Narvekar" userId="f4bc5d624d5605f5" providerId="LiveId" clId="{E501AC10-1211-415A-BBFC-3F4A7702021C}" dt="2026-05-17T14:23:14.019" v="199" actId="207"/>
        <pc:sldMkLst>
          <pc:docMk/>
          <pc:sldMk cId="3119603108" sldId="279"/>
        </pc:sldMkLst>
        <pc:spChg chg="del">
          <ac:chgData name="Shrikrishna Narvekar" userId="f4bc5d624d5605f5" providerId="LiveId" clId="{E501AC10-1211-415A-BBFC-3F4A7702021C}" dt="2026-05-17T14:20:51.822" v="156" actId="21"/>
          <ac:spMkLst>
            <pc:docMk/>
            <pc:sldMk cId="3119603108" sldId="279"/>
            <ac:spMk id="2" creationId="{55E62DAA-1E0D-FF6B-D5C7-22EB1C052B9C}"/>
          </ac:spMkLst>
        </pc:spChg>
        <pc:spChg chg="del">
          <ac:chgData name="Shrikrishna Narvekar" userId="f4bc5d624d5605f5" providerId="LiveId" clId="{E501AC10-1211-415A-BBFC-3F4A7702021C}" dt="2026-05-17T14:20:49.509" v="155"/>
          <ac:spMkLst>
            <pc:docMk/>
            <pc:sldMk cId="3119603108" sldId="279"/>
            <ac:spMk id="3" creationId="{F23F1F5B-5257-9150-904E-A3C71803A316}"/>
          </ac:spMkLst>
        </pc:spChg>
        <pc:spChg chg="add mod">
          <ac:chgData name="Shrikrishna Narvekar" userId="f4bc5d624d5605f5" providerId="LiveId" clId="{E501AC10-1211-415A-BBFC-3F4A7702021C}" dt="2026-05-17T14:22:40.896" v="190" actId="1076"/>
          <ac:spMkLst>
            <pc:docMk/>
            <pc:sldMk cId="3119603108" sldId="279"/>
            <ac:spMk id="4" creationId="{3FFF066C-08FF-3B8E-174F-D44879719CEF}"/>
          </ac:spMkLst>
        </pc:spChg>
        <pc:spChg chg="add mod">
          <ac:chgData name="Shrikrishna Narvekar" userId="f4bc5d624d5605f5" providerId="LiveId" clId="{E501AC10-1211-415A-BBFC-3F4A7702021C}" dt="2026-05-17T14:23:14.019" v="199" actId="207"/>
          <ac:spMkLst>
            <pc:docMk/>
            <pc:sldMk cId="3119603108" sldId="279"/>
            <ac:spMk id="5" creationId="{D4251160-10B6-F95C-F0B3-BA32AA90876B}"/>
          </ac:spMkLst>
        </pc:spChg>
        <pc:picChg chg="add mod">
          <ac:chgData name="Shrikrishna Narvekar" userId="f4bc5d624d5605f5" providerId="LiveId" clId="{E501AC10-1211-415A-BBFC-3F4A7702021C}" dt="2026-05-17T14:21:03.009" v="158" actId="1076"/>
          <ac:picMkLst>
            <pc:docMk/>
            <pc:sldMk cId="3119603108" sldId="279"/>
            <ac:picMk id="5122" creationId="{AE03B5B7-19C3-9350-1A90-B4A8092978F6}"/>
          </ac:picMkLst>
        </pc:picChg>
        <pc:picChg chg="add mod">
          <ac:chgData name="Shrikrishna Narvekar" userId="f4bc5d624d5605f5" providerId="LiveId" clId="{E501AC10-1211-415A-BBFC-3F4A7702021C}" dt="2026-05-17T14:22:35.553" v="189" actId="1076"/>
          <ac:picMkLst>
            <pc:docMk/>
            <pc:sldMk cId="3119603108" sldId="279"/>
            <ac:picMk id="5124" creationId="{49F23A74-82D8-5EEC-4E21-AB215D29C012}"/>
          </ac:picMkLst>
        </pc:picChg>
      </pc:sldChg>
      <pc:sldChg chg="delSp modSp new mod">
        <pc:chgData name="Shrikrishna Narvekar" userId="f4bc5d624d5605f5" providerId="LiveId" clId="{E501AC10-1211-415A-BBFC-3F4A7702021C}" dt="2026-05-17T14:24:35.421" v="214" actId="255"/>
        <pc:sldMkLst>
          <pc:docMk/>
          <pc:sldMk cId="2222499400" sldId="280"/>
        </pc:sldMkLst>
        <pc:spChg chg="del">
          <ac:chgData name="Shrikrishna Narvekar" userId="f4bc5d624d5605f5" providerId="LiveId" clId="{E501AC10-1211-415A-BBFC-3F4A7702021C}" dt="2026-05-17T14:23:43.922" v="201" actId="21"/>
          <ac:spMkLst>
            <pc:docMk/>
            <pc:sldMk cId="2222499400" sldId="280"/>
            <ac:spMk id="2" creationId="{08561755-11A0-3FC7-9FF0-004174FD5F07}"/>
          </ac:spMkLst>
        </pc:spChg>
        <pc:spChg chg="mod">
          <ac:chgData name="Shrikrishna Narvekar" userId="f4bc5d624d5605f5" providerId="LiveId" clId="{E501AC10-1211-415A-BBFC-3F4A7702021C}" dt="2026-05-17T14:24:35.421" v="214" actId="255"/>
          <ac:spMkLst>
            <pc:docMk/>
            <pc:sldMk cId="2222499400" sldId="280"/>
            <ac:spMk id="3" creationId="{DCABC27C-9327-9BE7-AB8A-161A6EE982F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13D48-1B3E-4D43-AFFF-9B5B4994FE50}" type="datetimeFigureOut">
              <a:rPr lang="en-IN" smtClean="0"/>
              <a:t>20-05-2026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B17EBF-0A60-48B9-AF13-6483C3BC7755}" type="slidenum">
              <a:rPr lang="en-IN" smtClean="0"/>
              <a:t>‹#›</a:t>
            </a:fld>
            <a:endParaRPr lang="en-IN"/>
          </a:p>
        </p:txBody>
      </p:sp>
    </p:spTree>
    <p:extLst>
      <p:ext uri="{BB962C8B-B14F-4D97-AF65-F5344CB8AC3E}">
        <p14:creationId xmlns:p14="http://schemas.microsoft.com/office/powerpoint/2010/main" val="4046679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B17EBF-0A60-48B9-AF13-6483C3BC7755}" type="slidenum">
              <a:rPr lang="en-IN" smtClean="0"/>
              <a:t>5</a:t>
            </a:fld>
            <a:endParaRPr lang="en-IN"/>
          </a:p>
        </p:txBody>
      </p:sp>
    </p:spTree>
    <p:extLst>
      <p:ext uri="{BB962C8B-B14F-4D97-AF65-F5344CB8AC3E}">
        <p14:creationId xmlns:p14="http://schemas.microsoft.com/office/powerpoint/2010/main" val="36742981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2780D01-9102-411E-9768-31EAAA5286A4}" type="datetimeFigureOut">
              <a:rPr lang="en-IN" smtClean="0"/>
              <a:t>20-05-2026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BA3C82CE-5864-48EF-AF79-DCFC80BE8100}"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9303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80D01-9102-411E-9768-31EAAA5286A4}"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C82CE-5864-48EF-AF79-DCFC80BE8100}" type="slidenum">
              <a:rPr lang="en-IN" smtClean="0"/>
              <a:t>‹#›</a:t>
            </a:fld>
            <a:endParaRPr lang="en-IN"/>
          </a:p>
        </p:txBody>
      </p:sp>
    </p:spTree>
    <p:extLst>
      <p:ext uri="{BB962C8B-B14F-4D97-AF65-F5344CB8AC3E}">
        <p14:creationId xmlns:p14="http://schemas.microsoft.com/office/powerpoint/2010/main" val="2406237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80D01-9102-411E-9768-31EAAA5286A4}"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C82CE-5864-48EF-AF79-DCFC80BE8100}"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6940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780D01-9102-411E-9768-31EAAA5286A4}"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3C82CE-5864-48EF-AF79-DCFC80BE8100}" type="slidenum">
              <a:rPr lang="en-IN" smtClean="0"/>
              <a:t>‹#›</a:t>
            </a:fld>
            <a:endParaRPr lang="en-IN"/>
          </a:p>
        </p:txBody>
      </p:sp>
    </p:spTree>
    <p:extLst>
      <p:ext uri="{BB962C8B-B14F-4D97-AF65-F5344CB8AC3E}">
        <p14:creationId xmlns:p14="http://schemas.microsoft.com/office/powerpoint/2010/main" val="3360284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780D01-9102-411E-9768-31EAAA5286A4}" type="datetimeFigureOut">
              <a:rPr lang="en-IN" smtClean="0"/>
              <a:t>20-05-2026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A3C82CE-5864-48EF-AF79-DCFC80BE8100}"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3825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780D01-9102-411E-9768-31EAAA5286A4}" type="datetimeFigureOut">
              <a:rPr lang="en-IN" smtClean="0"/>
              <a:t>20-05-2026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A3C82CE-5864-48EF-AF79-DCFC80BE810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9460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80D01-9102-411E-9768-31EAAA5286A4}" type="datetimeFigureOut">
              <a:rPr lang="en-IN" smtClean="0"/>
              <a:t>20-05-2026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A3C82CE-5864-48EF-AF79-DCFC80BE8100}" type="slidenum">
              <a:rPr lang="en-IN" smtClean="0"/>
              <a:t>‹#›</a:t>
            </a:fld>
            <a:endParaRPr lang="en-IN"/>
          </a:p>
        </p:txBody>
      </p:sp>
    </p:spTree>
    <p:extLst>
      <p:ext uri="{BB962C8B-B14F-4D97-AF65-F5344CB8AC3E}">
        <p14:creationId xmlns:p14="http://schemas.microsoft.com/office/powerpoint/2010/main" val="2528387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780D01-9102-411E-9768-31EAAA5286A4}"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3C82CE-5864-48EF-AF79-DCFC80BE8100}"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1481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780D01-9102-411E-9768-31EAAA5286A4}"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3C82CE-5864-48EF-AF79-DCFC80BE8100}" type="slidenum">
              <a:rPr lang="en-IN" smtClean="0"/>
              <a:t>‹#›</a:t>
            </a:fld>
            <a:endParaRPr lang="en-IN"/>
          </a:p>
        </p:txBody>
      </p:sp>
    </p:spTree>
    <p:extLst>
      <p:ext uri="{BB962C8B-B14F-4D97-AF65-F5344CB8AC3E}">
        <p14:creationId xmlns:p14="http://schemas.microsoft.com/office/powerpoint/2010/main" val="2101402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780D01-9102-411E-9768-31EAAA5286A4}"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A3C82CE-5864-48EF-AF79-DCFC80BE8100}" type="slidenum">
              <a:rPr lang="en-IN" smtClean="0"/>
              <a:t>‹#›</a:t>
            </a:fld>
            <a:endParaRPr lang="en-IN"/>
          </a:p>
        </p:txBody>
      </p:sp>
    </p:spTree>
    <p:extLst>
      <p:ext uri="{BB962C8B-B14F-4D97-AF65-F5344CB8AC3E}">
        <p14:creationId xmlns:p14="http://schemas.microsoft.com/office/powerpoint/2010/main" val="3817617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80D01-9102-411E-9768-31EAAA5286A4}"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C82CE-5864-48EF-AF79-DCFC80BE8100}"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9061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80D01-9102-411E-9768-31EAAA5286A4}"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C82CE-5864-48EF-AF79-DCFC80BE8100}"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4105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80D01-9102-411E-9768-31EAAA5286A4}"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C82CE-5864-48EF-AF79-DCFC80BE8100}" type="slidenum">
              <a:rPr lang="en-IN" smtClean="0"/>
              <a:t>‹#›</a:t>
            </a:fld>
            <a:endParaRPr lang="en-IN"/>
          </a:p>
        </p:txBody>
      </p:sp>
    </p:spTree>
    <p:extLst>
      <p:ext uri="{BB962C8B-B14F-4D97-AF65-F5344CB8AC3E}">
        <p14:creationId xmlns:p14="http://schemas.microsoft.com/office/powerpoint/2010/main" val="1259748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80D01-9102-411E-9768-31EAAA5286A4}"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C82CE-5864-48EF-AF79-DCFC80BE8100}"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34733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780D01-9102-411E-9768-31EAAA5286A4}"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C82CE-5864-48EF-AF79-DCFC80BE8100}"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73520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80D01-9102-411E-9768-31EAAA5286A4}"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C82CE-5864-48EF-AF79-DCFC80BE8100}"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76414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780D01-9102-411E-9768-31EAAA5286A4}"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A3C82CE-5864-48EF-AF79-DCFC80BE8100}"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7541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780D01-9102-411E-9768-31EAAA5286A4}" type="datetimeFigureOut">
              <a:rPr lang="en-IN" smtClean="0"/>
              <a:t>20-05-2026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A3C82CE-5864-48EF-AF79-DCFC80BE8100}" type="slidenum">
              <a:rPr lang="en-IN" smtClean="0"/>
              <a:t>‹#›</a:t>
            </a:fld>
            <a:endParaRPr lang="en-IN"/>
          </a:p>
        </p:txBody>
      </p:sp>
    </p:spTree>
    <p:extLst>
      <p:ext uri="{BB962C8B-B14F-4D97-AF65-F5344CB8AC3E}">
        <p14:creationId xmlns:p14="http://schemas.microsoft.com/office/powerpoint/2010/main" val="26967364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geeksforgeeks.org/machine-learning/decision-tre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946B-13F7-59F0-A303-CAC594CDAFD4}"/>
              </a:ext>
            </a:extLst>
          </p:cNvPr>
          <p:cNvSpPr>
            <a:spLocks noGrp="1"/>
          </p:cNvSpPr>
          <p:nvPr>
            <p:ph type="ctrTitle"/>
          </p:nvPr>
        </p:nvSpPr>
        <p:spPr>
          <a:xfrm>
            <a:off x="2692398" y="1871131"/>
            <a:ext cx="7262763" cy="1515533"/>
          </a:xfrm>
        </p:spPr>
        <p:txBody>
          <a:bodyPr/>
          <a:lstStyle/>
          <a:p>
            <a:r>
              <a:rPr lang="en-US" sz="4400" b="1" dirty="0">
                <a:latin typeface="Times New Roman" panose="02020603050405020304" pitchFamily="18" charset="0"/>
                <a:cs typeface="Times New Roman" panose="02020603050405020304" pitchFamily="18" charset="0"/>
              </a:rPr>
              <a:t>Decision tree remaining part followed by Random Forest </a:t>
            </a: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A2F1929-9504-FCC7-782C-62EA2A65216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75181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8AC51-F4F6-8DFF-1FFE-18463B58CB3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Overfitting in decision tree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A5AD19-8F66-89DE-D333-526B76BF6478}"/>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Overfitting in decision trees occurs when the model </a:t>
            </a:r>
            <a:r>
              <a:rPr lang="en-IN" b="1" dirty="0">
                <a:solidFill>
                  <a:schemeClr val="tx1"/>
                </a:solidFill>
                <a:latin typeface="Times New Roman" panose="02020603050405020304" pitchFamily="18" charset="0"/>
                <a:cs typeface="Times New Roman" panose="02020603050405020304" pitchFamily="18" charset="0"/>
              </a:rPr>
              <a:t>fits the training data too perfectly</a:t>
            </a:r>
            <a:r>
              <a:rPr lang="en-IN" dirty="0">
                <a:solidFill>
                  <a:schemeClr val="tx1"/>
                </a:solidFill>
                <a:latin typeface="Times New Roman" panose="02020603050405020304" pitchFamily="18" charset="0"/>
                <a:cs typeface="Times New Roman" panose="02020603050405020304" pitchFamily="18" charset="0"/>
              </a:rPr>
              <a:t>, including noise and random patterns, and therefore </a:t>
            </a:r>
            <a:r>
              <a:rPr lang="en-IN" b="1" dirty="0">
                <a:solidFill>
                  <a:schemeClr val="tx1"/>
                </a:solidFill>
                <a:latin typeface="Times New Roman" panose="02020603050405020304" pitchFamily="18" charset="0"/>
                <a:cs typeface="Times New Roman" panose="02020603050405020304" pitchFamily="18" charset="0"/>
              </a:rPr>
              <a:t>does not perform well on new (unseen) data</a:t>
            </a:r>
            <a:r>
              <a:rPr lang="en-IN" dirty="0">
                <a:solidFill>
                  <a:schemeClr val="tx1"/>
                </a:solidFill>
                <a:latin typeface="Times New Roman" panose="02020603050405020304" pitchFamily="18" charset="0"/>
                <a:cs typeface="Times New Roman" panose="02020603050405020304" pitchFamily="18" charset="0"/>
              </a:rPr>
              <a:t>.</a:t>
            </a:r>
          </a:p>
          <a:p>
            <a:r>
              <a:rPr lang="en-IN" dirty="0">
                <a:solidFill>
                  <a:schemeClr val="tx1"/>
                </a:solidFill>
                <a:latin typeface="Times New Roman" panose="02020603050405020304" pitchFamily="18" charset="0"/>
                <a:cs typeface="Times New Roman" panose="02020603050405020304" pitchFamily="18" charset="0"/>
              </a:rPr>
              <a:t>A fully grown decision tree continues splitting nodes until all leaf nodes become pure, which minimizes training error. </a:t>
            </a:r>
          </a:p>
          <a:p>
            <a:r>
              <a:rPr lang="en-IN" dirty="0">
                <a:solidFill>
                  <a:schemeClr val="tx1"/>
                </a:solidFill>
                <a:latin typeface="Times New Roman" panose="02020603050405020304" pitchFamily="18" charset="0"/>
                <a:cs typeface="Times New Roman" panose="02020603050405020304" pitchFamily="18" charset="0"/>
              </a:rPr>
              <a:t>However, such a tree may capture </a:t>
            </a:r>
            <a:r>
              <a:rPr lang="en-IN" b="1" dirty="0">
                <a:solidFill>
                  <a:schemeClr val="tx1"/>
                </a:solidFill>
                <a:latin typeface="Times New Roman" panose="02020603050405020304" pitchFamily="18" charset="0"/>
                <a:cs typeface="Times New Roman" panose="02020603050405020304" pitchFamily="18" charset="0"/>
              </a:rPr>
              <a:t>coincidental regularities</a:t>
            </a:r>
            <a:r>
              <a:rPr lang="en-IN" dirty="0">
                <a:solidFill>
                  <a:schemeClr val="tx1"/>
                </a:solidFill>
                <a:latin typeface="Times New Roman" panose="02020603050405020304" pitchFamily="18" charset="0"/>
                <a:cs typeface="Times New Roman" panose="02020603050405020304" pitchFamily="18" charset="0"/>
              </a:rPr>
              <a:t> or patterns that are not actually related to the target function.</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457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AE47B2-C8F7-63FF-A5F1-D1B89C52EF88}"/>
              </a:ext>
            </a:extLst>
          </p:cNvPr>
          <p:cNvSpPr>
            <a:spLocks noGrp="1"/>
          </p:cNvSpPr>
          <p:nvPr>
            <p:ph idx="1"/>
          </p:nvPr>
        </p:nvSpPr>
        <p:spPr>
          <a:xfrm>
            <a:off x="693174" y="796413"/>
            <a:ext cx="10515600" cy="5079455"/>
          </a:xfrm>
        </p:spPr>
        <p:txBody>
          <a:bodyPr>
            <a:normAutofit/>
          </a:bodyPr>
          <a:lstStyle/>
          <a:p>
            <a:r>
              <a:rPr lang="en-IN" dirty="0">
                <a:solidFill>
                  <a:schemeClr val="tx1"/>
                </a:solidFill>
                <a:latin typeface="Times New Roman" panose="02020603050405020304" pitchFamily="18" charset="0"/>
                <a:cs typeface="Times New Roman" panose="02020603050405020304" pitchFamily="18" charset="0"/>
              </a:rPr>
              <a:t>Overfitting can happen due to:</a:t>
            </a:r>
          </a:p>
          <a:p>
            <a:pPr lvl="0"/>
            <a:r>
              <a:rPr lang="en-IN" dirty="0">
                <a:solidFill>
                  <a:schemeClr val="tx1"/>
                </a:solidFill>
                <a:latin typeface="Times New Roman" panose="02020603050405020304" pitchFamily="18" charset="0"/>
                <a:cs typeface="Times New Roman" panose="02020603050405020304" pitchFamily="18" charset="0"/>
              </a:rPr>
              <a:t>Presence of </a:t>
            </a:r>
            <a:r>
              <a:rPr lang="en-IN" b="1" dirty="0">
                <a:solidFill>
                  <a:schemeClr val="tx1"/>
                </a:solidFill>
                <a:latin typeface="Times New Roman" panose="02020603050405020304" pitchFamily="18" charset="0"/>
                <a:cs typeface="Times New Roman" panose="02020603050405020304" pitchFamily="18" charset="0"/>
              </a:rPr>
              <a:t>noise in the data</a:t>
            </a:r>
            <a:r>
              <a:rPr lang="en-IN" dirty="0">
                <a:solidFill>
                  <a:schemeClr val="tx1"/>
                </a:solidFill>
                <a:latin typeface="Times New Roman" panose="02020603050405020304" pitchFamily="18" charset="0"/>
                <a:cs typeface="Times New Roman" panose="02020603050405020304" pitchFamily="18" charset="0"/>
              </a:rPr>
              <a:t> (which exists in real-world datasets) </a:t>
            </a:r>
          </a:p>
          <a:p>
            <a:pPr lvl="0"/>
            <a:r>
              <a:rPr lang="en-IN" b="1" dirty="0">
                <a:solidFill>
                  <a:schemeClr val="tx1"/>
                </a:solidFill>
                <a:latin typeface="Times New Roman" panose="02020603050405020304" pitchFamily="18" charset="0"/>
                <a:cs typeface="Times New Roman" panose="02020603050405020304" pitchFamily="18" charset="0"/>
              </a:rPr>
              <a:t>Small number of training samples</a:t>
            </a:r>
            <a:r>
              <a:rPr lang="en-IN" dirty="0">
                <a:solidFill>
                  <a:schemeClr val="tx1"/>
                </a:solidFill>
                <a:latin typeface="Times New Roman" panose="02020603050405020304" pitchFamily="18" charset="0"/>
                <a:cs typeface="Times New Roman" panose="02020603050405020304" pitchFamily="18" charset="0"/>
              </a:rPr>
              <a:t> at leaf nodes </a:t>
            </a:r>
          </a:p>
          <a:p>
            <a:pPr lvl="0"/>
            <a:r>
              <a:rPr lang="en-IN" dirty="0">
                <a:solidFill>
                  <a:schemeClr val="tx1"/>
                </a:solidFill>
                <a:latin typeface="Times New Roman" panose="02020603050405020304" pitchFamily="18" charset="0"/>
                <a:cs typeface="Times New Roman" panose="02020603050405020304" pitchFamily="18" charset="0"/>
              </a:rPr>
              <a:t>Splits based on </a:t>
            </a:r>
            <a:r>
              <a:rPr lang="en-IN" b="1" dirty="0">
                <a:solidFill>
                  <a:schemeClr val="tx1"/>
                </a:solidFill>
                <a:latin typeface="Times New Roman" panose="02020603050405020304" pitchFamily="18" charset="0"/>
                <a:cs typeface="Times New Roman" panose="02020603050405020304" pitchFamily="18" charset="0"/>
              </a:rPr>
              <a:t>irrelevant attributes</a:t>
            </a:r>
            <a:r>
              <a:rPr lang="en-IN" dirty="0">
                <a:solidFill>
                  <a:schemeClr val="tx1"/>
                </a:solidFill>
                <a:latin typeface="Times New Roman" panose="02020603050405020304" pitchFamily="18" charset="0"/>
                <a:cs typeface="Times New Roman" panose="02020603050405020304" pitchFamily="18" charset="0"/>
              </a:rPr>
              <a:t> that accidentally classify data correctly </a:t>
            </a:r>
          </a:p>
          <a:p>
            <a:r>
              <a:rPr lang="en-IN" dirty="0">
                <a:solidFill>
                  <a:schemeClr val="tx1"/>
                </a:solidFill>
                <a:latin typeface="Times New Roman" panose="02020603050405020304" pitchFamily="18" charset="0"/>
                <a:cs typeface="Times New Roman" panose="02020603050405020304" pitchFamily="18" charset="0"/>
              </a:rPr>
              <a:t>A decision tree is said to overfit when a simpler tree, which may not perfectly fit the training data, </a:t>
            </a:r>
            <a:r>
              <a:rPr lang="en-IN" b="1" dirty="0">
                <a:solidFill>
                  <a:schemeClr val="tx1"/>
                </a:solidFill>
                <a:latin typeface="Times New Roman" panose="02020603050405020304" pitchFamily="18" charset="0"/>
                <a:cs typeface="Times New Roman" panose="02020603050405020304" pitchFamily="18" charset="0"/>
              </a:rPr>
              <a:t>performs better on the overall data distribution</a:t>
            </a:r>
            <a:r>
              <a:rPr lang="en-IN" dirty="0">
                <a:solidFill>
                  <a:schemeClr val="tx1"/>
                </a:solidFill>
                <a:latin typeface="Times New Roman" panose="02020603050405020304" pitchFamily="18" charset="0"/>
                <a:cs typeface="Times New Roman" panose="02020603050405020304" pitchFamily="18" charset="0"/>
              </a:rPr>
              <a:t>.</a:t>
            </a:r>
          </a:p>
          <a:p>
            <a:r>
              <a:rPr lang="en-IN" b="1" dirty="0">
                <a:solidFill>
                  <a:schemeClr val="tx1"/>
                </a:solidFill>
                <a:latin typeface="Times New Roman" panose="02020603050405020304" pitchFamily="18" charset="0"/>
                <a:cs typeface="Times New Roman" panose="02020603050405020304" pitchFamily="18" charset="0"/>
              </a:rPr>
              <a:t>How Pruning Helps to Avoid Overfitting</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Pruning is the process of </a:t>
            </a:r>
            <a:r>
              <a:rPr lang="en-IN" b="1" dirty="0">
                <a:solidFill>
                  <a:schemeClr val="tx1"/>
                </a:solidFill>
                <a:latin typeface="Times New Roman" panose="02020603050405020304" pitchFamily="18" charset="0"/>
                <a:cs typeface="Times New Roman" panose="02020603050405020304" pitchFamily="18" charset="0"/>
              </a:rPr>
              <a:t>reducing the size of a decision tree</a:t>
            </a:r>
            <a:r>
              <a:rPr lang="en-IN" dirty="0">
                <a:solidFill>
                  <a:schemeClr val="tx1"/>
                </a:solidFill>
                <a:latin typeface="Times New Roman" panose="02020603050405020304" pitchFamily="18" charset="0"/>
                <a:cs typeface="Times New Roman" panose="02020603050405020304" pitchFamily="18" charset="0"/>
              </a:rPr>
              <a:t> by removing unnecessary branches, thereby improving its performance on new data.</a:t>
            </a:r>
          </a:p>
          <a:p>
            <a:endParaRPr lang="en-IN" dirty="0"/>
          </a:p>
        </p:txBody>
      </p:sp>
    </p:spTree>
    <p:extLst>
      <p:ext uri="{BB962C8B-B14F-4D97-AF65-F5344CB8AC3E}">
        <p14:creationId xmlns:p14="http://schemas.microsoft.com/office/powerpoint/2010/main" val="3692756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F86049-320E-EA16-3769-969ECC6AC3E0}"/>
              </a:ext>
            </a:extLst>
          </p:cNvPr>
          <p:cNvSpPr>
            <a:spLocks noGrp="1"/>
          </p:cNvSpPr>
          <p:nvPr>
            <p:ph idx="1"/>
          </p:nvPr>
        </p:nvSpPr>
        <p:spPr>
          <a:xfrm>
            <a:off x="870154" y="766915"/>
            <a:ext cx="10412361" cy="5353665"/>
          </a:xfrm>
        </p:spPr>
        <p:txBody>
          <a:bodyPr/>
          <a:lstStyle/>
          <a:p>
            <a:r>
              <a:rPr lang="en-US" dirty="0">
                <a:solidFill>
                  <a:schemeClr val="tx1"/>
                </a:solidFill>
                <a:latin typeface="Times New Roman" panose="02020603050405020304" pitchFamily="18" charset="0"/>
                <a:cs typeface="Times New Roman" panose="02020603050405020304" pitchFamily="18" charset="0"/>
              </a:rPr>
              <a:t>There are two main branches </a:t>
            </a:r>
          </a:p>
          <a:p>
            <a:r>
              <a:rPr lang="en-IN" b="1" dirty="0">
                <a:solidFill>
                  <a:schemeClr val="tx1"/>
                </a:solidFill>
                <a:latin typeface="Times New Roman" panose="02020603050405020304" pitchFamily="18" charset="0"/>
                <a:cs typeface="Times New Roman" panose="02020603050405020304" pitchFamily="18" charset="0"/>
              </a:rPr>
              <a:t>1. </a:t>
            </a:r>
            <a:r>
              <a:rPr lang="en-IN" b="1" dirty="0" err="1">
                <a:solidFill>
                  <a:schemeClr val="tx1"/>
                </a:solidFill>
                <a:latin typeface="Times New Roman" panose="02020603050405020304" pitchFamily="18" charset="0"/>
                <a:cs typeface="Times New Roman" panose="02020603050405020304" pitchFamily="18" charset="0"/>
              </a:rPr>
              <a:t>Prepruning</a:t>
            </a:r>
            <a:endParaRPr lang="en-IN" dirty="0">
              <a:solidFill>
                <a:schemeClr val="tx1"/>
              </a:solidFill>
              <a:latin typeface="Times New Roman" panose="02020603050405020304" pitchFamily="18" charset="0"/>
              <a:cs typeface="Times New Roman" panose="02020603050405020304" pitchFamily="18" charset="0"/>
            </a:endParaRPr>
          </a:p>
          <a:p>
            <a:pPr lvl="0"/>
            <a:r>
              <a:rPr lang="en-IN" dirty="0">
                <a:solidFill>
                  <a:schemeClr val="tx1"/>
                </a:solidFill>
                <a:latin typeface="Times New Roman" panose="02020603050405020304" pitchFamily="18" charset="0"/>
                <a:cs typeface="Times New Roman" panose="02020603050405020304" pitchFamily="18" charset="0"/>
              </a:rPr>
              <a:t>Stops the tree from growing </a:t>
            </a:r>
            <a:r>
              <a:rPr lang="en-IN" b="1" dirty="0">
                <a:solidFill>
                  <a:schemeClr val="tx1"/>
                </a:solidFill>
                <a:latin typeface="Times New Roman" panose="02020603050405020304" pitchFamily="18" charset="0"/>
                <a:cs typeface="Times New Roman" panose="02020603050405020304" pitchFamily="18" charset="0"/>
              </a:rPr>
              <a:t>before it perfectly fits the training data</a:t>
            </a:r>
            <a:r>
              <a:rPr lang="en-IN" dirty="0">
                <a:solidFill>
                  <a:schemeClr val="tx1"/>
                </a:solidFill>
                <a:latin typeface="Times New Roman" panose="02020603050405020304" pitchFamily="18" charset="0"/>
                <a:cs typeface="Times New Roman" panose="02020603050405020304" pitchFamily="18" charset="0"/>
              </a:rPr>
              <a:t> </a:t>
            </a:r>
          </a:p>
          <a:p>
            <a:pPr lvl="0"/>
            <a:r>
              <a:rPr lang="en-IN" dirty="0">
                <a:solidFill>
                  <a:schemeClr val="tx1"/>
                </a:solidFill>
                <a:latin typeface="Times New Roman" panose="02020603050405020304" pitchFamily="18" charset="0"/>
                <a:cs typeface="Times New Roman" panose="02020603050405020304" pitchFamily="18" charset="0"/>
              </a:rPr>
              <a:t>Uses conditions such as thresholds on measures like Information Gain, Gain Ratio, or Gini Index </a:t>
            </a:r>
          </a:p>
          <a:p>
            <a:pPr lvl="0"/>
            <a:r>
              <a:rPr lang="en-IN" dirty="0">
                <a:solidFill>
                  <a:schemeClr val="tx1"/>
                </a:solidFill>
                <a:latin typeface="Times New Roman" panose="02020603050405020304" pitchFamily="18" charset="0"/>
                <a:cs typeface="Times New Roman" panose="02020603050405020304" pitchFamily="18" charset="0"/>
              </a:rPr>
              <a:t>However, it is </a:t>
            </a:r>
            <a:r>
              <a:rPr lang="en-IN" b="1" dirty="0">
                <a:solidFill>
                  <a:schemeClr val="tx1"/>
                </a:solidFill>
                <a:latin typeface="Times New Roman" panose="02020603050405020304" pitchFamily="18" charset="0"/>
                <a:cs typeface="Times New Roman" panose="02020603050405020304" pitchFamily="18" charset="0"/>
              </a:rPr>
              <a:t>difficult to determine the correct stopping point</a:t>
            </a:r>
            <a:r>
              <a:rPr lang="en-IN" dirty="0">
                <a:solidFill>
                  <a:schemeClr val="tx1"/>
                </a:solidFill>
                <a:latin typeface="Times New Roman" panose="02020603050405020304" pitchFamily="18" charset="0"/>
                <a:cs typeface="Times New Roman" panose="02020603050405020304" pitchFamily="18" charset="0"/>
              </a:rPr>
              <a:t> </a:t>
            </a:r>
          </a:p>
          <a:p>
            <a:r>
              <a:rPr lang="en-IN" b="1" dirty="0">
                <a:solidFill>
                  <a:schemeClr val="tx1"/>
                </a:solidFill>
                <a:latin typeface="Times New Roman" panose="02020603050405020304" pitchFamily="18" charset="0"/>
                <a:cs typeface="Times New Roman" panose="02020603050405020304" pitchFamily="18" charset="0"/>
              </a:rPr>
              <a:t>2. </a:t>
            </a:r>
            <a:r>
              <a:rPr lang="en-IN" b="1" dirty="0" err="1">
                <a:solidFill>
                  <a:schemeClr val="tx1"/>
                </a:solidFill>
                <a:latin typeface="Times New Roman" panose="02020603050405020304" pitchFamily="18" charset="0"/>
                <a:cs typeface="Times New Roman" panose="02020603050405020304" pitchFamily="18" charset="0"/>
              </a:rPr>
              <a:t>Postpruning</a:t>
            </a:r>
            <a:endParaRPr lang="en-IN" dirty="0">
              <a:solidFill>
                <a:schemeClr val="tx1"/>
              </a:solidFill>
              <a:latin typeface="Times New Roman" panose="02020603050405020304" pitchFamily="18" charset="0"/>
              <a:cs typeface="Times New Roman" panose="02020603050405020304" pitchFamily="18" charset="0"/>
            </a:endParaRPr>
          </a:p>
          <a:p>
            <a:pPr lvl="0"/>
            <a:r>
              <a:rPr lang="en-IN" dirty="0">
                <a:solidFill>
                  <a:schemeClr val="tx1"/>
                </a:solidFill>
                <a:latin typeface="Times New Roman" panose="02020603050405020304" pitchFamily="18" charset="0"/>
                <a:cs typeface="Times New Roman" panose="02020603050405020304" pitchFamily="18" charset="0"/>
              </a:rPr>
              <a:t>First allows the tree to grow fully (even if it overfits) </a:t>
            </a:r>
          </a:p>
          <a:p>
            <a:pPr lvl="0"/>
            <a:r>
              <a:rPr lang="en-IN" dirty="0">
                <a:solidFill>
                  <a:schemeClr val="tx1"/>
                </a:solidFill>
                <a:latin typeface="Times New Roman" panose="02020603050405020304" pitchFamily="18" charset="0"/>
                <a:cs typeface="Times New Roman" panose="02020603050405020304" pitchFamily="18" charset="0"/>
              </a:rPr>
              <a:t>Then </a:t>
            </a:r>
            <a:r>
              <a:rPr lang="en-IN" b="1" dirty="0">
                <a:solidFill>
                  <a:schemeClr val="tx1"/>
                </a:solidFill>
                <a:latin typeface="Times New Roman" panose="02020603050405020304" pitchFamily="18" charset="0"/>
                <a:cs typeface="Times New Roman" panose="02020603050405020304" pitchFamily="18" charset="0"/>
              </a:rPr>
              <a:t>removes branches that add little predictive value</a:t>
            </a:r>
            <a:r>
              <a:rPr lang="en-IN" dirty="0">
                <a:solidFill>
                  <a:schemeClr val="tx1"/>
                </a:solidFill>
                <a:latin typeface="Times New Roman" panose="02020603050405020304" pitchFamily="18" charset="0"/>
                <a:cs typeface="Times New Roman" panose="02020603050405020304" pitchFamily="18" charset="0"/>
              </a:rPr>
              <a:t> </a:t>
            </a:r>
          </a:p>
          <a:p>
            <a:pPr lvl="0"/>
            <a:r>
              <a:rPr lang="en-IN" dirty="0">
                <a:solidFill>
                  <a:schemeClr val="tx1"/>
                </a:solidFill>
                <a:latin typeface="Times New Roman" panose="02020603050405020304" pitchFamily="18" charset="0"/>
                <a:cs typeface="Times New Roman" panose="02020603050405020304" pitchFamily="18" charset="0"/>
              </a:rPr>
              <a:t>More effective than </a:t>
            </a:r>
            <a:r>
              <a:rPr lang="en-IN" dirty="0" err="1">
                <a:solidFill>
                  <a:schemeClr val="tx1"/>
                </a:solidFill>
                <a:latin typeface="Times New Roman" panose="02020603050405020304" pitchFamily="18" charset="0"/>
                <a:cs typeface="Times New Roman" panose="02020603050405020304" pitchFamily="18" charset="0"/>
              </a:rPr>
              <a:t>prepruning</a:t>
            </a:r>
            <a:r>
              <a:rPr lang="en-IN" dirty="0">
                <a:solidFill>
                  <a:schemeClr val="tx1"/>
                </a:solidFill>
                <a:latin typeface="Times New Roman" panose="02020603050405020304" pitchFamily="18" charset="0"/>
                <a:cs typeface="Times New Roman" panose="02020603050405020304" pitchFamily="18" charset="0"/>
              </a:rPr>
              <a:t> in practice</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2240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8DD7BA-5F8C-7E6A-62CD-4F8B38E3FBBC}"/>
              </a:ext>
            </a:extLst>
          </p:cNvPr>
          <p:cNvSpPr>
            <a:spLocks noGrp="1"/>
          </p:cNvSpPr>
          <p:nvPr>
            <p:ph idx="1"/>
          </p:nvPr>
        </p:nvSpPr>
        <p:spPr>
          <a:xfrm>
            <a:off x="707922" y="722671"/>
            <a:ext cx="10633587" cy="5153197"/>
          </a:xfrm>
        </p:spPr>
        <p:txBody>
          <a:bodyPr/>
          <a:lstStyle/>
          <a:p>
            <a:r>
              <a:rPr lang="en-US" dirty="0">
                <a:latin typeface="Times New Roman" panose="02020603050405020304" pitchFamily="18" charset="0"/>
                <a:cs typeface="Times New Roman" panose="02020603050405020304" pitchFamily="18" charset="0"/>
              </a:rPr>
              <a:t>Suppose we want to predict whether a student will </a:t>
            </a:r>
            <a:r>
              <a:rPr lang="en-US" b="1" dirty="0">
                <a:latin typeface="Times New Roman" panose="02020603050405020304" pitchFamily="18" charset="0"/>
                <a:cs typeface="Times New Roman" panose="02020603050405020304" pitchFamily="18" charset="0"/>
              </a:rPr>
              <a:t>Pass</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Fail</a:t>
            </a:r>
            <a:r>
              <a:rPr lang="en-US" dirty="0">
                <a:latin typeface="Times New Roman" panose="02020603050405020304" pitchFamily="18" charset="0"/>
                <a:cs typeface="Times New Roman" panose="02020603050405020304" pitchFamily="18" charset="0"/>
              </a:rPr>
              <a:t> based on study-related factors.</a:t>
            </a:r>
          </a:p>
          <a:p>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552C33B-BB8C-EDB6-AADD-3D19329A0F1D}"/>
              </a:ext>
            </a:extLst>
          </p:cNvPr>
          <p:cNvGraphicFramePr>
            <a:graphicFrameLocks noGrp="1"/>
          </p:cNvGraphicFramePr>
          <p:nvPr>
            <p:extLst>
              <p:ext uri="{D42A27DB-BD31-4B8C-83A1-F6EECF244321}">
                <p14:modId xmlns:p14="http://schemas.microsoft.com/office/powerpoint/2010/main" val="3530104557"/>
              </p:ext>
            </p:extLst>
          </p:nvPr>
        </p:nvGraphicFramePr>
        <p:xfrm>
          <a:off x="779205" y="1342104"/>
          <a:ext cx="10491020" cy="5119274"/>
        </p:xfrm>
        <a:graphic>
          <a:graphicData uri="http://schemas.openxmlformats.org/drawingml/2006/table">
            <a:tbl>
              <a:tblPr/>
              <a:tblGrid>
                <a:gridCol w="2098204">
                  <a:extLst>
                    <a:ext uri="{9D8B030D-6E8A-4147-A177-3AD203B41FA5}">
                      <a16:colId xmlns:a16="http://schemas.microsoft.com/office/drawing/2014/main" val="3424721453"/>
                    </a:ext>
                  </a:extLst>
                </a:gridCol>
                <a:gridCol w="2255030">
                  <a:extLst>
                    <a:ext uri="{9D8B030D-6E8A-4147-A177-3AD203B41FA5}">
                      <a16:colId xmlns:a16="http://schemas.microsoft.com/office/drawing/2014/main" val="3451471473"/>
                    </a:ext>
                  </a:extLst>
                </a:gridCol>
                <a:gridCol w="1666567">
                  <a:extLst>
                    <a:ext uri="{9D8B030D-6E8A-4147-A177-3AD203B41FA5}">
                      <a16:colId xmlns:a16="http://schemas.microsoft.com/office/drawing/2014/main" val="3999389965"/>
                    </a:ext>
                  </a:extLst>
                </a:gridCol>
                <a:gridCol w="3303639">
                  <a:extLst>
                    <a:ext uri="{9D8B030D-6E8A-4147-A177-3AD203B41FA5}">
                      <a16:colId xmlns:a16="http://schemas.microsoft.com/office/drawing/2014/main" val="2885521124"/>
                    </a:ext>
                  </a:extLst>
                </a:gridCol>
                <a:gridCol w="1167580">
                  <a:extLst>
                    <a:ext uri="{9D8B030D-6E8A-4147-A177-3AD203B41FA5}">
                      <a16:colId xmlns:a16="http://schemas.microsoft.com/office/drawing/2014/main" val="4048896369"/>
                    </a:ext>
                  </a:extLst>
                </a:gridCol>
              </a:tblGrid>
              <a:tr h="755734">
                <a:tc>
                  <a:txBody>
                    <a:bodyPr/>
                    <a:lstStyle/>
                    <a:p>
                      <a:pPr>
                        <a:buNone/>
                      </a:pPr>
                      <a:r>
                        <a:rPr lang="en-IN" sz="2400" b="1">
                          <a:latin typeface="Times New Roman" panose="02020603050405020304" pitchFamily="18" charset="0"/>
                          <a:cs typeface="Times New Roman" panose="02020603050405020304" pitchFamily="18" charset="0"/>
                        </a:rPr>
                        <a:t>Student</a:t>
                      </a:r>
                    </a:p>
                  </a:txBody>
                  <a:tcPr marL="70593" marR="70593" marT="35297" marB="35297" anchor="ctr">
                    <a:lnL>
                      <a:noFill/>
                    </a:lnL>
                    <a:lnR>
                      <a:noFill/>
                    </a:lnR>
                    <a:lnT>
                      <a:noFill/>
                    </a:lnT>
                    <a:lnB>
                      <a:noFill/>
                    </a:lnB>
                    <a:noFill/>
                  </a:tcPr>
                </a:tc>
                <a:tc>
                  <a:txBody>
                    <a:bodyPr/>
                    <a:lstStyle/>
                    <a:p>
                      <a:pPr>
                        <a:buNone/>
                      </a:pPr>
                      <a:r>
                        <a:rPr lang="en-IN" sz="2400" b="1">
                          <a:latin typeface="Times New Roman" panose="02020603050405020304" pitchFamily="18" charset="0"/>
                          <a:cs typeface="Times New Roman" panose="02020603050405020304" pitchFamily="18" charset="0"/>
                        </a:rPr>
                        <a:t>Hours_Studied</a:t>
                      </a:r>
                    </a:p>
                  </a:txBody>
                  <a:tcPr marL="70593" marR="70593" marT="35297" marB="35297" anchor="ctr">
                    <a:lnL>
                      <a:noFill/>
                    </a:lnL>
                    <a:lnR>
                      <a:noFill/>
                    </a:lnR>
                    <a:lnT>
                      <a:noFill/>
                    </a:lnT>
                    <a:lnB>
                      <a:noFill/>
                    </a:lnB>
                    <a:noFill/>
                  </a:tcPr>
                </a:tc>
                <a:tc>
                  <a:txBody>
                    <a:bodyPr/>
                    <a:lstStyle/>
                    <a:p>
                      <a:pPr>
                        <a:buNone/>
                      </a:pPr>
                      <a:r>
                        <a:rPr lang="en-IN" sz="2400" b="1">
                          <a:latin typeface="Times New Roman" panose="02020603050405020304" pitchFamily="18" charset="0"/>
                          <a:cs typeface="Times New Roman" panose="02020603050405020304" pitchFamily="18" charset="0"/>
                        </a:rPr>
                        <a:t>Attendance</a:t>
                      </a:r>
                    </a:p>
                  </a:txBody>
                  <a:tcPr marL="70593" marR="70593" marT="35297" marB="35297" anchor="ctr">
                    <a:lnL>
                      <a:noFill/>
                    </a:lnL>
                    <a:lnR>
                      <a:noFill/>
                    </a:lnR>
                    <a:lnT>
                      <a:noFill/>
                    </a:lnT>
                    <a:lnB>
                      <a:noFill/>
                    </a:lnB>
                    <a:noFill/>
                  </a:tcPr>
                </a:tc>
                <a:tc>
                  <a:txBody>
                    <a:bodyPr/>
                    <a:lstStyle/>
                    <a:p>
                      <a:pPr>
                        <a:buNone/>
                      </a:pPr>
                      <a:r>
                        <a:rPr lang="en-IN" sz="2400" b="1">
                          <a:latin typeface="Times New Roman" panose="02020603050405020304" pitchFamily="18" charset="0"/>
                          <a:cs typeface="Times New Roman" panose="02020603050405020304" pitchFamily="18" charset="0"/>
                        </a:rPr>
                        <a:t>Assignment_Submitted</a:t>
                      </a:r>
                    </a:p>
                  </a:txBody>
                  <a:tcPr marL="70593" marR="70593" marT="35297" marB="35297" anchor="ctr">
                    <a:lnL>
                      <a:noFill/>
                    </a:lnL>
                    <a:lnR>
                      <a:noFill/>
                    </a:lnR>
                    <a:lnT>
                      <a:noFill/>
                    </a:lnT>
                    <a:lnB>
                      <a:noFill/>
                    </a:lnB>
                    <a:noFill/>
                  </a:tcPr>
                </a:tc>
                <a:tc>
                  <a:txBody>
                    <a:bodyPr/>
                    <a:lstStyle/>
                    <a:p>
                      <a:pPr>
                        <a:buNone/>
                      </a:pPr>
                      <a:r>
                        <a:rPr lang="en-IN" sz="2400" b="1" dirty="0">
                          <a:latin typeface="Times New Roman" panose="02020603050405020304" pitchFamily="18" charset="0"/>
                          <a:cs typeface="Times New Roman" panose="02020603050405020304" pitchFamily="18" charset="0"/>
                        </a:rPr>
                        <a:t>Result</a:t>
                      </a:r>
                    </a:p>
                  </a:txBody>
                  <a:tcPr marL="70593" marR="70593" marT="35297" marB="35297" anchor="ctr">
                    <a:lnL>
                      <a:noFill/>
                    </a:lnL>
                    <a:lnR>
                      <a:noFill/>
                    </a:lnR>
                    <a:lnT>
                      <a:noFill/>
                    </a:lnT>
                    <a:lnB>
                      <a:noFill/>
                    </a:lnB>
                    <a:noFill/>
                  </a:tcPr>
                </a:tc>
                <a:extLst>
                  <a:ext uri="{0D108BD9-81ED-4DB2-BD59-A6C34878D82A}">
                    <a16:rowId xmlns:a16="http://schemas.microsoft.com/office/drawing/2014/main" val="2583584743"/>
                  </a:ext>
                </a:extLst>
              </a:tr>
              <a:tr h="411123">
                <a:tc>
                  <a:txBody>
                    <a:bodyPr/>
                    <a:lstStyle/>
                    <a:p>
                      <a:pPr>
                        <a:buNone/>
                      </a:pPr>
                      <a:r>
                        <a:rPr lang="en-IN" sz="2400">
                          <a:latin typeface="Times New Roman" panose="02020603050405020304" pitchFamily="18" charset="0"/>
                          <a:cs typeface="Times New Roman" panose="02020603050405020304" pitchFamily="18" charset="0"/>
                        </a:rPr>
                        <a:t>S1</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8</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High</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Yes</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Pass</a:t>
                      </a:r>
                    </a:p>
                  </a:txBody>
                  <a:tcPr marL="70593" marR="70593" marT="35297" marB="35297" anchor="ctr">
                    <a:lnL>
                      <a:noFill/>
                    </a:lnL>
                    <a:lnR>
                      <a:noFill/>
                    </a:lnR>
                    <a:lnT>
                      <a:noFill/>
                    </a:lnT>
                    <a:lnB>
                      <a:noFill/>
                    </a:lnB>
                    <a:noFill/>
                  </a:tcPr>
                </a:tc>
                <a:extLst>
                  <a:ext uri="{0D108BD9-81ED-4DB2-BD59-A6C34878D82A}">
                    <a16:rowId xmlns:a16="http://schemas.microsoft.com/office/drawing/2014/main" val="3053292888"/>
                  </a:ext>
                </a:extLst>
              </a:tr>
              <a:tr h="411123">
                <a:tc>
                  <a:txBody>
                    <a:bodyPr/>
                    <a:lstStyle/>
                    <a:p>
                      <a:pPr>
                        <a:buNone/>
                      </a:pPr>
                      <a:r>
                        <a:rPr lang="en-IN" sz="2400">
                          <a:latin typeface="Times New Roman" panose="02020603050405020304" pitchFamily="18" charset="0"/>
                          <a:cs typeface="Times New Roman" panose="02020603050405020304" pitchFamily="18" charset="0"/>
                        </a:rPr>
                        <a:t>S2</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7</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High</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Yes</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Pass</a:t>
                      </a:r>
                    </a:p>
                  </a:txBody>
                  <a:tcPr marL="70593" marR="70593" marT="35297" marB="35297" anchor="ctr">
                    <a:lnL>
                      <a:noFill/>
                    </a:lnL>
                    <a:lnR>
                      <a:noFill/>
                    </a:lnR>
                    <a:lnT>
                      <a:noFill/>
                    </a:lnT>
                    <a:lnB>
                      <a:noFill/>
                    </a:lnB>
                    <a:noFill/>
                  </a:tcPr>
                </a:tc>
                <a:extLst>
                  <a:ext uri="{0D108BD9-81ED-4DB2-BD59-A6C34878D82A}">
                    <a16:rowId xmlns:a16="http://schemas.microsoft.com/office/drawing/2014/main" val="3295845383"/>
                  </a:ext>
                </a:extLst>
              </a:tr>
              <a:tr h="411123">
                <a:tc>
                  <a:txBody>
                    <a:bodyPr/>
                    <a:lstStyle/>
                    <a:p>
                      <a:pPr>
                        <a:buNone/>
                      </a:pPr>
                      <a:r>
                        <a:rPr lang="en-IN" sz="2400">
                          <a:latin typeface="Times New Roman" panose="02020603050405020304" pitchFamily="18" charset="0"/>
                          <a:cs typeface="Times New Roman" panose="02020603050405020304" pitchFamily="18" charset="0"/>
                        </a:rPr>
                        <a:t>S3</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6</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Medium</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Yes</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Pass</a:t>
                      </a:r>
                    </a:p>
                  </a:txBody>
                  <a:tcPr marL="70593" marR="70593" marT="35297" marB="35297" anchor="ctr">
                    <a:lnL>
                      <a:noFill/>
                    </a:lnL>
                    <a:lnR>
                      <a:noFill/>
                    </a:lnR>
                    <a:lnT>
                      <a:noFill/>
                    </a:lnT>
                    <a:lnB>
                      <a:noFill/>
                    </a:lnB>
                    <a:noFill/>
                  </a:tcPr>
                </a:tc>
                <a:extLst>
                  <a:ext uri="{0D108BD9-81ED-4DB2-BD59-A6C34878D82A}">
                    <a16:rowId xmlns:a16="http://schemas.microsoft.com/office/drawing/2014/main" val="1256088346"/>
                  </a:ext>
                </a:extLst>
              </a:tr>
              <a:tr h="411123">
                <a:tc>
                  <a:txBody>
                    <a:bodyPr/>
                    <a:lstStyle/>
                    <a:p>
                      <a:pPr>
                        <a:buNone/>
                      </a:pPr>
                      <a:r>
                        <a:rPr lang="en-IN" sz="2400">
                          <a:latin typeface="Times New Roman" panose="02020603050405020304" pitchFamily="18" charset="0"/>
                          <a:cs typeface="Times New Roman" panose="02020603050405020304" pitchFamily="18" charset="0"/>
                        </a:rPr>
                        <a:t>S4</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5</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Medium</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No</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Fail</a:t>
                      </a:r>
                    </a:p>
                  </a:txBody>
                  <a:tcPr marL="70593" marR="70593" marT="35297" marB="35297" anchor="ctr">
                    <a:lnL>
                      <a:noFill/>
                    </a:lnL>
                    <a:lnR>
                      <a:noFill/>
                    </a:lnR>
                    <a:lnT>
                      <a:noFill/>
                    </a:lnT>
                    <a:lnB>
                      <a:noFill/>
                    </a:lnB>
                    <a:noFill/>
                  </a:tcPr>
                </a:tc>
                <a:extLst>
                  <a:ext uri="{0D108BD9-81ED-4DB2-BD59-A6C34878D82A}">
                    <a16:rowId xmlns:a16="http://schemas.microsoft.com/office/drawing/2014/main" val="3283152657"/>
                  </a:ext>
                </a:extLst>
              </a:tr>
              <a:tr h="411123">
                <a:tc>
                  <a:txBody>
                    <a:bodyPr/>
                    <a:lstStyle/>
                    <a:p>
                      <a:pPr>
                        <a:buNone/>
                      </a:pPr>
                      <a:r>
                        <a:rPr lang="en-IN" sz="2400">
                          <a:latin typeface="Times New Roman" panose="02020603050405020304" pitchFamily="18" charset="0"/>
                          <a:cs typeface="Times New Roman" panose="02020603050405020304" pitchFamily="18" charset="0"/>
                        </a:rPr>
                        <a:t>S5</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4</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Low</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No</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Fail</a:t>
                      </a:r>
                    </a:p>
                  </a:txBody>
                  <a:tcPr marL="70593" marR="70593" marT="35297" marB="35297" anchor="ctr">
                    <a:lnL>
                      <a:noFill/>
                    </a:lnL>
                    <a:lnR>
                      <a:noFill/>
                    </a:lnR>
                    <a:lnT>
                      <a:noFill/>
                    </a:lnT>
                    <a:lnB>
                      <a:noFill/>
                    </a:lnB>
                    <a:noFill/>
                  </a:tcPr>
                </a:tc>
                <a:extLst>
                  <a:ext uri="{0D108BD9-81ED-4DB2-BD59-A6C34878D82A}">
                    <a16:rowId xmlns:a16="http://schemas.microsoft.com/office/drawing/2014/main" val="2168946724"/>
                  </a:ext>
                </a:extLst>
              </a:tr>
              <a:tr h="411123">
                <a:tc>
                  <a:txBody>
                    <a:bodyPr/>
                    <a:lstStyle/>
                    <a:p>
                      <a:pPr>
                        <a:buNone/>
                      </a:pPr>
                      <a:r>
                        <a:rPr lang="en-IN" sz="2400">
                          <a:latin typeface="Times New Roman" panose="02020603050405020304" pitchFamily="18" charset="0"/>
                          <a:cs typeface="Times New Roman" panose="02020603050405020304" pitchFamily="18" charset="0"/>
                        </a:rPr>
                        <a:t>S6</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3</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Low</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No</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Fail</a:t>
                      </a:r>
                    </a:p>
                  </a:txBody>
                  <a:tcPr marL="70593" marR="70593" marT="35297" marB="35297" anchor="ctr">
                    <a:lnL>
                      <a:noFill/>
                    </a:lnL>
                    <a:lnR>
                      <a:noFill/>
                    </a:lnR>
                    <a:lnT>
                      <a:noFill/>
                    </a:lnT>
                    <a:lnB>
                      <a:noFill/>
                    </a:lnB>
                    <a:noFill/>
                  </a:tcPr>
                </a:tc>
                <a:extLst>
                  <a:ext uri="{0D108BD9-81ED-4DB2-BD59-A6C34878D82A}">
                    <a16:rowId xmlns:a16="http://schemas.microsoft.com/office/drawing/2014/main" val="633896066"/>
                  </a:ext>
                </a:extLst>
              </a:tr>
              <a:tr h="411123">
                <a:tc>
                  <a:txBody>
                    <a:bodyPr/>
                    <a:lstStyle/>
                    <a:p>
                      <a:pPr>
                        <a:buNone/>
                      </a:pPr>
                      <a:r>
                        <a:rPr lang="en-IN" sz="2400">
                          <a:latin typeface="Times New Roman" panose="02020603050405020304" pitchFamily="18" charset="0"/>
                          <a:cs typeface="Times New Roman" panose="02020603050405020304" pitchFamily="18" charset="0"/>
                        </a:rPr>
                        <a:t>S7</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9</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High</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Yes</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Pass</a:t>
                      </a:r>
                    </a:p>
                  </a:txBody>
                  <a:tcPr marL="70593" marR="70593" marT="35297" marB="35297" anchor="ctr">
                    <a:lnL>
                      <a:noFill/>
                    </a:lnL>
                    <a:lnR>
                      <a:noFill/>
                    </a:lnR>
                    <a:lnT>
                      <a:noFill/>
                    </a:lnT>
                    <a:lnB>
                      <a:noFill/>
                    </a:lnB>
                    <a:noFill/>
                  </a:tcPr>
                </a:tc>
                <a:extLst>
                  <a:ext uri="{0D108BD9-81ED-4DB2-BD59-A6C34878D82A}">
                    <a16:rowId xmlns:a16="http://schemas.microsoft.com/office/drawing/2014/main" val="2189897694"/>
                  </a:ext>
                </a:extLst>
              </a:tr>
              <a:tr h="411123">
                <a:tc>
                  <a:txBody>
                    <a:bodyPr/>
                    <a:lstStyle/>
                    <a:p>
                      <a:pPr>
                        <a:buNone/>
                      </a:pPr>
                      <a:r>
                        <a:rPr lang="en-IN" sz="2400">
                          <a:latin typeface="Times New Roman" panose="02020603050405020304" pitchFamily="18" charset="0"/>
                          <a:cs typeface="Times New Roman" panose="02020603050405020304" pitchFamily="18" charset="0"/>
                        </a:rPr>
                        <a:t>S8</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2</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Medium</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No</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Fail</a:t>
                      </a:r>
                    </a:p>
                  </a:txBody>
                  <a:tcPr marL="70593" marR="70593" marT="35297" marB="35297" anchor="ctr">
                    <a:lnL>
                      <a:noFill/>
                    </a:lnL>
                    <a:lnR>
                      <a:noFill/>
                    </a:lnR>
                    <a:lnT>
                      <a:noFill/>
                    </a:lnT>
                    <a:lnB>
                      <a:noFill/>
                    </a:lnB>
                    <a:noFill/>
                  </a:tcPr>
                </a:tc>
                <a:extLst>
                  <a:ext uri="{0D108BD9-81ED-4DB2-BD59-A6C34878D82A}">
                    <a16:rowId xmlns:a16="http://schemas.microsoft.com/office/drawing/2014/main" val="2874878731"/>
                  </a:ext>
                </a:extLst>
              </a:tr>
              <a:tr h="411123">
                <a:tc>
                  <a:txBody>
                    <a:bodyPr/>
                    <a:lstStyle/>
                    <a:p>
                      <a:pPr>
                        <a:buNone/>
                      </a:pPr>
                      <a:r>
                        <a:rPr lang="en-IN" sz="2400">
                          <a:latin typeface="Times New Roman" panose="02020603050405020304" pitchFamily="18" charset="0"/>
                          <a:cs typeface="Times New Roman" panose="02020603050405020304" pitchFamily="18" charset="0"/>
                        </a:rPr>
                        <a:t>S9</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8</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High</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No</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Pass</a:t>
                      </a:r>
                    </a:p>
                  </a:txBody>
                  <a:tcPr marL="70593" marR="70593" marT="35297" marB="35297" anchor="ctr">
                    <a:lnL>
                      <a:noFill/>
                    </a:lnL>
                    <a:lnR>
                      <a:noFill/>
                    </a:lnR>
                    <a:lnT>
                      <a:noFill/>
                    </a:lnT>
                    <a:lnB>
                      <a:noFill/>
                    </a:lnB>
                    <a:noFill/>
                  </a:tcPr>
                </a:tc>
                <a:extLst>
                  <a:ext uri="{0D108BD9-81ED-4DB2-BD59-A6C34878D82A}">
                    <a16:rowId xmlns:a16="http://schemas.microsoft.com/office/drawing/2014/main" val="130006353"/>
                  </a:ext>
                </a:extLst>
              </a:tr>
              <a:tr h="411123">
                <a:tc>
                  <a:txBody>
                    <a:bodyPr/>
                    <a:lstStyle/>
                    <a:p>
                      <a:pPr>
                        <a:buNone/>
                      </a:pPr>
                      <a:r>
                        <a:rPr lang="en-IN" sz="2400">
                          <a:latin typeface="Times New Roman" panose="02020603050405020304" pitchFamily="18" charset="0"/>
                          <a:cs typeface="Times New Roman" panose="02020603050405020304" pitchFamily="18" charset="0"/>
                        </a:rPr>
                        <a:t>S10</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1</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Low</a:t>
                      </a:r>
                    </a:p>
                  </a:txBody>
                  <a:tcPr marL="70593" marR="70593" marT="35297" marB="35297"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Yes</a:t>
                      </a:r>
                    </a:p>
                  </a:txBody>
                  <a:tcPr marL="70593" marR="70593" marT="35297" marB="35297" anchor="ctr">
                    <a:lnL>
                      <a:noFill/>
                    </a:lnL>
                    <a:lnR>
                      <a:noFill/>
                    </a:lnR>
                    <a:lnT>
                      <a:noFill/>
                    </a:lnT>
                    <a:lnB>
                      <a:noFill/>
                    </a:lnB>
                    <a:noFill/>
                  </a:tcPr>
                </a:tc>
                <a:tc>
                  <a:txBody>
                    <a:bodyPr/>
                    <a:lstStyle/>
                    <a:p>
                      <a:pPr>
                        <a:buNone/>
                      </a:pPr>
                      <a:r>
                        <a:rPr lang="en-IN" sz="2400" dirty="0">
                          <a:latin typeface="Times New Roman" panose="02020603050405020304" pitchFamily="18" charset="0"/>
                          <a:cs typeface="Times New Roman" panose="02020603050405020304" pitchFamily="18" charset="0"/>
                        </a:rPr>
                        <a:t>Fail</a:t>
                      </a:r>
                    </a:p>
                  </a:txBody>
                  <a:tcPr marL="70593" marR="70593" marT="35297" marB="35297" anchor="ctr">
                    <a:lnL>
                      <a:noFill/>
                    </a:lnL>
                    <a:lnR>
                      <a:noFill/>
                    </a:lnR>
                    <a:lnT>
                      <a:noFill/>
                    </a:lnT>
                    <a:lnB>
                      <a:noFill/>
                    </a:lnB>
                    <a:noFill/>
                  </a:tcPr>
                </a:tc>
                <a:extLst>
                  <a:ext uri="{0D108BD9-81ED-4DB2-BD59-A6C34878D82A}">
                    <a16:rowId xmlns:a16="http://schemas.microsoft.com/office/drawing/2014/main" val="1834864216"/>
                  </a:ext>
                </a:extLst>
              </a:tr>
            </a:tbl>
          </a:graphicData>
        </a:graphic>
      </p:graphicFrame>
    </p:spTree>
    <p:extLst>
      <p:ext uri="{BB962C8B-B14F-4D97-AF65-F5344CB8AC3E}">
        <p14:creationId xmlns:p14="http://schemas.microsoft.com/office/powerpoint/2010/main" val="3111273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FDEDD1-1C43-18A8-0E40-5555D5601D1F}"/>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A good decision tree may create rules like:</a:t>
            </a:r>
          </a:p>
          <a:p>
            <a:r>
              <a:rPr lang="en-US" dirty="0">
                <a:solidFill>
                  <a:schemeClr val="tx1"/>
                </a:solidFill>
                <a:latin typeface="Times New Roman" panose="02020603050405020304" pitchFamily="18" charset="0"/>
                <a:cs typeface="Times New Roman" panose="02020603050405020304" pitchFamily="18" charset="0"/>
              </a:rPr>
              <a:t>If Attendance = High → Pass </a:t>
            </a:r>
          </a:p>
          <a:p>
            <a:r>
              <a:rPr lang="en-US" dirty="0">
                <a:solidFill>
                  <a:schemeClr val="tx1"/>
                </a:solidFill>
                <a:latin typeface="Times New Roman" panose="02020603050405020304" pitchFamily="18" charset="0"/>
                <a:cs typeface="Times New Roman" panose="02020603050405020304" pitchFamily="18" charset="0"/>
              </a:rPr>
              <a:t>If Attendance = Low → Fail </a:t>
            </a:r>
          </a:p>
          <a:p>
            <a:r>
              <a:rPr lang="en-US" dirty="0">
                <a:solidFill>
                  <a:schemeClr val="tx1"/>
                </a:solidFill>
                <a:latin typeface="Times New Roman" panose="02020603050405020304" pitchFamily="18" charset="0"/>
                <a:cs typeface="Times New Roman" panose="02020603050405020304" pitchFamily="18" charset="0"/>
              </a:rPr>
              <a:t>If Attendance = Medium and Assignments = Yes → Pass </a:t>
            </a:r>
          </a:p>
          <a:p>
            <a:r>
              <a:rPr lang="en-US" dirty="0">
                <a:solidFill>
                  <a:schemeClr val="tx1"/>
                </a:solidFill>
                <a:latin typeface="Times New Roman" panose="02020603050405020304" pitchFamily="18" charset="0"/>
                <a:cs typeface="Times New Roman" panose="02020603050405020304" pitchFamily="18" charset="0"/>
              </a:rPr>
              <a:t>This tree is simple and generalizes well.</a:t>
            </a:r>
          </a:p>
          <a:p>
            <a:endParaRPr lang="en-IN" dirty="0"/>
          </a:p>
        </p:txBody>
      </p:sp>
    </p:spTree>
    <p:extLst>
      <p:ext uri="{BB962C8B-B14F-4D97-AF65-F5344CB8AC3E}">
        <p14:creationId xmlns:p14="http://schemas.microsoft.com/office/powerpoint/2010/main" val="2504394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B236C-6FAF-052D-2338-53AFCF79B63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Overfitted decision Tree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6005B4-D536-3592-F563-811DE4590A89}"/>
              </a:ext>
            </a:extLst>
          </p:cNvPr>
          <p:cNvSpPr>
            <a:spLocks noGrp="1"/>
          </p:cNvSpPr>
          <p:nvPr>
            <p:ph idx="1"/>
          </p:nvPr>
        </p:nvSpPr>
        <p:spPr>
          <a:xfrm>
            <a:off x="1295400" y="2556931"/>
            <a:ext cx="9987115" cy="3637391"/>
          </a:xfrm>
        </p:spPr>
        <p:txBody>
          <a:bodyPr>
            <a:normAutofit lnSpcReduction="10000"/>
          </a:bodyPr>
          <a:lstStyle/>
          <a:p>
            <a:r>
              <a:rPr lang="en-US" dirty="0">
                <a:solidFill>
                  <a:schemeClr val="tx1"/>
                </a:solidFill>
                <a:latin typeface="Times New Roman" panose="02020603050405020304" pitchFamily="18" charset="0"/>
                <a:cs typeface="Times New Roman" panose="02020603050405020304" pitchFamily="18" charset="0"/>
              </a:rPr>
              <a:t>Suppose the tree continues splitting until every training record is perfectly classified.</a:t>
            </a:r>
          </a:p>
          <a:p>
            <a:r>
              <a:rPr lang="en-US" dirty="0">
                <a:solidFill>
                  <a:schemeClr val="tx1"/>
                </a:solidFill>
                <a:latin typeface="Times New Roman" panose="02020603050405020304" pitchFamily="18" charset="0"/>
                <a:cs typeface="Times New Roman" panose="02020603050405020304" pitchFamily="18" charset="0"/>
              </a:rPr>
              <a:t>It may create rules such as:</a:t>
            </a:r>
          </a:p>
          <a:p>
            <a:r>
              <a:rPr lang="en-US" dirty="0">
                <a:solidFill>
                  <a:schemeClr val="tx1"/>
                </a:solidFill>
                <a:latin typeface="Times New Roman" panose="02020603050405020304" pitchFamily="18" charset="0"/>
                <a:cs typeface="Times New Roman" panose="02020603050405020304" pitchFamily="18" charset="0"/>
              </a:rPr>
              <a:t>If </a:t>
            </a:r>
            <a:r>
              <a:rPr lang="en-US" dirty="0" err="1">
                <a:solidFill>
                  <a:schemeClr val="tx1"/>
                </a:solidFill>
                <a:latin typeface="Times New Roman" panose="02020603050405020304" pitchFamily="18" charset="0"/>
                <a:cs typeface="Times New Roman" panose="02020603050405020304" pitchFamily="18" charset="0"/>
              </a:rPr>
              <a:t>Hours_Studied</a:t>
            </a:r>
            <a:r>
              <a:rPr lang="en-US" dirty="0">
                <a:solidFill>
                  <a:schemeClr val="tx1"/>
                </a:solidFill>
                <a:latin typeface="Times New Roman" panose="02020603050405020304" pitchFamily="18" charset="0"/>
                <a:cs typeface="Times New Roman" panose="02020603050405020304" pitchFamily="18" charset="0"/>
              </a:rPr>
              <a:t> = 8 AND Assignment = No AND Student = S9 → Pass </a:t>
            </a:r>
          </a:p>
          <a:p>
            <a:r>
              <a:rPr lang="en-US" dirty="0">
                <a:solidFill>
                  <a:schemeClr val="tx1"/>
                </a:solidFill>
                <a:latin typeface="Times New Roman" panose="02020603050405020304" pitchFamily="18" charset="0"/>
                <a:cs typeface="Times New Roman" panose="02020603050405020304" pitchFamily="18" charset="0"/>
              </a:rPr>
              <a:t>If </a:t>
            </a:r>
            <a:r>
              <a:rPr lang="en-US" dirty="0" err="1">
                <a:solidFill>
                  <a:schemeClr val="tx1"/>
                </a:solidFill>
                <a:latin typeface="Times New Roman" panose="02020603050405020304" pitchFamily="18" charset="0"/>
                <a:cs typeface="Times New Roman" panose="02020603050405020304" pitchFamily="18" charset="0"/>
              </a:rPr>
              <a:t>Hours_Studied</a:t>
            </a:r>
            <a:r>
              <a:rPr lang="en-US" dirty="0">
                <a:solidFill>
                  <a:schemeClr val="tx1"/>
                </a:solidFill>
                <a:latin typeface="Times New Roman" panose="02020603050405020304" pitchFamily="18" charset="0"/>
                <a:cs typeface="Times New Roman" panose="02020603050405020304" pitchFamily="18" charset="0"/>
              </a:rPr>
              <a:t> = 1 AND Assignment = Yes AND Student = S10 → Fail </a:t>
            </a:r>
          </a:p>
          <a:p>
            <a:r>
              <a:rPr lang="en-US" dirty="0">
                <a:solidFill>
                  <a:schemeClr val="tx1"/>
                </a:solidFill>
                <a:latin typeface="Times New Roman" panose="02020603050405020304" pitchFamily="18" charset="0"/>
                <a:cs typeface="Times New Roman" panose="02020603050405020304" pitchFamily="18" charset="0"/>
              </a:rPr>
              <a:t>Now the tree starts memorizing individual records instead of learning general patterns.</a:t>
            </a:r>
          </a:p>
          <a:p>
            <a:r>
              <a:rPr lang="en-US" dirty="0">
                <a:solidFill>
                  <a:schemeClr val="tx1"/>
                </a:solidFill>
                <a:latin typeface="Times New Roman" panose="02020603050405020304" pitchFamily="18" charset="0"/>
                <a:cs typeface="Times New Roman" panose="02020603050405020304" pitchFamily="18" charset="0"/>
              </a:rPr>
              <a:t>This is called </a:t>
            </a:r>
            <a:r>
              <a:rPr lang="en-US" b="1" dirty="0">
                <a:solidFill>
                  <a:schemeClr val="tx1"/>
                </a:solidFill>
                <a:latin typeface="Times New Roman" panose="02020603050405020304" pitchFamily="18" charset="0"/>
                <a:cs typeface="Times New Roman" panose="02020603050405020304" pitchFamily="18" charset="0"/>
              </a:rPr>
              <a:t>overfitting</a:t>
            </a:r>
            <a:r>
              <a:rPr lang="en-US" dirty="0">
                <a:solidFill>
                  <a:schemeClr val="tx1"/>
                </a:solidFill>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159817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F704-A291-658F-52CD-DF52C18B0933}"/>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Problems Due to Overfitting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0DD7F2-FDB6-8C2C-2771-87D8AD4607FD}"/>
              </a:ext>
            </a:extLst>
          </p:cNvPr>
          <p:cNvSpPr>
            <a:spLocks noGrp="1"/>
          </p:cNvSpPr>
          <p:nvPr>
            <p:ph idx="1"/>
          </p:nvPr>
        </p:nvSpPr>
        <p:spPr>
          <a:xfrm>
            <a:off x="1295401" y="2556931"/>
            <a:ext cx="9854380" cy="3666887"/>
          </a:xfrm>
        </p:spPr>
        <p:txBody>
          <a:bodyPr>
            <a:normAutofit lnSpcReduction="10000"/>
          </a:bodyPr>
          <a:lstStyle/>
          <a:p>
            <a:r>
              <a:rPr lang="en-US" dirty="0">
                <a:latin typeface="Times New Roman" panose="02020603050405020304" pitchFamily="18" charset="0"/>
                <a:cs typeface="Times New Roman" panose="02020603050405020304" pitchFamily="18" charset="0"/>
              </a:rPr>
              <a:t>Tree becomes very large and complex </a:t>
            </a:r>
          </a:p>
          <a:p>
            <a:r>
              <a:rPr lang="en-US" dirty="0">
                <a:latin typeface="Times New Roman" panose="02020603050405020304" pitchFamily="18" charset="0"/>
                <a:cs typeface="Times New Roman" panose="02020603050405020304" pitchFamily="18" charset="0"/>
              </a:rPr>
              <a:t>Captures noise in data </a:t>
            </a:r>
          </a:p>
          <a:p>
            <a:r>
              <a:rPr lang="en-US" dirty="0">
                <a:latin typeface="Times New Roman" panose="02020603050405020304" pitchFamily="18" charset="0"/>
                <a:cs typeface="Times New Roman" panose="02020603050405020304" pitchFamily="18" charset="0"/>
              </a:rPr>
              <a:t>Performs poorly on new unseen data </a:t>
            </a:r>
          </a:p>
          <a:p>
            <a:r>
              <a:rPr lang="en-US" dirty="0">
                <a:latin typeface="Times New Roman" panose="02020603050405020304" pitchFamily="18" charset="0"/>
                <a:cs typeface="Times New Roman" panose="02020603050405020304" pitchFamily="18" charset="0"/>
              </a:rPr>
              <a:t>Difficult to interpret </a:t>
            </a:r>
          </a:p>
          <a:p>
            <a:r>
              <a:rPr lang="en-US" dirty="0">
                <a:latin typeface="Times New Roman" panose="02020603050405020304" pitchFamily="18" charset="0"/>
                <a:cs typeface="Times New Roman" panose="02020603050405020304" pitchFamily="18" charset="0"/>
              </a:rPr>
              <a:t>Example:</a:t>
            </a:r>
          </a:p>
          <a:p>
            <a:r>
              <a:rPr lang="en-US" dirty="0">
                <a:latin typeface="Times New Roman" panose="02020603050405020304" pitchFamily="18" charset="0"/>
                <a:cs typeface="Times New Roman" panose="02020603050405020304" pitchFamily="18" charset="0"/>
              </a:rPr>
              <a:t>A new student studies 8 hours but has medium attendance.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overfitted tree may classify incorrectly because it learned unnecessary specific rules from training data.</a:t>
            </a:r>
          </a:p>
          <a:p>
            <a:endParaRPr lang="en-IN" dirty="0"/>
          </a:p>
        </p:txBody>
      </p:sp>
    </p:spTree>
    <p:extLst>
      <p:ext uri="{BB962C8B-B14F-4D97-AF65-F5344CB8AC3E}">
        <p14:creationId xmlns:p14="http://schemas.microsoft.com/office/powerpoint/2010/main" val="807874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CD1F7-5EC8-07D2-5664-E96DEC2F6FC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How pruning helps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465ADF-BF24-0E9B-6D88-2BAD6154BA31}"/>
              </a:ext>
            </a:extLst>
          </p:cNvPr>
          <p:cNvSpPr>
            <a:spLocks noGrp="1"/>
          </p:cNvSpPr>
          <p:nvPr>
            <p:ph idx="1"/>
          </p:nvPr>
        </p:nvSpPr>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1. Pre pruning</a:t>
            </a:r>
          </a:p>
          <a:p>
            <a:r>
              <a:rPr lang="en-US" dirty="0">
                <a:solidFill>
                  <a:schemeClr val="tx1"/>
                </a:solidFill>
                <a:latin typeface="Times New Roman" panose="02020603050405020304" pitchFamily="18" charset="0"/>
                <a:cs typeface="Times New Roman" panose="02020603050405020304" pitchFamily="18" charset="0"/>
              </a:rPr>
              <a:t>Pre pruning stops the tree early before it becomes too complex.</a:t>
            </a:r>
          </a:p>
          <a:p>
            <a:r>
              <a:rPr lang="en-US" dirty="0">
                <a:solidFill>
                  <a:schemeClr val="tx1"/>
                </a:solidFill>
                <a:latin typeface="Times New Roman" panose="02020603050405020304" pitchFamily="18" charset="0"/>
                <a:cs typeface="Times New Roman" panose="02020603050405020304" pitchFamily="18" charset="0"/>
              </a:rPr>
              <a:t>Conditions used:</a:t>
            </a:r>
          </a:p>
          <a:p>
            <a:r>
              <a:rPr lang="en-US" dirty="0">
                <a:solidFill>
                  <a:schemeClr val="tx1"/>
                </a:solidFill>
                <a:latin typeface="Times New Roman" panose="02020603050405020304" pitchFamily="18" charset="0"/>
                <a:cs typeface="Times New Roman" panose="02020603050405020304" pitchFamily="18" charset="0"/>
              </a:rPr>
              <a:t>Minimum samples required at a node </a:t>
            </a:r>
          </a:p>
          <a:p>
            <a:r>
              <a:rPr lang="en-US" dirty="0">
                <a:solidFill>
                  <a:schemeClr val="tx1"/>
                </a:solidFill>
                <a:latin typeface="Times New Roman" panose="02020603050405020304" pitchFamily="18" charset="0"/>
                <a:cs typeface="Times New Roman" panose="02020603050405020304" pitchFamily="18" charset="0"/>
              </a:rPr>
              <a:t>Maximum tree depth </a:t>
            </a:r>
          </a:p>
          <a:p>
            <a:r>
              <a:rPr lang="en-US" dirty="0">
                <a:solidFill>
                  <a:schemeClr val="tx1"/>
                </a:solidFill>
                <a:latin typeface="Times New Roman" panose="02020603050405020304" pitchFamily="18" charset="0"/>
                <a:cs typeface="Times New Roman" panose="02020603050405020304" pitchFamily="18" charset="0"/>
              </a:rPr>
              <a:t>Minimum Information Gain or Gini reduction </a:t>
            </a:r>
          </a:p>
          <a:p>
            <a:endParaRPr lang="en-US" b="1" dirty="0"/>
          </a:p>
          <a:p>
            <a:endParaRPr lang="en-IN" dirty="0"/>
          </a:p>
        </p:txBody>
      </p:sp>
    </p:spTree>
    <p:extLst>
      <p:ext uri="{BB962C8B-B14F-4D97-AF65-F5344CB8AC3E}">
        <p14:creationId xmlns:p14="http://schemas.microsoft.com/office/powerpoint/2010/main" val="2725255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9E2908-265A-D9A4-2C47-8B9B394EB9F0}"/>
              </a:ext>
            </a:extLst>
          </p:cNvPr>
          <p:cNvSpPr>
            <a:spLocks noGrp="1"/>
          </p:cNvSpPr>
          <p:nvPr>
            <p:ph idx="1"/>
          </p:nvPr>
        </p:nvSpPr>
        <p:spPr>
          <a:xfrm>
            <a:off x="796413" y="737419"/>
            <a:ext cx="10500852" cy="5427407"/>
          </a:xfrm>
        </p:spPr>
        <p:txBody>
          <a:bodyPr/>
          <a:lstStyle/>
          <a:p>
            <a:r>
              <a:rPr lang="en-US" b="1" dirty="0">
                <a:solidFill>
                  <a:schemeClr val="tx1"/>
                </a:solidFill>
                <a:latin typeface="Times New Roman" panose="02020603050405020304" pitchFamily="18" charset="0"/>
                <a:cs typeface="Times New Roman" panose="02020603050405020304" pitchFamily="18" charset="0"/>
              </a:rPr>
              <a:t>Example</a:t>
            </a:r>
          </a:p>
          <a:p>
            <a:r>
              <a:rPr lang="en-US" dirty="0">
                <a:solidFill>
                  <a:schemeClr val="tx1"/>
                </a:solidFill>
                <a:latin typeface="Times New Roman" panose="02020603050405020304" pitchFamily="18" charset="0"/>
                <a:cs typeface="Times New Roman" panose="02020603050405020304" pitchFamily="18" charset="0"/>
              </a:rPr>
              <a:t>Suppose the tree wants to split this small subset</a:t>
            </a:r>
            <a:r>
              <a:rPr lang="en-US" dirty="0"/>
              <a:t>:</a:t>
            </a:r>
          </a:p>
          <a:p>
            <a:endParaRPr lang="en-IN" dirty="0"/>
          </a:p>
          <a:p>
            <a:endParaRPr lang="en-IN" dirty="0"/>
          </a:p>
          <a:p>
            <a:endParaRPr lang="en-IN" dirty="0"/>
          </a:p>
          <a:p>
            <a:endParaRPr lang="en-IN" dirty="0"/>
          </a:p>
          <a:p>
            <a:r>
              <a:rPr lang="en-US" dirty="0">
                <a:solidFill>
                  <a:schemeClr val="tx1"/>
                </a:solidFill>
                <a:latin typeface="Times New Roman" panose="02020603050405020304" pitchFamily="18" charset="0"/>
                <a:cs typeface="Times New Roman" panose="02020603050405020304" pitchFamily="18" charset="0"/>
              </a:rPr>
              <a:t>Only 2 records are available.</a:t>
            </a:r>
          </a:p>
          <a:p>
            <a:r>
              <a:rPr lang="en-US" dirty="0">
                <a:solidFill>
                  <a:schemeClr val="tx1"/>
                </a:solidFill>
                <a:latin typeface="Times New Roman" panose="02020603050405020304" pitchFamily="18" charset="0"/>
                <a:cs typeface="Times New Roman" panose="02020603050405020304" pitchFamily="18" charset="0"/>
              </a:rPr>
              <a:t>Pre pruning may stop splitting because the number of samples is too small.</a:t>
            </a:r>
          </a:p>
          <a:p>
            <a:r>
              <a:rPr lang="en-US" dirty="0">
                <a:solidFill>
                  <a:schemeClr val="tx1"/>
                </a:solidFill>
                <a:latin typeface="Times New Roman" panose="02020603050405020304" pitchFamily="18" charset="0"/>
                <a:cs typeface="Times New Roman" panose="02020603050405020304" pitchFamily="18" charset="0"/>
              </a:rPr>
              <a:t>Thus, unnecessary branches are avoided.</a:t>
            </a:r>
          </a:p>
          <a:p>
            <a:endParaRPr lang="en-IN" dirty="0"/>
          </a:p>
        </p:txBody>
      </p:sp>
      <p:graphicFrame>
        <p:nvGraphicFramePr>
          <p:cNvPr id="4" name="Table 3">
            <a:extLst>
              <a:ext uri="{FF2B5EF4-FFF2-40B4-BE49-F238E27FC236}">
                <a16:creationId xmlns:a16="http://schemas.microsoft.com/office/drawing/2014/main" id="{8F40F35B-F9F0-3641-7206-A1861C9C7286}"/>
              </a:ext>
            </a:extLst>
          </p:cNvPr>
          <p:cNvGraphicFramePr>
            <a:graphicFrameLocks noGrp="1"/>
          </p:cNvGraphicFramePr>
          <p:nvPr>
            <p:extLst>
              <p:ext uri="{D42A27DB-BD31-4B8C-83A1-F6EECF244321}">
                <p14:modId xmlns:p14="http://schemas.microsoft.com/office/powerpoint/2010/main" val="2063037002"/>
              </p:ext>
            </p:extLst>
          </p:nvPr>
        </p:nvGraphicFramePr>
        <p:xfrm>
          <a:off x="1074174" y="1986444"/>
          <a:ext cx="9601200" cy="1371600"/>
        </p:xfrm>
        <a:graphic>
          <a:graphicData uri="http://schemas.openxmlformats.org/drawingml/2006/table">
            <a:tbl>
              <a:tblPr/>
              <a:tblGrid>
                <a:gridCol w="3200400">
                  <a:extLst>
                    <a:ext uri="{9D8B030D-6E8A-4147-A177-3AD203B41FA5}">
                      <a16:colId xmlns:a16="http://schemas.microsoft.com/office/drawing/2014/main" val="837557218"/>
                    </a:ext>
                  </a:extLst>
                </a:gridCol>
                <a:gridCol w="3200400">
                  <a:extLst>
                    <a:ext uri="{9D8B030D-6E8A-4147-A177-3AD203B41FA5}">
                      <a16:colId xmlns:a16="http://schemas.microsoft.com/office/drawing/2014/main" val="2668437298"/>
                    </a:ext>
                  </a:extLst>
                </a:gridCol>
                <a:gridCol w="3200400">
                  <a:extLst>
                    <a:ext uri="{9D8B030D-6E8A-4147-A177-3AD203B41FA5}">
                      <a16:colId xmlns:a16="http://schemas.microsoft.com/office/drawing/2014/main" val="283640556"/>
                    </a:ext>
                  </a:extLst>
                </a:gridCol>
              </a:tblGrid>
              <a:tr h="0">
                <a:tc>
                  <a:txBody>
                    <a:bodyPr/>
                    <a:lstStyle/>
                    <a:p>
                      <a:pPr>
                        <a:buNone/>
                      </a:pPr>
                      <a:r>
                        <a:rPr lang="en-IN" sz="2400" b="1" dirty="0">
                          <a:latin typeface="Times New Roman" panose="02020603050405020304" pitchFamily="18" charset="0"/>
                          <a:cs typeface="Times New Roman" panose="02020603050405020304" pitchFamily="18" charset="0"/>
                        </a:rPr>
                        <a:t>Student</a:t>
                      </a:r>
                    </a:p>
                  </a:txBody>
                  <a:tcPr anchor="ctr">
                    <a:lnL>
                      <a:noFill/>
                    </a:lnL>
                    <a:lnR>
                      <a:noFill/>
                    </a:lnR>
                    <a:lnT>
                      <a:noFill/>
                    </a:lnT>
                    <a:lnB>
                      <a:noFill/>
                    </a:lnB>
                    <a:noFill/>
                  </a:tcPr>
                </a:tc>
                <a:tc>
                  <a:txBody>
                    <a:bodyPr/>
                    <a:lstStyle/>
                    <a:p>
                      <a:pPr>
                        <a:buNone/>
                      </a:pPr>
                      <a:r>
                        <a:rPr lang="en-IN" sz="2400" b="1">
                          <a:latin typeface="Times New Roman" panose="02020603050405020304" pitchFamily="18" charset="0"/>
                          <a:cs typeface="Times New Roman" panose="02020603050405020304" pitchFamily="18" charset="0"/>
                        </a:rPr>
                        <a:t>Hours_Studied</a:t>
                      </a:r>
                    </a:p>
                  </a:txBody>
                  <a:tcPr anchor="ctr">
                    <a:lnL>
                      <a:noFill/>
                    </a:lnL>
                    <a:lnR>
                      <a:noFill/>
                    </a:lnR>
                    <a:lnT>
                      <a:noFill/>
                    </a:lnT>
                    <a:lnB>
                      <a:noFill/>
                    </a:lnB>
                    <a:noFill/>
                  </a:tcPr>
                </a:tc>
                <a:tc>
                  <a:txBody>
                    <a:bodyPr/>
                    <a:lstStyle/>
                    <a:p>
                      <a:pPr>
                        <a:buNone/>
                      </a:pPr>
                      <a:r>
                        <a:rPr lang="en-IN" sz="2400" b="1" dirty="0">
                          <a:latin typeface="Times New Roman" panose="02020603050405020304" pitchFamily="18" charset="0"/>
                          <a:cs typeface="Times New Roman" panose="02020603050405020304" pitchFamily="18" charset="0"/>
                        </a:rPr>
                        <a:t>Result</a:t>
                      </a:r>
                    </a:p>
                  </a:txBody>
                  <a:tcPr anchor="ctr">
                    <a:lnL>
                      <a:noFill/>
                    </a:lnL>
                    <a:lnR>
                      <a:noFill/>
                    </a:lnR>
                    <a:lnT>
                      <a:noFill/>
                    </a:lnT>
                    <a:lnB>
                      <a:noFill/>
                    </a:lnB>
                    <a:noFill/>
                  </a:tcPr>
                </a:tc>
                <a:extLst>
                  <a:ext uri="{0D108BD9-81ED-4DB2-BD59-A6C34878D82A}">
                    <a16:rowId xmlns:a16="http://schemas.microsoft.com/office/drawing/2014/main" val="238984140"/>
                  </a:ext>
                </a:extLst>
              </a:tr>
              <a:tr h="0">
                <a:tc>
                  <a:txBody>
                    <a:bodyPr/>
                    <a:lstStyle/>
                    <a:p>
                      <a:pPr>
                        <a:buNone/>
                      </a:pPr>
                      <a:r>
                        <a:rPr lang="en-IN" sz="2400">
                          <a:latin typeface="Times New Roman" panose="02020603050405020304" pitchFamily="18" charset="0"/>
                          <a:cs typeface="Times New Roman" panose="02020603050405020304" pitchFamily="18" charset="0"/>
                        </a:rPr>
                        <a:t>S9</a:t>
                      </a:r>
                    </a:p>
                  </a:txBody>
                  <a:tcPr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8</a:t>
                      </a:r>
                    </a:p>
                  </a:txBody>
                  <a:tcPr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Pass</a:t>
                      </a:r>
                    </a:p>
                  </a:txBody>
                  <a:tcPr anchor="ctr">
                    <a:lnL>
                      <a:noFill/>
                    </a:lnL>
                    <a:lnR>
                      <a:noFill/>
                    </a:lnR>
                    <a:lnT>
                      <a:noFill/>
                    </a:lnT>
                    <a:lnB>
                      <a:noFill/>
                    </a:lnB>
                    <a:noFill/>
                  </a:tcPr>
                </a:tc>
                <a:extLst>
                  <a:ext uri="{0D108BD9-81ED-4DB2-BD59-A6C34878D82A}">
                    <a16:rowId xmlns:a16="http://schemas.microsoft.com/office/drawing/2014/main" val="3146682752"/>
                  </a:ext>
                </a:extLst>
              </a:tr>
              <a:tr h="0">
                <a:tc>
                  <a:txBody>
                    <a:bodyPr/>
                    <a:lstStyle/>
                    <a:p>
                      <a:pPr>
                        <a:buNone/>
                      </a:pPr>
                      <a:r>
                        <a:rPr lang="en-IN" sz="2400" dirty="0">
                          <a:latin typeface="Times New Roman" panose="02020603050405020304" pitchFamily="18" charset="0"/>
                          <a:cs typeface="Times New Roman" panose="02020603050405020304" pitchFamily="18" charset="0"/>
                        </a:rPr>
                        <a:t>S10</a:t>
                      </a:r>
                    </a:p>
                  </a:txBody>
                  <a:tcPr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sz="2400" dirty="0">
                          <a:latin typeface="Times New Roman" panose="02020603050405020304" pitchFamily="18" charset="0"/>
                          <a:cs typeface="Times New Roman" panose="02020603050405020304" pitchFamily="18" charset="0"/>
                        </a:rPr>
                        <a:t>Fail</a:t>
                      </a:r>
                    </a:p>
                  </a:txBody>
                  <a:tcPr anchor="ctr">
                    <a:lnL>
                      <a:noFill/>
                    </a:lnL>
                    <a:lnR>
                      <a:noFill/>
                    </a:lnR>
                    <a:lnT>
                      <a:noFill/>
                    </a:lnT>
                    <a:lnB>
                      <a:noFill/>
                    </a:lnB>
                    <a:noFill/>
                  </a:tcPr>
                </a:tc>
                <a:extLst>
                  <a:ext uri="{0D108BD9-81ED-4DB2-BD59-A6C34878D82A}">
                    <a16:rowId xmlns:a16="http://schemas.microsoft.com/office/drawing/2014/main" val="2206774888"/>
                  </a:ext>
                </a:extLst>
              </a:tr>
            </a:tbl>
          </a:graphicData>
        </a:graphic>
      </p:graphicFrame>
    </p:spTree>
    <p:extLst>
      <p:ext uri="{BB962C8B-B14F-4D97-AF65-F5344CB8AC3E}">
        <p14:creationId xmlns:p14="http://schemas.microsoft.com/office/powerpoint/2010/main" val="4112094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26549E-6B68-94A6-695A-31792BBEA63C}"/>
              </a:ext>
            </a:extLst>
          </p:cNvPr>
          <p:cNvSpPr>
            <a:spLocks noGrp="1"/>
          </p:cNvSpPr>
          <p:nvPr>
            <p:ph idx="1"/>
          </p:nvPr>
        </p:nvSpPr>
        <p:spPr>
          <a:xfrm>
            <a:off x="899652" y="737419"/>
            <a:ext cx="10397613" cy="5279923"/>
          </a:xfrm>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2. </a:t>
            </a:r>
            <a:r>
              <a:rPr lang="en-US" b="1" dirty="0" err="1">
                <a:latin typeface="Times New Roman" panose="02020603050405020304" pitchFamily="18" charset="0"/>
                <a:cs typeface="Times New Roman" panose="02020603050405020304" pitchFamily="18" charset="0"/>
              </a:rPr>
              <a:t>Postpruning</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a:t>
            </a:r>
            <a:r>
              <a:rPr lang="en-US" dirty="0" err="1">
                <a:latin typeface="Times New Roman" panose="02020603050405020304" pitchFamily="18" charset="0"/>
                <a:cs typeface="Times New Roman" panose="02020603050405020304" pitchFamily="18" charset="0"/>
              </a:rPr>
              <a:t>postpruning</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First grow the complete tree </a:t>
            </a:r>
          </a:p>
          <a:p>
            <a:r>
              <a:rPr lang="en-US" dirty="0">
                <a:latin typeface="Times New Roman" panose="02020603050405020304" pitchFamily="18" charset="0"/>
                <a:cs typeface="Times New Roman" panose="02020603050405020304" pitchFamily="18" charset="0"/>
              </a:rPr>
              <a:t>Then remove branches that do not improve prediction accuracy </a:t>
            </a:r>
          </a:p>
          <a:p>
            <a:r>
              <a:rPr lang="en-US" b="1" dirty="0">
                <a:latin typeface="Times New Roman" panose="02020603050405020304" pitchFamily="18" charset="0"/>
                <a:cs typeface="Times New Roman" panose="02020603050405020304" pitchFamily="18" charset="0"/>
              </a:rPr>
              <a:t>Example</a:t>
            </a:r>
          </a:p>
          <a:p>
            <a:r>
              <a:rPr lang="en-US" dirty="0">
                <a:latin typeface="Times New Roman" panose="02020603050405020304" pitchFamily="18" charset="0"/>
                <a:cs typeface="Times New Roman" panose="02020603050405020304" pitchFamily="18" charset="0"/>
              </a:rPr>
              <a:t>Suppose the tree contains:</a:t>
            </a:r>
          </a:p>
          <a:p>
            <a:r>
              <a:rPr lang="en-US" dirty="0">
                <a:latin typeface="Times New Roman" panose="02020603050405020304" pitchFamily="18" charset="0"/>
                <a:cs typeface="Times New Roman" panose="02020603050405020304" pitchFamily="18" charset="0"/>
              </a:rPr>
              <a:t>If </a:t>
            </a:r>
            <a:r>
              <a:rPr lang="en-US" dirty="0" err="1">
                <a:latin typeface="Times New Roman" panose="02020603050405020304" pitchFamily="18" charset="0"/>
                <a:cs typeface="Times New Roman" panose="02020603050405020304" pitchFamily="18" charset="0"/>
              </a:rPr>
              <a:t>Hours_Studied</a:t>
            </a:r>
            <a:r>
              <a:rPr lang="en-US" dirty="0">
                <a:latin typeface="Times New Roman" panose="02020603050405020304" pitchFamily="18" charset="0"/>
                <a:cs typeface="Times New Roman" panose="02020603050405020304" pitchFamily="18" charset="0"/>
              </a:rPr>
              <a:t> = 8 AND Assignment = No → Pass </a:t>
            </a:r>
          </a:p>
          <a:p>
            <a:r>
              <a:rPr lang="en-US" dirty="0">
                <a:latin typeface="Times New Roman" panose="02020603050405020304" pitchFamily="18" charset="0"/>
                <a:cs typeface="Times New Roman" panose="02020603050405020304" pitchFamily="18" charset="0"/>
              </a:rPr>
              <a:t>This rule may apply only to one training record (S9).</a:t>
            </a:r>
          </a:p>
          <a:p>
            <a:r>
              <a:rPr lang="en-US" dirty="0" err="1">
                <a:latin typeface="Times New Roman" panose="02020603050405020304" pitchFamily="18" charset="0"/>
                <a:cs typeface="Times New Roman" panose="02020603050405020304" pitchFamily="18" charset="0"/>
              </a:rPr>
              <a:t>Postpruning</a:t>
            </a:r>
            <a:r>
              <a:rPr lang="en-US" dirty="0">
                <a:latin typeface="Times New Roman" panose="02020603050405020304" pitchFamily="18" charset="0"/>
                <a:cs typeface="Times New Roman" panose="02020603050405020304" pitchFamily="18" charset="0"/>
              </a:rPr>
              <a:t> removes this branch because it does not help general prediction.</a:t>
            </a:r>
          </a:p>
          <a:p>
            <a:r>
              <a:rPr lang="en-US" dirty="0">
                <a:latin typeface="Times New Roman" panose="02020603050405020304" pitchFamily="18" charset="0"/>
                <a:cs typeface="Times New Roman" panose="02020603050405020304" pitchFamily="18" charset="0"/>
              </a:rPr>
              <a:t>The simplified tree becomes:</a:t>
            </a:r>
          </a:p>
          <a:p>
            <a:r>
              <a:rPr lang="en-US" dirty="0">
                <a:latin typeface="Times New Roman" panose="02020603050405020304" pitchFamily="18" charset="0"/>
                <a:cs typeface="Times New Roman" panose="02020603050405020304" pitchFamily="18" charset="0"/>
              </a:rPr>
              <a:t>If Attendance = High → Pass </a:t>
            </a:r>
          </a:p>
          <a:p>
            <a:r>
              <a:rPr lang="en-US" dirty="0">
                <a:latin typeface="Times New Roman" panose="02020603050405020304" pitchFamily="18" charset="0"/>
                <a:cs typeface="Times New Roman" panose="02020603050405020304" pitchFamily="18" charset="0"/>
              </a:rPr>
              <a:t>This rule works better for most future cases.</a:t>
            </a:r>
          </a:p>
          <a:p>
            <a:endParaRPr lang="en-IN" dirty="0"/>
          </a:p>
        </p:txBody>
      </p:sp>
    </p:spTree>
    <p:extLst>
      <p:ext uri="{BB962C8B-B14F-4D97-AF65-F5344CB8AC3E}">
        <p14:creationId xmlns:p14="http://schemas.microsoft.com/office/powerpoint/2010/main" val="1654823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089D4-8AE6-82CB-C4C5-EBAF90A686E5}"/>
              </a:ext>
            </a:extLst>
          </p:cNvPr>
          <p:cNvSpPr>
            <a:spLocks noGrp="1"/>
          </p:cNvSpPr>
          <p:nvPr>
            <p:ph type="title"/>
          </p:nvPr>
        </p:nvSpPr>
        <p:spPr/>
        <p:txBody>
          <a:bodyPr>
            <a:normAutofit fontScale="90000"/>
          </a:bodyPr>
          <a:lstStyle/>
          <a:p>
            <a:r>
              <a:rPr lang="en-IN" b="1" dirty="0">
                <a:solidFill>
                  <a:schemeClr val="tx1"/>
                </a:solidFill>
                <a:latin typeface="Times New Roman" panose="02020603050405020304" pitchFamily="18" charset="0"/>
                <a:cs typeface="Times New Roman" panose="02020603050405020304" pitchFamily="18" charset="0"/>
              </a:rPr>
              <a:t>Strengths and weaknesses of decision trees.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D1306B-C9B3-37E4-24DA-D6337CC05D5E}"/>
              </a:ext>
            </a:extLst>
          </p:cNvPr>
          <p:cNvSpPr>
            <a:spLocks noGrp="1"/>
          </p:cNvSpPr>
          <p:nvPr>
            <p:ph idx="1"/>
          </p:nvPr>
        </p:nvSpPr>
        <p:spPr>
          <a:xfrm>
            <a:off x="1295400" y="2556931"/>
            <a:ext cx="10060857" cy="3725881"/>
          </a:xfrm>
        </p:spPr>
        <p:txBody>
          <a:bodyPr>
            <a:normAutofit fontScale="92500"/>
          </a:bodyPr>
          <a:lstStyle/>
          <a:p>
            <a:pPr marL="0" indent="0">
              <a:buNone/>
            </a:pPr>
            <a:r>
              <a:rPr lang="en-IN" b="1" dirty="0">
                <a:solidFill>
                  <a:schemeClr val="tx1"/>
                </a:solidFill>
                <a:latin typeface="Times New Roman" panose="02020603050405020304" pitchFamily="18" charset="0"/>
                <a:cs typeface="Times New Roman" panose="02020603050405020304" pitchFamily="18" charset="0"/>
              </a:rPr>
              <a:t>1. Automatic Feature Selection (Feature Extraction)</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Decision trees automatically select only the most relevant features for making decisions. Features that are important appear near the root, while less important ones may not be used at all. This helps in reducing dimensionality and focusing on useful variables.</a:t>
            </a:r>
          </a:p>
          <a:p>
            <a:pPr marL="0" indent="0">
              <a:buNone/>
            </a:pPr>
            <a:r>
              <a:rPr lang="en-IN" b="1" dirty="0">
                <a:solidFill>
                  <a:schemeClr val="tx1"/>
                </a:solidFill>
                <a:latin typeface="Times New Roman" panose="02020603050405020304" pitchFamily="18" charset="0"/>
                <a:cs typeface="Times New Roman" panose="02020603050405020304" pitchFamily="18" charset="0"/>
              </a:rPr>
              <a:t>2. Easy to Understand and Interpret</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Decision trees are highly interpretable because their structure is simple and resembles human decision-making. Each decision is based on clear conditions, making it easy for both technical and non-technical users to understand the model.</a:t>
            </a:r>
          </a:p>
          <a:p>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1249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F8FCE0-DC58-59AD-BFB2-38476BA977EA}"/>
              </a:ext>
            </a:extLst>
          </p:cNvPr>
          <p:cNvSpPr>
            <a:spLocks noGrp="1"/>
          </p:cNvSpPr>
          <p:nvPr>
            <p:ph idx="1"/>
          </p:nvPr>
        </p:nvSpPr>
        <p:spPr>
          <a:xfrm>
            <a:off x="870155" y="811161"/>
            <a:ext cx="10026442" cy="5064707"/>
          </a:xfrm>
        </p:spPr>
        <p:txBody>
          <a:bodyPr>
            <a:normAutofit lnSpcReduction="10000"/>
          </a:bodyPr>
          <a:lstStyle/>
          <a:p>
            <a:pPr marL="0" indent="0">
              <a:buNone/>
            </a:pPr>
            <a:r>
              <a:rPr lang="en-IN" b="1" dirty="0">
                <a:solidFill>
                  <a:schemeClr val="tx1"/>
                </a:solidFill>
                <a:latin typeface="Times New Roman" panose="02020603050405020304" pitchFamily="18" charset="0"/>
                <a:cs typeface="Times New Roman" panose="02020603050405020304" pitchFamily="18" charset="0"/>
              </a:rPr>
              <a:t>3. Rule Extraction Capability</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Each path from the root node to a leaf node represents a rule in the form of an IF–THEN statement. The entire tree can be converted into a set of such rules, which makes the logic transparent and easy to explain.</a:t>
            </a:r>
          </a:p>
          <a:p>
            <a:pPr marL="0" indent="0">
              <a:buNone/>
            </a:pPr>
            <a:r>
              <a:rPr lang="en-IN" b="1" dirty="0">
                <a:solidFill>
                  <a:schemeClr val="tx1"/>
                </a:solidFill>
                <a:latin typeface="Times New Roman" panose="02020603050405020304" pitchFamily="18" charset="0"/>
                <a:cs typeface="Times New Roman" panose="02020603050405020304" pitchFamily="18" charset="0"/>
              </a:rPr>
              <a:t>4. No Need for Data Transformation</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Decision trees do not require data normalization, scaling, or transformation. They work directly on raw data, and even monotonic transformations do not affect the structure of the tree.</a:t>
            </a:r>
          </a:p>
          <a:p>
            <a:pPr marL="0" indent="0">
              <a:buNone/>
            </a:pPr>
            <a:r>
              <a:rPr lang="en-IN" b="1" dirty="0">
                <a:solidFill>
                  <a:schemeClr val="tx1"/>
                </a:solidFill>
                <a:latin typeface="Times New Roman" panose="02020603050405020304" pitchFamily="18" charset="0"/>
                <a:cs typeface="Times New Roman" panose="02020603050405020304" pitchFamily="18" charset="0"/>
              </a:rPr>
              <a:t>5. Handles Missing Values Effectively</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Decision trees can handle missing values by treating them as a separate category or using special techniques. This avoids the need to delete or impute missing data, which could otherwise lead to biased results</a:t>
            </a:r>
          </a:p>
        </p:txBody>
      </p:sp>
    </p:spTree>
    <p:extLst>
      <p:ext uri="{BB962C8B-B14F-4D97-AF65-F5344CB8AC3E}">
        <p14:creationId xmlns:p14="http://schemas.microsoft.com/office/powerpoint/2010/main" val="776853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05F97B-D40C-3E00-77FD-3C5F7F702E62}"/>
              </a:ext>
            </a:extLst>
          </p:cNvPr>
          <p:cNvSpPr>
            <a:spLocks noGrp="1"/>
          </p:cNvSpPr>
          <p:nvPr>
            <p:ph idx="1"/>
          </p:nvPr>
        </p:nvSpPr>
        <p:spPr>
          <a:xfrm>
            <a:off x="855406" y="752167"/>
            <a:ext cx="10338620" cy="5383161"/>
          </a:xfrm>
        </p:spPr>
        <p:txBody>
          <a:bodyPr/>
          <a:lstStyle/>
          <a:p>
            <a:pPr marL="0" indent="0">
              <a:buNone/>
            </a:pPr>
            <a:r>
              <a:rPr lang="en-IN" b="1" dirty="0">
                <a:solidFill>
                  <a:schemeClr val="tx1"/>
                </a:solidFill>
                <a:latin typeface="Times New Roman" panose="02020603050405020304" pitchFamily="18" charset="0"/>
                <a:cs typeface="Times New Roman" panose="02020603050405020304" pitchFamily="18" charset="0"/>
              </a:rPr>
              <a:t>6. Robust to Outliers</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Decision trees are not significantly affected by outliers because decisions are based on splitting rules rather than exact numerical values. Extreme values do not strongly influence the structure of the tree.</a:t>
            </a:r>
          </a:p>
          <a:p>
            <a:pPr marL="0" indent="0">
              <a:buNone/>
            </a:pPr>
            <a:r>
              <a:rPr lang="en-IN" b="1" dirty="0">
                <a:solidFill>
                  <a:schemeClr val="tx1"/>
                </a:solidFill>
                <a:latin typeface="Times New Roman" panose="02020603050405020304" pitchFamily="18" charset="0"/>
                <a:cs typeface="Times New Roman" panose="02020603050405020304" pitchFamily="18" charset="0"/>
              </a:rPr>
              <a:t>7. Nonlinear Modelling Capability</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Decision trees can model complex and nonlinear relationships by splitting the data into smaller regions. This allows them to handle problems where the relationship between variables is not linear.</a:t>
            </a:r>
          </a:p>
          <a:p>
            <a:pPr marL="0" indent="0">
              <a:buNone/>
            </a:pPr>
            <a:r>
              <a:rPr lang="en-IN" b="1" dirty="0">
                <a:solidFill>
                  <a:schemeClr val="tx1"/>
                </a:solidFill>
                <a:latin typeface="Times New Roman" panose="02020603050405020304" pitchFamily="18" charset="0"/>
                <a:cs typeface="Times New Roman" panose="02020603050405020304" pitchFamily="18" charset="0"/>
              </a:rPr>
              <a:t>8. Non-Parametric Nature</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Decision trees do not assume any predefined mathematical model. They learn patterns directly from the data, making them flexible and applicable to a wide range of problems.</a:t>
            </a:r>
          </a:p>
        </p:txBody>
      </p:sp>
    </p:spTree>
    <p:extLst>
      <p:ext uri="{BB962C8B-B14F-4D97-AF65-F5344CB8AC3E}">
        <p14:creationId xmlns:p14="http://schemas.microsoft.com/office/powerpoint/2010/main" val="1647760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2D1B1-9F94-DED3-381B-E08EFB1DF8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AE817D8-7A07-0EA8-060A-7FE4CC7B5041}"/>
              </a:ext>
            </a:extLst>
          </p:cNvPr>
          <p:cNvSpPr>
            <a:spLocks noGrp="1"/>
          </p:cNvSpPr>
          <p:nvPr>
            <p:ph idx="1"/>
          </p:nvPr>
        </p:nvSpPr>
        <p:spPr/>
        <p:txBody>
          <a:bodyPr/>
          <a:lstStyle/>
          <a:p>
            <a:pPr marL="0" indent="0">
              <a:buNone/>
            </a:pPr>
            <a:r>
              <a:rPr lang="en-IN" b="1" dirty="0">
                <a:solidFill>
                  <a:schemeClr val="tx1"/>
                </a:solidFill>
                <a:latin typeface="Times New Roman" panose="02020603050405020304" pitchFamily="18" charset="0"/>
                <a:cs typeface="Times New Roman" panose="02020603050405020304" pitchFamily="18" charset="0"/>
              </a:rPr>
              <a:t>9. Memory Efficiency</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Once the tree is constructed, only the tree structure is stored rather than the entire dataset. This reduces memory requirements compared to methods like k-NN that store all training data.</a:t>
            </a:r>
          </a:p>
          <a:p>
            <a:endParaRPr lang="en-IN" dirty="0"/>
          </a:p>
        </p:txBody>
      </p:sp>
    </p:spTree>
    <p:extLst>
      <p:ext uri="{BB962C8B-B14F-4D97-AF65-F5344CB8AC3E}">
        <p14:creationId xmlns:p14="http://schemas.microsoft.com/office/powerpoint/2010/main" val="396179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D1C9C-D9E2-5665-4A42-531B2E28815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Weakness of decision tree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AD17FF-A087-6EDA-0DF3-133BB932FF92}"/>
              </a:ext>
            </a:extLst>
          </p:cNvPr>
          <p:cNvSpPr>
            <a:spLocks noGrp="1"/>
          </p:cNvSpPr>
          <p:nvPr>
            <p:ph idx="1"/>
          </p:nvPr>
        </p:nvSpPr>
        <p:spPr/>
        <p:txBody>
          <a:bodyPr>
            <a:normAutofit lnSpcReduction="10000"/>
          </a:bodyPr>
          <a:lstStyle/>
          <a:p>
            <a:pPr marL="0" indent="0" algn="just">
              <a:buNone/>
            </a:pPr>
            <a:r>
              <a:rPr lang="en-IN" b="1" dirty="0">
                <a:solidFill>
                  <a:schemeClr val="tx1"/>
                </a:solidFill>
                <a:latin typeface="Times New Roman" panose="02020603050405020304" pitchFamily="18" charset="0"/>
                <a:cs typeface="Times New Roman" panose="02020603050405020304" pitchFamily="18" charset="0"/>
              </a:rPr>
              <a:t>1. Overfitting Problem</a:t>
            </a:r>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Decision trees can grow very large and fit the training data perfectly, including noise. This leads to overfitting, where the model performs well on training data but poorly on unseen data.</a:t>
            </a:r>
          </a:p>
          <a:p>
            <a:pPr marL="0" indent="0" algn="just">
              <a:buNone/>
            </a:pPr>
            <a:r>
              <a:rPr lang="en-IN" b="1" dirty="0">
                <a:solidFill>
                  <a:schemeClr val="tx1"/>
                </a:solidFill>
                <a:latin typeface="Times New Roman" panose="02020603050405020304" pitchFamily="18" charset="0"/>
                <a:cs typeface="Times New Roman" panose="02020603050405020304" pitchFamily="18" charset="0"/>
              </a:rPr>
              <a:t>2. High Computational Cost</a:t>
            </a:r>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Building a decision tree requires evaluating many possible splits, which involves repeated calculations and sorting. Pruning the tree further increases computational complexity.</a:t>
            </a:r>
          </a:p>
          <a:p>
            <a:endParaRPr lang="en-IN" dirty="0"/>
          </a:p>
        </p:txBody>
      </p:sp>
    </p:spTree>
    <p:extLst>
      <p:ext uri="{BB962C8B-B14F-4D97-AF65-F5344CB8AC3E}">
        <p14:creationId xmlns:p14="http://schemas.microsoft.com/office/powerpoint/2010/main" val="2064814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E68744-C9BB-9E9C-A4F9-0E61FE1B7704}"/>
              </a:ext>
            </a:extLst>
          </p:cNvPr>
          <p:cNvSpPr>
            <a:spLocks noGrp="1"/>
          </p:cNvSpPr>
          <p:nvPr>
            <p:ph idx="1"/>
          </p:nvPr>
        </p:nvSpPr>
        <p:spPr>
          <a:xfrm>
            <a:off x="811160" y="766915"/>
            <a:ext cx="10559845" cy="5427407"/>
          </a:xfrm>
        </p:spPr>
        <p:txBody>
          <a:bodyPr>
            <a:normAutofit fontScale="92500" lnSpcReduction="10000"/>
          </a:bodyPr>
          <a:lstStyle/>
          <a:p>
            <a:pPr marL="0" indent="0">
              <a:buNone/>
            </a:pPr>
            <a:r>
              <a:rPr lang="en-IN" b="1" dirty="0">
                <a:solidFill>
                  <a:schemeClr val="tx1"/>
                </a:solidFill>
                <a:latin typeface="Times New Roman" panose="02020603050405020304" pitchFamily="18" charset="0"/>
                <a:cs typeface="Times New Roman" panose="02020603050405020304" pitchFamily="18" charset="0"/>
              </a:rPr>
              <a:t>3. Requires Large Dataset</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Decision trees generally require a large amount of data to build an accurate and reliable model. With small datasets, the tree may learn incorrect patterns.</a:t>
            </a:r>
          </a:p>
          <a:p>
            <a:r>
              <a:rPr lang="en-IN" b="1" dirty="0">
                <a:solidFill>
                  <a:schemeClr val="tx1"/>
                </a:solidFill>
                <a:latin typeface="Times New Roman" panose="02020603050405020304" pitchFamily="18" charset="0"/>
                <a:cs typeface="Times New Roman" panose="02020603050405020304" pitchFamily="18" charset="0"/>
              </a:rPr>
              <a:t>4. Instability (High Variance)</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A small change in the dataset can lead to a completely different tree structure. This makes decision trees unstable and sensitive to variations in data.</a:t>
            </a:r>
          </a:p>
          <a:p>
            <a:r>
              <a:rPr lang="en-IN" b="1" dirty="0">
                <a:solidFill>
                  <a:schemeClr val="tx1"/>
                </a:solidFill>
                <a:latin typeface="Times New Roman" panose="02020603050405020304" pitchFamily="18" charset="0"/>
                <a:cs typeface="Times New Roman" panose="02020603050405020304" pitchFamily="18" charset="0"/>
              </a:rPr>
              <a:t>5. Poor at Capturing Relationships Between Variables</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Decision trees split data based on one attribute at a time (univariate splits). This limits their ability to capture relationships or interactions between multiple variables.</a:t>
            </a:r>
          </a:p>
          <a:p>
            <a:r>
              <a:rPr lang="en-IN" b="1" dirty="0">
                <a:solidFill>
                  <a:schemeClr val="tx1"/>
                </a:solidFill>
                <a:latin typeface="Times New Roman" panose="02020603050405020304" pitchFamily="18" charset="0"/>
                <a:cs typeface="Times New Roman" panose="02020603050405020304" pitchFamily="18" charset="0"/>
              </a:rPr>
              <a:t>6. Limitations in Regression Tasks</a:t>
            </a:r>
            <a:endParaRPr lang="en-IN" dirty="0">
              <a:solidFill>
                <a:schemeClr val="tx1"/>
              </a:solidFill>
              <a:latin typeface="Times New Roman" panose="02020603050405020304" pitchFamily="18" charset="0"/>
              <a:cs typeface="Times New Roman" panose="02020603050405020304" pitchFamily="18" charset="0"/>
            </a:endParaRPr>
          </a:p>
          <a:p>
            <a:r>
              <a:rPr lang="en-IN" dirty="0">
                <a:solidFill>
                  <a:schemeClr val="tx1"/>
                </a:solidFill>
                <a:latin typeface="Times New Roman" panose="02020603050405020304" pitchFamily="18" charset="0"/>
                <a:cs typeface="Times New Roman" panose="02020603050405020304" pitchFamily="18" charset="0"/>
              </a:rPr>
              <a:t>Regression trees produce a limited number of output values (based on leaf nodes), which makes them less suitable for predicting continuous values accurately compared to other methods.</a:t>
            </a:r>
          </a:p>
          <a:p>
            <a:endParaRPr lang="en-IN" dirty="0"/>
          </a:p>
        </p:txBody>
      </p:sp>
    </p:spTree>
    <p:extLst>
      <p:ext uri="{BB962C8B-B14F-4D97-AF65-F5344CB8AC3E}">
        <p14:creationId xmlns:p14="http://schemas.microsoft.com/office/powerpoint/2010/main" val="2873201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CCEA0-DD26-1D60-0A99-6BDCA39CBE9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Random Forest Algorithm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ADB7E9-7AFE-8129-FB2E-B8356B5BE08B}"/>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Random Forest is a machine learning algorithm that uses many decision trees to make better predictions.</a:t>
            </a:r>
          </a:p>
          <a:p>
            <a:r>
              <a:rPr lang="en-US" dirty="0">
                <a:solidFill>
                  <a:schemeClr val="tx1"/>
                </a:solidFill>
                <a:latin typeface="Times New Roman" panose="02020603050405020304" pitchFamily="18" charset="0"/>
                <a:cs typeface="Times New Roman" panose="02020603050405020304" pitchFamily="18" charset="0"/>
              </a:rPr>
              <a:t>Each tree looks at different random parts of the data and their results are combined by voting for classification or averaging for regression which makes it as ensemble learning technique.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5770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ACDEB-AB92-5269-0FF5-08191824B06E}"/>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Working of Random Forest Algorithm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3EE15F-C24F-C81F-1DFD-5D2BD98C5F74}"/>
              </a:ext>
            </a:extLst>
          </p:cNvPr>
          <p:cNvSpPr>
            <a:spLocks noGrp="1"/>
          </p:cNvSpPr>
          <p:nvPr>
            <p:ph idx="1"/>
          </p:nvPr>
        </p:nvSpPr>
        <p:spPr/>
        <p:txBody>
          <a:bodyPr/>
          <a:lstStyle/>
          <a:p>
            <a:pPr algn="just" fontAlgn="base"/>
            <a:r>
              <a:rPr lang="en-US" b="1" dirty="0">
                <a:solidFill>
                  <a:schemeClr val="tx1"/>
                </a:solidFill>
                <a:latin typeface="Times New Roman" panose="02020603050405020304" pitchFamily="18" charset="0"/>
                <a:cs typeface="Times New Roman" panose="02020603050405020304" pitchFamily="18" charset="0"/>
              </a:rPr>
              <a:t>Create Many Decision Trees:</a:t>
            </a:r>
            <a:r>
              <a:rPr lang="en-US" dirty="0">
                <a:solidFill>
                  <a:schemeClr val="tx1"/>
                </a:solidFill>
                <a:latin typeface="Times New Roman" panose="02020603050405020304" pitchFamily="18" charset="0"/>
                <a:cs typeface="Times New Roman" panose="02020603050405020304" pitchFamily="18" charset="0"/>
              </a:rPr>
              <a:t> The algorithm makes many </a:t>
            </a:r>
            <a:r>
              <a:rPr lang="en-US" u="sng"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decision trees</a:t>
            </a:r>
            <a:r>
              <a:rPr lang="en-US" dirty="0">
                <a:solidFill>
                  <a:schemeClr val="tx1"/>
                </a:solidFill>
                <a:latin typeface="Times New Roman" panose="02020603050405020304" pitchFamily="18" charset="0"/>
                <a:cs typeface="Times New Roman" panose="02020603050405020304" pitchFamily="18" charset="0"/>
              </a:rPr>
              <a:t> each using a random part of the data. So every tree is a bit different.</a:t>
            </a:r>
          </a:p>
          <a:p>
            <a:pPr algn="just" fontAlgn="base"/>
            <a:r>
              <a:rPr lang="en-US" b="1" dirty="0">
                <a:solidFill>
                  <a:schemeClr val="tx1"/>
                </a:solidFill>
                <a:latin typeface="Times New Roman" panose="02020603050405020304" pitchFamily="18" charset="0"/>
                <a:cs typeface="Times New Roman" panose="02020603050405020304" pitchFamily="18" charset="0"/>
              </a:rPr>
              <a:t>Pick Random Features:</a:t>
            </a:r>
            <a:r>
              <a:rPr lang="en-US" dirty="0">
                <a:solidFill>
                  <a:schemeClr val="tx1"/>
                </a:solidFill>
                <a:latin typeface="Times New Roman" panose="02020603050405020304" pitchFamily="18" charset="0"/>
                <a:cs typeface="Times New Roman" panose="02020603050405020304" pitchFamily="18" charset="0"/>
              </a:rPr>
              <a:t> When building each tree it doesn’t look at all the features (columns) at once. It picks a few at random to decide how to split the data. This helps the trees stay different from each other.</a:t>
            </a:r>
          </a:p>
          <a:p>
            <a:r>
              <a:rPr lang="en-US" b="1" dirty="0">
                <a:solidFill>
                  <a:schemeClr val="tx1"/>
                </a:solidFill>
                <a:latin typeface="Times New Roman" panose="02020603050405020304" pitchFamily="18" charset="0"/>
                <a:cs typeface="Times New Roman" panose="02020603050405020304" pitchFamily="18" charset="0"/>
              </a:rPr>
              <a:t>Each Tree Makes a Prediction:</a:t>
            </a:r>
            <a:r>
              <a:rPr lang="en-US" dirty="0">
                <a:solidFill>
                  <a:schemeClr val="tx1"/>
                </a:solidFill>
                <a:latin typeface="Times New Roman" panose="02020603050405020304" pitchFamily="18" charset="0"/>
                <a:cs typeface="Times New Roman" panose="02020603050405020304" pitchFamily="18" charset="0"/>
              </a:rPr>
              <a:t> Every tree gives its own answer or prediction based on what it learned from its part of the data.</a:t>
            </a:r>
          </a:p>
          <a:p>
            <a:endParaRPr lang="en-IN" dirty="0"/>
          </a:p>
        </p:txBody>
      </p:sp>
    </p:spTree>
    <p:extLst>
      <p:ext uri="{BB962C8B-B14F-4D97-AF65-F5344CB8AC3E}">
        <p14:creationId xmlns:p14="http://schemas.microsoft.com/office/powerpoint/2010/main" val="828767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6C3E78-0ACF-041A-FD7A-505E7E3AA1D5}"/>
              </a:ext>
            </a:extLst>
          </p:cNvPr>
          <p:cNvSpPr>
            <a:spLocks noGrp="1"/>
          </p:cNvSpPr>
          <p:nvPr>
            <p:ph idx="1"/>
          </p:nvPr>
        </p:nvSpPr>
        <p:spPr/>
        <p:txBody>
          <a:bodyPr/>
          <a:lstStyle/>
          <a:p>
            <a:pPr algn="just" fontAlgn="base"/>
            <a:r>
              <a:rPr lang="en-US" b="1" dirty="0">
                <a:solidFill>
                  <a:schemeClr val="tx1"/>
                </a:solidFill>
                <a:latin typeface="Times New Roman" panose="02020603050405020304" pitchFamily="18" charset="0"/>
                <a:cs typeface="Times New Roman" panose="02020603050405020304" pitchFamily="18" charset="0"/>
              </a:rPr>
              <a:t>Combine the Predictions:</a:t>
            </a:r>
            <a:r>
              <a:rPr lang="en-US" dirty="0">
                <a:solidFill>
                  <a:schemeClr val="tx1"/>
                </a:solidFill>
                <a:latin typeface="Times New Roman" panose="02020603050405020304" pitchFamily="18" charset="0"/>
                <a:cs typeface="Times New Roman" panose="02020603050405020304" pitchFamily="18" charset="0"/>
              </a:rPr>
              <a:t> For classification, the final answer is the category that most trees vote for (majority voting).</a:t>
            </a:r>
          </a:p>
          <a:p>
            <a:pPr algn="just" fontAlgn="base"/>
            <a:r>
              <a:rPr lang="en-US" b="1" dirty="0">
                <a:solidFill>
                  <a:schemeClr val="tx1"/>
                </a:solidFill>
                <a:latin typeface="Times New Roman" panose="02020603050405020304" pitchFamily="18" charset="0"/>
                <a:cs typeface="Times New Roman" panose="02020603050405020304" pitchFamily="18" charset="0"/>
              </a:rPr>
              <a:t>Why It Works Well:</a:t>
            </a:r>
            <a:r>
              <a:rPr lang="en-US" dirty="0">
                <a:solidFill>
                  <a:schemeClr val="tx1"/>
                </a:solidFill>
                <a:latin typeface="Times New Roman" panose="02020603050405020304" pitchFamily="18" charset="0"/>
                <a:cs typeface="Times New Roman" panose="02020603050405020304" pitchFamily="18" charset="0"/>
              </a:rPr>
              <a:t> Using random data and features for each tree helps avoid overfitting and makes the overall prediction more accurate and trustworthy.</a:t>
            </a:r>
          </a:p>
          <a:p>
            <a:endParaRPr lang="en-IN" dirty="0"/>
          </a:p>
        </p:txBody>
      </p:sp>
    </p:spTree>
    <p:extLst>
      <p:ext uri="{BB962C8B-B14F-4D97-AF65-F5344CB8AC3E}">
        <p14:creationId xmlns:p14="http://schemas.microsoft.com/office/powerpoint/2010/main" val="2629921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301435-9FA2-7D5C-C6BE-00A017299D53}"/>
              </a:ext>
            </a:extLst>
          </p:cNvPr>
          <p:cNvSpPr>
            <a:spLocks noGrp="1"/>
          </p:cNvSpPr>
          <p:nvPr>
            <p:ph idx="1"/>
          </p:nvPr>
        </p:nvSpPr>
        <p:spPr>
          <a:xfrm>
            <a:off x="693174" y="678426"/>
            <a:ext cx="10604091" cy="5545393"/>
          </a:xfrm>
        </p:spPr>
        <p:txBody>
          <a:bodyPr/>
          <a:lstStyle/>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Let’s understand random forest algorithm</a:t>
            </a:r>
          </a:p>
          <a:p>
            <a:r>
              <a:rPr lang="en-US" dirty="0">
                <a:solidFill>
                  <a:schemeClr val="tx1"/>
                </a:solidFill>
                <a:latin typeface="Times New Roman" panose="02020603050405020304" pitchFamily="18" charset="0"/>
                <a:cs typeface="Times New Roman" panose="02020603050405020304" pitchFamily="18" charset="0"/>
              </a:rPr>
              <a:t>To begin let’s take dataset as shown below</a:t>
            </a:r>
          </a:p>
          <a:p>
            <a:r>
              <a:rPr lang="en-US" dirty="0">
                <a:solidFill>
                  <a:schemeClr val="tx1"/>
                </a:solidFill>
                <a:latin typeface="Times New Roman" panose="02020603050405020304" pitchFamily="18" charset="0"/>
                <a:cs typeface="Times New Roman" panose="02020603050405020304" pitchFamily="18" charset="0"/>
              </a:rPr>
              <a:t>Here we are taking a small dataset with </a:t>
            </a:r>
            <a:r>
              <a:rPr lang="en-US" b="1" dirty="0">
                <a:solidFill>
                  <a:schemeClr val="tx1"/>
                </a:solidFill>
                <a:latin typeface="Times New Roman" panose="02020603050405020304" pitchFamily="18" charset="0"/>
                <a:cs typeface="Times New Roman" panose="02020603050405020304" pitchFamily="18" charset="0"/>
              </a:rPr>
              <a:t>six</a:t>
            </a:r>
            <a:r>
              <a:rPr lang="en-US" dirty="0">
                <a:solidFill>
                  <a:schemeClr val="tx1"/>
                </a:solidFill>
                <a:latin typeface="Times New Roman" panose="02020603050405020304" pitchFamily="18" charset="0"/>
                <a:cs typeface="Times New Roman" panose="02020603050405020304" pitchFamily="18" charset="0"/>
              </a:rPr>
              <a:t> instances and </a:t>
            </a:r>
            <a:r>
              <a:rPr lang="en-US" b="1" dirty="0">
                <a:solidFill>
                  <a:schemeClr val="tx1"/>
                </a:solidFill>
                <a:latin typeface="Times New Roman" panose="02020603050405020304" pitchFamily="18" charset="0"/>
                <a:cs typeface="Times New Roman" panose="02020603050405020304" pitchFamily="18" charset="0"/>
              </a:rPr>
              <a:t>five</a:t>
            </a:r>
            <a:r>
              <a:rPr lang="en-US" dirty="0">
                <a:solidFill>
                  <a:schemeClr val="tx1"/>
                </a:solidFill>
                <a:latin typeface="Times New Roman" panose="02020603050405020304" pitchFamily="18" charset="0"/>
                <a:cs typeface="Times New Roman" panose="02020603050405020304" pitchFamily="18" charset="0"/>
              </a:rPr>
              <a:t> features. As you can see target variable y takes values</a:t>
            </a:r>
          </a:p>
          <a:p>
            <a:pPr marL="0" indent="0">
              <a:buNone/>
            </a:pPr>
            <a:r>
              <a:rPr lang="en-US" dirty="0">
                <a:solidFill>
                  <a:schemeClr val="tx1"/>
                </a:solidFill>
                <a:latin typeface="Times New Roman" panose="02020603050405020304" pitchFamily="18" charset="0"/>
                <a:cs typeface="Times New Roman" panose="02020603050405020304" pitchFamily="18" charset="0"/>
              </a:rPr>
              <a:t>0 &amp; 1 hence it’s a </a:t>
            </a:r>
            <a:r>
              <a:rPr lang="en-US" b="1" dirty="0">
                <a:solidFill>
                  <a:schemeClr val="tx1"/>
                </a:solidFill>
                <a:latin typeface="Times New Roman" panose="02020603050405020304" pitchFamily="18" charset="0"/>
                <a:cs typeface="Times New Roman" panose="02020603050405020304" pitchFamily="18" charset="0"/>
              </a:rPr>
              <a:t>binary classification.</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First let us understand why do we need </a:t>
            </a:r>
          </a:p>
          <a:p>
            <a:pPr marL="0" indent="0">
              <a:buNone/>
            </a:pPr>
            <a:r>
              <a:rPr lang="en-US" dirty="0">
                <a:solidFill>
                  <a:schemeClr val="tx1"/>
                </a:solidFill>
                <a:latin typeface="Times New Roman" panose="02020603050405020304" pitchFamily="18" charset="0"/>
                <a:cs typeface="Times New Roman" panose="02020603050405020304" pitchFamily="18" charset="0"/>
              </a:rPr>
              <a:t>  random forest when we already have </a:t>
            </a:r>
          </a:p>
          <a:p>
            <a:pPr marL="0" indent="0">
              <a:buNone/>
            </a:pPr>
            <a:r>
              <a:rPr lang="en-US" dirty="0">
                <a:solidFill>
                  <a:schemeClr val="tx1"/>
                </a:solidFill>
                <a:latin typeface="Times New Roman" panose="02020603050405020304" pitchFamily="18" charset="0"/>
                <a:cs typeface="Times New Roman" panose="02020603050405020304" pitchFamily="18" charset="0"/>
              </a:rPr>
              <a:t>decision tree</a:t>
            </a:r>
          </a:p>
          <a:p>
            <a:br>
              <a:rPr lang="en-US" dirty="0"/>
            </a:br>
            <a:br>
              <a:rPr lang="en-US" dirty="0">
                <a:latin typeface="Times New Roman" panose="02020603050405020304" pitchFamily="18" charset="0"/>
                <a:cs typeface="Times New Roman" panose="02020603050405020304" pitchFamily="18" charset="0"/>
              </a:rPr>
            </a:br>
            <a:br>
              <a:rPr lang="en-US" dirty="0"/>
            </a:br>
            <a:endParaRPr lang="en-IN"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C0B21C9E-0430-1051-0351-20A42182C7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394113"/>
            <a:ext cx="5710100" cy="2871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605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1" name="Picture 5">
            <a:extLst>
              <a:ext uri="{FF2B5EF4-FFF2-40B4-BE49-F238E27FC236}">
                <a16:creationId xmlns:a16="http://schemas.microsoft.com/office/drawing/2014/main" id="{E3E1CC06-63CF-D0E0-0F5E-B42D23FCF3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960" y="656021"/>
            <a:ext cx="4700663" cy="5545958"/>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D56E8D51-8CE6-6B22-0555-B67409E420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6764" y="711468"/>
            <a:ext cx="4871427" cy="5435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805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F0198D-5D71-75E5-8911-B01950887800}"/>
              </a:ext>
            </a:extLst>
          </p:cNvPr>
          <p:cNvSpPr>
            <a:spLocks noGrp="1"/>
          </p:cNvSpPr>
          <p:nvPr>
            <p:ph idx="1"/>
          </p:nvPr>
        </p:nvSpPr>
        <p:spPr>
          <a:xfrm>
            <a:off x="840658" y="766916"/>
            <a:ext cx="10456607" cy="5471652"/>
          </a:xfrm>
        </p:spPr>
        <p:txBody>
          <a:bodyPr/>
          <a:lstStyle/>
          <a:p>
            <a:r>
              <a:rPr lang="en-US" dirty="0">
                <a:solidFill>
                  <a:schemeClr val="tx1"/>
                </a:solidFill>
                <a:latin typeface="Times New Roman" panose="02020603050405020304" pitchFamily="18" charset="0"/>
                <a:cs typeface="Times New Roman" panose="02020603050405020304" pitchFamily="18" charset="0"/>
              </a:rPr>
              <a:t>Decision tree splits the dataset recursively using decision nodes unless we are left with pure leaf nodes and its find the best split by maximizing the entropy gain.</a:t>
            </a:r>
          </a:p>
          <a:p>
            <a:r>
              <a:rPr lang="en-US" dirty="0">
                <a:solidFill>
                  <a:schemeClr val="tx1"/>
                </a:solidFill>
                <a:latin typeface="Times New Roman" panose="02020603050405020304" pitchFamily="18" charset="0"/>
                <a:cs typeface="Times New Roman" panose="02020603050405020304" pitchFamily="18" charset="0"/>
              </a:rPr>
              <a:t>If data sample satisfies the condition at the decision node then it moves to the left else it moves to the right child and finally reaches the leaf node where class label is assigned to it.</a:t>
            </a:r>
          </a:p>
          <a:p>
            <a:r>
              <a:rPr lang="en-US" dirty="0">
                <a:solidFill>
                  <a:schemeClr val="tx1"/>
                </a:solidFill>
                <a:latin typeface="Times New Roman" panose="02020603050405020304" pitchFamily="18" charset="0"/>
                <a:cs typeface="Times New Roman" panose="02020603050405020304" pitchFamily="18" charset="0"/>
              </a:rPr>
              <a:t>So, </a:t>
            </a:r>
            <a:r>
              <a:rPr lang="en-US" b="1" dirty="0">
                <a:solidFill>
                  <a:schemeClr val="tx1"/>
                </a:solidFill>
                <a:latin typeface="Times New Roman" panose="02020603050405020304" pitchFamily="18" charset="0"/>
                <a:cs typeface="Times New Roman" panose="02020603050405020304" pitchFamily="18" charset="0"/>
              </a:rPr>
              <a:t>what is the problem with decision tree?</a:t>
            </a:r>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Let’s change out training data slightly. Focus on the row with id=1</a:t>
            </a:r>
          </a:p>
          <a:p>
            <a:br>
              <a:rPr lang="en-US" dirty="0">
                <a:solidFill>
                  <a:schemeClr val="tx1"/>
                </a:solidFill>
                <a:latin typeface="Times New Roman" panose="02020603050405020304" pitchFamily="18" charset="0"/>
                <a:cs typeface="Times New Roman" panose="02020603050405020304" pitchFamily="18" charset="0"/>
              </a:rPr>
            </a:br>
            <a:br>
              <a:rPr lang="en-US" dirty="0"/>
            </a:b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731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AE03B5B7-19C3-9350-1A90-B4A8092978F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657" y="772652"/>
            <a:ext cx="6353175" cy="32004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FFF066C-08FF-3B8E-174F-D44879719CEF}"/>
                  </a:ext>
                </a:extLst>
              </p:cNvPr>
              <p:cNvSpPr txBox="1"/>
              <p:nvPr/>
            </p:nvSpPr>
            <p:spPr>
              <a:xfrm>
                <a:off x="7237311" y="625168"/>
                <a:ext cx="4277032" cy="200054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We are changing </a:t>
                </a:r>
                <a14:m>
                  <m:oMath xmlns:m="http://schemas.openxmlformats.org/officeDocument/2006/math">
                    <m:sSub>
                      <m:sSubPr>
                        <m:ctrlPr>
                          <a:rPr lang="en-US" sz="220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𝑥</m:t>
                        </m:r>
                      </m:e>
                      <m:sub>
                        <m:r>
                          <a:rPr lang="en-US" sz="2200" b="0" i="1" smtClean="0">
                            <a:latin typeface="Cambria Math" panose="02040503050406030204" pitchFamily="18" charset="0"/>
                            <a:cs typeface="Times New Roman" panose="02020603050405020304" pitchFamily="18" charset="0"/>
                          </a:rPr>
                          <m:t>0</m:t>
                        </m:r>
                      </m:sub>
                    </m:sSub>
                  </m:oMath>
                </a14:m>
                <a:r>
                  <a:rPr lang="en-US" sz="2200" dirty="0">
                    <a:latin typeface="Times New Roman" panose="02020603050405020304" pitchFamily="18" charset="0"/>
                    <a:cs typeface="Times New Roman" panose="02020603050405020304" pitchFamily="18" charset="0"/>
                  </a:rPr>
                  <a:t> &amp; </a:t>
                </a:r>
                <a14:m>
                  <m:oMath xmlns:m="http://schemas.openxmlformats.org/officeDocument/2006/math">
                    <m:sSub>
                      <m:sSubPr>
                        <m:ctrlPr>
                          <a:rPr lang="en-US" sz="220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𝑥</m:t>
                        </m:r>
                      </m:e>
                      <m:sub>
                        <m:r>
                          <a:rPr lang="en-US" sz="2200" b="0" i="1" smtClean="0">
                            <a:latin typeface="Cambria Math" panose="02040503050406030204" pitchFamily="18" charset="0"/>
                            <a:cs typeface="Times New Roman" panose="02020603050405020304" pitchFamily="18" charset="0"/>
                          </a:rPr>
                          <m:t>1</m:t>
                        </m:r>
                      </m:sub>
                    </m:sSub>
                  </m:oMath>
                </a14:m>
                <a:r>
                  <a:rPr lang="en-US" sz="2200" dirty="0">
                    <a:latin typeface="Times New Roman" panose="02020603050405020304" pitchFamily="18" charset="0"/>
                    <a:cs typeface="Times New Roman" panose="02020603050405020304" pitchFamily="18" charset="0"/>
                  </a:rPr>
                  <a:t> features</a:t>
                </a:r>
              </a:p>
              <a:p>
                <a:r>
                  <a:rPr lang="en-US" sz="2200" dirty="0">
                    <a:latin typeface="Times New Roman" panose="02020603050405020304" pitchFamily="18" charset="0"/>
                    <a:cs typeface="Times New Roman" panose="02020603050405020304" pitchFamily="18" charset="0"/>
                  </a:rPr>
                  <a:t>If we train our tree on this modified dataset then we will get completely different tree as shown below</a:t>
                </a:r>
              </a:p>
              <a:p>
                <a:br>
                  <a:rPr lang="en-US" dirty="0"/>
                </a:br>
                <a:endParaRPr lang="en-IN" dirty="0"/>
              </a:p>
            </p:txBody>
          </p:sp>
        </mc:Choice>
        <mc:Fallback xmlns="">
          <p:sp>
            <p:nvSpPr>
              <p:cNvPr id="4" name="TextBox 3">
                <a:extLst>
                  <a:ext uri="{FF2B5EF4-FFF2-40B4-BE49-F238E27FC236}">
                    <a16:creationId xmlns:a16="http://schemas.microsoft.com/office/drawing/2014/main" id="{3FFF066C-08FF-3B8E-174F-D44879719CEF}"/>
                  </a:ext>
                </a:extLst>
              </p:cNvPr>
              <p:cNvSpPr txBox="1">
                <a:spLocks noRot="1" noChangeAspect="1" noMove="1" noResize="1" noEditPoints="1" noAdjustHandles="1" noChangeArrowheads="1" noChangeShapeType="1" noTextEdit="1"/>
              </p:cNvSpPr>
              <p:nvPr/>
            </p:nvSpPr>
            <p:spPr>
              <a:xfrm>
                <a:off x="7237311" y="625168"/>
                <a:ext cx="4277032" cy="2000548"/>
              </a:xfrm>
              <a:prstGeom prst="rect">
                <a:avLst/>
              </a:prstGeom>
              <a:blipFill>
                <a:blip r:embed="rId3"/>
                <a:stretch>
                  <a:fillRect l="-1852" t="-2134" r="-1140"/>
                </a:stretch>
              </a:blipFill>
            </p:spPr>
            <p:txBody>
              <a:bodyPr/>
              <a:lstStyle/>
              <a:p>
                <a:r>
                  <a:rPr lang="en-IN">
                    <a:noFill/>
                  </a:rPr>
                  <a:t> </a:t>
                </a:r>
              </a:p>
            </p:txBody>
          </p:sp>
        </mc:Fallback>
      </mc:AlternateContent>
      <p:pic>
        <p:nvPicPr>
          <p:cNvPr id="5124" name="Picture 4">
            <a:extLst>
              <a:ext uri="{FF2B5EF4-FFF2-40B4-BE49-F238E27FC236}">
                <a16:creationId xmlns:a16="http://schemas.microsoft.com/office/drawing/2014/main" id="{49F23A74-82D8-5EEC-4E21-AB215D29C0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2685" y="2125380"/>
            <a:ext cx="3583858" cy="42113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4251160-10B6-F95C-F0B3-BA32AA90876B}"/>
              </a:ext>
            </a:extLst>
          </p:cNvPr>
          <p:cNvSpPr txBox="1"/>
          <p:nvPr/>
        </p:nvSpPr>
        <p:spPr>
          <a:xfrm>
            <a:off x="648160" y="4247535"/>
            <a:ext cx="5987845" cy="2000548"/>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This shows us that decision tree are highly sensitive to training data which could result in high variance so our model might fail to generalize. Here comes a </a:t>
            </a:r>
            <a:r>
              <a:rPr lang="en-US" sz="2200" b="1" dirty="0">
                <a:latin typeface="Times New Roman" panose="02020603050405020304" pitchFamily="18" charset="0"/>
                <a:cs typeface="Times New Roman" panose="02020603050405020304" pitchFamily="18" charset="0"/>
              </a:rPr>
              <a:t>random forest algorithm</a:t>
            </a:r>
            <a:endParaRPr lang="en-US" sz="2200" dirty="0">
              <a:latin typeface="Times New Roman" panose="02020603050405020304" pitchFamily="18" charset="0"/>
              <a:cs typeface="Times New Roman" panose="02020603050405020304" pitchFamily="18" charset="0"/>
            </a:endParaRPr>
          </a:p>
          <a:p>
            <a:br>
              <a:rPr lang="en-US" dirty="0"/>
            </a:br>
            <a:endParaRPr lang="en-IN" dirty="0"/>
          </a:p>
        </p:txBody>
      </p:sp>
    </p:spTree>
    <p:extLst>
      <p:ext uri="{BB962C8B-B14F-4D97-AF65-F5344CB8AC3E}">
        <p14:creationId xmlns:p14="http://schemas.microsoft.com/office/powerpoint/2010/main" val="3119603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ABC27C-9327-9BE7-AB8A-161A6EE982F2}"/>
              </a:ext>
            </a:extLst>
          </p:cNvPr>
          <p:cNvSpPr>
            <a:spLocks noGrp="1"/>
          </p:cNvSpPr>
          <p:nvPr>
            <p:ph idx="1"/>
          </p:nvPr>
        </p:nvSpPr>
        <p:spPr>
          <a:xfrm>
            <a:off x="825910" y="801874"/>
            <a:ext cx="10412361" cy="5318708"/>
          </a:xfrm>
        </p:spPr>
        <p:txBody>
          <a:bodyPr/>
          <a:lstStyle/>
          <a:p>
            <a:r>
              <a:rPr lang="en-US" sz="2200" b="1" dirty="0">
                <a:latin typeface="Times New Roman" panose="02020603050405020304" pitchFamily="18" charset="0"/>
                <a:cs typeface="Times New Roman" panose="02020603050405020304" pitchFamily="18" charset="0"/>
              </a:rPr>
              <a:t>Random Forest: </a:t>
            </a:r>
            <a:r>
              <a:rPr lang="en-US" sz="2200" dirty="0">
                <a:latin typeface="Times New Roman" panose="02020603050405020304" pitchFamily="18" charset="0"/>
                <a:cs typeface="Times New Roman" panose="02020603050405020304" pitchFamily="18" charset="0"/>
              </a:rPr>
              <a:t>It is a collection of multiple random decision tree and it’s much less sensitive to the training data. Since we are using multiple trees hence the name forest.</a:t>
            </a:r>
          </a:p>
          <a:p>
            <a:r>
              <a:rPr lang="en-US" sz="2200" dirty="0">
                <a:latin typeface="Times New Roman" panose="02020603050405020304" pitchFamily="18" charset="0"/>
                <a:cs typeface="Times New Roman" panose="02020603050405020304" pitchFamily="18" charset="0"/>
              </a:rPr>
              <a:t>Let’s understand the process of creating a random forest</a:t>
            </a:r>
          </a:p>
          <a:p>
            <a:r>
              <a:rPr lang="en-US" sz="2200" b="1" dirty="0">
                <a:latin typeface="Times New Roman" panose="02020603050405020304" pitchFamily="18" charset="0"/>
                <a:cs typeface="Times New Roman" panose="02020603050405020304" pitchFamily="18" charset="0"/>
              </a:rPr>
              <a:t>Step1 : Build new dataset from the original data.</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To maintain simplicity we will build only 4(this is w.r.t this example)</a:t>
            </a:r>
          </a:p>
          <a:p>
            <a:r>
              <a:rPr lang="en-US" sz="2200" dirty="0">
                <a:latin typeface="Times New Roman" panose="02020603050405020304" pitchFamily="18" charset="0"/>
                <a:cs typeface="Times New Roman" panose="02020603050405020304" pitchFamily="18" charset="0"/>
              </a:rPr>
              <a:t>We will randomly select rows from original data to build new dataset and every dataset will contain the same number of rows as original one.</a:t>
            </a:r>
          </a:p>
          <a:p>
            <a:br>
              <a:rPr lang="en-US" dirty="0"/>
            </a:br>
            <a:br>
              <a:rPr lang="en-US" dirty="0"/>
            </a:br>
            <a:br>
              <a:rPr lang="en-US" dirty="0"/>
            </a:br>
            <a:endParaRPr lang="en-IN" dirty="0"/>
          </a:p>
        </p:txBody>
      </p:sp>
    </p:spTree>
    <p:extLst>
      <p:ext uri="{BB962C8B-B14F-4D97-AF65-F5344CB8AC3E}">
        <p14:creationId xmlns:p14="http://schemas.microsoft.com/office/powerpoint/2010/main" val="222249940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132</TotalTime>
  <Words>1789</Words>
  <Application>Microsoft Office PowerPoint</Application>
  <PresentationFormat>Widescreen</PresentationFormat>
  <Paragraphs>199</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Cambria Math</vt:lpstr>
      <vt:lpstr>Garamond</vt:lpstr>
      <vt:lpstr>Times New Roman</vt:lpstr>
      <vt:lpstr>Organic</vt:lpstr>
      <vt:lpstr>Decision tree remaining part followed by Random Forest </vt:lpstr>
      <vt:lpstr>Overfitting in decision tree</vt:lpstr>
      <vt:lpstr>PowerPoint Presentation</vt:lpstr>
      <vt:lpstr>PowerPoint Presentation</vt:lpstr>
      <vt:lpstr>PowerPoint Presentation</vt:lpstr>
      <vt:lpstr>PowerPoint Presentation</vt:lpstr>
      <vt:lpstr>Overfitted decision Tree</vt:lpstr>
      <vt:lpstr>Problems Due to Overfitting</vt:lpstr>
      <vt:lpstr>How pruning helps</vt:lpstr>
      <vt:lpstr>PowerPoint Presentation</vt:lpstr>
      <vt:lpstr>PowerPoint Presentation</vt:lpstr>
      <vt:lpstr>Strengths and weaknesses of decision trees. </vt:lpstr>
      <vt:lpstr>PowerPoint Presentation</vt:lpstr>
      <vt:lpstr>PowerPoint Presentation</vt:lpstr>
      <vt:lpstr>PowerPoint Presentation</vt:lpstr>
      <vt:lpstr>Weakness of decision tree</vt:lpstr>
      <vt:lpstr>PowerPoint Presentation</vt:lpstr>
      <vt:lpstr>Random Forest Algorithm </vt:lpstr>
      <vt:lpstr>Working of Random Forest Algorithm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1</cp:revision>
  <dcterms:created xsi:type="dcterms:W3CDTF">2026-05-17T12:22:39Z</dcterms:created>
  <dcterms:modified xsi:type="dcterms:W3CDTF">2026-05-20T08:57:39Z</dcterms:modified>
</cp:coreProperties>
</file>