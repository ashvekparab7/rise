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00C9154-F7C3-46B5-8726-F9660ADA5428}">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8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1011" autoAdjust="0"/>
  </p:normalViewPr>
  <p:slideViewPr>
    <p:cSldViewPr snapToGrid="0">
      <p:cViewPr varScale="1">
        <p:scale>
          <a:sx n="78" d="100"/>
          <a:sy n="78" d="100"/>
        </p:scale>
        <p:origin x="87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41B906-2FEC-482D-96A5-0FD8C7DA965C}" type="datetimeFigureOut">
              <a:rPr lang="en-IN" smtClean="0"/>
              <a:t>17-02-2026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65DC06-385B-48BC-BA32-B786EBA69CDD}" type="slidenum">
              <a:rPr lang="en-IN" smtClean="0"/>
              <a:t>‹#›</a:t>
            </a:fld>
            <a:endParaRPr lang="en-IN"/>
          </a:p>
        </p:txBody>
      </p:sp>
    </p:spTree>
    <p:extLst>
      <p:ext uri="{BB962C8B-B14F-4D97-AF65-F5344CB8AC3E}">
        <p14:creationId xmlns:p14="http://schemas.microsoft.com/office/powerpoint/2010/main" val="6377668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Inductive Learning like a detective trying to solve a case. The detective has a few clues (</a:t>
            </a:r>
            <a:r>
              <a:rPr lang="en-US" b="1" dirty="0"/>
              <a:t>specific examples</a:t>
            </a:r>
            <a:r>
              <a:rPr lang="en-US" dirty="0"/>
              <a:t>) and needs to come up with a motive or a culprit (</a:t>
            </a:r>
            <a:r>
              <a:rPr lang="en-US" b="1" dirty="0"/>
              <a:t>general rule</a:t>
            </a:r>
            <a:r>
              <a:rPr lang="en-US" dirty="0"/>
              <a:t>).</a:t>
            </a:r>
          </a:p>
          <a:p>
            <a:r>
              <a:rPr lang="en-US" dirty="0"/>
              <a:t>The problem is that there are infinite ways to connect those clues. You need a way to narrow down the search so you don't spend forever investigating impossible theories.</a:t>
            </a:r>
          </a:p>
          <a:p>
            <a:br>
              <a:rPr lang="en-US" dirty="0"/>
            </a:br>
            <a:endParaRPr lang="en-US" dirty="0"/>
          </a:p>
          <a:p>
            <a:r>
              <a:rPr lang="en-US" b="1" dirty="0"/>
              <a:t>The Example: Predicting "Will I Enjoy This Hike?"</a:t>
            </a:r>
          </a:p>
          <a:p>
            <a:r>
              <a:rPr lang="en-US" dirty="0"/>
              <a:t>Imagine you have a log of your past hikes:</a:t>
            </a:r>
          </a:p>
          <a:p>
            <a:r>
              <a:rPr lang="en-US" b="1" dirty="0"/>
              <a:t>Hike 1:</a:t>
            </a:r>
            <a:r>
              <a:rPr lang="en-US" dirty="0"/>
              <a:t> Sunny, Short, Mountain — </a:t>
            </a:r>
            <a:r>
              <a:rPr lang="en-US" i="1" dirty="0"/>
              <a:t>Enjoyed</a:t>
            </a:r>
            <a:endParaRPr lang="en-US" dirty="0"/>
          </a:p>
          <a:p>
            <a:r>
              <a:rPr lang="en-US" b="1" dirty="0"/>
              <a:t>Hike 2:</a:t>
            </a:r>
            <a:r>
              <a:rPr lang="en-US" dirty="0"/>
              <a:t> Rainy, Long, Forest — </a:t>
            </a:r>
            <a:r>
              <a:rPr lang="en-US" i="1" dirty="0"/>
              <a:t>Did Not Enjoy</a:t>
            </a:r>
            <a:endParaRPr lang="en-US" dirty="0"/>
          </a:p>
          <a:p>
            <a:r>
              <a:rPr lang="en-US" b="1" dirty="0"/>
              <a:t>Hike 3:</a:t>
            </a:r>
            <a:r>
              <a:rPr lang="en-US" dirty="0"/>
              <a:t> Sunny, Long, Mountain — </a:t>
            </a:r>
            <a:r>
              <a:rPr lang="en-US" i="1" dirty="0"/>
              <a:t>Enjoyed</a:t>
            </a:r>
            <a:endParaRPr lang="en-US" dirty="0"/>
          </a:p>
          <a:p>
            <a:r>
              <a:rPr lang="en-US" b="1" dirty="0"/>
              <a:t>1. The Search Space (The "Infinite" Problem)</a:t>
            </a:r>
          </a:p>
          <a:p>
            <a:r>
              <a:rPr lang="en-US" dirty="0"/>
              <a:t>Without any constraints, your brain could come up with infinite rules:</a:t>
            </a:r>
          </a:p>
          <a:p>
            <a:r>
              <a:rPr lang="en-US" dirty="0"/>
              <a:t>"I enjoy hikes only on Tuesdays when it’s 22°C."</a:t>
            </a:r>
          </a:p>
          <a:p>
            <a:r>
              <a:rPr lang="en-US" dirty="0"/>
              <a:t>"I enjoy hikes if the trail name starts with the letter M."</a:t>
            </a:r>
          </a:p>
          <a:p>
            <a:r>
              <a:rPr lang="en-US" dirty="0"/>
              <a:t>"I enjoy any hike where I wore my red backpack."</a:t>
            </a:r>
          </a:p>
          <a:p>
            <a:r>
              <a:rPr lang="en-US" dirty="0"/>
              <a:t>Searching through every possible weird rule is impossible. This is why we need the </a:t>
            </a:r>
            <a:r>
              <a:rPr lang="en-US" b="1" dirty="0"/>
              <a:t>two-step procedure</a:t>
            </a:r>
            <a:r>
              <a:rPr lang="en-US" dirty="0"/>
              <a:t>.</a:t>
            </a:r>
          </a:p>
          <a:p>
            <a:endParaRPr lang="en-IN" dirty="0"/>
          </a:p>
        </p:txBody>
      </p:sp>
      <p:sp>
        <p:nvSpPr>
          <p:cNvPr id="4" name="Slide Number Placeholder 3"/>
          <p:cNvSpPr>
            <a:spLocks noGrp="1"/>
          </p:cNvSpPr>
          <p:nvPr>
            <p:ph type="sldNum" sz="quarter" idx="5"/>
          </p:nvPr>
        </p:nvSpPr>
        <p:spPr/>
        <p:txBody>
          <a:bodyPr/>
          <a:lstStyle/>
          <a:p>
            <a:fld id="{F265DC06-385B-48BC-BA32-B786EBA69CDD}" type="slidenum">
              <a:rPr lang="en-IN" smtClean="0"/>
              <a:t>6</a:t>
            </a:fld>
            <a:endParaRPr lang="en-IN"/>
          </a:p>
        </p:txBody>
      </p:sp>
    </p:spTree>
    <p:extLst>
      <p:ext uri="{BB962C8B-B14F-4D97-AF65-F5344CB8AC3E}">
        <p14:creationId xmlns:p14="http://schemas.microsoft.com/office/powerpoint/2010/main" val="32623147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2. Step One: Choosing the Hypothesis Class (Focusing the Search)</a:t>
            </a:r>
          </a:p>
          <a:p>
            <a:r>
              <a:rPr lang="en-US" dirty="0"/>
              <a:t>Before looking at the data, you decide what </a:t>
            </a:r>
            <a:r>
              <a:rPr lang="en-US" i="1" dirty="0"/>
              <a:t>kind</a:t>
            </a:r>
            <a:r>
              <a:rPr lang="en-US" dirty="0"/>
              <a:t> of rules you’re willing to consider. This is where </a:t>
            </a:r>
            <a:r>
              <a:rPr lang="en-US" b="1" dirty="0"/>
              <a:t>prior knowledge</a:t>
            </a:r>
            <a:r>
              <a:rPr lang="en-US" dirty="0"/>
              <a:t> comes in.</a:t>
            </a:r>
          </a:p>
          <a:p>
            <a:r>
              <a:rPr lang="en-US" b="1" dirty="0"/>
              <a:t>The Decision:</a:t>
            </a:r>
            <a:r>
              <a:rPr lang="en-US" dirty="0"/>
              <a:t> You decide that "Weather" and "Terrain" are usually what matter for hiking, and you'll use a </a:t>
            </a:r>
            <a:r>
              <a:rPr lang="en-US" b="1" dirty="0"/>
              <a:t>Decision Tree</a:t>
            </a:r>
            <a:r>
              <a:rPr lang="en-US" dirty="0"/>
              <a:t> structure because it's simple and logical.</a:t>
            </a:r>
          </a:p>
          <a:p>
            <a:r>
              <a:rPr lang="en-US" b="1" dirty="0"/>
              <a:t>Why?</a:t>
            </a:r>
            <a:r>
              <a:rPr lang="en-US" dirty="0"/>
              <a:t> You’ve "learned how to learn" from experience. You ignore rules about backpack color because you know from experience they are irrelevant.</a:t>
            </a:r>
          </a:p>
          <a:p>
            <a:endParaRPr lang="en-IN" dirty="0"/>
          </a:p>
        </p:txBody>
      </p:sp>
      <p:sp>
        <p:nvSpPr>
          <p:cNvPr id="4" name="Slide Number Placeholder 3"/>
          <p:cNvSpPr>
            <a:spLocks noGrp="1"/>
          </p:cNvSpPr>
          <p:nvPr>
            <p:ph type="sldNum" sz="quarter" idx="5"/>
          </p:nvPr>
        </p:nvSpPr>
        <p:spPr/>
        <p:txBody>
          <a:bodyPr/>
          <a:lstStyle/>
          <a:p>
            <a:fld id="{F265DC06-385B-48BC-BA32-B786EBA69CDD}" type="slidenum">
              <a:rPr lang="en-IN" smtClean="0"/>
              <a:t>7</a:t>
            </a:fld>
            <a:endParaRPr lang="en-IN"/>
          </a:p>
        </p:txBody>
      </p:sp>
    </p:spTree>
    <p:extLst>
      <p:ext uri="{BB962C8B-B14F-4D97-AF65-F5344CB8AC3E}">
        <p14:creationId xmlns:p14="http://schemas.microsoft.com/office/powerpoint/2010/main" val="37637287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3. Step Two: The Learning Algorithm (Organizing the Search)</a:t>
            </a:r>
          </a:p>
          <a:p>
            <a:r>
              <a:rPr lang="en-US" dirty="0"/>
              <a:t>Now that you've picked your "shape" (a Decision Tree), the algorithm looks at your 3 hiking examples and organizes the search within that class:</a:t>
            </a:r>
          </a:p>
          <a:p>
            <a:r>
              <a:rPr lang="en-US" dirty="0"/>
              <a:t>It tests: "Is it the Weather?" (If Sunny, then Enjoyed).</a:t>
            </a:r>
          </a:p>
          <a:p>
            <a:r>
              <a:rPr lang="en-US" dirty="0"/>
              <a:t>It tests: "Is it the Terrain?" (If Mountain, then Enjoyed).</a:t>
            </a:r>
          </a:p>
          <a:p>
            <a:r>
              <a:rPr lang="en-US" b="1" dirty="0"/>
              <a:t>The Result:</a:t>
            </a:r>
            <a:r>
              <a:rPr lang="en-US" dirty="0"/>
              <a:t> The algorithm finds the structure that is </a:t>
            </a:r>
            <a:r>
              <a:rPr lang="en-US" b="1" dirty="0"/>
              <a:t>most consistent</a:t>
            </a:r>
            <a:r>
              <a:rPr lang="en-US" dirty="0"/>
              <a:t> with your examples. It settles on: </a:t>
            </a:r>
            <a:r>
              <a:rPr lang="en-US" i="1" dirty="0"/>
              <a:t>"If the weather is Sunny, I will enjoy the hike.“</a:t>
            </a:r>
          </a:p>
          <a:p>
            <a:endParaRPr lang="en-US" i="1" dirty="0"/>
          </a:p>
          <a:p>
            <a:endParaRPr lang="en-US" dirty="0"/>
          </a:p>
          <a:p>
            <a:endParaRPr lang="en-IN" dirty="0"/>
          </a:p>
        </p:txBody>
      </p:sp>
      <p:sp>
        <p:nvSpPr>
          <p:cNvPr id="4" name="Slide Number Placeholder 3"/>
          <p:cNvSpPr>
            <a:spLocks noGrp="1"/>
          </p:cNvSpPr>
          <p:nvPr>
            <p:ph type="sldNum" sz="quarter" idx="5"/>
          </p:nvPr>
        </p:nvSpPr>
        <p:spPr/>
        <p:txBody>
          <a:bodyPr/>
          <a:lstStyle/>
          <a:p>
            <a:fld id="{F265DC06-385B-48BC-BA32-B786EBA69CDD}" type="slidenum">
              <a:rPr lang="en-IN" smtClean="0"/>
              <a:t>8</a:t>
            </a:fld>
            <a:endParaRPr lang="en-IN"/>
          </a:p>
        </p:txBody>
      </p:sp>
    </p:spTree>
    <p:extLst>
      <p:ext uri="{BB962C8B-B14F-4D97-AF65-F5344CB8AC3E}">
        <p14:creationId xmlns:p14="http://schemas.microsoft.com/office/powerpoint/2010/main" val="10892193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dirty="0">
                    <a:latin typeface="Times New Roman" panose="02020603050405020304" pitchFamily="18" charset="0"/>
                    <a:cs typeface="Times New Roman" panose="02020603050405020304" pitchFamily="18" charset="0"/>
                  </a:rPr>
                  <a:t>Error on data is the standard error or "loss" that the model calculates based on the </a:t>
                </a:r>
                <a:r>
                  <a:rPr lang="en-IN" sz="1200" b="1" dirty="0">
                    <a:latin typeface="Times New Roman" panose="02020603050405020304" pitchFamily="18" charset="0"/>
                    <a:cs typeface="Times New Roman" panose="02020603050405020304" pitchFamily="18" charset="0"/>
                  </a:rPr>
                  <a:t>training set</a:t>
                </a:r>
                <a:r>
                  <a:rPr lang="en-IN" sz="1200" dirty="0">
                    <a:latin typeface="Times New Roman" panose="02020603050405020304" pitchFamily="18" charset="0"/>
                    <a:cs typeface="Times New Roman" panose="02020603050405020304" pitchFamily="18" charset="0"/>
                  </a:rPr>
                  <a:t>. It measures how poorly the model is performing on the data it is currently seeing. A high E means model is making many mistakes on training examples</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tx1"/>
                    </a:solidFill>
                    <a:effectLst/>
                    <a:latin typeface="+mn-lt"/>
                    <a:ea typeface="+mn-ea"/>
                    <a:cs typeface="+mn-cs"/>
                  </a:rPr>
                  <a:t>(hypothesis complexity) = is the </a:t>
                </a:r>
                <a:r>
                  <a:rPr lang="en-IN" sz="1200" b="1" kern="1200" dirty="0">
                    <a:solidFill>
                      <a:schemeClr val="tx1"/>
                    </a:solidFill>
                    <a:effectLst/>
                    <a:latin typeface="+mn-lt"/>
                    <a:ea typeface="+mn-ea"/>
                    <a:cs typeface="+mn-cs"/>
                  </a:rPr>
                  <a:t>regularization term</a:t>
                </a:r>
                <a:r>
                  <a:rPr lang="en-IN" sz="1200" kern="1200" dirty="0">
                    <a:solidFill>
                      <a:schemeClr val="tx1"/>
                    </a:solidFill>
                    <a:effectLst/>
                    <a:latin typeface="+mn-lt"/>
                    <a:ea typeface="+mn-ea"/>
                    <a:cs typeface="+mn-cs"/>
                  </a:rPr>
                  <a:t>, which represents the "intricacy" or complexity of the hypothesis (the model). It measures how "wiggly" or complicated the mathematical function is. For example, in neural networks, this is often calculated as the sum of the squares of the weights</a:t>
                </a:r>
              </a:p>
              <a:p>
                <a:r>
                  <a:rPr lang="en-IN" sz="1200" kern="1200" dirty="0">
                    <a:solidFill>
                      <a:schemeClr val="tx1"/>
                    </a:solidFill>
                    <a:effectLst/>
                    <a:latin typeface="+mn-lt"/>
                    <a:ea typeface="+mn-ea"/>
                    <a:cs typeface="+mn-cs"/>
                  </a:rPr>
                  <a:t>If λ is very small, the model ignores complexity and tries to get zero errors on the data (risking </a:t>
                </a:r>
                <a:r>
                  <a:rPr lang="en-IN" sz="1200" b="1" kern="1200" dirty="0">
                    <a:solidFill>
                      <a:schemeClr val="tx1"/>
                    </a:solidFill>
                    <a:effectLst/>
                    <a:latin typeface="+mn-lt"/>
                    <a:ea typeface="+mn-ea"/>
                    <a:cs typeface="+mn-cs"/>
                  </a:rPr>
                  <a:t>high variance/overfitting</a:t>
                </a:r>
                <a:r>
                  <a:rPr lang="en-IN" sz="1200" kern="1200" dirty="0">
                    <a:solidFill>
                      <a:schemeClr val="tx1"/>
                    </a:solidFill>
                    <a:effectLst/>
                    <a:latin typeface="+mn-lt"/>
                    <a:ea typeface="+mn-ea"/>
                    <a:cs typeface="+mn-cs"/>
                  </a:rPr>
                  <a:t>).</a:t>
                </a:r>
              </a:p>
              <a:p>
                <a:r>
                  <a:rPr lang="en-IN" sz="1200" kern="1200" dirty="0">
                    <a:solidFill>
                      <a:schemeClr val="tx1"/>
                    </a:solidFill>
                    <a:effectLst/>
                    <a:latin typeface="+mn-lt"/>
                    <a:ea typeface="+mn-ea"/>
                    <a:cs typeface="+mn-cs"/>
                  </a:rPr>
                  <a:t>If λ is large, the model ignores the data and focuses only on being simple (risking </a:t>
                </a:r>
                <a:r>
                  <a:rPr lang="en-IN" sz="1200" b="1" kern="1200" dirty="0">
                    <a:solidFill>
                      <a:schemeClr val="tx1"/>
                    </a:solidFill>
                    <a:effectLst/>
                    <a:latin typeface="+mn-lt"/>
                    <a:ea typeface="+mn-ea"/>
                    <a:cs typeface="+mn-cs"/>
                  </a:rPr>
                  <a:t>high bias/underfitting</a:t>
                </a:r>
                <a:r>
                  <a:rPr lang="en-IN" sz="1200" kern="1200" dirty="0">
                    <a:solidFill>
                      <a:schemeClr val="tx1"/>
                    </a:solidFill>
                    <a:effectLst/>
                    <a:latin typeface="+mn-lt"/>
                    <a:ea typeface="+mn-ea"/>
                    <a:cs typeface="+mn-cs"/>
                  </a:rPr>
                  <a:t>).</a:t>
                </a:r>
              </a:p>
              <a:p>
                <a14:m>
                  <m:oMath xmlns:m="http://schemas.openxmlformats.org/officeDocument/2006/math">
                    <m:bar>
                      <m:barPr>
                        <m:pos m:val="top"/>
                        <m:ctrlPr>
                          <a:rPr lang="en-IN" sz="1200" i="1" kern="1200" smtClean="0">
                            <a:solidFill>
                              <a:schemeClr val="tx1"/>
                            </a:solidFill>
                            <a:effectLst/>
                            <a:latin typeface="Cambria Math" panose="02040503050406030204" pitchFamily="18" charset="0"/>
                            <a:ea typeface="+mn-ea"/>
                            <a:cs typeface="+mn-cs"/>
                          </a:rPr>
                        </m:ctrlPr>
                      </m:barPr>
                      <m:e>
                        <m:r>
                          <a:rPr lang="en-IN" sz="1200" i="1" kern="1200">
                            <a:solidFill>
                              <a:schemeClr val="tx1"/>
                            </a:solidFill>
                            <a:effectLst/>
                            <a:latin typeface="Cambria Math" panose="02040503050406030204" pitchFamily="18" charset="0"/>
                            <a:ea typeface="+mn-ea"/>
                            <a:cs typeface="+mn-cs"/>
                          </a:rPr>
                          <m:t>𝐸</m:t>
                        </m:r>
                      </m:e>
                    </m:bar>
                  </m:oMath>
                </a14:m>
                <a:r>
                  <a:rPr lang="en-IN" sz="1200" kern="1200" dirty="0">
                    <a:solidFill>
                      <a:schemeClr val="tx1"/>
                    </a:solidFill>
                    <a:effectLst/>
                    <a:latin typeface="+mn-lt"/>
                    <a:ea typeface="+mn-ea"/>
                    <a:cs typeface="+mn-cs"/>
                  </a:rPr>
                  <a:t> (</a:t>
                </a:r>
                <a:r>
                  <a:rPr lang="en-IN" sz="1200" b="1" kern="1200" dirty="0">
                    <a:solidFill>
                      <a:schemeClr val="tx1"/>
                    </a:solidFill>
                    <a:effectLst/>
                    <a:latin typeface="+mn-lt"/>
                    <a:ea typeface="+mn-ea"/>
                    <a:cs typeface="+mn-cs"/>
                  </a:rPr>
                  <a:t>Augmented Error</a:t>
                </a:r>
                <a:r>
                  <a:rPr lang="en-IN" sz="1200" kern="1200" dirty="0">
                    <a:solidFill>
                      <a:schemeClr val="tx1"/>
                    </a:solidFill>
                    <a:effectLst/>
                    <a:latin typeface="+mn-lt"/>
                    <a:ea typeface="+mn-ea"/>
                    <a:cs typeface="+mn-cs"/>
                  </a:rPr>
                  <a:t>) = This is the "Total Cost." The machine learning algorithm does not just try to minimize the mistakes (E); it tries to minimize the </a:t>
                </a:r>
                <a:r>
                  <a:rPr lang="en-IN" sz="1200" i="1" kern="1200" dirty="0">
                    <a:solidFill>
                      <a:schemeClr val="tx1"/>
                    </a:solidFill>
                    <a:effectLst/>
                    <a:latin typeface="+mn-lt"/>
                    <a:ea typeface="+mn-ea"/>
                    <a:cs typeface="+mn-cs"/>
                  </a:rPr>
                  <a:t>combination</a:t>
                </a:r>
                <a:r>
                  <a:rPr lang="en-IN" sz="1200" kern="1200" dirty="0">
                    <a:solidFill>
                      <a:schemeClr val="tx1"/>
                    </a:solidFill>
                    <a:effectLst/>
                    <a:latin typeface="+mn-lt"/>
                    <a:ea typeface="+mn-ea"/>
                    <a:cs typeface="+mn-cs"/>
                  </a:rPr>
                  <a:t> of mistakes and complexity.</a:t>
                </a:r>
              </a:p>
              <a:p>
                <a:r>
                  <a:rPr lang="en-IN" sz="1200" kern="1200" dirty="0">
                    <a:solidFill>
                      <a:schemeClr val="tx1"/>
                    </a:solidFill>
                    <a:effectLst/>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200" kern="1200" dirty="0">
                  <a:solidFill>
                    <a:schemeClr val="tx1"/>
                  </a:solidFill>
                  <a:effectLst/>
                  <a:latin typeface="+mn-lt"/>
                  <a:ea typeface="+mn-ea"/>
                  <a:cs typeface="+mn-cs"/>
                </a:endParaRPr>
              </a:p>
              <a:p>
                <a:endParaRPr lang="en-IN"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dirty="0">
                    <a:latin typeface="Times New Roman" panose="02020603050405020304" pitchFamily="18" charset="0"/>
                    <a:cs typeface="Times New Roman" panose="02020603050405020304" pitchFamily="18" charset="0"/>
                  </a:rPr>
                  <a:t>Error on data is the standard error or "loss" that the model calculates based on the </a:t>
                </a:r>
                <a:r>
                  <a:rPr lang="en-IN" sz="1200" b="1" dirty="0">
                    <a:latin typeface="Times New Roman" panose="02020603050405020304" pitchFamily="18" charset="0"/>
                    <a:cs typeface="Times New Roman" panose="02020603050405020304" pitchFamily="18" charset="0"/>
                  </a:rPr>
                  <a:t>training set</a:t>
                </a:r>
                <a:r>
                  <a:rPr lang="en-IN" sz="1200" dirty="0">
                    <a:latin typeface="Times New Roman" panose="02020603050405020304" pitchFamily="18" charset="0"/>
                    <a:cs typeface="Times New Roman" panose="02020603050405020304" pitchFamily="18" charset="0"/>
                  </a:rPr>
                  <a:t>. It measures how poorly the model is performing on the data it is currently seeing. A high E means model is making many mistakes on training examples</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tx1"/>
                    </a:solidFill>
                    <a:effectLst/>
                    <a:latin typeface="+mn-lt"/>
                    <a:ea typeface="+mn-ea"/>
                    <a:cs typeface="+mn-cs"/>
                  </a:rPr>
                  <a:t>(hypothesis complexity) = is the </a:t>
                </a:r>
                <a:r>
                  <a:rPr lang="en-IN" sz="1200" b="1" kern="1200" dirty="0">
                    <a:solidFill>
                      <a:schemeClr val="tx1"/>
                    </a:solidFill>
                    <a:effectLst/>
                    <a:latin typeface="+mn-lt"/>
                    <a:ea typeface="+mn-ea"/>
                    <a:cs typeface="+mn-cs"/>
                  </a:rPr>
                  <a:t>regularization term</a:t>
                </a:r>
                <a:r>
                  <a:rPr lang="en-IN" sz="1200" kern="1200" dirty="0">
                    <a:solidFill>
                      <a:schemeClr val="tx1"/>
                    </a:solidFill>
                    <a:effectLst/>
                    <a:latin typeface="+mn-lt"/>
                    <a:ea typeface="+mn-ea"/>
                    <a:cs typeface="+mn-cs"/>
                  </a:rPr>
                  <a:t>, which represents the "intricacy" or complexity of the hypothesis (the model). It measures how "wiggly" or complicated the mathematical function is. For example, in neural networks, this is often calculated as the sum of the squares of the weights</a:t>
                </a:r>
              </a:p>
              <a:p>
                <a:r>
                  <a:rPr lang="en-IN" sz="1200" kern="1200" dirty="0">
                    <a:solidFill>
                      <a:schemeClr val="tx1"/>
                    </a:solidFill>
                    <a:effectLst/>
                    <a:latin typeface="+mn-lt"/>
                    <a:ea typeface="+mn-ea"/>
                    <a:cs typeface="+mn-cs"/>
                  </a:rPr>
                  <a:t>If λ is very small, the model ignores complexity and tries to get zero errors on the data (risking </a:t>
                </a:r>
                <a:r>
                  <a:rPr lang="en-IN" sz="1200" b="1" kern="1200" dirty="0">
                    <a:solidFill>
                      <a:schemeClr val="tx1"/>
                    </a:solidFill>
                    <a:effectLst/>
                    <a:latin typeface="+mn-lt"/>
                    <a:ea typeface="+mn-ea"/>
                    <a:cs typeface="+mn-cs"/>
                  </a:rPr>
                  <a:t>high variance/overfitting</a:t>
                </a:r>
                <a:r>
                  <a:rPr lang="en-IN" sz="1200" kern="1200" dirty="0">
                    <a:solidFill>
                      <a:schemeClr val="tx1"/>
                    </a:solidFill>
                    <a:effectLst/>
                    <a:latin typeface="+mn-lt"/>
                    <a:ea typeface="+mn-ea"/>
                    <a:cs typeface="+mn-cs"/>
                  </a:rPr>
                  <a:t>).</a:t>
                </a:r>
              </a:p>
              <a:p>
                <a:r>
                  <a:rPr lang="en-IN" sz="1200" kern="1200" dirty="0">
                    <a:solidFill>
                      <a:schemeClr val="tx1"/>
                    </a:solidFill>
                    <a:effectLst/>
                    <a:latin typeface="+mn-lt"/>
                    <a:ea typeface="+mn-ea"/>
                    <a:cs typeface="+mn-cs"/>
                  </a:rPr>
                  <a:t>If λ is large, the model ignores the data and focuses only on being simple (risking </a:t>
                </a:r>
                <a:r>
                  <a:rPr lang="en-IN" sz="1200" b="1" kern="1200" dirty="0">
                    <a:solidFill>
                      <a:schemeClr val="tx1"/>
                    </a:solidFill>
                    <a:effectLst/>
                    <a:latin typeface="+mn-lt"/>
                    <a:ea typeface="+mn-ea"/>
                    <a:cs typeface="+mn-cs"/>
                  </a:rPr>
                  <a:t>high bias/underfitting</a:t>
                </a:r>
                <a:r>
                  <a:rPr lang="en-IN" sz="1200" kern="1200" dirty="0">
                    <a:solidFill>
                      <a:schemeClr val="tx1"/>
                    </a:solidFill>
                    <a:effectLst/>
                    <a:latin typeface="+mn-lt"/>
                    <a:ea typeface="+mn-ea"/>
                    <a:cs typeface="+mn-cs"/>
                  </a:rPr>
                  <a:t>).</a:t>
                </a:r>
              </a:p>
              <a:p>
                <a:r>
                  <a:rPr lang="en-IN" sz="1200" i="0" kern="1200">
                    <a:solidFill>
                      <a:schemeClr val="tx1"/>
                    </a:solidFill>
                    <a:effectLst/>
                    <a:latin typeface="+mn-lt"/>
                    <a:ea typeface="+mn-ea"/>
                    <a:cs typeface="+mn-cs"/>
                  </a:rPr>
                  <a:t>¯𝐸</a:t>
                </a:r>
                <a:r>
                  <a:rPr lang="en-IN" sz="1200" kern="1200" dirty="0">
                    <a:solidFill>
                      <a:schemeClr val="tx1"/>
                    </a:solidFill>
                    <a:effectLst/>
                    <a:latin typeface="+mn-lt"/>
                    <a:ea typeface="+mn-ea"/>
                    <a:cs typeface="+mn-cs"/>
                  </a:rPr>
                  <a:t> (</a:t>
                </a:r>
                <a:r>
                  <a:rPr lang="en-IN" sz="1200" b="1" kern="1200" dirty="0">
                    <a:solidFill>
                      <a:schemeClr val="tx1"/>
                    </a:solidFill>
                    <a:effectLst/>
                    <a:latin typeface="+mn-lt"/>
                    <a:ea typeface="+mn-ea"/>
                    <a:cs typeface="+mn-cs"/>
                  </a:rPr>
                  <a:t>Augmented Error</a:t>
                </a:r>
                <a:r>
                  <a:rPr lang="en-IN" sz="1200" kern="1200" dirty="0">
                    <a:solidFill>
                      <a:schemeClr val="tx1"/>
                    </a:solidFill>
                    <a:effectLst/>
                    <a:latin typeface="+mn-lt"/>
                    <a:ea typeface="+mn-ea"/>
                    <a:cs typeface="+mn-cs"/>
                  </a:rPr>
                  <a:t>) = This is the "Total Cost." The machine learning algorithm does not just try to minimize the mistakes (E); it tries to minimize the </a:t>
                </a:r>
                <a:r>
                  <a:rPr lang="en-IN" sz="1200" i="1" kern="1200" dirty="0">
                    <a:solidFill>
                      <a:schemeClr val="tx1"/>
                    </a:solidFill>
                    <a:effectLst/>
                    <a:latin typeface="+mn-lt"/>
                    <a:ea typeface="+mn-ea"/>
                    <a:cs typeface="+mn-cs"/>
                  </a:rPr>
                  <a:t>combination</a:t>
                </a:r>
                <a:r>
                  <a:rPr lang="en-IN" sz="1200" kern="1200" dirty="0">
                    <a:solidFill>
                      <a:schemeClr val="tx1"/>
                    </a:solidFill>
                    <a:effectLst/>
                    <a:latin typeface="+mn-lt"/>
                    <a:ea typeface="+mn-ea"/>
                    <a:cs typeface="+mn-cs"/>
                  </a:rPr>
                  <a:t> of mistakes and complexity.</a:t>
                </a:r>
              </a:p>
              <a:p>
                <a:r>
                  <a:rPr lang="en-IN" sz="1200" kern="1200" dirty="0">
                    <a:solidFill>
                      <a:schemeClr val="tx1"/>
                    </a:solidFill>
                    <a:effectLst/>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200" kern="1200" dirty="0">
                  <a:solidFill>
                    <a:schemeClr val="tx1"/>
                  </a:solidFill>
                  <a:effectLst/>
                  <a:latin typeface="+mn-lt"/>
                  <a:ea typeface="+mn-ea"/>
                  <a:cs typeface="+mn-cs"/>
                </a:endParaRPr>
              </a:p>
              <a:p>
                <a:endParaRPr lang="en-IN" dirty="0"/>
              </a:p>
            </p:txBody>
          </p:sp>
        </mc:Fallback>
      </mc:AlternateContent>
      <p:sp>
        <p:nvSpPr>
          <p:cNvPr id="4" name="Slide Number Placeholder 3"/>
          <p:cNvSpPr>
            <a:spLocks noGrp="1"/>
          </p:cNvSpPr>
          <p:nvPr>
            <p:ph type="sldNum" sz="quarter" idx="5"/>
          </p:nvPr>
        </p:nvSpPr>
        <p:spPr/>
        <p:txBody>
          <a:bodyPr/>
          <a:lstStyle/>
          <a:p>
            <a:fld id="{F265DC06-385B-48BC-BA32-B786EBA69CDD}" type="slidenum">
              <a:rPr lang="en-IN" smtClean="0"/>
              <a:t>10</a:t>
            </a:fld>
            <a:endParaRPr lang="en-IN"/>
          </a:p>
        </p:txBody>
      </p:sp>
    </p:spTree>
    <p:extLst>
      <p:ext uri="{BB962C8B-B14F-4D97-AF65-F5344CB8AC3E}">
        <p14:creationId xmlns:p14="http://schemas.microsoft.com/office/powerpoint/2010/main" val="2439899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1" kern="1200" dirty="0">
                <a:solidFill>
                  <a:schemeClr val="tx1"/>
                </a:solidFill>
                <a:effectLst/>
                <a:latin typeface="+mn-lt"/>
                <a:ea typeface="+mn-ea"/>
                <a:cs typeface="+mn-cs"/>
              </a:rPr>
              <a:t>Real-Life Example:</a:t>
            </a:r>
            <a:r>
              <a:rPr lang="en-IN" sz="1200" kern="1200" dirty="0">
                <a:solidFill>
                  <a:schemeClr val="tx1"/>
                </a:solidFill>
                <a:effectLst/>
                <a:latin typeface="+mn-lt"/>
                <a:ea typeface="+mn-ea"/>
                <a:cs typeface="+mn-cs"/>
              </a:rPr>
              <a:t> Think of </a:t>
            </a:r>
            <a:r>
              <a:rPr lang="en-IN" sz="1200" b="1" kern="1200" dirty="0">
                <a:solidFill>
                  <a:schemeClr val="tx1"/>
                </a:solidFill>
                <a:effectLst/>
                <a:latin typeface="+mn-lt"/>
                <a:ea typeface="+mn-ea"/>
                <a:cs typeface="+mn-cs"/>
              </a:rPr>
              <a:t>Baking a Cake</a:t>
            </a:r>
            <a:r>
              <a:rPr lang="en-IN" sz="1200" kern="1200" dirty="0">
                <a:solidFill>
                  <a:schemeClr val="tx1"/>
                </a:solidFill>
                <a:effectLst/>
                <a:latin typeface="+mn-lt"/>
                <a:ea typeface="+mn-ea"/>
                <a:cs typeface="+mn-cs"/>
              </a:rPr>
              <a:t>.</a:t>
            </a:r>
          </a:p>
          <a:p>
            <a:pPr lvl="0"/>
            <a:r>
              <a:rPr lang="en-IN" sz="1200" kern="1200" dirty="0">
                <a:solidFill>
                  <a:schemeClr val="tx1"/>
                </a:solidFill>
                <a:effectLst/>
                <a:latin typeface="+mn-lt"/>
                <a:ea typeface="+mn-ea"/>
                <a:cs typeface="+mn-cs"/>
              </a:rPr>
              <a:t>If you take it out too early, it’s undercooked (Underfitting).</a:t>
            </a:r>
          </a:p>
          <a:p>
            <a:pPr lvl="0"/>
            <a:r>
              <a:rPr lang="en-IN" sz="1200" kern="1200" dirty="0">
                <a:solidFill>
                  <a:schemeClr val="tx1"/>
                </a:solidFill>
                <a:effectLst/>
                <a:latin typeface="+mn-lt"/>
                <a:ea typeface="+mn-ea"/>
                <a:cs typeface="+mn-cs"/>
              </a:rPr>
              <a:t>If you leave it in too long to make sure every single molecule is dry, it burns (Overfitting).</a:t>
            </a:r>
          </a:p>
          <a:p>
            <a:pPr lvl="0"/>
            <a:r>
              <a:rPr lang="en-IN" sz="1200" b="1" kern="1200" dirty="0">
                <a:solidFill>
                  <a:schemeClr val="tx1"/>
                </a:solidFill>
                <a:effectLst/>
                <a:latin typeface="+mn-lt"/>
                <a:ea typeface="+mn-ea"/>
                <a:cs typeface="+mn-cs"/>
              </a:rPr>
              <a:t>Early Stopping</a:t>
            </a:r>
            <a:r>
              <a:rPr lang="en-IN" sz="1200" kern="1200" dirty="0">
                <a:solidFill>
                  <a:schemeClr val="tx1"/>
                </a:solidFill>
                <a:effectLst/>
                <a:latin typeface="+mn-lt"/>
                <a:ea typeface="+mn-ea"/>
                <a:cs typeface="+mn-cs"/>
              </a:rPr>
              <a:t> is like checking the cake with a toothpick and taking it out the exact second it’s done, rather than waiting for the timer to hit zero.</a:t>
            </a:r>
          </a:p>
          <a:p>
            <a:endParaRPr lang="en-IN" dirty="0"/>
          </a:p>
        </p:txBody>
      </p:sp>
      <p:sp>
        <p:nvSpPr>
          <p:cNvPr id="4" name="Slide Number Placeholder 3"/>
          <p:cNvSpPr>
            <a:spLocks noGrp="1"/>
          </p:cNvSpPr>
          <p:nvPr>
            <p:ph type="sldNum" sz="quarter" idx="5"/>
          </p:nvPr>
        </p:nvSpPr>
        <p:spPr/>
        <p:txBody>
          <a:bodyPr/>
          <a:lstStyle/>
          <a:p>
            <a:fld id="{F265DC06-385B-48BC-BA32-B786EBA69CDD}" type="slidenum">
              <a:rPr lang="en-IN" smtClean="0"/>
              <a:t>11</a:t>
            </a:fld>
            <a:endParaRPr lang="en-IN"/>
          </a:p>
        </p:txBody>
      </p:sp>
    </p:spTree>
    <p:extLst>
      <p:ext uri="{BB962C8B-B14F-4D97-AF65-F5344CB8AC3E}">
        <p14:creationId xmlns:p14="http://schemas.microsoft.com/office/powerpoint/2010/main" val="4355320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1" kern="1200" dirty="0">
                <a:solidFill>
                  <a:schemeClr val="tx1"/>
                </a:solidFill>
                <a:effectLst/>
                <a:latin typeface="+mn-lt"/>
                <a:ea typeface="+mn-ea"/>
                <a:cs typeface="+mn-cs"/>
              </a:rPr>
              <a:t>Real-Life Example:</a:t>
            </a:r>
            <a:r>
              <a:rPr lang="en-IN" sz="1200" kern="1200" dirty="0">
                <a:solidFill>
                  <a:schemeClr val="tx1"/>
                </a:solidFill>
                <a:effectLst/>
                <a:latin typeface="+mn-lt"/>
                <a:ea typeface="+mn-ea"/>
                <a:cs typeface="+mn-cs"/>
              </a:rPr>
              <a:t> Imagine a </a:t>
            </a:r>
            <a:r>
              <a:rPr lang="en-IN" sz="1200" b="1" kern="1200" dirty="0">
                <a:solidFill>
                  <a:schemeClr val="tx1"/>
                </a:solidFill>
                <a:effectLst/>
                <a:latin typeface="+mn-lt"/>
                <a:ea typeface="+mn-ea"/>
                <a:cs typeface="+mn-cs"/>
              </a:rPr>
              <a:t>Company Strategy</a:t>
            </a:r>
            <a:r>
              <a:rPr lang="en-IN" sz="1200" kern="1200" dirty="0">
                <a:solidFill>
                  <a:schemeClr val="tx1"/>
                </a:solidFill>
                <a:effectLst/>
                <a:latin typeface="+mn-lt"/>
                <a:ea typeface="+mn-ea"/>
                <a:cs typeface="+mn-cs"/>
              </a:rPr>
              <a:t>.</a:t>
            </a:r>
          </a:p>
          <a:p>
            <a:pPr lvl="0"/>
            <a:r>
              <a:rPr lang="en-IN" sz="1200" kern="1200" dirty="0">
                <a:solidFill>
                  <a:schemeClr val="tx1"/>
                </a:solidFill>
                <a:effectLst/>
                <a:latin typeface="+mn-lt"/>
                <a:ea typeface="+mn-ea"/>
                <a:cs typeface="+mn-cs"/>
              </a:rPr>
              <a:t>A startup might try to sell 50 different products to see what happens. This is the "Full-Grown Tree."</a:t>
            </a:r>
          </a:p>
          <a:p>
            <a:pPr lvl="0"/>
            <a:r>
              <a:rPr lang="en-IN" sz="1200" kern="1200" dirty="0">
                <a:solidFill>
                  <a:schemeClr val="tx1"/>
                </a:solidFill>
                <a:effectLst/>
                <a:latin typeface="+mn-lt"/>
                <a:ea typeface="+mn-ea"/>
                <a:cs typeface="+mn-cs"/>
              </a:rPr>
              <a:t>After a year, they realize that 45 of those products only sold once to a specific person.</a:t>
            </a:r>
          </a:p>
          <a:p>
            <a:pPr lvl="0"/>
            <a:r>
              <a:rPr lang="en-IN" sz="1200" b="1" kern="1200" dirty="0">
                <a:solidFill>
                  <a:schemeClr val="tx1"/>
                </a:solidFill>
                <a:effectLst/>
                <a:latin typeface="+mn-lt"/>
                <a:ea typeface="+mn-ea"/>
                <a:cs typeface="+mn-cs"/>
              </a:rPr>
              <a:t>Pruning</a:t>
            </a:r>
            <a:r>
              <a:rPr lang="en-IN" sz="1200" kern="1200" dirty="0">
                <a:solidFill>
                  <a:schemeClr val="tx1"/>
                </a:solidFill>
                <a:effectLst/>
                <a:latin typeface="+mn-lt"/>
                <a:ea typeface="+mn-ea"/>
                <a:cs typeface="+mn-cs"/>
              </a:rPr>
              <a:t> is when the CEO shuts down those 45 tiny departments to focus only on the 5 core products that everyone actually buys. By "cutting the branches," the company becomes more efficient and better at serving the general public.</a:t>
            </a:r>
          </a:p>
          <a:p>
            <a:endParaRPr lang="en-IN" dirty="0"/>
          </a:p>
        </p:txBody>
      </p:sp>
      <p:sp>
        <p:nvSpPr>
          <p:cNvPr id="4" name="Slide Number Placeholder 3"/>
          <p:cNvSpPr>
            <a:spLocks noGrp="1"/>
          </p:cNvSpPr>
          <p:nvPr>
            <p:ph type="sldNum" sz="quarter" idx="5"/>
          </p:nvPr>
        </p:nvSpPr>
        <p:spPr/>
        <p:txBody>
          <a:bodyPr/>
          <a:lstStyle/>
          <a:p>
            <a:fld id="{F265DC06-385B-48BC-BA32-B786EBA69CDD}" type="slidenum">
              <a:rPr lang="en-IN" smtClean="0"/>
              <a:t>12</a:t>
            </a:fld>
            <a:endParaRPr lang="en-IN"/>
          </a:p>
        </p:txBody>
      </p:sp>
    </p:spTree>
    <p:extLst>
      <p:ext uri="{BB962C8B-B14F-4D97-AF65-F5344CB8AC3E}">
        <p14:creationId xmlns:p14="http://schemas.microsoft.com/office/powerpoint/2010/main" val="41789272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 Oversampling (The "More is More" Approach)</a:t>
            </a:r>
          </a:p>
          <a:p>
            <a:r>
              <a:rPr lang="en-US" dirty="0"/>
              <a:t>Instead of just duplicating the rare cases, which can lead to </a:t>
            </a:r>
            <a:r>
              <a:rPr lang="en-US" b="1" dirty="0"/>
              <a:t>overfitting</a:t>
            </a:r>
            <a:r>
              <a:rPr lang="en-US" dirty="0"/>
              <a:t> (the model simply memorizing specific examples), we often use "Synthetic" data generation.</a:t>
            </a:r>
          </a:p>
          <a:p>
            <a:r>
              <a:rPr lang="en-US" b="1" dirty="0"/>
              <a:t>SMOTE (Synthetic Minority Over-sampling Technique):</a:t>
            </a:r>
            <a:r>
              <a:rPr lang="en-US" dirty="0"/>
              <a:t> Instead of exact copies, SMOTE looks at the minority points and creates new, "synthetic" examples that lie on the lines between existing ones. It’s like telling the model, "Fraud usually looks like this, but also slightly like </a:t>
            </a:r>
            <a:r>
              <a:rPr lang="en-US" i="1" dirty="0"/>
              <a:t>this</a:t>
            </a:r>
            <a:r>
              <a:rPr lang="en-US" dirty="0"/>
              <a:t>."</a:t>
            </a:r>
          </a:p>
          <a:p>
            <a:r>
              <a:rPr lang="en-US" b="1" dirty="0"/>
              <a:t>Best for:</a:t>
            </a:r>
            <a:r>
              <a:rPr lang="en-US" dirty="0"/>
              <a:t> When you have a small dataset and can't afford to lose any information.</a:t>
            </a:r>
          </a:p>
          <a:p>
            <a:r>
              <a:rPr lang="en-US" b="1" dirty="0"/>
              <a:t>2. </a:t>
            </a:r>
            <a:r>
              <a:rPr lang="en-US" b="1" dirty="0" err="1"/>
              <a:t>Undersampling</a:t>
            </a:r>
            <a:r>
              <a:rPr lang="en-US" b="1" dirty="0"/>
              <a:t> (The "Less is More" Approach)</a:t>
            </a:r>
          </a:p>
          <a:p>
            <a:r>
              <a:rPr lang="en-US" dirty="0"/>
              <a:t>This involves reducing the majority class to match the minority class.</a:t>
            </a:r>
          </a:p>
          <a:p>
            <a:r>
              <a:rPr lang="en-US" b="1" dirty="0"/>
              <a:t>Random </a:t>
            </a:r>
            <a:r>
              <a:rPr lang="en-US" b="1" dirty="0" err="1"/>
              <a:t>Undersampling</a:t>
            </a:r>
            <a:r>
              <a:rPr lang="en-US" b="1" dirty="0"/>
              <a:t>:</a:t>
            </a:r>
            <a:r>
              <a:rPr lang="en-US" dirty="0"/>
              <a:t> Deleting majority cases at random. The risk here is </a:t>
            </a:r>
            <a:r>
              <a:rPr lang="en-US" b="1" dirty="0"/>
              <a:t>information loss</a:t>
            </a:r>
            <a:r>
              <a:rPr lang="en-US" dirty="0"/>
              <a:t>—you might delete the very data points that define the boundary between "Legitimate" and "Fraud."</a:t>
            </a:r>
          </a:p>
          <a:p>
            <a:r>
              <a:rPr lang="en-US" b="1" dirty="0" err="1"/>
              <a:t>NearMiss</a:t>
            </a:r>
            <a:r>
              <a:rPr lang="en-US" b="1" dirty="0"/>
              <a:t>:</a:t>
            </a:r>
            <a:r>
              <a:rPr lang="en-US" dirty="0"/>
              <a:t> An algorithmic approach that selects majority samples based on their distance to minority samples to ensure the "edge cases" are preserved.</a:t>
            </a:r>
          </a:p>
          <a:p>
            <a:r>
              <a:rPr lang="en-US" b="1" dirty="0"/>
              <a:t>Best for:</a:t>
            </a:r>
            <a:r>
              <a:rPr lang="en-US" dirty="0"/>
              <a:t> When you have a massive dataset (millions of rows) where the majority class is highly redundant.</a:t>
            </a:r>
          </a:p>
          <a:p>
            <a:endParaRPr lang="en-IN" dirty="0"/>
          </a:p>
        </p:txBody>
      </p:sp>
      <p:sp>
        <p:nvSpPr>
          <p:cNvPr id="4" name="Slide Number Placeholder 3"/>
          <p:cNvSpPr>
            <a:spLocks noGrp="1"/>
          </p:cNvSpPr>
          <p:nvPr>
            <p:ph type="sldNum" sz="quarter" idx="5"/>
          </p:nvPr>
        </p:nvSpPr>
        <p:spPr/>
        <p:txBody>
          <a:bodyPr/>
          <a:lstStyle/>
          <a:p>
            <a:fld id="{F265DC06-385B-48BC-BA32-B786EBA69CDD}" type="slidenum">
              <a:rPr lang="en-IN" smtClean="0"/>
              <a:t>14</a:t>
            </a:fld>
            <a:endParaRPr lang="en-IN"/>
          </a:p>
        </p:txBody>
      </p:sp>
    </p:spTree>
    <p:extLst>
      <p:ext uri="{BB962C8B-B14F-4D97-AF65-F5344CB8AC3E}">
        <p14:creationId xmlns:p14="http://schemas.microsoft.com/office/powerpoint/2010/main" val="26031320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latin typeface="Times New Roman" panose="02020603050405020304" pitchFamily="18" charset="0"/>
                <a:cs typeface="Times New Roman" panose="02020603050405020304" pitchFamily="18" charset="0"/>
              </a:rPr>
              <a:t>‘Robustness’ means that the machine can perform adequately under all circumstances, including the cases when information is corrupted by noise, is incomplete, and is interfered with irrelevant data.</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b="1" kern="1200" dirty="0">
                <a:solidFill>
                  <a:schemeClr val="tx1"/>
                </a:solidFill>
                <a:effectLst/>
                <a:latin typeface="+mn-lt"/>
                <a:ea typeface="+mn-ea"/>
                <a:cs typeface="+mn-cs"/>
              </a:rPr>
              <a:t>Computational Complexity:</a:t>
            </a:r>
            <a:r>
              <a:rPr lang="en-IN" sz="1200" kern="1200" dirty="0">
                <a:solidFill>
                  <a:schemeClr val="tx1"/>
                </a:solidFill>
                <a:effectLst/>
                <a:latin typeface="+mn-lt"/>
                <a:ea typeface="+mn-ea"/>
                <a:cs typeface="+mn-cs"/>
              </a:rPr>
              <a:t> How much memory and time does it take? (Crucial for apps on phones). Computational complexity of a learning algorithm and learning speed determine the efficiency of a learning system: how fast the systems can arrive at a correct answer, and how much computer memory is required</a:t>
            </a:r>
            <a:endParaRPr lang="en-IN" dirty="0">
              <a:latin typeface="Times New Roman" panose="02020603050405020304" pitchFamily="18" charset="0"/>
              <a:cs typeface="Times New Roman" panose="02020603050405020304" pitchFamily="18" charset="0"/>
            </a:endParaRPr>
          </a:p>
          <a:p>
            <a:endParaRPr lang="en-IN" dirty="0"/>
          </a:p>
        </p:txBody>
      </p:sp>
      <p:sp>
        <p:nvSpPr>
          <p:cNvPr id="4" name="Slide Number Placeholder 3"/>
          <p:cNvSpPr>
            <a:spLocks noGrp="1"/>
          </p:cNvSpPr>
          <p:nvPr>
            <p:ph type="sldNum" sz="quarter" idx="5"/>
          </p:nvPr>
        </p:nvSpPr>
        <p:spPr/>
        <p:txBody>
          <a:bodyPr/>
          <a:lstStyle/>
          <a:p>
            <a:fld id="{F265DC06-385B-48BC-BA32-B786EBA69CDD}" type="slidenum">
              <a:rPr lang="en-IN" smtClean="0"/>
              <a:t>15</a:t>
            </a:fld>
            <a:endParaRPr lang="en-IN"/>
          </a:p>
        </p:txBody>
      </p:sp>
    </p:spTree>
    <p:extLst>
      <p:ext uri="{BB962C8B-B14F-4D97-AF65-F5344CB8AC3E}">
        <p14:creationId xmlns:p14="http://schemas.microsoft.com/office/powerpoint/2010/main" val="27318182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IN" sz="1200" b="1" kern="1200" dirty="0">
                <a:solidFill>
                  <a:schemeClr val="tx1"/>
                </a:solidFill>
                <a:effectLst/>
                <a:latin typeface="+mn-lt"/>
                <a:ea typeface="+mn-ea"/>
                <a:cs typeface="+mn-cs"/>
              </a:rPr>
              <a:t>Training Data:</a:t>
            </a:r>
            <a:r>
              <a:rPr lang="en-IN" sz="1200" kern="1200" dirty="0">
                <a:solidFill>
                  <a:schemeClr val="tx1"/>
                </a:solidFill>
                <a:effectLst/>
                <a:latin typeface="+mn-lt"/>
                <a:ea typeface="+mn-ea"/>
                <a:cs typeface="+mn-cs"/>
              </a:rPr>
              <a:t> This is the "Textbook." The model uses this to build its basic structure and learn patterns.</a:t>
            </a:r>
          </a:p>
          <a:p>
            <a:pPr lvl="0"/>
            <a:r>
              <a:rPr lang="en-IN" sz="1200" b="1" kern="1200" dirty="0">
                <a:solidFill>
                  <a:schemeClr val="tx1"/>
                </a:solidFill>
                <a:effectLst/>
                <a:latin typeface="+mn-lt"/>
                <a:ea typeface="+mn-ea"/>
                <a:cs typeface="+mn-cs"/>
              </a:rPr>
              <a:t>Validation Data:</a:t>
            </a:r>
            <a:r>
              <a:rPr lang="en-IN" sz="1200" kern="1200" dirty="0">
                <a:solidFill>
                  <a:schemeClr val="tx1"/>
                </a:solidFill>
                <a:effectLst/>
                <a:latin typeface="+mn-lt"/>
                <a:ea typeface="+mn-ea"/>
                <a:cs typeface="+mn-cs"/>
              </a:rPr>
              <a:t> This is a "Practice Quiz." It is used to fine-tune the model's settings (parameters) or choose between different models.</a:t>
            </a:r>
          </a:p>
          <a:p>
            <a:pPr lvl="0"/>
            <a:r>
              <a:rPr lang="en-IN" sz="1200" b="1" kern="1200" dirty="0">
                <a:solidFill>
                  <a:schemeClr val="tx1"/>
                </a:solidFill>
                <a:effectLst/>
                <a:latin typeface="+mn-lt"/>
                <a:ea typeface="+mn-ea"/>
                <a:cs typeface="+mn-cs"/>
              </a:rPr>
              <a:t>Test Data:</a:t>
            </a:r>
            <a:r>
              <a:rPr lang="en-IN" sz="1200" kern="1200" dirty="0">
                <a:solidFill>
                  <a:schemeClr val="tx1"/>
                </a:solidFill>
                <a:effectLst/>
                <a:latin typeface="+mn-lt"/>
                <a:ea typeface="+mn-ea"/>
                <a:cs typeface="+mn-cs"/>
              </a:rPr>
              <a:t> This is the "Final Exam." It consists of completely unseen data used only once at the very end to calculate the true error rate.</a:t>
            </a:r>
          </a:p>
          <a:p>
            <a:endParaRPr lang="en-IN" dirty="0"/>
          </a:p>
        </p:txBody>
      </p:sp>
      <p:sp>
        <p:nvSpPr>
          <p:cNvPr id="4" name="Slide Number Placeholder 3"/>
          <p:cNvSpPr>
            <a:spLocks noGrp="1"/>
          </p:cNvSpPr>
          <p:nvPr>
            <p:ph type="sldNum" sz="quarter" idx="5"/>
          </p:nvPr>
        </p:nvSpPr>
        <p:spPr/>
        <p:txBody>
          <a:bodyPr/>
          <a:lstStyle/>
          <a:p>
            <a:fld id="{F265DC06-385B-48BC-BA32-B786EBA69CDD}" type="slidenum">
              <a:rPr lang="en-IN" smtClean="0"/>
              <a:t>16</a:t>
            </a:fld>
            <a:endParaRPr lang="en-IN"/>
          </a:p>
        </p:txBody>
      </p:sp>
    </p:spTree>
    <p:extLst>
      <p:ext uri="{BB962C8B-B14F-4D97-AF65-F5344CB8AC3E}">
        <p14:creationId xmlns:p14="http://schemas.microsoft.com/office/powerpoint/2010/main" val="30239178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265DC06-385B-48BC-BA32-B786EBA69CDD}" type="slidenum">
              <a:rPr lang="en-IN" smtClean="0"/>
              <a:t>26</a:t>
            </a:fld>
            <a:endParaRPr lang="en-IN"/>
          </a:p>
        </p:txBody>
      </p:sp>
    </p:spTree>
    <p:extLst>
      <p:ext uri="{BB962C8B-B14F-4D97-AF65-F5344CB8AC3E}">
        <p14:creationId xmlns:p14="http://schemas.microsoft.com/office/powerpoint/2010/main" val="358082955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12791603-2C82-45D4-9E63-CB7F62DD651E}" type="datetimeFigureOut">
              <a:rPr lang="en-IN" smtClean="0"/>
              <a:t>17-02-2026</a:t>
            </a:fld>
            <a:endParaRPr lang="en-IN"/>
          </a:p>
        </p:txBody>
      </p:sp>
      <p:sp>
        <p:nvSpPr>
          <p:cNvPr id="5" name="Footer Placeholder 4"/>
          <p:cNvSpPr>
            <a:spLocks noGrp="1"/>
          </p:cNvSpPr>
          <p:nvPr>
            <p:ph type="ftr" sz="quarter" idx="11"/>
          </p:nvPr>
        </p:nvSpPr>
        <p:spPr>
          <a:xfrm>
            <a:off x="2692397" y="5037663"/>
            <a:ext cx="5214635" cy="279400"/>
          </a:xfrm>
        </p:spPr>
        <p:txBody>
          <a:bodyPr/>
          <a:lstStyle/>
          <a:p>
            <a:endParaRPr lang="en-IN"/>
          </a:p>
        </p:txBody>
      </p:sp>
      <p:sp>
        <p:nvSpPr>
          <p:cNvPr id="6" name="Slide Number Placeholder 5"/>
          <p:cNvSpPr>
            <a:spLocks noGrp="1"/>
          </p:cNvSpPr>
          <p:nvPr>
            <p:ph type="sldNum" sz="quarter" idx="12"/>
          </p:nvPr>
        </p:nvSpPr>
        <p:spPr>
          <a:xfrm>
            <a:off x="8956900" y="5037663"/>
            <a:ext cx="551167" cy="279400"/>
          </a:xfrm>
        </p:spPr>
        <p:txBody>
          <a:bodyPr/>
          <a:lstStyle/>
          <a:p>
            <a:fld id="{08D1C47A-1676-4BD1-9282-694ED6A90621}" type="slidenum">
              <a:rPr lang="en-IN" smtClean="0"/>
              <a:t>‹#›</a:t>
            </a:fld>
            <a:endParaRPr lang="en-IN"/>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540776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2791603-2C82-45D4-9E63-CB7F62DD651E}" type="datetimeFigureOut">
              <a:rPr lang="en-IN" smtClean="0"/>
              <a:t>17-02-2026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8D1C47A-1676-4BD1-9282-694ED6A90621}" type="slidenum">
              <a:rPr lang="en-IN" smtClean="0"/>
              <a:t>‹#›</a:t>
            </a:fld>
            <a:endParaRPr lang="en-IN"/>
          </a:p>
        </p:txBody>
      </p:sp>
    </p:spTree>
    <p:extLst>
      <p:ext uri="{BB962C8B-B14F-4D97-AF65-F5344CB8AC3E}">
        <p14:creationId xmlns:p14="http://schemas.microsoft.com/office/powerpoint/2010/main" val="5521300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2791603-2C82-45D4-9E63-CB7F62DD651E}" type="datetimeFigureOut">
              <a:rPr lang="en-IN" smtClean="0"/>
              <a:t>17-02-2026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8D1C47A-1676-4BD1-9282-694ED6A90621}" type="slidenum">
              <a:rPr lang="en-IN" smtClean="0"/>
              <a:t>‹#›</a:t>
            </a:fld>
            <a:endParaRPr lang="en-IN"/>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12365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2791603-2C82-45D4-9E63-CB7F62DD651E}" type="datetimeFigureOut">
              <a:rPr lang="en-IN" smtClean="0"/>
              <a:t>17-02-2026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8D1C47A-1676-4BD1-9282-694ED6A90621}" type="slidenum">
              <a:rPr lang="en-IN" smtClean="0"/>
              <a:t>‹#›</a:t>
            </a:fld>
            <a:endParaRPr lang="en-IN"/>
          </a:p>
        </p:txBody>
      </p:sp>
    </p:spTree>
    <p:extLst>
      <p:ext uri="{BB962C8B-B14F-4D97-AF65-F5344CB8AC3E}">
        <p14:creationId xmlns:p14="http://schemas.microsoft.com/office/powerpoint/2010/main" val="36304719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2791603-2C82-45D4-9E63-CB7F62DD651E}" type="datetimeFigureOut">
              <a:rPr lang="en-IN" smtClean="0"/>
              <a:t>17-02-2026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8D1C47A-1676-4BD1-9282-694ED6A90621}" type="slidenum">
              <a:rPr lang="en-IN" smtClean="0"/>
              <a:t>‹#›</a:t>
            </a:fld>
            <a:endParaRPr lang="en-IN"/>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240997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2791603-2C82-45D4-9E63-CB7F62DD651E}" type="datetimeFigureOut">
              <a:rPr lang="en-IN" smtClean="0"/>
              <a:t>17-02-2026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8D1C47A-1676-4BD1-9282-694ED6A90621}"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238947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2791603-2C82-45D4-9E63-CB7F62DD651E}" type="datetimeFigureOut">
              <a:rPr lang="en-IN" smtClean="0"/>
              <a:t>17-02-2026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8D1C47A-1676-4BD1-9282-694ED6A90621}" type="slidenum">
              <a:rPr lang="en-IN" smtClean="0"/>
              <a:t>‹#›</a:t>
            </a:fld>
            <a:endParaRPr lang="en-IN"/>
          </a:p>
        </p:txBody>
      </p:sp>
    </p:spTree>
    <p:extLst>
      <p:ext uri="{BB962C8B-B14F-4D97-AF65-F5344CB8AC3E}">
        <p14:creationId xmlns:p14="http://schemas.microsoft.com/office/powerpoint/2010/main" val="23474340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2791603-2C82-45D4-9E63-CB7F62DD651E}" type="datetimeFigureOut">
              <a:rPr lang="en-IN" smtClean="0"/>
              <a:t>17-02-2026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8D1C47A-1676-4BD1-9282-694ED6A90621}" type="slidenum">
              <a:rPr lang="en-IN" smtClean="0"/>
              <a:t>‹#›</a:t>
            </a:fld>
            <a:endParaRPr lang="en-IN"/>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688649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2791603-2C82-45D4-9E63-CB7F62DD651E}" type="datetimeFigureOut">
              <a:rPr lang="en-IN" smtClean="0"/>
              <a:t>17-02-2026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8D1C47A-1676-4BD1-9282-694ED6A90621}" type="slidenum">
              <a:rPr lang="en-IN" smtClean="0"/>
              <a:t>‹#›</a:t>
            </a:fld>
            <a:endParaRPr lang="en-IN"/>
          </a:p>
        </p:txBody>
      </p:sp>
    </p:spTree>
    <p:extLst>
      <p:ext uri="{BB962C8B-B14F-4D97-AF65-F5344CB8AC3E}">
        <p14:creationId xmlns:p14="http://schemas.microsoft.com/office/powerpoint/2010/main" val="36167540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2791603-2C82-45D4-9E63-CB7F62DD651E}" type="datetimeFigureOut">
              <a:rPr lang="en-IN" smtClean="0"/>
              <a:t>17-02-2026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8D1C47A-1676-4BD1-9282-694ED6A90621}" type="slidenum">
              <a:rPr lang="en-IN" smtClean="0"/>
              <a:t>‹#›</a:t>
            </a:fld>
            <a:endParaRPr lang="en-IN"/>
          </a:p>
        </p:txBody>
      </p:sp>
    </p:spTree>
    <p:extLst>
      <p:ext uri="{BB962C8B-B14F-4D97-AF65-F5344CB8AC3E}">
        <p14:creationId xmlns:p14="http://schemas.microsoft.com/office/powerpoint/2010/main" val="41536754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2791603-2C82-45D4-9E63-CB7F62DD651E}" type="datetimeFigureOut">
              <a:rPr lang="en-IN" smtClean="0"/>
              <a:t>17-02-2026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8D1C47A-1676-4BD1-9282-694ED6A90621}" type="slidenum">
              <a:rPr lang="en-IN" smtClean="0"/>
              <a:t>‹#›</a:t>
            </a:fld>
            <a:endParaRPr lang="en-IN"/>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907116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2791603-2C82-45D4-9E63-CB7F62DD651E}" type="datetimeFigureOut">
              <a:rPr lang="en-IN" smtClean="0"/>
              <a:t>17-02-2026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8D1C47A-1676-4BD1-9282-694ED6A90621}" type="slidenum">
              <a:rPr lang="en-IN" smtClean="0"/>
              <a:t>‹#›</a:t>
            </a:fld>
            <a:endParaRPr lang="en-IN"/>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559823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2791603-2C82-45D4-9E63-CB7F62DD651E}" type="datetimeFigureOut">
              <a:rPr lang="en-IN" smtClean="0"/>
              <a:t>17-02-2026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8D1C47A-1676-4BD1-9282-694ED6A90621}" type="slidenum">
              <a:rPr lang="en-IN" smtClean="0"/>
              <a:t>‹#›</a:t>
            </a:fld>
            <a:endParaRPr lang="en-IN"/>
          </a:p>
        </p:txBody>
      </p:sp>
    </p:spTree>
    <p:extLst>
      <p:ext uri="{BB962C8B-B14F-4D97-AF65-F5344CB8AC3E}">
        <p14:creationId xmlns:p14="http://schemas.microsoft.com/office/powerpoint/2010/main" val="23425876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2791603-2C82-45D4-9E63-CB7F62DD651E}" type="datetimeFigureOut">
              <a:rPr lang="en-IN" smtClean="0"/>
              <a:t>17-02-2026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8D1C47A-1676-4BD1-9282-694ED6A90621}" type="slidenum">
              <a:rPr lang="en-IN" smtClean="0"/>
              <a:t>‹#›</a:t>
            </a:fld>
            <a:endParaRPr lang="en-IN"/>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628829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2791603-2C82-45D4-9E63-CB7F62DD651E}" type="datetimeFigureOut">
              <a:rPr lang="en-IN" smtClean="0"/>
              <a:t>17-02-2026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8D1C47A-1676-4BD1-9282-694ED6A90621}" type="slidenum">
              <a:rPr lang="en-IN" smtClean="0"/>
              <a:t>‹#›</a:t>
            </a:fld>
            <a:endParaRPr lang="en-IN"/>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190153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2791603-2C82-45D4-9E63-CB7F62DD651E}" type="datetimeFigureOut">
              <a:rPr lang="en-IN" smtClean="0"/>
              <a:t>17-02-2026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8D1C47A-1676-4BD1-9282-694ED6A90621}"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316831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2791603-2C82-45D4-9E63-CB7F62DD651E}" type="datetimeFigureOut">
              <a:rPr lang="en-IN" smtClean="0"/>
              <a:t>17-02-2026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8D1C47A-1676-4BD1-9282-694ED6A90621}" type="slidenum">
              <a:rPr lang="en-IN" smtClean="0"/>
              <a:t>‹#›</a:t>
            </a:fld>
            <a:endParaRPr lang="en-IN"/>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127049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2791603-2C82-45D4-9E63-CB7F62DD651E}" type="datetimeFigureOut">
              <a:rPr lang="en-IN" smtClean="0"/>
              <a:t>17-02-2026</a:t>
            </a:fld>
            <a:endParaRPr lang="en-IN"/>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8D1C47A-1676-4BD1-9282-694ED6A90621}" type="slidenum">
              <a:rPr lang="en-IN" smtClean="0"/>
              <a:t>‹#›</a:t>
            </a:fld>
            <a:endParaRPr lang="en-IN"/>
          </a:p>
        </p:txBody>
      </p:sp>
    </p:spTree>
    <p:extLst>
      <p:ext uri="{BB962C8B-B14F-4D97-AF65-F5344CB8AC3E}">
        <p14:creationId xmlns:p14="http://schemas.microsoft.com/office/powerpoint/2010/main" val="424179186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A4125-71CC-1057-06F3-06589D09F73E}"/>
              </a:ext>
            </a:extLst>
          </p:cNvPr>
          <p:cNvSpPr>
            <a:spLocks noGrp="1"/>
          </p:cNvSpPr>
          <p:nvPr>
            <p:ph type="ctrTitle"/>
          </p:nvPr>
        </p:nvSpPr>
        <p:spPr/>
        <p:txBody>
          <a:bodyPr/>
          <a:lstStyle/>
          <a:p>
            <a:r>
              <a:rPr lang="en-US" sz="4800" b="1" dirty="0">
                <a:latin typeface="Times New Roman" panose="02020603050405020304" pitchFamily="18" charset="0"/>
                <a:cs typeface="Times New Roman" panose="02020603050405020304" pitchFamily="18" charset="0"/>
              </a:rPr>
              <a:t>Heuristic Search in Inductive Learning</a:t>
            </a:r>
            <a:endParaRPr lang="en-IN" sz="48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5939A246-5497-F25B-3648-5BC090AEF3F8}"/>
              </a:ext>
            </a:extLst>
          </p:cNvPr>
          <p:cNvSpPr>
            <a:spLocks noGrp="1"/>
          </p:cNvSpPr>
          <p:nvPr>
            <p:ph type="subTitle" idx="1"/>
          </p:nvPr>
        </p:nvSpPr>
        <p:spPr>
          <a:xfrm>
            <a:off x="2692398" y="3657597"/>
            <a:ext cx="6955455" cy="1698174"/>
          </a:xfrm>
        </p:spPr>
        <p:txBody>
          <a:bodyPr>
            <a:normAutofit fontScale="92500" lnSpcReduction="10000"/>
          </a:bodyPr>
          <a:lstStyle/>
          <a:p>
            <a:r>
              <a:rPr lang="en-US" sz="2000" dirty="0">
                <a:latin typeface="Times New Roman" panose="02020603050405020304" pitchFamily="18" charset="0"/>
                <a:cs typeface="Times New Roman" panose="02020603050405020304" pitchFamily="18" charset="0"/>
              </a:rPr>
              <a:t>Mr. Shrikrishna Anand Narvekar </a:t>
            </a:r>
          </a:p>
          <a:p>
            <a:r>
              <a:rPr lang="en-US" sz="2000" dirty="0">
                <a:latin typeface="Times New Roman" panose="02020603050405020304" pitchFamily="18" charset="0"/>
                <a:cs typeface="Times New Roman" panose="02020603050405020304" pitchFamily="18" charset="0"/>
              </a:rPr>
              <a:t>Assistant Professor </a:t>
            </a:r>
          </a:p>
          <a:p>
            <a:r>
              <a:rPr lang="en-US" sz="2000" dirty="0">
                <a:latin typeface="Times New Roman" panose="02020603050405020304" pitchFamily="18" charset="0"/>
                <a:cs typeface="Times New Roman" panose="02020603050405020304" pitchFamily="18" charset="0"/>
              </a:rPr>
              <a:t>Computer Engineering Department </a:t>
            </a:r>
          </a:p>
          <a:p>
            <a:r>
              <a:rPr lang="en-US" sz="2000" dirty="0">
                <a:latin typeface="Times New Roman" panose="02020603050405020304" pitchFamily="18" charset="0"/>
                <a:cs typeface="Times New Roman" panose="02020603050405020304" pitchFamily="18" charset="0"/>
              </a:rPr>
              <a:t>Agnel Institute of Technology and Design</a:t>
            </a:r>
            <a:endParaRPr lang="en-IN" sz="20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5074446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176E0-6C03-7AA2-0308-F8488AE018FB}"/>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Content</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64BC0C8-E328-1A19-AF92-E0E7ADCE68F3}"/>
              </a:ext>
            </a:extLst>
          </p:cNvPr>
          <p:cNvSpPr>
            <a:spLocks noGrp="1"/>
          </p:cNvSpPr>
          <p:nvPr>
            <p:ph idx="1"/>
          </p:nvPr>
        </p:nvSpPr>
        <p:spPr/>
        <p:txBody>
          <a:bodyPr>
            <a:normAutofit lnSpcReduction="10000"/>
          </a:bodyPr>
          <a:lstStyle/>
          <a:p>
            <a:r>
              <a:rPr lang="en-US" dirty="0">
                <a:solidFill>
                  <a:schemeClr val="tx1"/>
                </a:solidFill>
                <a:latin typeface="Times New Roman" panose="02020603050405020304" pitchFamily="18" charset="0"/>
                <a:cs typeface="Times New Roman" panose="02020603050405020304" pitchFamily="18" charset="0"/>
              </a:rPr>
              <a:t>Bias variance trade off</a:t>
            </a:r>
          </a:p>
          <a:p>
            <a:r>
              <a:rPr lang="en-US" dirty="0">
                <a:solidFill>
                  <a:schemeClr val="tx1"/>
                </a:solidFill>
                <a:latin typeface="Times New Roman" panose="02020603050405020304" pitchFamily="18" charset="0"/>
                <a:cs typeface="Times New Roman" panose="02020603050405020304" pitchFamily="18" charset="0"/>
              </a:rPr>
              <a:t>Search through heuristic space</a:t>
            </a:r>
          </a:p>
          <a:p>
            <a:r>
              <a:rPr lang="en-US" dirty="0">
                <a:solidFill>
                  <a:schemeClr val="tx1"/>
                </a:solidFill>
                <a:latin typeface="Times New Roman" panose="02020603050405020304" pitchFamily="18" charset="0"/>
                <a:cs typeface="Times New Roman" panose="02020603050405020304" pitchFamily="18" charset="0"/>
              </a:rPr>
              <a:t>Techniques in heuristics</a:t>
            </a:r>
          </a:p>
          <a:p>
            <a:r>
              <a:rPr lang="en-US" dirty="0">
                <a:solidFill>
                  <a:schemeClr val="tx1"/>
                </a:solidFill>
                <a:latin typeface="Times New Roman" panose="02020603050405020304" pitchFamily="18" charset="0"/>
                <a:cs typeface="Times New Roman" panose="02020603050405020304" pitchFamily="18" charset="0"/>
              </a:rPr>
              <a:t>Regularization</a:t>
            </a:r>
          </a:p>
          <a:p>
            <a:r>
              <a:rPr lang="en-US" dirty="0">
                <a:solidFill>
                  <a:schemeClr val="tx1"/>
                </a:solidFill>
                <a:latin typeface="Times New Roman" panose="02020603050405020304" pitchFamily="18" charset="0"/>
                <a:cs typeface="Times New Roman" panose="02020603050405020304" pitchFamily="18" charset="0"/>
              </a:rPr>
              <a:t>Early stopping</a:t>
            </a:r>
          </a:p>
          <a:p>
            <a:r>
              <a:rPr lang="en-IN" dirty="0">
                <a:solidFill>
                  <a:schemeClr val="tx1"/>
                </a:solidFill>
                <a:latin typeface="Times New Roman" panose="02020603050405020304" pitchFamily="18" charset="0"/>
                <a:cs typeface="Times New Roman" panose="02020603050405020304" pitchFamily="18" charset="0"/>
              </a:rPr>
              <a:t>Pruning </a:t>
            </a:r>
          </a:p>
          <a:p>
            <a:r>
              <a:rPr lang="en-IN" dirty="0">
                <a:solidFill>
                  <a:schemeClr val="tx1"/>
                </a:solidFill>
                <a:latin typeface="Times New Roman" panose="02020603050405020304" pitchFamily="18" charset="0"/>
                <a:cs typeface="Times New Roman" panose="02020603050405020304" pitchFamily="18" charset="0"/>
              </a:rPr>
              <a:t>Ensemble learning</a:t>
            </a:r>
          </a:p>
        </p:txBody>
      </p:sp>
    </p:spTree>
    <p:extLst>
      <p:ext uri="{BB962C8B-B14F-4D97-AF65-F5344CB8AC3E}">
        <p14:creationId xmlns:p14="http://schemas.microsoft.com/office/powerpoint/2010/main" val="6192932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F58520-D6A4-3189-13D3-AC580C718CD1}"/>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E79F153F-8972-905F-B52C-72F98A6DFDA2}"/>
              </a:ext>
            </a:extLst>
          </p:cNvPr>
          <p:cNvSpPr>
            <a:spLocks noGrp="1"/>
          </p:cNvSpPr>
          <p:nvPr>
            <p:ph idx="1"/>
          </p:nvPr>
        </p:nvSpPr>
        <p:spPr/>
        <p:txBody>
          <a:bodyPr/>
          <a:lstStyle/>
          <a:p>
            <a:pPr algn="just"/>
            <a:r>
              <a:rPr lang="en-IN" dirty="0">
                <a:solidFill>
                  <a:schemeClr val="tx1"/>
                </a:solidFill>
                <a:latin typeface="Times New Roman" panose="02020603050405020304" pitchFamily="18" charset="0"/>
                <a:cs typeface="Times New Roman" panose="02020603050405020304" pitchFamily="18" charset="0"/>
              </a:rPr>
              <a:t>Machine learning is not about memorizing the training data; it is about building a statistical model that understands the underlying process. </a:t>
            </a:r>
          </a:p>
          <a:p>
            <a:pPr algn="just"/>
            <a:r>
              <a:rPr lang="en-IN" dirty="0">
                <a:solidFill>
                  <a:schemeClr val="tx1"/>
                </a:solidFill>
                <a:latin typeface="Times New Roman" panose="02020603050405020304" pitchFamily="18" charset="0"/>
                <a:cs typeface="Times New Roman" panose="02020603050405020304" pitchFamily="18" charset="0"/>
              </a:rPr>
              <a:t>The goal is </a:t>
            </a:r>
            <a:r>
              <a:rPr lang="en-IN" b="1" dirty="0">
                <a:solidFill>
                  <a:schemeClr val="tx1"/>
                </a:solidFill>
                <a:latin typeface="Times New Roman" panose="02020603050405020304" pitchFamily="18" charset="0"/>
                <a:cs typeface="Times New Roman" panose="02020603050405020304" pitchFamily="18" charset="0"/>
              </a:rPr>
              <a:t>generalization</a:t>
            </a:r>
            <a:r>
              <a:rPr lang="en-IN" dirty="0">
                <a:solidFill>
                  <a:schemeClr val="tx1"/>
                </a:solidFill>
                <a:latin typeface="Times New Roman" panose="02020603050405020304" pitchFamily="18" charset="0"/>
                <a:cs typeface="Times New Roman" panose="02020603050405020304" pitchFamily="18" charset="0"/>
              </a:rPr>
              <a:t>—the ability to make accurate predictions on new, unseen data.</a:t>
            </a:r>
          </a:p>
          <a:p>
            <a:pPr algn="just"/>
            <a:r>
              <a:rPr lang="en-IN" b="1" dirty="0">
                <a:solidFill>
                  <a:schemeClr val="tx1"/>
                </a:solidFill>
                <a:latin typeface="Times New Roman" panose="02020603050405020304" pitchFamily="18" charset="0"/>
                <a:cs typeface="Times New Roman" panose="02020603050405020304" pitchFamily="18" charset="0"/>
              </a:rPr>
              <a:t>Example:</a:t>
            </a:r>
            <a:r>
              <a:rPr lang="en-IN" dirty="0">
                <a:solidFill>
                  <a:schemeClr val="tx1"/>
                </a:solidFill>
                <a:latin typeface="Times New Roman" panose="02020603050405020304" pitchFamily="18" charset="0"/>
                <a:cs typeface="Times New Roman" panose="02020603050405020304" pitchFamily="18" charset="0"/>
              </a:rPr>
              <a:t> If you are training a model to recognize cats, you don't want it to just recognize the specific 100 cats in your photos. You want it to recognize </a:t>
            </a:r>
            <a:r>
              <a:rPr lang="en-IN" i="1" dirty="0">
                <a:solidFill>
                  <a:schemeClr val="tx1"/>
                </a:solidFill>
                <a:latin typeface="Times New Roman" panose="02020603050405020304" pitchFamily="18" charset="0"/>
                <a:cs typeface="Times New Roman" panose="02020603050405020304" pitchFamily="18" charset="0"/>
              </a:rPr>
              <a:t>any</a:t>
            </a:r>
            <a:r>
              <a:rPr lang="en-IN" dirty="0">
                <a:solidFill>
                  <a:schemeClr val="tx1"/>
                </a:solidFill>
                <a:latin typeface="Times New Roman" panose="02020603050405020304" pitchFamily="18" charset="0"/>
                <a:cs typeface="Times New Roman" panose="02020603050405020304" pitchFamily="18" charset="0"/>
              </a:rPr>
              <a:t> cat it sees in the future.</a:t>
            </a:r>
          </a:p>
          <a:p>
            <a:endParaRPr lang="en-IN" dirty="0"/>
          </a:p>
        </p:txBody>
      </p:sp>
    </p:spTree>
    <p:extLst>
      <p:ext uri="{BB962C8B-B14F-4D97-AF65-F5344CB8AC3E}">
        <p14:creationId xmlns:p14="http://schemas.microsoft.com/office/powerpoint/2010/main" val="25656720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753D5-0B71-1228-9A03-0D4B2DCEB15E}"/>
              </a:ext>
            </a:extLst>
          </p:cNvPr>
          <p:cNvSpPr>
            <a:spLocks noGrp="1"/>
          </p:cNvSpPr>
          <p:nvPr>
            <p:ph type="title"/>
          </p:nvPr>
        </p:nvSpPr>
        <p:spPr/>
        <p:txBody>
          <a:bodyPr>
            <a:normAutofit/>
          </a:bodyPr>
          <a:lstStyle/>
          <a:p>
            <a:r>
              <a:rPr lang="en-IN" b="1" dirty="0">
                <a:solidFill>
                  <a:schemeClr val="tx1"/>
                </a:solidFill>
                <a:latin typeface="Times New Roman" panose="02020603050405020304" pitchFamily="18" charset="0"/>
                <a:cs typeface="Times New Roman" panose="02020603050405020304" pitchFamily="18" charset="0"/>
              </a:rPr>
              <a:t>Bias-Variance Trade-off</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ABA64E1-1EAD-97E6-1042-B4BC7C4E19C6}"/>
              </a:ext>
            </a:extLst>
          </p:cNvPr>
          <p:cNvSpPr>
            <a:spLocks noGrp="1"/>
          </p:cNvSpPr>
          <p:nvPr>
            <p:ph idx="1"/>
          </p:nvPr>
        </p:nvSpPr>
        <p:spPr>
          <a:xfrm>
            <a:off x="1295401" y="2556932"/>
            <a:ext cx="9901334" cy="3573280"/>
          </a:xfrm>
        </p:spPr>
        <p:txBody>
          <a:bodyPr>
            <a:normAutofit fontScale="92500"/>
          </a:bodyPr>
          <a:lstStyle/>
          <a:p>
            <a:r>
              <a:rPr lang="en-IN" b="1" dirty="0">
                <a:solidFill>
                  <a:schemeClr val="tx1"/>
                </a:solidFill>
                <a:latin typeface="Times New Roman" panose="02020603050405020304" pitchFamily="18" charset="0"/>
                <a:cs typeface="Times New Roman" panose="02020603050405020304" pitchFamily="18" charset="0"/>
              </a:rPr>
              <a:t>Bias (Underfitting):</a:t>
            </a:r>
            <a:r>
              <a:rPr lang="en-IN" dirty="0">
                <a:solidFill>
                  <a:schemeClr val="tx1"/>
                </a:solidFill>
                <a:latin typeface="Times New Roman" panose="02020603050405020304" pitchFamily="18" charset="0"/>
                <a:cs typeface="Times New Roman" panose="02020603050405020304" pitchFamily="18" charset="0"/>
              </a:rPr>
              <a:t> The model is too simple (e.g., a straight line for a curved relationship). it misses the complexity of the data.</a:t>
            </a:r>
          </a:p>
          <a:p>
            <a:r>
              <a:rPr lang="en-IN" b="1" dirty="0">
                <a:solidFill>
                  <a:schemeClr val="tx1"/>
                </a:solidFill>
                <a:latin typeface="Times New Roman" panose="02020603050405020304" pitchFamily="18" charset="0"/>
                <a:cs typeface="Times New Roman" panose="02020603050405020304" pitchFamily="18" charset="0"/>
              </a:rPr>
              <a:t>Variance (Overfitting):</a:t>
            </a:r>
            <a:r>
              <a:rPr lang="en-IN" dirty="0">
                <a:solidFill>
                  <a:schemeClr val="tx1"/>
                </a:solidFill>
                <a:latin typeface="Times New Roman" panose="02020603050405020304" pitchFamily="18" charset="0"/>
                <a:cs typeface="Times New Roman" panose="02020603050405020304" pitchFamily="18" charset="0"/>
              </a:rPr>
              <a:t> The model is too complex (e.g., a jagged line that touches every single data point). It mistakes random noise for a real pattern.</a:t>
            </a:r>
          </a:p>
          <a:p>
            <a:r>
              <a:rPr lang="en-IN" b="1" dirty="0">
                <a:solidFill>
                  <a:schemeClr val="tx1"/>
                </a:solidFill>
                <a:latin typeface="Times New Roman" panose="02020603050405020304" pitchFamily="18" charset="0"/>
                <a:cs typeface="Times New Roman" panose="02020603050405020304" pitchFamily="18" charset="0"/>
              </a:rPr>
              <a:t>Example- High Bias:</a:t>
            </a:r>
            <a:r>
              <a:rPr lang="en-IN" dirty="0">
                <a:solidFill>
                  <a:schemeClr val="tx1"/>
                </a:solidFill>
                <a:latin typeface="Times New Roman" panose="02020603050405020304" pitchFamily="18" charset="0"/>
                <a:cs typeface="Times New Roman" panose="02020603050405020304" pitchFamily="18" charset="0"/>
              </a:rPr>
              <a:t> Studying only one page of a textbook for a final exam. You’ll be too prepared for that page but fail the rest.</a:t>
            </a:r>
          </a:p>
          <a:p>
            <a:r>
              <a:rPr lang="en-IN" b="1" dirty="0">
                <a:solidFill>
                  <a:schemeClr val="tx1"/>
                </a:solidFill>
                <a:latin typeface="Times New Roman" panose="02020603050405020304" pitchFamily="18" charset="0"/>
                <a:cs typeface="Times New Roman" panose="02020603050405020304" pitchFamily="18" charset="0"/>
              </a:rPr>
              <a:t>High Variance:</a:t>
            </a:r>
            <a:r>
              <a:rPr lang="en-IN" dirty="0">
                <a:solidFill>
                  <a:schemeClr val="tx1"/>
                </a:solidFill>
                <a:latin typeface="Times New Roman" panose="02020603050405020304" pitchFamily="18" charset="0"/>
                <a:cs typeface="Times New Roman" panose="02020603050405020304" pitchFamily="18" charset="0"/>
              </a:rPr>
              <a:t> Memorizing every word of the textbook without understanding the concepts. If the exam questions are phrased slightly differently, you’ll fail.</a:t>
            </a:r>
          </a:p>
          <a:p>
            <a:endParaRPr lang="en-IN" dirty="0"/>
          </a:p>
        </p:txBody>
      </p:sp>
    </p:spTree>
    <p:extLst>
      <p:ext uri="{BB962C8B-B14F-4D97-AF65-F5344CB8AC3E}">
        <p14:creationId xmlns:p14="http://schemas.microsoft.com/office/powerpoint/2010/main" val="17917499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1FBE7-F7D9-81BF-AA83-0D4DB6919EDF}"/>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Search through heuristic space</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D1F8052-E471-72DC-11A8-4C445D6D5623}"/>
              </a:ext>
            </a:extLst>
          </p:cNvPr>
          <p:cNvSpPr>
            <a:spLocks noGrp="1"/>
          </p:cNvSpPr>
          <p:nvPr>
            <p:ph idx="1"/>
          </p:nvPr>
        </p:nvSpPr>
        <p:spPr/>
        <p:txBody>
          <a:bodyPr>
            <a:normAutofit/>
          </a:bodyPr>
          <a:lstStyle/>
          <a:p>
            <a:r>
              <a:rPr lang="en-IN" sz="2200" dirty="0">
                <a:solidFill>
                  <a:schemeClr val="tx1"/>
                </a:solidFill>
                <a:latin typeface="Times New Roman" panose="02020603050405020304" pitchFamily="18" charset="0"/>
                <a:cs typeface="Times New Roman" panose="02020603050405020304" pitchFamily="18" charset="0"/>
              </a:rPr>
              <a:t>Word </a:t>
            </a:r>
            <a:r>
              <a:rPr lang="en-IN" sz="2200" b="1" dirty="0">
                <a:solidFill>
                  <a:schemeClr val="tx1"/>
                </a:solidFill>
                <a:latin typeface="Times New Roman" panose="02020603050405020304" pitchFamily="18" charset="0"/>
                <a:cs typeface="Times New Roman" panose="02020603050405020304" pitchFamily="18" charset="0"/>
              </a:rPr>
              <a:t>‘heuristic’ </a:t>
            </a:r>
            <a:r>
              <a:rPr lang="en-IN" sz="2200" dirty="0">
                <a:solidFill>
                  <a:schemeClr val="tx1"/>
                </a:solidFill>
                <a:latin typeface="Times New Roman" panose="02020603050405020304" pitchFamily="18" charset="0"/>
                <a:cs typeface="Times New Roman" panose="02020603050405020304" pitchFamily="18" charset="0"/>
              </a:rPr>
              <a:t>indicates that strategies for the search problem cannot be precisely pre-defined. </a:t>
            </a:r>
            <a:r>
              <a:rPr lang="en-IN" sz="2200" b="1" dirty="0">
                <a:solidFill>
                  <a:schemeClr val="tx1"/>
                </a:solidFill>
                <a:latin typeface="Times New Roman" panose="02020603050405020304" pitchFamily="18" charset="0"/>
                <a:cs typeface="Times New Roman" panose="02020603050405020304" pitchFamily="18" charset="0"/>
              </a:rPr>
              <a:t>Trial-and-error</a:t>
            </a:r>
            <a:r>
              <a:rPr lang="en-IN" sz="2200" dirty="0">
                <a:solidFill>
                  <a:schemeClr val="tx1"/>
                </a:solidFill>
                <a:latin typeface="Times New Roman" panose="02020603050405020304" pitchFamily="18" charset="0"/>
                <a:cs typeface="Times New Roman" panose="02020603050405020304" pitchFamily="18" charset="0"/>
              </a:rPr>
              <a:t> is the approach of searching for a </a:t>
            </a:r>
            <a:r>
              <a:rPr lang="en-IN" sz="2200" b="1" dirty="0">
                <a:solidFill>
                  <a:schemeClr val="tx1"/>
                </a:solidFill>
                <a:latin typeface="Times New Roman" panose="02020603050405020304" pitchFamily="18" charset="0"/>
                <a:cs typeface="Times New Roman" panose="02020603050405020304" pitchFamily="18" charset="0"/>
              </a:rPr>
              <a:t>‘good enough’</a:t>
            </a:r>
            <a:r>
              <a:rPr lang="en-IN" sz="2200" dirty="0">
                <a:solidFill>
                  <a:schemeClr val="tx1"/>
                </a:solidFill>
                <a:latin typeface="Times New Roman" panose="02020603050405020304" pitchFamily="18" charset="0"/>
                <a:cs typeface="Times New Roman" panose="02020603050405020304" pitchFamily="18" charset="0"/>
              </a:rPr>
              <a:t> solution.</a:t>
            </a:r>
          </a:p>
          <a:p>
            <a:r>
              <a:rPr lang="en-IN" sz="2200" dirty="0">
                <a:solidFill>
                  <a:schemeClr val="tx1"/>
                </a:solidFill>
                <a:latin typeface="Times New Roman" panose="02020603050405020304" pitchFamily="18" charset="0"/>
                <a:cs typeface="Times New Roman" panose="02020603050405020304" pitchFamily="18" charset="0"/>
              </a:rPr>
              <a:t>Space of </a:t>
            </a:r>
            <a:r>
              <a:rPr lang="en-IN" sz="2200" b="1" dirty="0">
                <a:solidFill>
                  <a:schemeClr val="tx1"/>
                </a:solidFill>
                <a:latin typeface="Times New Roman" panose="02020603050405020304" pitchFamily="18" charset="0"/>
                <a:cs typeface="Times New Roman" panose="02020603050405020304" pitchFamily="18" charset="0"/>
              </a:rPr>
              <a:t>probable hypotheses </a:t>
            </a:r>
            <a:r>
              <a:rPr lang="en-IN" sz="2200" dirty="0">
                <a:solidFill>
                  <a:schemeClr val="tx1"/>
                </a:solidFill>
                <a:latin typeface="Times New Roman" panose="02020603050405020304" pitchFamily="18" charset="0"/>
                <a:cs typeface="Times New Roman" panose="02020603050405020304" pitchFamily="18" charset="0"/>
              </a:rPr>
              <a:t>is </a:t>
            </a:r>
            <a:r>
              <a:rPr lang="en-IN" sz="2200" b="1" dirty="0">
                <a:solidFill>
                  <a:schemeClr val="tx1"/>
                </a:solidFill>
                <a:latin typeface="Times New Roman" panose="02020603050405020304" pitchFamily="18" charset="0"/>
                <a:cs typeface="Times New Roman" panose="02020603050405020304" pitchFamily="18" charset="0"/>
              </a:rPr>
              <a:t>infinite in theoretical </a:t>
            </a:r>
            <a:r>
              <a:rPr lang="en-IN" sz="2200" dirty="0">
                <a:solidFill>
                  <a:schemeClr val="tx1"/>
                </a:solidFill>
                <a:latin typeface="Times New Roman" panose="02020603050405020304" pitchFamily="18" charset="0"/>
                <a:cs typeface="Times New Roman" panose="02020603050405020304" pitchFamily="18" charset="0"/>
              </a:rPr>
              <a:t>terms. The learning task, therefore, is to explore a widespread space to find the </a:t>
            </a:r>
            <a:r>
              <a:rPr lang="en-IN" sz="2200" b="1" dirty="0">
                <a:solidFill>
                  <a:schemeClr val="tx1"/>
                </a:solidFill>
                <a:latin typeface="Times New Roman" panose="02020603050405020304" pitchFamily="18" charset="0"/>
                <a:cs typeface="Times New Roman" panose="02020603050405020304" pitchFamily="18" charset="0"/>
              </a:rPr>
              <a:t>hypothesis</a:t>
            </a:r>
            <a:r>
              <a:rPr lang="en-IN" sz="2200" dirty="0">
                <a:solidFill>
                  <a:schemeClr val="tx1"/>
                </a:solidFill>
                <a:latin typeface="Times New Roman" panose="02020603050405020304" pitchFamily="18" charset="0"/>
                <a:cs typeface="Times New Roman" panose="02020603050405020304" pitchFamily="18" charset="0"/>
              </a:rPr>
              <a:t> that is </a:t>
            </a:r>
            <a:r>
              <a:rPr lang="en-IN" sz="2200" b="1" dirty="0">
                <a:solidFill>
                  <a:schemeClr val="tx1"/>
                </a:solidFill>
                <a:latin typeface="Times New Roman" panose="02020603050405020304" pitchFamily="18" charset="0"/>
                <a:cs typeface="Times New Roman" panose="02020603050405020304" pitchFamily="18" charset="0"/>
              </a:rPr>
              <a:t>most consistent</a:t>
            </a:r>
            <a:r>
              <a:rPr lang="en-IN" sz="2200" dirty="0">
                <a:solidFill>
                  <a:schemeClr val="tx1"/>
                </a:solidFill>
                <a:latin typeface="Times New Roman" panose="02020603050405020304" pitchFamily="18" charset="0"/>
                <a:cs typeface="Times New Roman" panose="02020603050405020304" pitchFamily="18" charset="0"/>
              </a:rPr>
              <a:t> with the </a:t>
            </a:r>
            <a:r>
              <a:rPr lang="en-IN" sz="2200" b="1" dirty="0">
                <a:solidFill>
                  <a:schemeClr val="tx1"/>
                </a:solidFill>
                <a:latin typeface="Times New Roman" panose="02020603050405020304" pitchFamily="18" charset="0"/>
                <a:cs typeface="Times New Roman" panose="02020603050405020304" pitchFamily="18" charset="0"/>
              </a:rPr>
              <a:t>existing training examples</a:t>
            </a:r>
            <a:r>
              <a:rPr lang="en-IN" sz="2200" dirty="0">
                <a:solidFill>
                  <a:schemeClr val="tx1"/>
                </a:solidFill>
                <a:latin typeface="Times New Roman" panose="02020603050405020304" pitchFamily="18" charset="0"/>
                <a:cs typeface="Times New Roman" panose="02020603050405020304" pitchFamily="18" charset="0"/>
              </a:rPr>
              <a:t>.</a:t>
            </a:r>
          </a:p>
          <a:p>
            <a:endParaRPr lang="en-IN" sz="22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981622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E849EA4-53E8-3637-811A-19DDF80C5A22}"/>
              </a:ext>
            </a:extLst>
          </p:cNvPr>
          <p:cNvSpPr>
            <a:spLocks noGrp="1"/>
          </p:cNvSpPr>
          <p:nvPr>
            <p:ph idx="1"/>
          </p:nvPr>
        </p:nvSpPr>
        <p:spPr>
          <a:xfrm>
            <a:off x="1015482" y="849429"/>
            <a:ext cx="10386526" cy="5131493"/>
          </a:xfrm>
        </p:spPr>
        <p:txBody>
          <a:bodyPr>
            <a:normAutofit lnSpcReduction="10000"/>
          </a:bodyPr>
          <a:lstStyle/>
          <a:p>
            <a:r>
              <a:rPr lang="en-IN" b="1" dirty="0">
                <a:solidFill>
                  <a:schemeClr val="tx1"/>
                </a:solidFill>
                <a:latin typeface="Times New Roman" panose="02020603050405020304" pitchFamily="18" charset="0"/>
                <a:cs typeface="Times New Roman" panose="02020603050405020304" pitchFamily="18" charset="0"/>
              </a:rPr>
              <a:t>Applied machine learning </a:t>
            </a:r>
            <a:r>
              <a:rPr lang="en-IN" dirty="0">
                <a:solidFill>
                  <a:schemeClr val="tx1"/>
                </a:solidFill>
                <a:latin typeface="Times New Roman" panose="02020603050405020304" pitchFamily="18" charset="0"/>
                <a:cs typeface="Times New Roman" panose="02020603050405020304" pitchFamily="18" charset="0"/>
              </a:rPr>
              <a:t>organizes the search as per the following two-step procedure</a:t>
            </a:r>
          </a:p>
          <a:p>
            <a:pPr marL="457200" lvl="0" indent="-457200">
              <a:buFont typeface="+mj-lt"/>
              <a:buAutoNum type="arabicPeriod"/>
            </a:pPr>
            <a:r>
              <a:rPr lang="en-IN" sz="2200" dirty="0">
                <a:solidFill>
                  <a:schemeClr val="tx1"/>
                </a:solidFill>
                <a:latin typeface="Times New Roman" panose="02020603050405020304" pitchFamily="18" charset="0"/>
                <a:cs typeface="Times New Roman" panose="02020603050405020304" pitchFamily="18" charset="0"/>
              </a:rPr>
              <a:t>The search is first focused on a class of the </a:t>
            </a:r>
            <a:r>
              <a:rPr lang="en-IN" sz="2200" b="1" dirty="0">
                <a:solidFill>
                  <a:schemeClr val="tx1"/>
                </a:solidFill>
                <a:latin typeface="Times New Roman" panose="02020603050405020304" pitchFamily="18" charset="0"/>
                <a:cs typeface="Times New Roman" panose="02020603050405020304" pitchFamily="18" charset="0"/>
              </a:rPr>
              <a:t>possible hypotheses</a:t>
            </a:r>
            <a:r>
              <a:rPr lang="en-IN" sz="2200" dirty="0">
                <a:solidFill>
                  <a:schemeClr val="tx1"/>
                </a:solidFill>
                <a:latin typeface="Times New Roman" panose="02020603050405020304" pitchFamily="18" charset="0"/>
                <a:cs typeface="Times New Roman" panose="02020603050405020304" pitchFamily="18" charset="0"/>
              </a:rPr>
              <a:t>, chosen for the learning task in hand. </a:t>
            </a:r>
            <a:r>
              <a:rPr lang="en-IN" sz="2200" b="1" dirty="0">
                <a:solidFill>
                  <a:schemeClr val="tx1"/>
                </a:solidFill>
                <a:latin typeface="Times New Roman" panose="02020603050405020304" pitchFamily="18" charset="0"/>
                <a:cs typeface="Times New Roman" panose="02020603050405020304" pitchFamily="18" charset="0"/>
              </a:rPr>
              <a:t>Prior knowledge </a:t>
            </a:r>
            <a:r>
              <a:rPr lang="en-IN" sz="2200" dirty="0">
                <a:solidFill>
                  <a:schemeClr val="tx1"/>
                </a:solidFill>
                <a:latin typeface="Times New Roman" panose="02020603050405020304" pitchFamily="18" charset="0"/>
                <a:cs typeface="Times New Roman" panose="02020603050405020304" pitchFamily="18" charset="0"/>
              </a:rPr>
              <a:t>and </a:t>
            </a:r>
            <a:r>
              <a:rPr lang="en-IN" sz="2200" b="1" dirty="0">
                <a:solidFill>
                  <a:schemeClr val="tx1"/>
                </a:solidFill>
                <a:latin typeface="Times New Roman" panose="02020603050405020304" pitchFamily="18" charset="0"/>
                <a:cs typeface="Times New Roman" panose="02020603050405020304" pitchFamily="18" charset="0"/>
              </a:rPr>
              <a:t>experience are helpful </a:t>
            </a:r>
            <a:r>
              <a:rPr lang="en-IN" sz="2200" dirty="0">
                <a:solidFill>
                  <a:schemeClr val="tx1"/>
                </a:solidFill>
                <a:latin typeface="Times New Roman" panose="02020603050405020304" pitchFamily="18" charset="0"/>
                <a:cs typeface="Times New Roman" panose="02020603050405020304" pitchFamily="18" charset="0"/>
              </a:rPr>
              <a:t>in this selection. </a:t>
            </a:r>
            <a:r>
              <a:rPr lang="en-IN" sz="2200" b="1" dirty="0">
                <a:solidFill>
                  <a:schemeClr val="tx1"/>
                </a:solidFill>
                <a:latin typeface="Times New Roman" panose="02020603050405020304" pitchFamily="18" charset="0"/>
                <a:cs typeface="Times New Roman" panose="02020603050405020304" pitchFamily="18" charset="0"/>
              </a:rPr>
              <a:t>Different classes</a:t>
            </a:r>
            <a:r>
              <a:rPr lang="en-IN" sz="2200" dirty="0">
                <a:solidFill>
                  <a:schemeClr val="tx1"/>
                </a:solidFill>
                <a:latin typeface="Times New Roman" panose="02020603050405020304" pitchFamily="18" charset="0"/>
                <a:cs typeface="Times New Roman" panose="02020603050405020304" pitchFamily="18" charset="0"/>
              </a:rPr>
              <a:t> are appropriate for </a:t>
            </a:r>
            <a:r>
              <a:rPr lang="en-IN" sz="2200" b="1" dirty="0">
                <a:solidFill>
                  <a:schemeClr val="tx1"/>
                </a:solidFill>
                <a:latin typeface="Times New Roman" panose="02020603050405020304" pitchFamily="18" charset="0"/>
                <a:cs typeface="Times New Roman" panose="02020603050405020304" pitchFamily="18" charset="0"/>
              </a:rPr>
              <a:t>different kinds </a:t>
            </a:r>
            <a:r>
              <a:rPr lang="en-IN" sz="2200" dirty="0">
                <a:solidFill>
                  <a:schemeClr val="tx1"/>
                </a:solidFill>
                <a:latin typeface="Times New Roman" panose="02020603050405020304" pitchFamily="18" charset="0"/>
                <a:cs typeface="Times New Roman" panose="02020603050405020304" pitchFamily="18" charset="0"/>
              </a:rPr>
              <a:t>of learning tasks.</a:t>
            </a:r>
          </a:p>
          <a:p>
            <a:pPr marL="457200" lvl="0" indent="-457200">
              <a:buFont typeface="+mj-lt"/>
              <a:buAutoNum type="arabicPeriod"/>
            </a:pPr>
            <a:r>
              <a:rPr lang="en-IN" sz="2200" dirty="0">
                <a:solidFill>
                  <a:schemeClr val="tx1"/>
                </a:solidFill>
                <a:latin typeface="Times New Roman" panose="02020603050405020304" pitchFamily="18" charset="0"/>
                <a:cs typeface="Times New Roman" panose="02020603050405020304" pitchFamily="18" charset="0"/>
              </a:rPr>
              <a:t>For each of the classes, the corresponding learning algorithm organizes the search through all possible structures of the learning machine.</a:t>
            </a:r>
          </a:p>
          <a:p>
            <a:r>
              <a:rPr lang="en-IN" b="1" dirty="0">
                <a:solidFill>
                  <a:schemeClr val="tx1"/>
                </a:solidFill>
                <a:latin typeface="Times New Roman" panose="02020603050405020304" pitchFamily="18" charset="0"/>
                <a:cs typeface="Times New Roman" panose="02020603050405020304" pitchFamily="18" charset="0"/>
              </a:rPr>
              <a:t>Inductive Learning</a:t>
            </a:r>
            <a:r>
              <a:rPr lang="en-IN" dirty="0">
                <a:solidFill>
                  <a:schemeClr val="tx1"/>
                </a:solidFill>
                <a:latin typeface="Times New Roman" panose="02020603050405020304" pitchFamily="18" charset="0"/>
                <a:cs typeface="Times New Roman" panose="02020603050405020304" pitchFamily="18" charset="0"/>
              </a:rPr>
              <a:t> is the process of learning general rules from specific examples. Because there are an infinite number of possible "rules" or "theories" (hypotheses) that could explain a set of data, machine learning uses a </a:t>
            </a:r>
            <a:r>
              <a:rPr lang="en-IN" b="1" dirty="0">
                <a:solidFill>
                  <a:schemeClr val="tx1"/>
                </a:solidFill>
                <a:latin typeface="Times New Roman" panose="02020603050405020304" pitchFamily="18" charset="0"/>
                <a:cs typeface="Times New Roman" panose="02020603050405020304" pitchFamily="18" charset="0"/>
              </a:rPr>
              <a:t>two-step search</a:t>
            </a:r>
            <a:r>
              <a:rPr lang="en-IN" dirty="0">
                <a:solidFill>
                  <a:schemeClr val="tx1"/>
                </a:solidFill>
                <a:latin typeface="Times New Roman" panose="02020603050405020304" pitchFamily="18" charset="0"/>
                <a:cs typeface="Times New Roman" panose="02020603050405020304" pitchFamily="18" charset="0"/>
              </a:rPr>
              <a:t> to narrow things down quickly.</a:t>
            </a:r>
          </a:p>
          <a:p>
            <a:r>
              <a:rPr lang="en-IN" dirty="0">
                <a:solidFill>
                  <a:schemeClr val="tx1"/>
                </a:solidFill>
                <a:latin typeface="Times New Roman" panose="02020603050405020304" pitchFamily="18" charset="0"/>
                <a:cs typeface="Times New Roman" panose="02020603050405020304" pitchFamily="18" charset="0"/>
              </a:rPr>
              <a:t>Think of this process like </a:t>
            </a:r>
            <a:r>
              <a:rPr lang="en-IN" b="1" dirty="0">
                <a:solidFill>
                  <a:schemeClr val="tx1"/>
                </a:solidFill>
                <a:latin typeface="Times New Roman" panose="02020603050405020304" pitchFamily="18" charset="0"/>
                <a:cs typeface="Times New Roman" panose="02020603050405020304" pitchFamily="18" charset="0"/>
              </a:rPr>
              <a:t>trying to find the right tool to fix something in your house.</a:t>
            </a:r>
            <a:endParaRPr lang="en-IN" dirty="0">
              <a:solidFill>
                <a:schemeClr val="tx1"/>
              </a:solidFill>
              <a:latin typeface="Times New Roman" panose="02020603050405020304" pitchFamily="18" charset="0"/>
              <a:cs typeface="Times New Roman" panose="02020603050405020304" pitchFamily="18" charset="0"/>
            </a:endParaRPr>
          </a:p>
          <a:p>
            <a:endParaRPr lang="en-IN" dirty="0">
              <a:solidFill>
                <a:schemeClr val="tx1"/>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8396131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DD9DF-D1D0-BED8-AF6E-E859B7036336}"/>
              </a:ext>
            </a:extLst>
          </p:cNvPr>
          <p:cNvSpPr>
            <a:spLocks noGrp="1"/>
          </p:cNvSpPr>
          <p:nvPr>
            <p:ph idx="1"/>
          </p:nvPr>
        </p:nvSpPr>
        <p:spPr>
          <a:xfrm>
            <a:off x="923730" y="802433"/>
            <a:ext cx="10347649" cy="5439747"/>
          </a:xfrm>
        </p:spPr>
        <p:txBody>
          <a:bodyPr/>
          <a:lstStyle/>
          <a:p>
            <a:r>
              <a:rPr lang="en-IN" b="1" dirty="0">
                <a:solidFill>
                  <a:schemeClr val="tx1"/>
                </a:solidFill>
                <a:latin typeface="Times New Roman" panose="02020603050405020304" pitchFamily="18" charset="0"/>
                <a:cs typeface="Times New Roman" panose="02020603050405020304" pitchFamily="18" charset="0"/>
              </a:rPr>
              <a:t>Step 1: Choosing the "Toolbox" (The Hypothesis Class)</a:t>
            </a:r>
            <a:endParaRPr lang="en-IN" dirty="0">
              <a:solidFill>
                <a:schemeClr val="tx1"/>
              </a:solidFill>
              <a:latin typeface="Times New Roman" panose="02020603050405020304" pitchFamily="18" charset="0"/>
              <a:cs typeface="Times New Roman" panose="02020603050405020304" pitchFamily="18" charset="0"/>
            </a:endParaRPr>
          </a:p>
          <a:p>
            <a:r>
              <a:rPr lang="en-IN" dirty="0">
                <a:solidFill>
                  <a:schemeClr val="tx1"/>
                </a:solidFill>
                <a:latin typeface="Times New Roman" panose="02020603050405020304" pitchFamily="18" charset="0"/>
                <a:cs typeface="Times New Roman" panose="02020603050405020304" pitchFamily="18" charset="0"/>
              </a:rPr>
              <a:t>Before you start fixing a leak, you don't look at every single object in your house (that would take forever). Based on your </a:t>
            </a:r>
            <a:r>
              <a:rPr lang="en-IN" b="1" dirty="0">
                <a:solidFill>
                  <a:schemeClr val="tx1"/>
                </a:solidFill>
                <a:latin typeface="Times New Roman" panose="02020603050405020304" pitchFamily="18" charset="0"/>
                <a:cs typeface="Times New Roman" panose="02020603050405020304" pitchFamily="18" charset="0"/>
              </a:rPr>
              <a:t>experience</a:t>
            </a:r>
            <a:r>
              <a:rPr lang="en-IN" dirty="0">
                <a:solidFill>
                  <a:schemeClr val="tx1"/>
                </a:solidFill>
                <a:latin typeface="Times New Roman" panose="02020603050405020304" pitchFamily="18" charset="0"/>
                <a:cs typeface="Times New Roman" panose="02020603050405020304" pitchFamily="18" charset="0"/>
              </a:rPr>
              <a:t> (prior knowledge), you decide you need a "Plumbing Toolbox" rather than a "Sewing Kit."</a:t>
            </a:r>
          </a:p>
          <a:p>
            <a:pPr lvl="0"/>
            <a:r>
              <a:rPr lang="en-IN" b="1" dirty="0">
                <a:latin typeface="Times New Roman" panose="02020603050405020304" pitchFamily="18" charset="0"/>
                <a:cs typeface="Times New Roman" panose="02020603050405020304" pitchFamily="18" charset="0"/>
              </a:rPr>
              <a:t>In Machine Learning:</a:t>
            </a:r>
            <a:r>
              <a:rPr lang="en-IN" dirty="0">
                <a:latin typeface="Times New Roman" panose="02020603050405020304" pitchFamily="18" charset="0"/>
                <a:cs typeface="Times New Roman" panose="02020603050405020304" pitchFamily="18" charset="0"/>
              </a:rPr>
              <a:t> We don't search through every possible mathematical formula. Instead, we use a </a:t>
            </a:r>
            <a:r>
              <a:rPr lang="en-IN" b="1" dirty="0">
                <a:latin typeface="Times New Roman" panose="02020603050405020304" pitchFamily="18" charset="0"/>
                <a:cs typeface="Times New Roman" panose="02020603050405020304" pitchFamily="18" charset="0"/>
              </a:rPr>
              <a:t>heuristic</a:t>
            </a:r>
            <a:r>
              <a:rPr lang="en-IN" dirty="0">
                <a:latin typeface="Times New Roman" panose="02020603050405020304" pitchFamily="18" charset="0"/>
                <a:cs typeface="Times New Roman" panose="02020603050405020304" pitchFamily="18" charset="0"/>
              </a:rPr>
              <a:t> (a smart shortcut) to pick a category of models, such as "Decision Trees" or "Neural Networks," because we know from experience they work well for this type of data.</a:t>
            </a:r>
          </a:p>
          <a:p>
            <a:pPr lvl="0"/>
            <a:r>
              <a:rPr lang="en-IN" b="1" dirty="0">
                <a:latin typeface="Times New Roman" panose="02020603050405020304" pitchFamily="18" charset="0"/>
                <a:cs typeface="Times New Roman" panose="02020603050405020304" pitchFamily="18" charset="0"/>
              </a:rPr>
              <a:t>The Heuristic:</a:t>
            </a:r>
            <a:r>
              <a:rPr lang="en-IN" dirty="0">
                <a:latin typeface="Times New Roman" panose="02020603050405020304" pitchFamily="18" charset="0"/>
                <a:cs typeface="Times New Roman" panose="02020603050405020304" pitchFamily="18" charset="0"/>
              </a:rPr>
              <a:t> "This problem looks like a classification task with tabular data, so I'll start with Decision Trees."</a:t>
            </a:r>
          </a:p>
          <a:p>
            <a:endParaRPr lang="en-IN" dirty="0"/>
          </a:p>
        </p:txBody>
      </p:sp>
    </p:spTree>
    <p:extLst>
      <p:ext uri="{BB962C8B-B14F-4D97-AF65-F5344CB8AC3E}">
        <p14:creationId xmlns:p14="http://schemas.microsoft.com/office/powerpoint/2010/main" val="25807420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1898BA-3F23-023E-7C47-00F16F436858}"/>
              </a:ext>
            </a:extLst>
          </p:cNvPr>
          <p:cNvSpPr>
            <a:spLocks noGrp="1"/>
          </p:cNvSpPr>
          <p:nvPr>
            <p:ph idx="1"/>
          </p:nvPr>
        </p:nvSpPr>
        <p:spPr>
          <a:xfrm>
            <a:off x="858416" y="839755"/>
            <a:ext cx="10300996" cy="5141167"/>
          </a:xfrm>
        </p:spPr>
        <p:txBody>
          <a:bodyPr/>
          <a:lstStyle/>
          <a:p>
            <a:pPr algn="just"/>
            <a:r>
              <a:rPr lang="en-IN" b="1" dirty="0">
                <a:solidFill>
                  <a:schemeClr val="tx1"/>
                </a:solidFill>
                <a:latin typeface="Times New Roman" panose="02020603050405020304" pitchFamily="18" charset="0"/>
                <a:cs typeface="Times New Roman" panose="02020603050405020304" pitchFamily="18" charset="0"/>
              </a:rPr>
              <a:t>Step 2: Finding the "Right Tool" (The Specific Structure)</a:t>
            </a:r>
            <a:endParaRPr lang="en-IN" dirty="0">
              <a:solidFill>
                <a:schemeClr val="tx1"/>
              </a:solidFill>
              <a:latin typeface="Times New Roman" panose="02020603050405020304" pitchFamily="18" charset="0"/>
              <a:cs typeface="Times New Roman" panose="02020603050405020304" pitchFamily="18" charset="0"/>
            </a:endParaRPr>
          </a:p>
          <a:p>
            <a:pPr algn="just"/>
            <a:r>
              <a:rPr lang="en-IN" dirty="0">
                <a:solidFill>
                  <a:schemeClr val="tx1"/>
                </a:solidFill>
                <a:latin typeface="Times New Roman" panose="02020603050405020304" pitchFamily="18" charset="0"/>
                <a:cs typeface="Times New Roman" panose="02020603050405020304" pitchFamily="18" charset="0"/>
              </a:rPr>
              <a:t>Now that you have your plumbing toolbox open, you have to find the exact wrench that fits the pipe. You don't just pick one at random; you try one, see if it’s too big (overfitting) or too small (underfitting), and then adjust.</a:t>
            </a:r>
          </a:p>
          <a:p>
            <a:pPr lvl="0" algn="just"/>
            <a:r>
              <a:rPr lang="en-IN" b="1" dirty="0">
                <a:solidFill>
                  <a:schemeClr val="tx1"/>
                </a:solidFill>
                <a:latin typeface="Times New Roman" panose="02020603050405020304" pitchFamily="18" charset="0"/>
                <a:cs typeface="Times New Roman" panose="02020603050405020304" pitchFamily="18" charset="0"/>
              </a:rPr>
              <a:t>In Machine Learning:</a:t>
            </a:r>
            <a:r>
              <a:rPr lang="en-IN" dirty="0">
                <a:solidFill>
                  <a:schemeClr val="tx1"/>
                </a:solidFill>
                <a:latin typeface="Times New Roman" panose="02020603050405020304" pitchFamily="18" charset="0"/>
                <a:cs typeface="Times New Roman" panose="02020603050405020304" pitchFamily="18" charset="0"/>
              </a:rPr>
              <a:t> Once we've picked a "class" (like a Neural Network), the algorithm searches for the specific settings (weights and layers) that fit the data best.</a:t>
            </a:r>
          </a:p>
          <a:p>
            <a:pPr lvl="0" algn="just"/>
            <a:r>
              <a:rPr lang="en-IN" b="1" dirty="0">
                <a:solidFill>
                  <a:schemeClr val="tx1"/>
                </a:solidFill>
                <a:latin typeface="Times New Roman" panose="02020603050405020304" pitchFamily="18" charset="0"/>
                <a:cs typeface="Times New Roman" panose="02020603050405020304" pitchFamily="18" charset="0"/>
              </a:rPr>
              <a:t>The Heuristic:</a:t>
            </a:r>
            <a:r>
              <a:rPr lang="en-IN" dirty="0">
                <a:solidFill>
                  <a:schemeClr val="tx1"/>
                </a:solidFill>
                <a:latin typeface="Times New Roman" panose="02020603050405020304" pitchFamily="18" charset="0"/>
                <a:cs typeface="Times New Roman" panose="02020603050405020304" pitchFamily="18" charset="0"/>
              </a:rPr>
              <a:t> Since we can’t test every possible version of the network, we use tools like </a:t>
            </a:r>
            <a:r>
              <a:rPr lang="en-IN" b="1" dirty="0">
                <a:solidFill>
                  <a:schemeClr val="tx1"/>
                </a:solidFill>
                <a:latin typeface="Times New Roman" panose="02020603050405020304" pitchFamily="18" charset="0"/>
                <a:cs typeface="Times New Roman" panose="02020603050405020304" pitchFamily="18" charset="0"/>
              </a:rPr>
              <a:t>Early Stopping</a:t>
            </a:r>
            <a:r>
              <a:rPr lang="en-IN" dirty="0">
                <a:solidFill>
                  <a:schemeClr val="tx1"/>
                </a:solidFill>
                <a:latin typeface="Times New Roman" panose="02020603050405020304" pitchFamily="18" charset="0"/>
                <a:cs typeface="Times New Roman" panose="02020603050405020304" pitchFamily="18" charset="0"/>
              </a:rPr>
              <a:t> (quitting while we're ahead) or </a:t>
            </a:r>
            <a:r>
              <a:rPr lang="en-IN" b="1" dirty="0">
                <a:solidFill>
                  <a:schemeClr val="tx1"/>
                </a:solidFill>
                <a:latin typeface="Times New Roman" panose="02020603050405020304" pitchFamily="18" charset="0"/>
                <a:cs typeface="Times New Roman" panose="02020603050405020304" pitchFamily="18" charset="0"/>
              </a:rPr>
              <a:t>Pruning</a:t>
            </a:r>
            <a:r>
              <a:rPr lang="en-IN" dirty="0">
                <a:solidFill>
                  <a:schemeClr val="tx1"/>
                </a:solidFill>
                <a:latin typeface="Times New Roman" panose="02020603050405020304" pitchFamily="18" charset="0"/>
                <a:cs typeface="Times New Roman" panose="02020603050405020304" pitchFamily="18" charset="0"/>
              </a:rPr>
              <a:t> (cutting off parts of the model that are too specific) to find a "good enough" solution without getting lost in the details.</a:t>
            </a:r>
          </a:p>
          <a:p>
            <a:endParaRPr lang="en-IN" dirty="0"/>
          </a:p>
        </p:txBody>
      </p:sp>
    </p:spTree>
    <p:extLst>
      <p:ext uri="{BB962C8B-B14F-4D97-AF65-F5344CB8AC3E}">
        <p14:creationId xmlns:p14="http://schemas.microsoft.com/office/powerpoint/2010/main" val="24538214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938F5F-5ED3-78C5-8680-45F1CCD22DAF}"/>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Techniques in heuristics </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BAEAD1C-2AA0-593A-9EC0-E31B0D28F948}"/>
              </a:ext>
            </a:extLst>
          </p:cNvPr>
          <p:cNvSpPr>
            <a:spLocks noGrp="1"/>
          </p:cNvSpPr>
          <p:nvPr>
            <p:ph idx="1"/>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Heuristics uses following techniques to </a:t>
            </a:r>
            <a:r>
              <a:rPr lang="en-IN" dirty="0">
                <a:solidFill>
                  <a:schemeClr val="tx1"/>
                </a:solidFill>
                <a:latin typeface="Times New Roman" panose="02020603050405020304" pitchFamily="18" charset="0"/>
                <a:cs typeface="Times New Roman" panose="02020603050405020304" pitchFamily="18" charset="0"/>
              </a:rPr>
              <a:t>optimize hypothesis complexity for a given training dataset.</a:t>
            </a:r>
          </a:p>
          <a:p>
            <a:pPr marL="457200" indent="-457200">
              <a:buFont typeface="+mj-lt"/>
              <a:buAutoNum type="arabicPeriod"/>
            </a:pPr>
            <a:r>
              <a:rPr lang="en-IN" dirty="0">
                <a:solidFill>
                  <a:schemeClr val="tx1"/>
                </a:solidFill>
                <a:latin typeface="Times New Roman" panose="02020603050405020304" pitchFamily="18" charset="0"/>
                <a:cs typeface="Times New Roman" panose="02020603050405020304" pitchFamily="18" charset="0"/>
              </a:rPr>
              <a:t>Regularization</a:t>
            </a:r>
          </a:p>
          <a:p>
            <a:pPr marL="457200" indent="-457200">
              <a:buFont typeface="+mj-lt"/>
              <a:buAutoNum type="arabicPeriod"/>
            </a:pPr>
            <a:r>
              <a:rPr lang="en-IN" dirty="0">
                <a:solidFill>
                  <a:schemeClr val="tx1"/>
                </a:solidFill>
                <a:latin typeface="Times New Roman" panose="02020603050405020304" pitchFamily="18" charset="0"/>
                <a:cs typeface="Times New Roman" panose="02020603050405020304" pitchFamily="18" charset="0"/>
              </a:rPr>
              <a:t>Early stopping</a:t>
            </a:r>
          </a:p>
          <a:p>
            <a:pPr marL="457200" indent="-457200">
              <a:buFont typeface="+mj-lt"/>
              <a:buAutoNum type="arabicPeriod"/>
            </a:pPr>
            <a:r>
              <a:rPr lang="en-IN" dirty="0">
                <a:solidFill>
                  <a:schemeClr val="tx1"/>
                </a:solidFill>
                <a:latin typeface="Times New Roman" panose="02020603050405020304" pitchFamily="18" charset="0"/>
                <a:cs typeface="Times New Roman" panose="02020603050405020304" pitchFamily="18" charset="0"/>
              </a:rPr>
              <a:t>Pruning</a:t>
            </a:r>
          </a:p>
          <a:p>
            <a:pPr marL="457200" indent="-457200">
              <a:buFont typeface="+mj-lt"/>
              <a:buAutoNum type="arabicPeriod"/>
            </a:pPr>
            <a:r>
              <a:rPr lang="en-IN" dirty="0">
                <a:solidFill>
                  <a:schemeClr val="tx1"/>
                </a:solidFill>
                <a:latin typeface="Times New Roman" panose="02020603050405020304" pitchFamily="18" charset="0"/>
                <a:cs typeface="Times New Roman" panose="02020603050405020304" pitchFamily="18" charset="0"/>
              </a:rPr>
              <a:t>Ensemble learning </a:t>
            </a:r>
          </a:p>
        </p:txBody>
      </p:sp>
    </p:spTree>
    <p:extLst>
      <p:ext uri="{BB962C8B-B14F-4D97-AF65-F5344CB8AC3E}">
        <p14:creationId xmlns:p14="http://schemas.microsoft.com/office/powerpoint/2010/main" val="41950615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AE391-35E3-9307-9747-5475A4053635}"/>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Regularization</a:t>
            </a:r>
            <a:endParaRPr lang="en-IN"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64249C0-2B4B-B916-BF0F-E3243A74B696}"/>
                  </a:ext>
                </a:extLst>
              </p:cNvPr>
              <p:cNvSpPr>
                <a:spLocks noGrp="1"/>
              </p:cNvSpPr>
              <p:nvPr>
                <p:ph idx="1"/>
              </p:nvPr>
            </p:nvSpPr>
            <p:spPr>
              <a:xfrm>
                <a:off x="844422" y="2556932"/>
                <a:ext cx="5394648" cy="3318936"/>
              </a:xfrm>
            </p:spPr>
            <p:txBody>
              <a:bodyPr>
                <a:normAutofit lnSpcReduction="10000"/>
              </a:bodyPr>
              <a:lstStyle/>
              <a:p>
                <a:r>
                  <a:rPr lang="en-IN" sz="2200" dirty="0">
                    <a:latin typeface="Times New Roman" panose="02020603050405020304" pitchFamily="18" charset="0"/>
                    <a:cs typeface="Times New Roman" panose="02020603050405020304" pitchFamily="18" charset="0"/>
                  </a:rPr>
                  <a:t>Regularization adds a </a:t>
                </a:r>
                <a:r>
                  <a:rPr lang="en-IN" sz="2200" b="1" dirty="0">
                    <a:latin typeface="Times New Roman" panose="02020603050405020304" pitchFamily="18" charset="0"/>
                    <a:cs typeface="Times New Roman" panose="02020603050405020304" pitchFamily="18" charset="0"/>
                  </a:rPr>
                  <a:t>"penalty</a:t>
                </a:r>
                <a:r>
                  <a:rPr lang="en-IN" sz="2200" dirty="0">
                    <a:latin typeface="Times New Roman" panose="02020603050405020304" pitchFamily="18" charset="0"/>
                    <a:cs typeface="Times New Roman" panose="02020603050405020304" pitchFamily="18" charset="0"/>
                  </a:rPr>
                  <a:t>" to the model for being too complicated. If the model uses very </a:t>
                </a:r>
                <a:r>
                  <a:rPr lang="en-IN" sz="2200" b="1" dirty="0">
                    <a:latin typeface="Times New Roman" panose="02020603050405020304" pitchFamily="18" charset="0"/>
                    <a:cs typeface="Times New Roman" panose="02020603050405020304" pitchFamily="18" charset="0"/>
                  </a:rPr>
                  <a:t>large numbers (weights) </a:t>
                </a:r>
                <a:r>
                  <a:rPr lang="en-IN" sz="2200" dirty="0">
                    <a:latin typeface="Times New Roman" panose="02020603050405020304" pitchFamily="18" charset="0"/>
                    <a:cs typeface="Times New Roman" panose="02020603050405020304" pitchFamily="18" charset="0"/>
                  </a:rPr>
                  <a:t>to explain the data, the regularization formula "punishes" it. </a:t>
                </a:r>
              </a:p>
              <a:p>
                <a:r>
                  <a:rPr lang="en-IN" sz="2200" dirty="0">
                    <a:solidFill>
                      <a:schemeClr val="tx1"/>
                    </a:solidFill>
                    <a:latin typeface="Times New Roman" panose="02020603050405020304" pitchFamily="18" charset="0"/>
                    <a:cs typeface="Times New Roman" panose="02020603050405020304" pitchFamily="18" charset="0"/>
                  </a:rPr>
                  <a:t>It forces the model to stay "smooth" and simple.</a:t>
                </a:r>
              </a:p>
              <a:p>
                <a:r>
                  <a:rPr lang="en-IN" sz="2200" dirty="0">
                    <a:solidFill>
                      <a:schemeClr val="tx1"/>
                    </a:solidFill>
                    <a:latin typeface="Times New Roman" panose="02020603050405020304" pitchFamily="18" charset="0"/>
                    <a:cs typeface="Times New Roman" panose="02020603050405020304" pitchFamily="18" charset="0"/>
                  </a:rPr>
                  <a:t>Augmented Error function is given by </a:t>
                </a:r>
              </a:p>
              <a:p>
                <a:r>
                  <a:rPr lang="en-IN" b="1"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bar>
                      <m:barPr>
                        <m:pos m:val="top"/>
                        <m:ctrlPr>
                          <a:rPr lang="en-IN" sz="2200" b="1" i="1">
                            <a:solidFill>
                              <a:schemeClr val="tx1"/>
                            </a:solidFill>
                            <a:latin typeface="Cambria Math" panose="02040503050406030204" pitchFamily="18" charset="0"/>
                          </a:rPr>
                        </m:ctrlPr>
                      </m:barPr>
                      <m:e>
                        <m:r>
                          <a:rPr lang="en-IN" sz="2200" b="1" i="1">
                            <a:solidFill>
                              <a:schemeClr val="tx1"/>
                            </a:solidFill>
                            <a:latin typeface="Cambria Math" panose="02040503050406030204" pitchFamily="18" charset="0"/>
                          </a:rPr>
                          <m:t>𝑬</m:t>
                        </m:r>
                      </m:e>
                    </m:bar>
                  </m:oMath>
                </a14:m>
                <a:r>
                  <a:rPr lang="en-IN" sz="2200" b="1" dirty="0">
                    <a:solidFill>
                      <a:schemeClr val="tx1"/>
                    </a:solidFill>
                    <a:latin typeface="Times New Roman" panose="02020603050405020304" pitchFamily="18" charset="0"/>
                    <a:cs typeface="Times New Roman" panose="02020603050405020304" pitchFamily="18" charset="0"/>
                  </a:rPr>
                  <a:t>=E+ λΩ</a:t>
                </a:r>
              </a:p>
            </p:txBody>
          </p:sp>
        </mc:Choice>
        <mc:Fallback xmlns="">
          <p:sp>
            <p:nvSpPr>
              <p:cNvPr id="3" name="Content Placeholder 2">
                <a:extLst>
                  <a:ext uri="{FF2B5EF4-FFF2-40B4-BE49-F238E27FC236}">
                    <a16:creationId xmlns:a16="http://schemas.microsoft.com/office/drawing/2014/main" id="{A64249C0-2B4B-B916-BF0F-E3243A74B696}"/>
                  </a:ext>
                </a:extLst>
              </p:cNvPr>
              <p:cNvSpPr>
                <a:spLocks noGrp="1" noRot="1" noChangeAspect="1" noMove="1" noResize="1" noEditPoints="1" noAdjustHandles="1" noChangeArrowheads="1" noChangeShapeType="1" noTextEdit="1"/>
              </p:cNvSpPr>
              <p:nvPr>
                <p:ph idx="1"/>
              </p:nvPr>
            </p:nvSpPr>
            <p:spPr>
              <a:xfrm>
                <a:off x="844422" y="2556932"/>
                <a:ext cx="5394648" cy="3318936"/>
              </a:xfrm>
              <a:blipFill>
                <a:blip r:embed="rId3"/>
                <a:stretch>
                  <a:fillRect l="-2036" t="-2936" b="-348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40C0BFD-6471-FA4D-5B70-A8F3CBE444D5}"/>
                  </a:ext>
                </a:extLst>
              </p:cNvPr>
              <p:cNvSpPr txBox="1"/>
              <p:nvPr/>
            </p:nvSpPr>
            <p:spPr>
              <a:xfrm>
                <a:off x="6239070" y="2584580"/>
                <a:ext cx="5116285" cy="2896627"/>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Where E (Error on Data) </a:t>
                </a:r>
              </a:p>
              <a:p>
                <a:r>
                  <a:rPr lang="en-IN" sz="2000" dirty="0">
                    <a:latin typeface="Times New Roman" panose="02020603050405020304" pitchFamily="18" charset="0"/>
                    <a:cs typeface="Times New Roman" panose="02020603050405020304" pitchFamily="18" charset="0"/>
                  </a:rPr>
                  <a:t>Ω (hypothesis complexity) = is the </a:t>
                </a:r>
                <a:r>
                  <a:rPr lang="en-IN" sz="2000" b="1" dirty="0">
                    <a:latin typeface="Times New Roman" panose="02020603050405020304" pitchFamily="18" charset="0"/>
                    <a:cs typeface="Times New Roman" panose="02020603050405020304" pitchFamily="18" charset="0"/>
                  </a:rPr>
                  <a:t>regularization term</a:t>
                </a:r>
              </a:p>
              <a:p>
                <a:r>
                  <a:rPr lang="en-IN" sz="2000" b="1" dirty="0">
                    <a:latin typeface="Times New Roman" panose="02020603050405020304" pitchFamily="18" charset="0"/>
                    <a:cs typeface="Times New Roman" panose="02020603050405020304" pitchFamily="18" charset="0"/>
                  </a:rPr>
                  <a:t>λ(Weight of Penalty) </a:t>
                </a:r>
                <a:r>
                  <a:rPr lang="en-IN" sz="2000" dirty="0">
                    <a:latin typeface="Times New Roman" panose="02020603050405020304" pitchFamily="18" charset="0"/>
                    <a:cs typeface="Times New Roman" panose="02020603050405020304" pitchFamily="18" charset="0"/>
                  </a:rPr>
                  <a:t>= This is a "tuning knob" that determines how much importance we give to the complexity penalty versus the actual error.</a:t>
                </a:r>
              </a:p>
              <a:p>
                <a14:m>
                  <m:oMath xmlns:m="http://schemas.openxmlformats.org/officeDocument/2006/math">
                    <m:bar>
                      <m:barPr>
                        <m:pos m:val="top"/>
                        <m:ctrlPr>
                          <a:rPr lang="en-IN" sz="2000" i="1">
                            <a:latin typeface="Cambria Math" panose="02040503050406030204" pitchFamily="18" charset="0"/>
                          </a:rPr>
                        </m:ctrlPr>
                      </m:barPr>
                      <m:e>
                        <m:r>
                          <a:rPr lang="en-IN" sz="2000" i="1">
                            <a:latin typeface="Cambria Math" panose="02040503050406030204" pitchFamily="18" charset="0"/>
                          </a:rPr>
                          <m:t>𝐸</m:t>
                        </m:r>
                      </m:e>
                    </m:bar>
                  </m:oMath>
                </a14:m>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Augmented Error</a:t>
                </a:r>
                <a:r>
                  <a:rPr lang="en-IN" sz="2000" dirty="0">
                    <a:latin typeface="Times New Roman" panose="02020603050405020304" pitchFamily="18" charset="0"/>
                    <a:cs typeface="Times New Roman" panose="02020603050405020304" pitchFamily="18" charset="0"/>
                  </a:rPr>
                  <a:t>) = This is the "Total Cost." </a:t>
                </a:r>
              </a:p>
            </p:txBody>
          </p:sp>
        </mc:Choice>
        <mc:Fallback xmlns="">
          <p:sp>
            <p:nvSpPr>
              <p:cNvPr id="4" name="TextBox 3">
                <a:extLst>
                  <a:ext uri="{FF2B5EF4-FFF2-40B4-BE49-F238E27FC236}">
                    <a16:creationId xmlns:a16="http://schemas.microsoft.com/office/drawing/2014/main" id="{F40C0BFD-6471-FA4D-5B70-A8F3CBE444D5}"/>
                  </a:ext>
                </a:extLst>
              </p:cNvPr>
              <p:cNvSpPr txBox="1">
                <a:spLocks noRot="1" noChangeAspect="1" noMove="1" noResize="1" noEditPoints="1" noAdjustHandles="1" noChangeArrowheads="1" noChangeShapeType="1" noTextEdit="1"/>
              </p:cNvSpPr>
              <p:nvPr/>
            </p:nvSpPr>
            <p:spPr>
              <a:xfrm>
                <a:off x="6239070" y="2584580"/>
                <a:ext cx="5116285" cy="2896627"/>
              </a:xfrm>
              <a:prstGeom prst="rect">
                <a:avLst/>
              </a:prstGeom>
              <a:blipFill>
                <a:blip r:embed="rId4"/>
                <a:stretch>
                  <a:fillRect l="-1190" t="-1263" r="-595" b="-2947"/>
                </a:stretch>
              </a:blipFill>
            </p:spPr>
            <p:txBody>
              <a:bodyPr/>
              <a:lstStyle/>
              <a:p>
                <a:r>
                  <a:rPr lang="en-IN">
                    <a:noFill/>
                  </a:rPr>
                  <a:t> </a:t>
                </a:r>
              </a:p>
            </p:txBody>
          </p:sp>
        </mc:Fallback>
      </mc:AlternateContent>
    </p:spTree>
    <p:extLst>
      <p:ext uri="{BB962C8B-B14F-4D97-AF65-F5344CB8AC3E}">
        <p14:creationId xmlns:p14="http://schemas.microsoft.com/office/powerpoint/2010/main" val="24980416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7991C-3C0F-8CA3-8E66-641E4EEAF048}"/>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Early Stopping</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837646B-F2CB-A975-FCB2-924F1211ACC7}"/>
              </a:ext>
            </a:extLst>
          </p:cNvPr>
          <p:cNvSpPr>
            <a:spLocks noGrp="1"/>
          </p:cNvSpPr>
          <p:nvPr>
            <p:ph idx="1"/>
          </p:nvPr>
        </p:nvSpPr>
        <p:spPr/>
        <p:txBody>
          <a:bodyPr/>
          <a:lstStyle/>
          <a:p>
            <a:r>
              <a:rPr lang="en-IN" dirty="0">
                <a:solidFill>
                  <a:schemeClr val="tx1"/>
                </a:solidFill>
                <a:latin typeface="Times New Roman" panose="02020603050405020304" pitchFamily="18" charset="0"/>
                <a:cs typeface="Times New Roman" panose="02020603050405020304" pitchFamily="18" charset="0"/>
              </a:rPr>
              <a:t>When a </a:t>
            </a:r>
            <a:r>
              <a:rPr lang="en-IN" b="1" dirty="0">
                <a:solidFill>
                  <a:schemeClr val="tx1"/>
                </a:solidFill>
                <a:latin typeface="Times New Roman" panose="02020603050405020304" pitchFamily="18" charset="0"/>
                <a:cs typeface="Times New Roman" panose="02020603050405020304" pitchFamily="18" charset="0"/>
              </a:rPr>
              <a:t>machine is learning</a:t>
            </a:r>
            <a:r>
              <a:rPr lang="en-IN" dirty="0">
                <a:solidFill>
                  <a:schemeClr val="tx1"/>
                </a:solidFill>
                <a:latin typeface="Times New Roman" panose="02020603050405020304" pitchFamily="18" charset="0"/>
                <a:cs typeface="Times New Roman" panose="02020603050405020304" pitchFamily="18" charset="0"/>
              </a:rPr>
              <a:t>, its </a:t>
            </a:r>
            <a:r>
              <a:rPr lang="en-IN" b="1" dirty="0">
                <a:solidFill>
                  <a:schemeClr val="tx1"/>
                </a:solidFill>
                <a:latin typeface="Times New Roman" panose="02020603050405020304" pitchFamily="18" charset="0"/>
                <a:cs typeface="Times New Roman" panose="02020603050405020304" pitchFamily="18" charset="0"/>
              </a:rPr>
              <a:t>error on the training data </a:t>
            </a:r>
            <a:r>
              <a:rPr lang="en-IN" dirty="0">
                <a:solidFill>
                  <a:schemeClr val="tx1"/>
                </a:solidFill>
                <a:latin typeface="Times New Roman" panose="02020603050405020304" pitchFamily="18" charset="0"/>
                <a:cs typeface="Times New Roman" panose="02020603050405020304" pitchFamily="18" charset="0"/>
              </a:rPr>
              <a:t>usually keeps going down the longer it practices. However, </a:t>
            </a:r>
            <a:r>
              <a:rPr lang="en-IN" b="1" dirty="0">
                <a:solidFill>
                  <a:schemeClr val="tx1"/>
                </a:solidFill>
                <a:latin typeface="Times New Roman" panose="02020603050405020304" pitchFamily="18" charset="0"/>
                <a:cs typeface="Times New Roman" panose="02020603050405020304" pitchFamily="18" charset="0"/>
              </a:rPr>
              <a:t>after a certain point</a:t>
            </a:r>
            <a:r>
              <a:rPr lang="en-IN" dirty="0">
                <a:solidFill>
                  <a:schemeClr val="tx1"/>
                </a:solidFill>
                <a:latin typeface="Times New Roman" panose="02020603050405020304" pitchFamily="18" charset="0"/>
                <a:cs typeface="Times New Roman" panose="02020603050405020304" pitchFamily="18" charset="0"/>
              </a:rPr>
              <a:t>, it </a:t>
            </a:r>
            <a:r>
              <a:rPr lang="en-IN" b="1" dirty="0">
                <a:solidFill>
                  <a:schemeClr val="tx1"/>
                </a:solidFill>
                <a:latin typeface="Times New Roman" panose="02020603050405020304" pitchFamily="18" charset="0"/>
                <a:cs typeface="Times New Roman" panose="02020603050405020304" pitchFamily="18" charset="0"/>
              </a:rPr>
              <a:t>starts memorizing the "noise</a:t>
            </a:r>
            <a:r>
              <a:rPr lang="en-IN" dirty="0">
                <a:solidFill>
                  <a:schemeClr val="tx1"/>
                </a:solidFill>
                <a:latin typeface="Times New Roman" panose="02020603050405020304" pitchFamily="18" charset="0"/>
                <a:cs typeface="Times New Roman" panose="02020603050405020304" pitchFamily="18" charset="0"/>
              </a:rPr>
              <a:t>" (random errors) instead of the actual patterns.</a:t>
            </a:r>
          </a:p>
          <a:p>
            <a:r>
              <a:rPr lang="en-IN" b="1" dirty="0">
                <a:solidFill>
                  <a:schemeClr val="tx1"/>
                </a:solidFill>
                <a:latin typeface="Times New Roman" panose="02020603050405020304" pitchFamily="18" charset="0"/>
                <a:cs typeface="Times New Roman" panose="02020603050405020304" pitchFamily="18" charset="0"/>
              </a:rPr>
              <a:t>Early Stopping</a:t>
            </a:r>
            <a:r>
              <a:rPr lang="en-IN" dirty="0">
                <a:solidFill>
                  <a:schemeClr val="tx1"/>
                </a:solidFill>
                <a:latin typeface="Times New Roman" panose="02020603050405020304" pitchFamily="18" charset="0"/>
                <a:cs typeface="Times New Roman" panose="02020603050405020304" pitchFamily="18" charset="0"/>
              </a:rPr>
              <a:t> tells the machine to stop training the moment its performance on </a:t>
            </a:r>
            <a:r>
              <a:rPr lang="en-IN" i="1" dirty="0">
                <a:solidFill>
                  <a:schemeClr val="tx1"/>
                </a:solidFill>
                <a:latin typeface="Times New Roman" panose="02020603050405020304" pitchFamily="18" charset="0"/>
                <a:cs typeface="Times New Roman" panose="02020603050405020304" pitchFamily="18" charset="0"/>
              </a:rPr>
              <a:t>new</a:t>
            </a:r>
            <a:r>
              <a:rPr lang="en-IN" dirty="0">
                <a:solidFill>
                  <a:schemeClr val="tx1"/>
                </a:solidFill>
                <a:latin typeface="Times New Roman" panose="02020603050405020304" pitchFamily="18" charset="0"/>
                <a:cs typeface="Times New Roman" panose="02020603050405020304" pitchFamily="18" charset="0"/>
              </a:rPr>
              <a:t> data starts to get worse.</a:t>
            </a:r>
          </a:p>
          <a:p>
            <a:r>
              <a:rPr lang="en-IN" b="1" dirty="0">
                <a:solidFill>
                  <a:schemeClr val="tx1"/>
                </a:solidFill>
                <a:latin typeface="Times New Roman" panose="02020603050405020304" pitchFamily="18" charset="0"/>
                <a:cs typeface="Times New Roman" panose="02020603050405020304" pitchFamily="18" charset="0"/>
              </a:rPr>
              <a:t>Real-Life Example:</a:t>
            </a:r>
            <a:r>
              <a:rPr lang="en-IN" dirty="0">
                <a:solidFill>
                  <a:schemeClr val="tx1"/>
                </a:solidFill>
                <a:latin typeface="Times New Roman" panose="02020603050405020304" pitchFamily="18" charset="0"/>
                <a:cs typeface="Times New Roman" panose="02020603050405020304" pitchFamily="18" charset="0"/>
              </a:rPr>
              <a:t> Think of </a:t>
            </a:r>
            <a:r>
              <a:rPr lang="en-IN" b="1" dirty="0">
                <a:solidFill>
                  <a:schemeClr val="tx1"/>
                </a:solidFill>
                <a:latin typeface="Times New Roman" panose="02020603050405020304" pitchFamily="18" charset="0"/>
                <a:cs typeface="Times New Roman" panose="02020603050405020304" pitchFamily="18" charset="0"/>
              </a:rPr>
              <a:t>Baking a Cake</a:t>
            </a:r>
            <a:r>
              <a:rPr lang="en-IN" dirty="0">
                <a:solidFill>
                  <a:schemeClr val="tx1"/>
                </a:solidFill>
                <a:latin typeface="Times New Roman" panose="02020603050405020304" pitchFamily="18" charset="0"/>
                <a:cs typeface="Times New Roman" panose="02020603050405020304" pitchFamily="18" charset="0"/>
              </a:rPr>
              <a:t>.</a:t>
            </a:r>
          </a:p>
          <a:p>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115990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0D4B9-062A-FD42-9366-9E106DB115FC}"/>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Pruning (Gardening approach)</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DDDF776-67A3-2561-B581-D41A32A72E47}"/>
              </a:ext>
            </a:extLst>
          </p:cNvPr>
          <p:cNvSpPr>
            <a:spLocks noGrp="1"/>
          </p:cNvSpPr>
          <p:nvPr>
            <p:ph idx="1"/>
          </p:nvPr>
        </p:nvSpPr>
        <p:spPr>
          <a:xfrm>
            <a:off x="1295401" y="2556932"/>
            <a:ext cx="9922496" cy="3542210"/>
          </a:xfrm>
        </p:spPr>
        <p:txBody>
          <a:bodyPr>
            <a:normAutofit lnSpcReduction="10000"/>
          </a:bodyPr>
          <a:lstStyle/>
          <a:p>
            <a:r>
              <a:rPr lang="en-IN" sz="2200" dirty="0">
                <a:solidFill>
                  <a:schemeClr val="tx1"/>
                </a:solidFill>
                <a:latin typeface="Times New Roman" panose="02020603050405020304" pitchFamily="18" charset="0"/>
                <a:cs typeface="Times New Roman" panose="02020603050405020304" pitchFamily="18" charset="0"/>
              </a:rPr>
              <a:t>In models like "Decision Trees," the machine often grows a massive, complicated tree to explain every single data point. </a:t>
            </a:r>
          </a:p>
          <a:p>
            <a:r>
              <a:rPr lang="en-IN" sz="2200" b="1" dirty="0">
                <a:solidFill>
                  <a:schemeClr val="tx1"/>
                </a:solidFill>
                <a:latin typeface="Times New Roman" panose="02020603050405020304" pitchFamily="18" charset="0"/>
                <a:cs typeface="Times New Roman" panose="02020603050405020304" pitchFamily="18" charset="0"/>
              </a:rPr>
              <a:t>Pruning</a:t>
            </a:r>
            <a:r>
              <a:rPr lang="en-IN" sz="2200" dirty="0">
                <a:solidFill>
                  <a:schemeClr val="tx1"/>
                </a:solidFill>
                <a:latin typeface="Times New Roman" panose="02020603050405020304" pitchFamily="18" charset="0"/>
                <a:cs typeface="Times New Roman" panose="02020603050405020304" pitchFamily="18" charset="0"/>
              </a:rPr>
              <a:t> is the process of letting the tree grow fully and then cutting off the "weak" or "useless" branches that don't really help in making general predictions.</a:t>
            </a:r>
          </a:p>
          <a:p>
            <a:pPr marL="0" indent="0">
              <a:buNone/>
            </a:pPr>
            <a:r>
              <a:rPr lang="en-IN" sz="2200" b="1" dirty="0">
                <a:solidFill>
                  <a:schemeClr val="tx1"/>
                </a:solidFill>
                <a:latin typeface="Times New Roman" panose="02020603050405020304" pitchFamily="18" charset="0"/>
                <a:cs typeface="Times New Roman" panose="02020603050405020304" pitchFamily="18" charset="0"/>
              </a:rPr>
              <a:t>Real-Life Example:</a:t>
            </a:r>
            <a:r>
              <a:rPr lang="en-IN" sz="2200" dirty="0">
                <a:solidFill>
                  <a:schemeClr val="tx1"/>
                </a:solidFill>
                <a:latin typeface="Times New Roman" panose="02020603050405020304" pitchFamily="18" charset="0"/>
                <a:cs typeface="Times New Roman" panose="02020603050405020304" pitchFamily="18" charset="0"/>
              </a:rPr>
              <a:t> Imagine a </a:t>
            </a:r>
            <a:r>
              <a:rPr lang="en-IN" sz="2200" b="1" dirty="0">
                <a:solidFill>
                  <a:schemeClr val="tx1"/>
                </a:solidFill>
                <a:latin typeface="Times New Roman" panose="02020603050405020304" pitchFamily="18" charset="0"/>
                <a:cs typeface="Times New Roman" panose="02020603050405020304" pitchFamily="18" charset="0"/>
              </a:rPr>
              <a:t>Company Strategy</a:t>
            </a:r>
            <a:r>
              <a:rPr lang="en-IN" sz="2200" dirty="0">
                <a:solidFill>
                  <a:schemeClr val="tx1"/>
                </a:solidFill>
                <a:latin typeface="Times New Roman" panose="02020603050405020304" pitchFamily="18" charset="0"/>
                <a:cs typeface="Times New Roman" panose="02020603050405020304" pitchFamily="18" charset="0"/>
              </a:rPr>
              <a:t>.</a:t>
            </a:r>
          </a:p>
          <a:p>
            <a:pPr lvl="0"/>
            <a:r>
              <a:rPr lang="en-IN" sz="2200" dirty="0">
                <a:solidFill>
                  <a:schemeClr val="tx1"/>
                </a:solidFill>
                <a:latin typeface="Times New Roman" panose="02020603050405020304" pitchFamily="18" charset="0"/>
                <a:cs typeface="Times New Roman" panose="02020603050405020304" pitchFamily="18" charset="0"/>
              </a:rPr>
              <a:t>A startup might try to sell 50 different products to see what happens. This is the "Full-Grown Tree”. </a:t>
            </a:r>
          </a:p>
          <a:p>
            <a:pPr lvl="0"/>
            <a:r>
              <a:rPr lang="en-IN" dirty="0">
                <a:solidFill>
                  <a:schemeClr val="tx1"/>
                </a:solidFill>
                <a:latin typeface="Times New Roman" panose="02020603050405020304" pitchFamily="18" charset="0"/>
                <a:cs typeface="Times New Roman" panose="02020603050405020304" pitchFamily="18" charset="0"/>
              </a:rPr>
              <a:t>After a year, they realize that 45 of those products only sold once to a specific person.</a:t>
            </a:r>
            <a:endParaRPr lang="en-IN" sz="2200" dirty="0">
              <a:solidFill>
                <a:schemeClr val="tx1"/>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9965345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61A9C-8EAD-9F23-0250-7DB6115D99FC}"/>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Ensemble Learning </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B0375F2-EC8E-FD97-6967-F118C41869BD}"/>
              </a:ext>
            </a:extLst>
          </p:cNvPr>
          <p:cNvSpPr>
            <a:spLocks noGrp="1"/>
          </p:cNvSpPr>
          <p:nvPr>
            <p:ph idx="1"/>
          </p:nvPr>
        </p:nvSpPr>
        <p:spPr/>
        <p:txBody>
          <a:bodyPr>
            <a:normAutofit/>
          </a:bodyPr>
          <a:lstStyle/>
          <a:p>
            <a:r>
              <a:rPr lang="en-IN" sz="2200" dirty="0">
                <a:solidFill>
                  <a:schemeClr val="tx1"/>
                </a:solidFill>
                <a:latin typeface="Times New Roman" panose="02020603050405020304" pitchFamily="18" charset="0"/>
                <a:cs typeface="Times New Roman" panose="02020603050405020304" pitchFamily="18" charset="0"/>
              </a:rPr>
              <a:t>Instead of relying on one "expert" hypothesis, ensemble learning combines the predictions of many models to get a more reliable result.</a:t>
            </a:r>
          </a:p>
          <a:p>
            <a:pPr lvl="0"/>
            <a:r>
              <a:rPr lang="en-IN" sz="2200" b="1" dirty="0">
                <a:solidFill>
                  <a:schemeClr val="tx1"/>
                </a:solidFill>
                <a:latin typeface="Times New Roman" panose="02020603050405020304" pitchFamily="18" charset="0"/>
                <a:cs typeface="Times New Roman" panose="02020603050405020304" pitchFamily="18" charset="0"/>
              </a:rPr>
              <a:t>Bagging:</a:t>
            </a:r>
            <a:r>
              <a:rPr lang="en-IN" sz="2200" dirty="0">
                <a:solidFill>
                  <a:schemeClr val="tx1"/>
                </a:solidFill>
                <a:latin typeface="Times New Roman" panose="02020603050405020304" pitchFamily="18" charset="0"/>
                <a:cs typeface="Times New Roman" panose="02020603050405020304" pitchFamily="18" charset="0"/>
              </a:rPr>
              <a:t> Training multiple models independently and averaging them (e.g., </a:t>
            </a:r>
            <a:r>
              <a:rPr lang="en-IN" sz="2200" b="1" dirty="0">
                <a:solidFill>
                  <a:schemeClr val="tx1"/>
                </a:solidFill>
                <a:latin typeface="Times New Roman" panose="02020603050405020304" pitchFamily="18" charset="0"/>
                <a:cs typeface="Times New Roman" panose="02020603050405020304" pitchFamily="18" charset="0"/>
              </a:rPr>
              <a:t>Random Forests</a:t>
            </a:r>
            <a:r>
              <a:rPr lang="en-IN" sz="2200" dirty="0">
                <a:solidFill>
                  <a:schemeClr val="tx1"/>
                </a:solidFill>
                <a:latin typeface="Times New Roman" panose="02020603050405020304" pitchFamily="18" charset="0"/>
                <a:cs typeface="Times New Roman" panose="02020603050405020304" pitchFamily="18" charset="0"/>
              </a:rPr>
              <a:t>).</a:t>
            </a:r>
          </a:p>
          <a:p>
            <a:pPr lvl="0"/>
            <a:r>
              <a:rPr lang="en-IN" sz="2200" b="1" dirty="0">
                <a:solidFill>
                  <a:schemeClr val="tx1"/>
                </a:solidFill>
                <a:latin typeface="Times New Roman" panose="02020603050405020304" pitchFamily="18" charset="0"/>
                <a:cs typeface="Times New Roman" panose="02020603050405020304" pitchFamily="18" charset="0"/>
              </a:rPr>
              <a:t>Boosting:</a:t>
            </a:r>
            <a:r>
              <a:rPr lang="en-IN" sz="2200" dirty="0">
                <a:solidFill>
                  <a:schemeClr val="tx1"/>
                </a:solidFill>
                <a:latin typeface="Times New Roman" panose="02020603050405020304" pitchFamily="18" charset="0"/>
                <a:cs typeface="Times New Roman" panose="02020603050405020304" pitchFamily="18" charset="0"/>
              </a:rPr>
              <a:t> Training models sequentially, where each new model tries to fix the mistakes of the previous one (e.g., </a:t>
            </a:r>
            <a:r>
              <a:rPr lang="en-IN" sz="2200" b="1" dirty="0">
                <a:solidFill>
                  <a:schemeClr val="tx1"/>
                </a:solidFill>
                <a:latin typeface="Times New Roman" panose="02020603050405020304" pitchFamily="18" charset="0"/>
                <a:cs typeface="Times New Roman" panose="02020603050405020304" pitchFamily="18" charset="0"/>
              </a:rPr>
              <a:t>AdaBoost</a:t>
            </a:r>
            <a:r>
              <a:rPr lang="en-IN" sz="2200" dirty="0">
                <a:solidFill>
                  <a:schemeClr val="tx1"/>
                </a:solidFill>
                <a:latin typeface="Times New Roman" panose="02020603050405020304" pitchFamily="18" charset="0"/>
                <a:cs typeface="Times New Roman" panose="02020603050405020304" pitchFamily="18" charset="0"/>
              </a:rPr>
              <a:t>).</a:t>
            </a:r>
          </a:p>
          <a:p>
            <a:pPr lvl="0"/>
            <a:r>
              <a:rPr lang="en-IN" sz="2200" b="1" dirty="0">
                <a:solidFill>
                  <a:schemeClr val="tx1"/>
                </a:solidFill>
                <a:latin typeface="Times New Roman" panose="02020603050405020304" pitchFamily="18" charset="0"/>
                <a:cs typeface="Times New Roman" panose="02020603050405020304" pitchFamily="18" charset="0"/>
              </a:rPr>
              <a:t>Example:</a:t>
            </a:r>
            <a:r>
              <a:rPr lang="en-IN" sz="2200" dirty="0">
                <a:solidFill>
                  <a:schemeClr val="tx1"/>
                </a:solidFill>
                <a:latin typeface="Times New Roman" panose="02020603050405020304" pitchFamily="18" charset="0"/>
                <a:cs typeface="Times New Roman" panose="02020603050405020304" pitchFamily="18" charset="0"/>
              </a:rPr>
              <a:t> Asking 20 different doctors for a diagnosis and taking the majority opinion (Voting) is much safer than just asking one.</a:t>
            </a:r>
          </a:p>
          <a:p>
            <a:endParaRPr lang="en-IN" dirty="0"/>
          </a:p>
        </p:txBody>
      </p:sp>
    </p:spTree>
    <p:extLst>
      <p:ext uri="{BB962C8B-B14F-4D97-AF65-F5344CB8AC3E}">
        <p14:creationId xmlns:p14="http://schemas.microsoft.com/office/powerpoint/2010/main" val="7078638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62D3F-9E19-1759-3620-7132D536F2B3}"/>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Class Imbalance problem </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6B7002C-7279-13C5-39CC-92132A5D65DD}"/>
              </a:ext>
            </a:extLst>
          </p:cNvPr>
          <p:cNvSpPr>
            <a:spLocks noGrp="1"/>
          </p:cNvSpPr>
          <p:nvPr>
            <p:ph idx="1"/>
          </p:nvPr>
        </p:nvSpPr>
        <p:spPr/>
        <p:txBody>
          <a:bodyPr>
            <a:normAutofit lnSpcReduction="10000"/>
          </a:bodyPr>
          <a:lstStyle/>
          <a:p>
            <a:r>
              <a:rPr lang="en-IN" dirty="0">
                <a:solidFill>
                  <a:schemeClr val="tx1"/>
                </a:solidFill>
                <a:latin typeface="Times New Roman" panose="02020603050405020304" pitchFamily="18" charset="0"/>
                <a:cs typeface="Times New Roman" panose="02020603050405020304" pitchFamily="18" charset="0"/>
              </a:rPr>
              <a:t>This occurs when one category of data is much more frequent than the other, making it hard for the machine to "see" the rare cases.</a:t>
            </a:r>
          </a:p>
          <a:p>
            <a:r>
              <a:rPr lang="en-IN" b="1" dirty="0">
                <a:solidFill>
                  <a:schemeClr val="tx1"/>
                </a:solidFill>
                <a:latin typeface="Times New Roman" panose="02020603050405020304" pitchFamily="18" charset="0"/>
                <a:cs typeface="Times New Roman" panose="02020603050405020304" pitchFamily="18" charset="0"/>
              </a:rPr>
              <a:t>Example:</a:t>
            </a:r>
            <a:r>
              <a:rPr lang="en-IN" dirty="0">
                <a:solidFill>
                  <a:schemeClr val="tx1"/>
                </a:solidFill>
                <a:latin typeface="Times New Roman" panose="02020603050405020304" pitchFamily="18" charset="0"/>
                <a:cs typeface="Times New Roman" panose="02020603050405020304" pitchFamily="18" charset="0"/>
              </a:rPr>
              <a:t> In Credit Card Fraud detection, 99.9% of transactions are legitimate, and 0.1% are fraudulent. A model could get 99.9% accuracy by simply guessing "Legitimate" every time, but it would fail its actual job (finding fraud).</a:t>
            </a:r>
          </a:p>
          <a:p>
            <a:r>
              <a:rPr lang="en-IN" b="1" dirty="0">
                <a:solidFill>
                  <a:schemeClr val="tx1"/>
                </a:solidFill>
                <a:latin typeface="Times New Roman" panose="02020603050405020304" pitchFamily="18" charset="0"/>
                <a:cs typeface="Times New Roman" panose="02020603050405020304" pitchFamily="18" charset="0"/>
              </a:rPr>
              <a:t>Solutions:</a:t>
            </a:r>
            <a:r>
              <a:rPr lang="en-IN" dirty="0">
                <a:solidFill>
                  <a:schemeClr val="tx1"/>
                </a:solidFill>
                <a:latin typeface="Times New Roman" panose="02020603050405020304" pitchFamily="18" charset="0"/>
                <a:cs typeface="Times New Roman" panose="02020603050405020304" pitchFamily="18" charset="0"/>
              </a:rPr>
              <a:t> </a:t>
            </a:r>
            <a:r>
              <a:rPr lang="en-IN" b="1" dirty="0">
                <a:solidFill>
                  <a:schemeClr val="tx1"/>
                </a:solidFill>
                <a:latin typeface="Times New Roman" panose="02020603050405020304" pitchFamily="18" charset="0"/>
                <a:cs typeface="Times New Roman" panose="02020603050405020304" pitchFamily="18" charset="0"/>
              </a:rPr>
              <a:t>Oversampling</a:t>
            </a:r>
            <a:r>
              <a:rPr lang="en-IN" dirty="0">
                <a:solidFill>
                  <a:schemeClr val="tx1"/>
                </a:solidFill>
                <a:latin typeface="Times New Roman" panose="02020603050405020304" pitchFamily="18" charset="0"/>
                <a:cs typeface="Times New Roman" panose="02020603050405020304" pitchFamily="18" charset="0"/>
              </a:rPr>
              <a:t> (duplicating rare cases) or </a:t>
            </a:r>
            <a:r>
              <a:rPr lang="en-IN" b="1" dirty="0" err="1">
                <a:solidFill>
                  <a:schemeClr val="tx1"/>
                </a:solidFill>
                <a:latin typeface="Times New Roman" panose="02020603050405020304" pitchFamily="18" charset="0"/>
                <a:cs typeface="Times New Roman" panose="02020603050405020304" pitchFamily="18" charset="0"/>
              </a:rPr>
              <a:t>Undersampling</a:t>
            </a:r>
            <a:r>
              <a:rPr lang="en-IN" dirty="0">
                <a:solidFill>
                  <a:schemeClr val="tx1"/>
                </a:solidFill>
                <a:latin typeface="Times New Roman" panose="02020603050405020304" pitchFamily="18" charset="0"/>
                <a:cs typeface="Times New Roman" panose="02020603050405020304" pitchFamily="18" charset="0"/>
              </a:rPr>
              <a:t> (removing common cases).</a:t>
            </a:r>
          </a:p>
          <a:p>
            <a:endParaRPr lang="en-IN" dirty="0"/>
          </a:p>
        </p:txBody>
      </p:sp>
    </p:spTree>
    <p:extLst>
      <p:ext uri="{BB962C8B-B14F-4D97-AF65-F5344CB8AC3E}">
        <p14:creationId xmlns:p14="http://schemas.microsoft.com/office/powerpoint/2010/main" val="32859615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32A67-219A-4A08-24B1-6E31C2E76E51}"/>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Evaluation Metrics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29AFEF4-9866-B8FC-3139-7F6D57424A3E}"/>
              </a:ext>
            </a:extLst>
          </p:cNvPr>
          <p:cNvSpPr>
            <a:spLocks noGrp="1"/>
          </p:cNvSpPr>
          <p:nvPr>
            <p:ph idx="1"/>
          </p:nvPr>
        </p:nvSpPr>
        <p:spPr>
          <a:xfrm>
            <a:off x="1295400" y="2556932"/>
            <a:ext cx="9884789" cy="3636478"/>
          </a:xfrm>
        </p:spPr>
        <p:txBody>
          <a:bodyPr>
            <a:normAutofit lnSpcReduction="10000"/>
          </a:bodyPr>
          <a:lstStyle/>
          <a:p>
            <a:r>
              <a:rPr lang="en-IN" dirty="0">
                <a:solidFill>
                  <a:schemeClr val="tx1"/>
                </a:solidFill>
                <a:latin typeface="Times New Roman" panose="02020603050405020304" pitchFamily="18" charset="0"/>
                <a:cs typeface="Times New Roman" panose="02020603050405020304" pitchFamily="18" charset="0"/>
              </a:rPr>
              <a:t>To know if a system is "good," we look at more than just accuracy:</a:t>
            </a:r>
          </a:p>
          <a:p>
            <a:r>
              <a:rPr lang="en-IN" b="1" dirty="0">
                <a:solidFill>
                  <a:schemeClr val="tx1"/>
                </a:solidFill>
                <a:latin typeface="Times New Roman" panose="02020603050405020304" pitchFamily="18" charset="0"/>
                <a:cs typeface="Times New Roman" panose="02020603050405020304" pitchFamily="18" charset="0"/>
              </a:rPr>
              <a:t>Robustness:</a:t>
            </a:r>
            <a:r>
              <a:rPr lang="en-IN" dirty="0">
                <a:solidFill>
                  <a:schemeClr val="tx1"/>
                </a:solidFill>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Can it handle messy or </a:t>
            </a:r>
            <a:r>
              <a:rPr lang="en-IN" b="1" dirty="0">
                <a:latin typeface="Times New Roman" panose="02020603050405020304" pitchFamily="18" charset="0"/>
                <a:cs typeface="Times New Roman" panose="02020603050405020304" pitchFamily="18" charset="0"/>
              </a:rPr>
              <a:t>"noisy" data? </a:t>
            </a:r>
            <a:r>
              <a:rPr lang="en-IN" dirty="0">
                <a:latin typeface="Times New Roman" panose="02020603050405020304" pitchFamily="18" charset="0"/>
                <a:cs typeface="Times New Roman" panose="02020603050405020304" pitchFamily="18" charset="0"/>
              </a:rPr>
              <a:t>‘Robustness’ means that the machine can perform adequately under all circumstances,</a:t>
            </a:r>
          </a:p>
          <a:p>
            <a:r>
              <a:rPr lang="en-IN" b="1" dirty="0">
                <a:solidFill>
                  <a:schemeClr val="tx1"/>
                </a:solidFill>
                <a:latin typeface="Times New Roman" panose="02020603050405020304" pitchFamily="18" charset="0"/>
                <a:cs typeface="Times New Roman" panose="02020603050405020304" pitchFamily="18" charset="0"/>
              </a:rPr>
              <a:t>Computational Complexity:</a:t>
            </a:r>
            <a:r>
              <a:rPr lang="en-IN" dirty="0">
                <a:solidFill>
                  <a:schemeClr val="tx1"/>
                </a:solidFill>
                <a:latin typeface="Times New Roman" panose="02020603050405020304" pitchFamily="18" charset="0"/>
                <a:cs typeface="Times New Roman" panose="02020603050405020304" pitchFamily="18" charset="0"/>
              </a:rPr>
              <a:t> How much memory and time does it take? (Crucial for apps on phones). </a:t>
            </a:r>
          </a:p>
          <a:p>
            <a:pPr lvl="0"/>
            <a:r>
              <a:rPr lang="en-IN" b="1" dirty="0">
                <a:solidFill>
                  <a:schemeClr val="tx1"/>
                </a:solidFill>
                <a:latin typeface="Times New Roman" panose="02020603050405020304" pitchFamily="18" charset="0"/>
                <a:cs typeface="Times New Roman" panose="02020603050405020304" pitchFamily="18" charset="0"/>
              </a:rPr>
              <a:t>Interpretability:</a:t>
            </a:r>
            <a:r>
              <a:rPr lang="en-IN" dirty="0">
                <a:solidFill>
                  <a:schemeClr val="tx1"/>
                </a:solidFill>
                <a:latin typeface="Times New Roman" panose="02020603050405020304" pitchFamily="18" charset="0"/>
                <a:cs typeface="Times New Roman" panose="02020603050405020304" pitchFamily="18" charset="0"/>
              </a:rPr>
              <a:t> Can a human understand </a:t>
            </a:r>
            <a:r>
              <a:rPr lang="en-IN" i="1" dirty="0">
                <a:solidFill>
                  <a:schemeClr val="tx1"/>
                </a:solidFill>
                <a:latin typeface="Times New Roman" panose="02020603050405020304" pitchFamily="18" charset="0"/>
                <a:cs typeface="Times New Roman" panose="02020603050405020304" pitchFamily="18" charset="0"/>
              </a:rPr>
              <a:t>why</a:t>
            </a:r>
            <a:r>
              <a:rPr lang="en-IN" dirty="0">
                <a:solidFill>
                  <a:schemeClr val="tx1"/>
                </a:solidFill>
                <a:latin typeface="Times New Roman" panose="02020603050405020304" pitchFamily="18" charset="0"/>
                <a:cs typeface="Times New Roman" panose="02020603050405020304" pitchFamily="18" charset="0"/>
              </a:rPr>
              <a:t> the machine made that decision? (Crucial for medical or legal AI).</a:t>
            </a:r>
          </a:p>
          <a:p>
            <a:pPr lvl="0"/>
            <a:r>
              <a:rPr lang="en-IN" b="1" dirty="0">
                <a:solidFill>
                  <a:schemeClr val="tx1"/>
                </a:solidFill>
                <a:latin typeface="Times New Roman" panose="02020603050405020304" pitchFamily="18" charset="0"/>
                <a:cs typeface="Times New Roman" panose="02020603050405020304" pitchFamily="18" charset="0"/>
              </a:rPr>
              <a:t>Scalability:</a:t>
            </a:r>
            <a:r>
              <a:rPr lang="en-IN" dirty="0">
                <a:solidFill>
                  <a:schemeClr val="tx1"/>
                </a:solidFill>
                <a:latin typeface="Times New Roman" panose="02020603050405020304" pitchFamily="18" charset="0"/>
                <a:cs typeface="Times New Roman" panose="02020603050405020304" pitchFamily="18" charset="0"/>
              </a:rPr>
              <a:t> Can it handle millions of rows of data, or does it crash?</a:t>
            </a:r>
          </a:p>
          <a:p>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683739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E2219-1C1A-D9F7-D317-E7CF5034D17B}"/>
              </a:ext>
            </a:extLst>
          </p:cNvPr>
          <p:cNvSpPr>
            <a:spLocks noGrp="1"/>
          </p:cNvSpPr>
          <p:nvPr>
            <p:ph type="title"/>
          </p:nvPr>
        </p:nvSpPr>
        <p:spPr/>
        <p:txBody>
          <a:bodyPr>
            <a:noAutofit/>
          </a:bodyPr>
          <a:lstStyle/>
          <a:p>
            <a:r>
              <a:rPr lang="en-IN" b="1" dirty="0">
                <a:latin typeface="Times New Roman" panose="02020603050405020304" pitchFamily="18" charset="0"/>
                <a:cs typeface="Times New Roman" panose="02020603050405020304" pitchFamily="18" charset="0"/>
              </a:rPr>
              <a:t>Estimating generalization Errors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5862EB9-5560-D898-8036-EDCA2F7AA179}"/>
              </a:ext>
            </a:extLst>
          </p:cNvPr>
          <p:cNvSpPr>
            <a:spLocks noGrp="1"/>
          </p:cNvSpPr>
          <p:nvPr>
            <p:ph idx="1"/>
          </p:nvPr>
        </p:nvSpPr>
        <p:spPr/>
        <p:txBody>
          <a:bodyPr>
            <a:normAutofit/>
          </a:bodyPr>
          <a:lstStyle/>
          <a:p>
            <a:r>
              <a:rPr lang="en-US" sz="2200" dirty="0">
                <a:solidFill>
                  <a:schemeClr val="tx1"/>
                </a:solidFill>
                <a:latin typeface="Times New Roman" panose="02020603050405020304" pitchFamily="18" charset="0"/>
                <a:cs typeface="Times New Roman" panose="02020603050405020304" pitchFamily="18" charset="0"/>
              </a:rPr>
              <a:t>Machine’s performance is determined by </a:t>
            </a:r>
            <a:r>
              <a:rPr lang="en-IN" sz="2200" dirty="0">
                <a:solidFill>
                  <a:schemeClr val="tx1"/>
                </a:solidFill>
                <a:latin typeface="Times New Roman" panose="02020603050405020304" pitchFamily="18" charset="0"/>
                <a:cs typeface="Times New Roman" panose="02020603050405020304" pitchFamily="18" charset="0"/>
              </a:rPr>
              <a:t>how it handles </a:t>
            </a:r>
            <a:r>
              <a:rPr lang="en-IN" sz="2200" b="1" dirty="0">
                <a:solidFill>
                  <a:schemeClr val="tx1"/>
                </a:solidFill>
                <a:latin typeface="Times New Roman" panose="02020603050405020304" pitchFamily="18" charset="0"/>
                <a:cs typeface="Times New Roman" panose="02020603050405020304" pitchFamily="18" charset="0"/>
              </a:rPr>
              <a:t>future data</a:t>
            </a:r>
            <a:r>
              <a:rPr lang="en-IN" sz="2200" dirty="0">
                <a:solidFill>
                  <a:schemeClr val="tx1"/>
                </a:solidFill>
                <a:latin typeface="Times New Roman" panose="02020603050405020304" pitchFamily="18" charset="0"/>
                <a:cs typeface="Times New Roman" panose="02020603050405020304" pitchFamily="18" charset="0"/>
              </a:rPr>
              <a:t>, not just the data it already studied.</a:t>
            </a:r>
          </a:p>
          <a:p>
            <a:r>
              <a:rPr lang="en-IN" dirty="0">
                <a:solidFill>
                  <a:schemeClr val="tx1"/>
                </a:solidFill>
                <a:latin typeface="Times New Roman" panose="02020603050405020304" pitchFamily="18" charset="0"/>
                <a:cs typeface="Times New Roman" panose="02020603050405020304" pitchFamily="18" charset="0"/>
              </a:rPr>
              <a:t>A model might perform perfectly on its training notes but fail miserably on a real exam.</a:t>
            </a:r>
          </a:p>
          <a:p>
            <a:r>
              <a:rPr lang="en-IN" sz="2200" b="1" dirty="0">
                <a:solidFill>
                  <a:schemeClr val="tx1"/>
                </a:solidFill>
                <a:latin typeface="Times New Roman" panose="02020603050405020304" pitchFamily="18" charset="0"/>
                <a:cs typeface="Times New Roman" panose="02020603050405020304" pitchFamily="18" charset="0"/>
              </a:rPr>
              <a:t>The Three Datasets</a:t>
            </a:r>
            <a:endParaRPr lang="en-IN" sz="2200" dirty="0">
              <a:solidFill>
                <a:schemeClr val="tx1"/>
              </a:solidFill>
              <a:latin typeface="Times New Roman" panose="02020603050405020304" pitchFamily="18" charset="0"/>
              <a:cs typeface="Times New Roman" panose="02020603050405020304" pitchFamily="18" charset="0"/>
            </a:endParaRPr>
          </a:p>
          <a:p>
            <a:r>
              <a:rPr lang="en-IN" sz="2200" dirty="0">
                <a:solidFill>
                  <a:schemeClr val="tx1"/>
                </a:solidFill>
                <a:latin typeface="Times New Roman" panose="02020603050405020304" pitchFamily="18" charset="0"/>
                <a:cs typeface="Times New Roman" panose="02020603050405020304" pitchFamily="18" charset="0"/>
              </a:rPr>
              <a:t>Think of these as the three stages of a student's education:</a:t>
            </a:r>
          </a:p>
          <a:p>
            <a:r>
              <a:rPr lang="en-IN" sz="2200" b="1" dirty="0">
                <a:solidFill>
                  <a:schemeClr val="tx1"/>
                </a:solidFill>
                <a:latin typeface="Times New Roman" panose="02020603050405020304" pitchFamily="18" charset="0"/>
                <a:cs typeface="Times New Roman" panose="02020603050405020304" pitchFamily="18" charset="0"/>
              </a:rPr>
              <a:t>Training data, validation data and test data </a:t>
            </a:r>
          </a:p>
        </p:txBody>
      </p:sp>
    </p:spTree>
    <p:extLst>
      <p:ext uri="{BB962C8B-B14F-4D97-AF65-F5344CB8AC3E}">
        <p14:creationId xmlns:p14="http://schemas.microsoft.com/office/powerpoint/2010/main" val="3980217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55602-41B5-7C0A-E893-551BD78C1B24}"/>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Training data </a:t>
            </a:r>
            <a:endParaRPr lang="en-IN" b="1" dirty="0">
              <a:latin typeface="Times New Roman" panose="02020603050405020304" pitchFamily="18" charset="0"/>
              <a:cs typeface="Times New Roman" panose="02020603050405020304" pitchFamily="18" charset="0"/>
            </a:endParaRPr>
          </a:p>
        </p:txBody>
      </p:sp>
      <p:graphicFrame>
        <p:nvGraphicFramePr>
          <p:cNvPr id="4" name="Content Placeholder 3">
            <a:extLst>
              <a:ext uri="{FF2B5EF4-FFF2-40B4-BE49-F238E27FC236}">
                <a16:creationId xmlns:a16="http://schemas.microsoft.com/office/drawing/2014/main" id="{CE5994B5-45C2-82F5-2188-D5D980D628A0}"/>
              </a:ext>
            </a:extLst>
          </p:cNvPr>
          <p:cNvGraphicFramePr>
            <a:graphicFrameLocks noGrp="1"/>
          </p:cNvGraphicFramePr>
          <p:nvPr>
            <p:ph idx="1"/>
            <p:extLst>
              <p:ext uri="{D42A27DB-BD31-4B8C-83A1-F6EECF244321}">
                <p14:modId xmlns:p14="http://schemas.microsoft.com/office/powerpoint/2010/main" val="2791218490"/>
              </p:ext>
            </p:extLst>
          </p:nvPr>
        </p:nvGraphicFramePr>
        <p:xfrm>
          <a:off x="1295402" y="2572447"/>
          <a:ext cx="9601200" cy="2773680"/>
        </p:xfrm>
        <a:graphic>
          <a:graphicData uri="http://schemas.openxmlformats.org/drawingml/2006/table">
            <a:tbl>
              <a:tblPr/>
              <a:tblGrid>
                <a:gridCol w="1920240">
                  <a:extLst>
                    <a:ext uri="{9D8B030D-6E8A-4147-A177-3AD203B41FA5}">
                      <a16:colId xmlns:a16="http://schemas.microsoft.com/office/drawing/2014/main" val="2537134694"/>
                    </a:ext>
                  </a:extLst>
                </a:gridCol>
                <a:gridCol w="1920240">
                  <a:extLst>
                    <a:ext uri="{9D8B030D-6E8A-4147-A177-3AD203B41FA5}">
                      <a16:colId xmlns:a16="http://schemas.microsoft.com/office/drawing/2014/main" val="3938786781"/>
                    </a:ext>
                  </a:extLst>
                </a:gridCol>
                <a:gridCol w="1920240">
                  <a:extLst>
                    <a:ext uri="{9D8B030D-6E8A-4147-A177-3AD203B41FA5}">
                      <a16:colId xmlns:a16="http://schemas.microsoft.com/office/drawing/2014/main" val="168979840"/>
                    </a:ext>
                  </a:extLst>
                </a:gridCol>
                <a:gridCol w="1920240">
                  <a:extLst>
                    <a:ext uri="{9D8B030D-6E8A-4147-A177-3AD203B41FA5}">
                      <a16:colId xmlns:a16="http://schemas.microsoft.com/office/drawing/2014/main" val="637219090"/>
                    </a:ext>
                  </a:extLst>
                </a:gridCol>
                <a:gridCol w="1920240">
                  <a:extLst>
                    <a:ext uri="{9D8B030D-6E8A-4147-A177-3AD203B41FA5}">
                      <a16:colId xmlns:a16="http://schemas.microsoft.com/office/drawing/2014/main" val="2113312981"/>
                    </a:ext>
                  </a:extLst>
                </a:gridCol>
              </a:tblGrid>
              <a:tr h="0">
                <a:tc>
                  <a:txBody>
                    <a:bodyPr/>
                    <a:lstStyle/>
                    <a:p>
                      <a:pPr>
                        <a:buNone/>
                      </a:pPr>
                      <a:r>
                        <a:rPr lang="en-IN" sz="2000" b="1">
                          <a:latin typeface="Times New Roman" panose="02020603050405020304" pitchFamily="18" charset="0"/>
                          <a:cs typeface="Times New Roman" panose="02020603050405020304" pitchFamily="18" charset="0"/>
                        </a:rPr>
                        <a:t>Student_ID</a:t>
                      </a:r>
                    </a:p>
                  </a:txBody>
                  <a:tcPr anchor="ctr">
                    <a:lnL>
                      <a:noFill/>
                    </a:lnL>
                    <a:lnR>
                      <a:noFill/>
                    </a:lnR>
                    <a:lnT>
                      <a:noFill/>
                    </a:lnT>
                    <a:lnB>
                      <a:noFill/>
                    </a:lnB>
                    <a:noFill/>
                  </a:tcPr>
                </a:tc>
                <a:tc>
                  <a:txBody>
                    <a:bodyPr/>
                    <a:lstStyle/>
                    <a:p>
                      <a:pPr>
                        <a:buNone/>
                      </a:pPr>
                      <a:r>
                        <a:rPr lang="en-IN" sz="2000" b="1">
                          <a:latin typeface="Times New Roman" panose="02020603050405020304" pitchFamily="18" charset="0"/>
                          <a:cs typeface="Times New Roman" panose="02020603050405020304" pitchFamily="18" charset="0"/>
                        </a:rPr>
                        <a:t>Study_Hours</a:t>
                      </a:r>
                    </a:p>
                  </a:txBody>
                  <a:tcPr anchor="ctr">
                    <a:lnL>
                      <a:noFill/>
                    </a:lnL>
                    <a:lnR>
                      <a:noFill/>
                    </a:lnR>
                    <a:lnT>
                      <a:noFill/>
                    </a:lnT>
                    <a:lnB>
                      <a:noFill/>
                    </a:lnB>
                    <a:noFill/>
                  </a:tcPr>
                </a:tc>
                <a:tc>
                  <a:txBody>
                    <a:bodyPr/>
                    <a:lstStyle/>
                    <a:p>
                      <a:pPr>
                        <a:buNone/>
                      </a:pPr>
                      <a:r>
                        <a:rPr lang="en-IN" sz="2000" b="1">
                          <a:latin typeface="Times New Roman" panose="02020603050405020304" pitchFamily="18" charset="0"/>
                          <a:cs typeface="Times New Roman" panose="02020603050405020304" pitchFamily="18" charset="0"/>
                        </a:rPr>
                        <a:t>Attendance</a:t>
                      </a:r>
                    </a:p>
                  </a:txBody>
                  <a:tcPr anchor="ctr">
                    <a:lnL>
                      <a:noFill/>
                    </a:lnL>
                    <a:lnR>
                      <a:noFill/>
                    </a:lnR>
                    <a:lnT>
                      <a:noFill/>
                    </a:lnT>
                    <a:lnB>
                      <a:noFill/>
                    </a:lnB>
                    <a:noFill/>
                  </a:tcPr>
                </a:tc>
                <a:tc>
                  <a:txBody>
                    <a:bodyPr/>
                    <a:lstStyle/>
                    <a:p>
                      <a:pPr>
                        <a:buNone/>
                      </a:pPr>
                      <a:r>
                        <a:rPr lang="en-IN" sz="2000" b="1">
                          <a:latin typeface="Times New Roman" panose="02020603050405020304" pitchFamily="18" charset="0"/>
                          <a:cs typeface="Times New Roman" panose="02020603050405020304" pitchFamily="18" charset="0"/>
                        </a:rPr>
                        <a:t>Assignments</a:t>
                      </a:r>
                    </a:p>
                  </a:txBody>
                  <a:tcPr anchor="ctr">
                    <a:lnL>
                      <a:noFill/>
                    </a:lnL>
                    <a:lnR>
                      <a:noFill/>
                    </a:lnR>
                    <a:lnT>
                      <a:noFill/>
                    </a:lnT>
                    <a:lnB>
                      <a:noFill/>
                    </a:lnB>
                    <a:noFill/>
                  </a:tcPr>
                </a:tc>
                <a:tc>
                  <a:txBody>
                    <a:bodyPr/>
                    <a:lstStyle/>
                    <a:p>
                      <a:pPr>
                        <a:buNone/>
                      </a:pPr>
                      <a:r>
                        <a:rPr lang="en-IN" sz="2000" b="1" dirty="0">
                          <a:latin typeface="Times New Roman" panose="02020603050405020304" pitchFamily="18" charset="0"/>
                          <a:cs typeface="Times New Roman" panose="02020603050405020304" pitchFamily="18" charset="0"/>
                        </a:rPr>
                        <a:t>Result</a:t>
                      </a:r>
                    </a:p>
                  </a:txBody>
                  <a:tcPr anchor="ctr">
                    <a:lnL>
                      <a:noFill/>
                    </a:lnL>
                    <a:lnR>
                      <a:noFill/>
                    </a:lnR>
                    <a:lnT>
                      <a:noFill/>
                    </a:lnT>
                    <a:lnB>
                      <a:noFill/>
                    </a:lnB>
                    <a:noFill/>
                  </a:tcPr>
                </a:tc>
                <a:extLst>
                  <a:ext uri="{0D108BD9-81ED-4DB2-BD59-A6C34878D82A}">
                    <a16:rowId xmlns:a16="http://schemas.microsoft.com/office/drawing/2014/main" val="1354820127"/>
                  </a:ext>
                </a:extLst>
              </a:tr>
              <a:tr h="0">
                <a:tc>
                  <a:txBody>
                    <a:bodyPr/>
                    <a:lstStyle/>
                    <a:p>
                      <a:pPr>
                        <a:buNone/>
                      </a:pPr>
                      <a:r>
                        <a:rPr lang="en-IN" sz="2000">
                          <a:latin typeface="Times New Roman" panose="02020603050405020304" pitchFamily="18" charset="0"/>
                          <a:cs typeface="Times New Roman" panose="02020603050405020304" pitchFamily="18" charset="0"/>
                        </a:rPr>
                        <a:t>S1</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5</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80</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7</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1</a:t>
                      </a:r>
                    </a:p>
                  </a:txBody>
                  <a:tcPr anchor="ctr">
                    <a:lnL>
                      <a:noFill/>
                    </a:lnL>
                    <a:lnR>
                      <a:noFill/>
                    </a:lnR>
                    <a:lnT>
                      <a:noFill/>
                    </a:lnT>
                    <a:lnB>
                      <a:noFill/>
                    </a:lnB>
                    <a:noFill/>
                  </a:tcPr>
                </a:tc>
                <a:extLst>
                  <a:ext uri="{0D108BD9-81ED-4DB2-BD59-A6C34878D82A}">
                    <a16:rowId xmlns:a16="http://schemas.microsoft.com/office/drawing/2014/main" val="3234435365"/>
                  </a:ext>
                </a:extLst>
              </a:tr>
              <a:tr h="0">
                <a:tc>
                  <a:txBody>
                    <a:bodyPr/>
                    <a:lstStyle/>
                    <a:p>
                      <a:pPr>
                        <a:buNone/>
                      </a:pPr>
                      <a:r>
                        <a:rPr lang="en-IN" sz="2000">
                          <a:latin typeface="Times New Roman" panose="02020603050405020304" pitchFamily="18" charset="0"/>
                          <a:cs typeface="Times New Roman" panose="02020603050405020304" pitchFamily="18" charset="0"/>
                        </a:rPr>
                        <a:t>S2</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2</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60</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4</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0</a:t>
                      </a:r>
                    </a:p>
                  </a:txBody>
                  <a:tcPr anchor="ctr">
                    <a:lnL>
                      <a:noFill/>
                    </a:lnL>
                    <a:lnR>
                      <a:noFill/>
                    </a:lnR>
                    <a:lnT>
                      <a:noFill/>
                    </a:lnT>
                    <a:lnB>
                      <a:noFill/>
                    </a:lnB>
                    <a:noFill/>
                  </a:tcPr>
                </a:tc>
                <a:extLst>
                  <a:ext uri="{0D108BD9-81ED-4DB2-BD59-A6C34878D82A}">
                    <a16:rowId xmlns:a16="http://schemas.microsoft.com/office/drawing/2014/main" val="1492044225"/>
                  </a:ext>
                </a:extLst>
              </a:tr>
              <a:tr h="0">
                <a:tc>
                  <a:txBody>
                    <a:bodyPr/>
                    <a:lstStyle/>
                    <a:p>
                      <a:pPr>
                        <a:buNone/>
                      </a:pPr>
                      <a:r>
                        <a:rPr lang="en-IN" sz="2000">
                          <a:latin typeface="Times New Roman" panose="02020603050405020304" pitchFamily="18" charset="0"/>
                          <a:cs typeface="Times New Roman" panose="02020603050405020304" pitchFamily="18" charset="0"/>
                        </a:rPr>
                        <a:t>S3</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6</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90</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8</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1</a:t>
                      </a:r>
                    </a:p>
                  </a:txBody>
                  <a:tcPr anchor="ctr">
                    <a:lnL>
                      <a:noFill/>
                    </a:lnL>
                    <a:lnR>
                      <a:noFill/>
                    </a:lnR>
                    <a:lnT>
                      <a:noFill/>
                    </a:lnT>
                    <a:lnB>
                      <a:noFill/>
                    </a:lnB>
                    <a:noFill/>
                  </a:tcPr>
                </a:tc>
                <a:extLst>
                  <a:ext uri="{0D108BD9-81ED-4DB2-BD59-A6C34878D82A}">
                    <a16:rowId xmlns:a16="http://schemas.microsoft.com/office/drawing/2014/main" val="663237109"/>
                  </a:ext>
                </a:extLst>
              </a:tr>
              <a:tr h="0">
                <a:tc>
                  <a:txBody>
                    <a:bodyPr/>
                    <a:lstStyle/>
                    <a:p>
                      <a:pPr>
                        <a:buNone/>
                      </a:pPr>
                      <a:r>
                        <a:rPr lang="en-IN" sz="2000">
                          <a:latin typeface="Times New Roman" panose="02020603050405020304" pitchFamily="18" charset="0"/>
                          <a:cs typeface="Times New Roman" panose="02020603050405020304" pitchFamily="18" charset="0"/>
                        </a:rPr>
                        <a:t>S4</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1</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50</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3</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0</a:t>
                      </a:r>
                    </a:p>
                  </a:txBody>
                  <a:tcPr anchor="ctr">
                    <a:lnL>
                      <a:noFill/>
                    </a:lnL>
                    <a:lnR>
                      <a:noFill/>
                    </a:lnR>
                    <a:lnT>
                      <a:noFill/>
                    </a:lnT>
                    <a:lnB>
                      <a:noFill/>
                    </a:lnB>
                    <a:noFill/>
                  </a:tcPr>
                </a:tc>
                <a:extLst>
                  <a:ext uri="{0D108BD9-81ED-4DB2-BD59-A6C34878D82A}">
                    <a16:rowId xmlns:a16="http://schemas.microsoft.com/office/drawing/2014/main" val="352989054"/>
                  </a:ext>
                </a:extLst>
              </a:tr>
              <a:tr h="0">
                <a:tc>
                  <a:txBody>
                    <a:bodyPr/>
                    <a:lstStyle/>
                    <a:p>
                      <a:pPr>
                        <a:buNone/>
                      </a:pPr>
                      <a:r>
                        <a:rPr lang="en-IN" sz="2000">
                          <a:latin typeface="Times New Roman" panose="02020603050405020304" pitchFamily="18" charset="0"/>
                          <a:cs typeface="Times New Roman" panose="02020603050405020304" pitchFamily="18" charset="0"/>
                        </a:rPr>
                        <a:t>S5</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4</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75</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6</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1</a:t>
                      </a:r>
                    </a:p>
                  </a:txBody>
                  <a:tcPr anchor="ctr">
                    <a:lnL>
                      <a:noFill/>
                    </a:lnL>
                    <a:lnR>
                      <a:noFill/>
                    </a:lnR>
                    <a:lnT>
                      <a:noFill/>
                    </a:lnT>
                    <a:lnB>
                      <a:noFill/>
                    </a:lnB>
                    <a:noFill/>
                  </a:tcPr>
                </a:tc>
                <a:extLst>
                  <a:ext uri="{0D108BD9-81ED-4DB2-BD59-A6C34878D82A}">
                    <a16:rowId xmlns:a16="http://schemas.microsoft.com/office/drawing/2014/main" val="160687788"/>
                  </a:ext>
                </a:extLst>
              </a:tr>
              <a:tr h="0">
                <a:tc>
                  <a:txBody>
                    <a:bodyPr/>
                    <a:lstStyle/>
                    <a:p>
                      <a:pPr>
                        <a:buNone/>
                      </a:pPr>
                      <a:r>
                        <a:rPr lang="en-IN" sz="2000">
                          <a:latin typeface="Times New Roman" panose="02020603050405020304" pitchFamily="18" charset="0"/>
                          <a:cs typeface="Times New Roman" panose="02020603050405020304" pitchFamily="18" charset="0"/>
                        </a:rPr>
                        <a:t>S6</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3</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65</a:t>
                      </a:r>
                    </a:p>
                  </a:txBody>
                  <a:tcPr anchor="ctr">
                    <a:lnL>
                      <a:noFill/>
                    </a:lnL>
                    <a:lnR>
                      <a:noFill/>
                    </a:lnR>
                    <a:lnT>
                      <a:noFill/>
                    </a:lnT>
                    <a:lnB>
                      <a:noFill/>
                    </a:lnB>
                    <a:noFill/>
                  </a:tcPr>
                </a:tc>
                <a:tc>
                  <a:txBody>
                    <a:bodyPr/>
                    <a:lstStyle/>
                    <a:p>
                      <a:pPr>
                        <a:buNone/>
                      </a:pPr>
                      <a:r>
                        <a:rPr lang="en-IN" sz="2000" dirty="0">
                          <a:latin typeface="Times New Roman" panose="02020603050405020304" pitchFamily="18" charset="0"/>
                          <a:cs typeface="Times New Roman" panose="02020603050405020304" pitchFamily="18" charset="0"/>
                        </a:rPr>
                        <a:t>5</a:t>
                      </a:r>
                    </a:p>
                  </a:txBody>
                  <a:tcPr anchor="ctr">
                    <a:lnL>
                      <a:noFill/>
                    </a:lnL>
                    <a:lnR>
                      <a:noFill/>
                    </a:lnR>
                    <a:lnT>
                      <a:noFill/>
                    </a:lnT>
                    <a:lnB>
                      <a:noFill/>
                    </a:lnB>
                    <a:noFill/>
                  </a:tcPr>
                </a:tc>
                <a:tc>
                  <a:txBody>
                    <a:bodyPr/>
                    <a:lstStyle/>
                    <a:p>
                      <a:pPr>
                        <a:buNone/>
                      </a:pPr>
                      <a:r>
                        <a:rPr lang="en-IN" sz="2000" dirty="0">
                          <a:latin typeface="Times New Roman" panose="02020603050405020304" pitchFamily="18" charset="0"/>
                          <a:cs typeface="Times New Roman" panose="02020603050405020304" pitchFamily="18" charset="0"/>
                        </a:rPr>
                        <a:t>0</a:t>
                      </a:r>
                    </a:p>
                  </a:txBody>
                  <a:tcPr anchor="ctr">
                    <a:lnL>
                      <a:noFill/>
                    </a:lnL>
                    <a:lnR>
                      <a:noFill/>
                    </a:lnR>
                    <a:lnT>
                      <a:noFill/>
                    </a:lnT>
                    <a:lnB>
                      <a:noFill/>
                    </a:lnB>
                    <a:noFill/>
                  </a:tcPr>
                </a:tc>
                <a:extLst>
                  <a:ext uri="{0D108BD9-81ED-4DB2-BD59-A6C34878D82A}">
                    <a16:rowId xmlns:a16="http://schemas.microsoft.com/office/drawing/2014/main" val="3855943136"/>
                  </a:ext>
                </a:extLst>
              </a:tr>
            </a:tbl>
          </a:graphicData>
        </a:graphic>
      </p:graphicFrame>
      <p:sp>
        <p:nvSpPr>
          <p:cNvPr id="5" name="TextBox 4">
            <a:extLst>
              <a:ext uri="{FF2B5EF4-FFF2-40B4-BE49-F238E27FC236}">
                <a16:creationId xmlns:a16="http://schemas.microsoft.com/office/drawing/2014/main" id="{BAE63956-9F48-C543-EDDF-C3C81F1FAA57}"/>
              </a:ext>
            </a:extLst>
          </p:cNvPr>
          <p:cNvSpPr txBox="1"/>
          <p:nvPr/>
        </p:nvSpPr>
        <p:spPr>
          <a:xfrm>
            <a:off x="1295402" y="5544084"/>
            <a:ext cx="7885471" cy="984885"/>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The model learns patterns like:</a:t>
            </a:r>
          </a:p>
          <a:p>
            <a:r>
              <a:rPr lang="en-US" sz="2000" dirty="0">
                <a:latin typeface="Times New Roman" panose="02020603050405020304" pitchFamily="18" charset="0"/>
                <a:cs typeface="Times New Roman" panose="02020603050405020304" pitchFamily="18" charset="0"/>
              </a:rPr>
              <a:t>More study hours + good attendance → likely pass</a:t>
            </a:r>
          </a:p>
          <a:p>
            <a:endParaRPr lang="en-IN" dirty="0"/>
          </a:p>
        </p:txBody>
      </p:sp>
    </p:spTree>
    <p:extLst>
      <p:ext uri="{BB962C8B-B14F-4D97-AF65-F5344CB8AC3E}">
        <p14:creationId xmlns:p14="http://schemas.microsoft.com/office/powerpoint/2010/main" val="22365625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112B1-5ECB-FCFF-7EF5-153E90B52FD8}"/>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Validation data </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EF0E5F2-687B-F0A5-60C2-4F4947AF38F7}"/>
              </a:ext>
            </a:extLst>
          </p:cNvPr>
          <p:cNvSpPr>
            <a:spLocks noGrp="1"/>
          </p:cNvSpPr>
          <p:nvPr>
            <p:ph idx="1"/>
          </p:nvPr>
        </p:nvSpPr>
        <p:spPr>
          <a:xfrm>
            <a:off x="980769" y="2724081"/>
            <a:ext cx="9601196" cy="3318936"/>
          </a:xfrm>
        </p:spPr>
        <p:txBody>
          <a:bodyPr>
            <a:normAutofit fontScale="92500" lnSpcReduction="20000"/>
          </a:bodyPr>
          <a:lstStyle/>
          <a:p>
            <a:r>
              <a:rPr lang="en-US" dirty="0">
                <a:solidFill>
                  <a:schemeClr val="tx1"/>
                </a:solidFill>
                <a:latin typeface="Times New Roman" panose="02020603050405020304" pitchFamily="18" charset="0"/>
                <a:cs typeface="Times New Roman" panose="02020603050405020304" pitchFamily="18" charset="0"/>
              </a:rPr>
              <a:t>Used to </a:t>
            </a:r>
            <a:r>
              <a:rPr lang="en-US" b="1" dirty="0">
                <a:solidFill>
                  <a:schemeClr val="tx1"/>
                </a:solidFill>
                <a:latin typeface="Times New Roman" panose="02020603050405020304" pitchFamily="18" charset="0"/>
                <a:cs typeface="Times New Roman" panose="02020603050405020304" pitchFamily="18" charset="0"/>
              </a:rPr>
              <a:t>fine-tune the model</a:t>
            </a:r>
            <a:r>
              <a:rPr lang="en-US" dirty="0">
                <a:solidFill>
                  <a:schemeClr val="tx1"/>
                </a:solidFill>
                <a:latin typeface="Times New Roman" panose="02020603050405020304" pitchFamily="18" charset="0"/>
                <a:cs typeface="Times New Roman" panose="02020603050405020304" pitchFamily="18" charset="0"/>
              </a:rPr>
              <a:t> and choose the best settings.</a:t>
            </a:r>
          </a:p>
          <a:p>
            <a:endParaRPr lang="en-IN" dirty="0"/>
          </a:p>
          <a:p>
            <a:endParaRPr lang="en-IN" dirty="0"/>
          </a:p>
          <a:p>
            <a:endParaRPr lang="en-IN" dirty="0"/>
          </a:p>
          <a:p>
            <a:endParaRPr lang="en-IN" dirty="0"/>
          </a:p>
          <a:p>
            <a:r>
              <a:rPr lang="en-US" dirty="0">
                <a:latin typeface="Times New Roman" panose="02020603050405020304" pitchFamily="18" charset="0"/>
                <a:cs typeface="Times New Roman" panose="02020603050405020304" pitchFamily="18" charset="0"/>
              </a:rPr>
              <a:t>Used to check:</a:t>
            </a:r>
          </a:p>
          <a:p>
            <a:r>
              <a:rPr lang="en-US" dirty="0">
                <a:latin typeface="Times New Roman" panose="02020603050405020304" pitchFamily="18" charset="0"/>
                <a:cs typeface="Times New Roman" panose="02020603050405020304" pitchFamily="18" charset="0"/>
              </a:rPr>
              <a:t>Is model overfitting?</a:t>
            </a:r>
          </a:p>
          <a:p>
            <a:r>
              <a:rPr lang="en-US" dirty="0">
                <a:latin typeface="Times New Roman" panose="02020603050405020304" pitchFamily="18" charset="0"/>
                <a:cs typeface="Times New Roman" panose="02020603050405020304" pitchFamily="18" charset="0"/>
              </a:rPr>
              <a:t>Which model works better?</a:t>
            </a:r>
          </a:p>
          <a:p>
            <a:endParaRPr lang="en-IN" dirty="0"/>
          </a:p>
        </p:txBody>
      </p:sp>
      <p:graphicFrame>
        <p:nvGraphicFramePr>
          <p:cNvPr id="4" name="Table 3">
            <a:extLst>
              <a:ext uri="{FF2B5EF4-FFF2-40B4-BE49-F238E27FC236}">
                <a16:creationId xmlns:a16="http://schemas.microsoft.com/office/drawing/2014/main" id="{96CD2007-489A-2CCB-1206-BE8A3069486E}"/>
              </a:ext>
            </a:extLst>
          </p:cNvPr>
          <p:cNvGraphicFramePr>
            <a:graphicFrameLocks noGrp="1"/>
          </p:cNvGraphicFramePr>
          <p:nvPr>
            <p:extLst>
              <p:ext uri="{D42A27DB-BD31-4B8C-83A1-F6EECF244321}">
                <p14:modId xmlns:p14="http://schemas.microsoft.com/office/powerpoint/2010/main" val="2850081629"/>
              </p:ext>
            </p:extLst>
          </p:nvPr>
        </p:nvGraphicFramePr>
        <p:xfrm>
          <a:off x="1295401" y="3108962"/>
          <a:ext cx="9601200" cy="1584960"/>
        </p:xfrm>
        <a:graphic>
          <a:graphicData uri="http://schemas.openxmlformats.org/drawingml/2006/table">
            <a:tbl>
              <a:tblPr/>
              <a:tblGrid>
                <a:gridCol w="1920240">
                  <a:extLst>
                    <a:ext uri="{9D8B030D-6E8A-4147-A177-3AD203B41FA5}">
                      <a16:colId xmlns:a16="http://schemas.microsoft.com/office/drawing/2014/main" val="1717892642"/>
                    </a:ext>
                  </a:extLst>
                </a:gridCol>
                <a:gridCol w="1920240">
                  <a:extLst>
                    <a:ext uri="{9D8B030D-6E8A-4147-A177-3AD203B41FA5}">
                      <a16:colId xmlns:a16="http://schemas.microsoft.com/office/drawing/2014/main" val="4145714001"/>
                    </a:ext>
                  </a:extLst>
                </a:gridCol>
                <a:gridCol w="1920240">
                  <a:extLst>
                    <a:ext uri="{9D8B030D-6E8A-4147-A177-3AD203B41FA5}">
                      <a16:colId xmlns:a16="http://schemas.microsoft.com/office/drawing/2014/main" val="17629031"/>
                    </a:ext>
                  </a:extLst>
                </a:gridCol>
                <a:gridCol w="1920240">
                  <a:extLst>
                    <a:ext uri="{9D8B030D-6E8A-4147-A177-3AD203B41FA5}">
                      <a16:colId xmlns:a16="http://schemas.microsoft.com/office/drawing/2014/main" val="2041865884"/>
                    </a:ext>
                  </a:extLst>
                </a:gridCol>
                <a:gridCol w="1920240">
                  <a:extLst>
                    <a:ext uri="{9D8B030D-6E8A-4147-A177-3AD203B41FA5}">
                      <a16:colId xmlns:a16="http://schemas.microsoft.com/office/drawing/2014/main" val="872664928"/>
                    </a:ext>
                  </a:extLst>
                </a:gridCol>
              </a:tblGrid>
              <a:tr h="0">
                <a:tc>
                  <a:txBody>
                    <a:bodyPr/>
                    <a:lstStyle/>
                    <a:p>
                      <a:pPr>
                        <a:buNone/>
                      </a:pPr>
                      <a:r>
                        <a:rPr lang="en-IN" sz="2000" b="1">
                          <a:latin typeface="Times New Roman" panose="02020603050405020304" pitchFamily="18" charset="0"/>
                          <a:cs typeface="Times New Roman" panose="02020603050405020304" pitchFamily="18" charset="0"/>
                        </a:rPr>
                        <a:t>Student_ID</a:t>
                      </a:r>
                    </a:p>
                  </a:txBody>
                  <a:tcPr anchor="ctr">
                    <a:lnL>
                      <a:noFill/>
                    </a:lnL>
                    <a:lnR>
                      <a:noFill/>
                    </a:lnR>
                    <a:lnT>
                      <a:noFill/>
                    </a:lnT>
                    <a:lnB>
                      <a:noFill/>
                    </a:lnB>
                    <a:noFill/>
                  </a:tcPr>
                </a:tc>
                <a:tc>
                  <a:txBody>
                    <a:bodyPr/>
                    <a:lstStyle/>
                    <a:p>
                      <a:pPr>
                        <a:buNone/>
                      </a:pPr>
                      <a:r>
                        <a:rPr lang="en-IN" sz="2000" b="1">
                          <a:latin typeface="Times New Roman" panose="02020603050405020304" pitchFamily="18" charset="0"/>
                          <a:cs typeface="Times New Roman" panose="02020603050405020304" pitchFamily="18" charset="0"/>
                        </a:rPr>
                        <a:t>Study_Hours</a:t>
                      </a:r>
                    </a:p>
                  </a:txBody>
                  <a:tcPr anchor="ctr">
                    <a:lnL>
                      <a:noFill/>
                    </a:lnL>
                    <a:lnR>
                      <a:noFill/>
                    </a:lnR>
                    <a:lnT>
                      <a:noFill/>
                    </a:lnT>
                    <a:lnB>
                      <a:noFill/>
                    </a:lnB>
                    <a:noFill/>
                  </a:tcPr>
                </a:tc>
                <a:tc>
                  <a:txBody>
                    <a:bodyPr/>
                    <a:lstStyle/>
                    <a:p>
                      <a:pPr>
                        <a:buNone/>
                      </a:pPr>
                      <a:r>
                        <a:rPr lang="en-IN" sz="2000" b="1">
                          <a:latin typeface="Times New Roman" panose="02020603050405020304" pitchFamily="18" charset="0"/>
                          <a:cs typeface="Times New Roman" panose="02020603050405020304" pitchFamily="18" charset="0"/>
                        </a:rPr>
                        <a:t>Attendance</a:t>
                      </a:r>
                    </a:p>
                  </a:txBody>
                  <a:tcPr anchor="ctr">
                    <a:lnL>
                      <a:noFill/>
                    </a:lnL>
                    <a:lnR>
                      <a:noFill/>
                    </a:lnR>
                    <a:lnT>
                      <a:noFill/>
                    </a:lnT>
                    <a:lnB>
                      <a:noFill/>
                    </a:lnB>
                    <a:noFill/>
                  </a:tcPr>
                </a:tc>
                <a:tc>
                  <a:txBody>
                    <a:bodyPr/>
                    <a:lstStyle/>
                    <a:p>
                      <a:pPr>
                        <a:buNone/>
                      </a:pPr>
                      <a:r>
                        <a:rPr lang="en-IN" sz="2000" b="1">
                          <a:latin typeface="Times New Roman" panose="02020603050405020304" pitchFamily="18" charset="0"/>
                          <a:cs typeface="Times New Roman" panose="02020603050405020304" pitchFamily="18" charset="0"/>
                        </a:rPr>
                        <a:t>Assignments</a:t>
                      </a:r>
                    </a:p>
                  </a:txBody>
                  <a:tcPr anchor="ctr">
                    <a:lnL>
                      <a:noFill/>
                    </a:lnL>
                    <a:lnR>
                      <a:noFill/>
                    </a:lnR>
                    <a:lnT>
                      <a:noFill/>
                    </a:lnT>
                    <a:lnB>
                      <a:noFill/>
                    </a:lnB>
                    <a:noFill/>
                  </a:tcPr>
                </a:tc>
                <a:tc>
                  <a:txBody>
                    <a:bodyPr/>
                    <a:lstStyle/>
                    <a:p>
                      <a:pPr>
                        <a:buNone/>
                      </a:pPr>
                      <a:r>
                        <a:rPr lang="en-IN" sz="2000" b="1" dirty="0">
                          <a:latin typeface="Times New Roman" panose="02020603050405020304" pitchFamily="18" charset="0"/>
                          <a:cs typeface="Times New Roman" panose="02020603050405020304" pitchFamily="18" charset="0"/>
                        </a:rPr>
                        <a:t>Result</a:t>
                      </a:r>
                    </a:p>
                  </a:txBody>
                  <a:tcPr anchor="ctr">
                    <a:lnL>
                      <a:noFill/>
                    </a:lnL>
                    <a:lnR>
                      <a:noFill/>
                    </a:lnR>
                    <a:lnT>
                      <a:noFill/>
                    </a:lnT>
                    <a:lnB>
                      <a:noFill/>
                    </a:lnB>
                    <a:noFill/>
                  </a:tcPr>
                </a:tc>
                <a:extLst>
                  <a:ext uri="{0D108BD9-81ED-4DB2-BD59-A6C34878D82A}">
                    <a16:rowId xmlns:a16="http://schemas.microsoft.com/office/drawing/2014/main" val="1074542924"/>
                  </a:ext>
                </a:extLst>
              </a:tr>
              <a:tr h="0">
                <a:tc>
                  <a:txBody>
                    <a:bodyPr/>
                    <a:lstStyle/>
                    <a:p>
                      <a:pPr>
                        <a:buNone/>
                      </a:pPr>
                      <a:r>
                        <a:rPr lang="en-IN" sz="2000">
                          <a:latin typeface="Times New Roman" panose="02020603050405020304" pitchFamily="18" charset="0"/>
                          <a:cs typeface="Times New Roman" panose="02020603050405020304" pitchFamily="18" charset="0"/>
                        </a:rPr>
                        <a:t>S7</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4</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70</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6</a:t>
                      </a:r>
                    </a:p>
                  </a:txBody>
                  <a:tcPr anchor="ctr">
                    <a:lnL>
                      <a:noFill/>
                    </a:lnL>
                    <a:lnR>
                      <a:noFill/>
                    </a:lnR>
                    <a:lnT>
                      <a:noFill/>
                    </a:lnT>
                    <a:lnB>
                      <a:noFill/>
                    </a:lnB>
                    <a:noFill/>
                  </a:tcPr>
                </a:tc>
                <a:tc>
                  <a:txBody>
                    <a:bodyPr/>
                    <a:lstStyle/>
                    <a:p>
                      <a:pPr>
                        <a:buNone/>
                      </a:pPr>
                      <a:r>
                        <a:rPr lang="en-IN" sz="2000" dirty="0">
                          <a:latin typeface="Times New Roman" panose="02020603050405020304" pitchFamily="18" charset="0"/>
                          <a:cs typeface="Times New Roman" panose="02020603050405020304" pitchFamily="18" charset="0"/>
                        </a:rPr>
                        <a:t>1</a:t>
                      </a:r>
                    </a:p>
                  </a:txBody>
                  <a:tcPr anchor="ctr">
                    <a:lnL>
                      <a:noFill/>
                    </a:lnL>
                    <a:lnR>
                      <a:noFill/>
                    </a:lnR>
                    <a:lnT>
                      <a:noFill/>
                    </a:lnT>
                    <a:lnB>
                      <a:noFill/>
                    </a:lnB>
                    <a:noFill/>
                  </a:tcPr>
                </a:tc>
                <a:extLst>
                  <a:ext uri="{0D108BD9-81ED-4DB2-BD59-A6C34878D82A}">
                    <a16:rowId xmlns:a16="http://schemas.microsoft.com/office/drawing/2014/main" val="3508453252"/>
                  </a:ext>
                </a:extLst>
              </a:tr>
              <a:tr h="0">
                <a:tc>
                  <a:txBody>
                    <a:bodyPr/>
                    <a:lstStyle/>
                    <a:p>
                      <a:pPr>
                        <a:buNone/>
                      </a:pPr>
                      <a:r>
                        <a:rPr lang="en-IN" sz="2000" dirty="0">
                          <a:latin typeface="Times New Roman" panose="02020603050405020304" pitchFamily="18" charset="0"/>
                          <a:cs typeface="Times New Roman" panose="02020603050405020304" pitchFamily="18" charset="0"/>
                        </a:rPr>
                        <a:t>S8</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2</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55</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4</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0</a:t>
                      </a:r>
                    </a:p>
                  </a:txBody>
                  <a:tcPr anchor="ctr">
                    <a:lnL>
                      <a:noFill/>
                    </a:lnL>
                    <a:lnR>
                      <a:noFill/>
                    </a:lnR>
                    <a:lnT>
                      <a:noFill/>
                    </a:lnT>
                    <a:lnB>
                      <a:noFill/>
                    </a:lnB>
                    <a:noFill/>
                  </a:tcPr>
                </a:tc>
                <a:extLst>
                  <a:ext uri="{0D108BD9-81ED-4DB2-BD59-A6C34878D82A}">
                    <a16:rowId xmlns:a16="http://schemas.microsoft.com/office/drawing/2014/main" val="3618756406"/>
                  </a:ext>
                </a:extLst>
              </a:tr>
              <a:tr h="0">
                <a:tc>
                  <a:txBody>
                    <a:bodyPr/>
                    <a:lstStyle/>
                    <a:p>
                      <a:pPr>
                        <a:buNone/>
                      </a:pPr>
                      <a:r>
                        <a:rPr lang="en-IN" sz="2000" dirty="0">
                          <a:latin typeface="Times New Roman" panose="02020603050405020304" pitchFamily="18" charset="0"/>
                          <a:cs typeface="Times New Roman" panose="02020603050405020304" pitchFamily="18" charset="0"/>
                        </a:rPr>
                        <a:t>S9</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5</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85</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7</a:t>
                      </a:r>
                    </a:p>
                  </a:txBody>
                  <a:tcPr anchor="ctr">
                    <a:lnL>
                      <a:noFill/>
                    </a:lnL>
                    <a:lnR>
                      <a:noFill/>
                    </a:lnR>
                    <a:lnT>
                      <a:noFill/>
                    </a:lnT>
                    <a:lnB>
                      <a:noFill/>
                    </a:lnB>
                    <a:noFill/>
                  </a:tcPr>
                </a:tc>
                <a:tc>
                  <a:txBody>
                    <a:bodyPr/>
                    <a:lstStyle/>
                    <a:p>
                      <a:pPr>
                        <a:buNone/>
                      </a:pPr>
                      <a:r>
                        <a:rPr lang="en-IN" sz="2000" dirty="0">
                          <a:latin typeface="Times New Roman" panose="02020603050405020304" pitchFamily="18" charset="0"/>
                          <a:cs typeface="Times New Roman" panose="02020603050405020304" pitchFamily="18" charset="0"/>
                        </a:rPr>
                        <a:t>1</a:t>
                      </a:r>
                    </a:p>
                  </a:txBody>
                  <a:tcPr anchor="ctr">
                    <a:lnL>
                      <a:noFill/>
                    </a:lnL>
                    <a:lnR>
                      <a:noFill/>
                    </a:lnR>
                    <a:lnT>
                      <a:noFill/>
                    </a:lnT>
                    <a:lnB>
                      <a:noFill/>
                    </a:lnB>
                    <a:noFill/>
                  </a:tcPr>
                </a:tc>
                <a:extLst>
                  <a:ext uri="{0D108BD9-81ED-4DB2-BD59-A6C34878D82A}">
                    <a16:rowId xmlns:a16="http://schemas.microsoft.com/office/drawing/2014/main" val="3085337702"/>
                  </a:ext>
                </a:extLst>
              </a:tr>
            </a:tbl>
          </a:graphicData>
        </a:graphic>
      </p:graphicFrame>
    </p:spTree>
    <p:extLst>
      <p:ext uri="{BB962C8B-B14F-4D97-AF65-F5344CB8AC3E}">
        <p14:creationId xmlns:p14="http://schemas.microsoft.com/office/powerpoint/2010/main" val="16383073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44ED9-D4F0-A567-3C2C-283182BEBCAC}"/>
              </a:ext>
            </a:extLst>
          </p:cNvPr>
          <p:cNvSpPr>
            <a:spLocks noGrp="1"/>
          </p:cNvSpPr>
          <p:nvPr>
            <p:ph type="title"/>
          </p:nvPr>
        </p:nvSpPr>
        <p:spPr>
          <a:xfrm>
            <a:off x="1295401" y="1049864"/>
            <a:ext cx="9601196" cy="1303867"/>
          </a:xfrm>
        </p:spPr>
        <p:txBody>
          <a:bodyPr/>
          <a:lstStyle/>
          <a:p>
            <a:r>
              <a:rPr lang="en-US" b="1" dirty="0">
                <a:latin typeface="Times New Roman" panose="02020603050405020304" pitchFamily="18" charset="0"/>
                <a:cs typeface="Times New Roman" panose="02020603050405020304" pitchFamily="18" charset="0"/>
              </a:rPr>
              <a:t>Test data</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8978AAB-637F-C800-0B07-10CA89A75F63}"/>
              </a:ext>
            </a:extLst>
          </p:cNvPr>
          <p:cNvSpPr>
            <a:spLocks noGrp="1"/>
          </p:cNvSpPr>
          <p:nvPr>
            <p:ph idx="1"/>
          </p:nvPr>
        </p:nvSpPr>
        <p:spPr/>
        <p:txBody>
          <a:bodyPr>
            <a:normAutofit/>
          </a:bodyPr>
          <a:lstStyle/>
          <a:p>
            <a:r>
              <a:rPr lang="en-US" sz="2200" dirty="0">
                <a:solidFill>
                  <a:schemeClr val="tx1"/>
                </a:solidFill>
                <a:latin typeface="Times New Roman" panose="02020603050405020304" pitchFamily="18" charset="0"/>
                <a:cs typeface="Times New Roman" panose="02020603050405020304" pitchFamily="18" charset="0"/>
              </a:rPr>
              <a:t>Completely </a:t>
            </a:r>
            <a:r>
              <a:rPr lang="en-US" sz="2200" b="1" dirty="0">
                <a:solidFill>
                  <a:schemeClr val="tx1"/>
                </a:solidFill>
                <a:latin typeface="Times New Roman" panose="02020603050405020304" pitchFamily="18" charset="0"/>
                <a:cs typeface="Times New Roman" panose="02020603050405020304" pitchFamily="18" charset="0"/>
              </a:rPr>
              <a:t>unseen data</a:t>
            </a:r>
            <a:r>
              <a:rPr lang="en-US" sz="2200" dirty="0">
                <a:solidFill>
                  <a:schemeClr val="tx1"/>
                </a:solidFill>
                <a:latin typeface="Times New Roman" panose="02020603050405020304" pitchFamily="18" charset="0"/>
                <a:cs typeface="Times New Roman" panose="02020603050405020304" pitchFamily="18" charset="0"/>
              </a:rPr>
              <a:t> used only once to measure final accuracy.</a:t>
            </a:r>
          </a:p>
          <a:p>
            <a:endParaRPr lang="en-US" sz="2200" dirty="0">
              <a:solidFill>
                <a:schemeClr val="tx1"/>
              </a:solidFill>
              <a:latin typeface="Times New Roman" panose="02020603050405020304" pitchFamily="18" charset="0"/>
              <a:cs typeface="Times New Roman" panose="02020603050405020304" pitchFamily="18" charset="0"/>
            </a:endParaRPr>
          </a:p>
          <a:p>
            <a:endParaRPr lang="en-US" sz="2200" dirty="0">
              <a:solidFill>
                <a:schemeClr val="tx1"/>
              </a:solidFill>
              <a:latin typeface="Times New Roman" panose="02020603050405020304" pitchFamily="18" charset="0"/>
              <a:cs typeface="Times New Roman" panose="02020603050405020304" pitchFamily="18" charset="0"/>
            </a:endParaRPr>
          </a:p>
          <a:p>
            <a:endParaRPr lang="en-US" sz="2200" dirty="0">
              <a:solidFill>
                <a:schemeClr val="tx1"/>
              </a:solidFill>
              <a:latin typeface="Times New Roman" panose="02020603050405020304" pitchFamily="18" charset="0"/>
              <a:cs typeface="Times New Roman" panose="02020603050405020304" pitchFamily="18" charset="0"/>
            </a:endParaRPr>
          </a:p>
          <a:p>
            <a:pPr marL="0" indent="0">
              <a:buNone/>
            </a:pPr>
            <a:endParaRPr lang="en-US" sz="2200" dirty="0">
              <a:solidFill>
                <a:schemeClr val="tx1"/>
              </a:solidFill>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This data is </a:t>
            </a:r>
            <a:r>
              <a:rPr lang="en-US" sz="2200" b="1" dirty="0">
                <a:latin typeface="Times New Roman" panose="02020603050405020304" pitchFamily="18" charset="0"/>
                <a:cs typeface="Times New Roman" panose="02020603050405020304" pitchFamily="18" charset="0"/>
              </a:rPr>
              <a:t>never shown to the model during training</a:t>
            </a:r>
            <a:r>
              <a:rPr lang="en-US" sz="2200" dirty="0">
                <a:latin typeface="Times New Roman" panose="02020603050405020304" pitchFamily="18" charset="0"/>
                <a:cs typeface="Times New Roman" panose="02020603050405020304" pitchFamily="18" charset="0"/>
              </a:rPr>
              <a:t>.</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It gives the </a:t>
            </a:r>
            <a:r>
              <a:rPr lang="en-US" sz="2200" b="1" dirty="0">
                <a:latin typeface="Times New Roman" panose="02020603050405020304" pitchFamily="18" charset="0"/>
                <a:cs typeface="Times New Roman" panose="02020603050405020304" pitchFamily="18" charset="0"/>
              </a:rPr>
              <a:t>true performance</a:t>
            </a:r>
            <a:r>
              <a:rPr lang="en-US" sz="2200" dirty="0">
                <a:latin typeface="Times New Roman" panose="02020603050405020304" pitchFamily="18" charset="0"/>
                <a:cs typeface="Times New Roman" panose="02020603050405020304" pitchFamily="18" charset="0"/>
              </a:rPr>
              <a:t> of the model.</a:t>
            </a:r>
            <a:endParaRPr lang="en-US" sz="2200" dirty="0">
              <a:solidFill>
                <a:schemeClr val="tx1"/>
              </a:solidFill>
              <a:latin typeface="Times New Roman" panose="02020603050405020304" pitchFamily="18" charset="0"/>
              <a:cs typeface="Times New Roman" panose="02020603050405020304" pitchFamily="18" charset="0"/>
            </a:endParaRPr>
          </a:p>
          <a:p>
            <a:endParaRPr lang="en-IN" sz="2200" dirty="0">
              <a:solidFill>
                <a:schemeClr val="tx1"/>
              </a:solidFill>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052D708B-86CE-810F-93AD-33977E5481D9}"/>
              </a:ext>
            </a:extLst>
          </p:cNvPr>
          <p:cNvGraphicFramePr>
            <a:graphicFrameLocks noGrp="1"/>
          </p:cNvGraphicFramePr>
          <p:nvPr>
            <p:extLst>
              <p:ext uri="{D42A27DB-BD31-4B8C-83A1-F6EECF244321}">
                <p14:modId xmlns:p14="http://schemas.microsoft.com/office/powerpoint/2010/main" val="1500926646"/>
              </p:ext>
            </p:extLst>
          </p:nvPr>
        </p:nvGraphicFramePr>
        <p:xfrm>
          <a:off x="1295401" y="3041230"/>
          <a:ext cx="9601200" cy="1584960"/>
        </p:xfrm>
        <a:graphic>
          <a:graphicData uri="http://schemas.openxmlformats.org/drawingml/2006/table">
            <a:tbl>
              <a:tblPr/>
              <a:tblGrid>
                <a:gridCol w="1920240">
                  <a:extLst>
                    <a:ext uri="{9D8B030D-6E8A-4147-A177-3AD203B41FA5}">
                      <a16:colId xmlns:a16="http://schemas.microsoft.com/office/drawing/2014/main" val="3059579469"/>
                    </a:ext>
                  </a:extLst>
                </a:gridCol>
                <a:gridCol w="1920240">
                  <a:extLst>
                    <a:ext uri="{9D8B030D-6E8A-4147-A177-3AD203B41FA5}">
                      <a16:colId xmlns:a16="http://schemas.microsoft.com/office/drawing/2014/main" val="1075366165"/>
                    </a:ext>
                  </a:extLst>
                </a:gridCol>
                <a:gridCol w="1920240">
                  <a:extLst>
                    <a:ext uri="{9D8B030D-6E8A-4147-A177-3AD203B41FA5}">
                      <a16:colId xmlns:a16="http://schemas.microsoft.com/office/drawing/2014/main" val="2680842055"/>
                    </a:ext>
                  </a:extLst>
                </a:gridCol>
                <a:gridCol w="1920240">
                  <a:extLst>
                    <a:ext uri="{9D8B030D-6E8A-4147-A177-3AD203B41FA5}">
                      <a16:colId xmlns:a16="http://schemas.microsoft.com/office/drawing/2014/main" val="3000225304"/>
                    </a:ext>
                  </a:extLst>
                </a:gridCol>
                <a:gridCol w="1920240">
                  <a:extLst>
                    <a:ext uri="{9D8B030D-6E8A-4147-A177-3AD203B41FA5}">
                      <a16:colId xmlns:a16="http://schemas.microsoft.com/office/drawing/2014/main" val="3796595036"/>
                    </a:ext>
                  </a:extLst>
                </a:gridCol>
              </a:tblGrid>
              <a:tr h="0">
                <a:tc>
                  <a:txBody>
                    <a:bodyPr/>
                    <a:lstStyle/>
                    <a:p>
                      <a:pPr>
                        <a:buNone/>
                      </a:pPr>
                      <a:r>
                        <a:rPr lang="en-IN" sz="2000" b="1">
                          <a:latin typeface="Times New Roman" panose="02020603050405020304" pitchFamily="18" charset="0"/>
                          <a:cs typeface="Times New Roman" panose="02020603050405020304" pitchFamily="18" charset="0"/>
                        </a:rPr>
                        <a:t>Student_ID</a:t>
                      </a:r>
                    </a:p>
                  </a:txBody>
                  <a:tcPr anchor="ctr">
                    <a:lnL>
                      <a:noFill/>
                    </a:lnL>
                    <a:lnR>
                      <a:noFill/>
                    </a:lnR>
                    <a:lnT>
                      <a:noFill/>
                    </a:lnT>
                    <a:lnB>
                      <a:noFill/>
                    </a:lnB>
                    <a:noFill/>
                  </a:tcPr>
                </a:tc>
                <a:tc>
                  <a:txBody>
                    <a:bodyPr/>
                    <a:lstStyle/>
                    <a:p>
                      <a:pPr>
                        <a:buNone/>
                      </a:pPr>
                      <a:r>
                        <a:rPr lang="en-IN" sz="2000" b="1">
                          <a:latin typeface="Times New Roman" panose="02020603050405020304" pitchFamily="18" charset="0"/>
                          <a:cs typeface="Times New Roman" panose="02020603050405020304" pitchFamily="18" charset="0"/>
                        </a:rPr>
                        <a:t>Study_Hours</a:t>
                      </a:r>
                    </a:p>
                  </a:txBody>
                  <a:tcPr anchor="ctr">
                    <a:lnL>
                      <a:noFill/>
                    </a:lnL>
                    <a:lnR>
                      <a:noFill/>
                    </a:lnR>
                    <a:lnT>
                      <a:noFill/>
                    </a:lnT>
                    <a:lnB>
                      <a:noFill/>
                    </a:lnB>
                    <a:noFill/>
                  </a:tcPr>
                </a:tc>
                <a:tc>
                  <a:txBody>
                    <a:bodyPr/>
                    <a:lstStyle/>
                    <a:p>
                      <a:pPr>
                        <a:buNone/>
                      </a:pPr>
                      <a:r>
                        <a:rPr lang="en-IN" sz="2000" b="1">
                          <a:latin typeface="Times New Roman" panose="02020603050405020304" pitchFamily="18" charset="0"/>
                          <a:cs typeface="Times New Roman" panose="02020603050405020304" pitchFamily="18" charset="0"/>
                        </a:rPr>
                        <a:t>Attendance</a:t>
                      </a:r>
                    </a:p>
                  </a:txBody>
                  <a:tcPr anchor="ctr">
                    <a:lnL>
                      <a:noFill/>
                    </a:lnL>
                    <a:lnR>
                      <a:noFill/>
                    </a:lnR>
                    <a:lnT>
                      <a:noFill/>
                    </a:lnT>
                    <a:lnB>
                      <a:noFill/>
                    </a:lnB>
                    <a:noFill/>
                  </a:tcPr>
                </a:tc>
                <a:tc>
                  <a:txBody>
                    <a:bodyPr/>
                    <a:lstStyle/>
                    <a:p>
                      <a:pPr>
                        <a:buNone/>
                      </a:pPr>
                      <a:r>
                        <a:rPr lang="en-IN" sz="2000" b="1">
                          <a:latin typeface="Times New Roman" panose="02020603050405020304" pitchFamily="18" charset="0"/>
                          <a:cs typeface="Times New Roman" panose="02020603050405020304" pitchFamily="18" charset="0"/>
                        </a:rPr>
                        <a:t>Assignments</a:t>
                      </a:r>
                    </a:p>
                  </a:txBody>
                  <a:tcPr anchor="ctr">
                    <a:lnL>
                      <a:noFill/>
                    </a:lnL>
                    <a:lnR>
                      <a:noFill/>
                    </a:lnR>
                    <a:lnT>
                      <a:noFill/>
                    </a:lnT>
                    <a:lnB>
                      <a:noFill/>
                    </a:lnB>
                    <a:noFill/>
                  </a:tcPr>
                </a:tc>
                <a:tc>
                  <a:txBody>
                    <a:bodyPr/>
                    <a:lstStyle/>
                    <a:p>
                      <a:pPr>
                        <a:buNone/>
                      </a:pPr>
                      <a:r>
                        <a:rPr lang="en-IN" sz="2000" b="1" dirty="0">
                          <a:latin typeface="Times New Roman" panose="02020603050405020304" pitchFamily="18" charset="0"/>
                          <a:cs typeface="Times New Roman" panose="02020603050405020304" pitchFamily="18" charset="0"/>
                        </a:rPr>
                        <a:t>Result</a:t>
                      </a:r>
                    </a:p>
                  </a:txBody>
                  <a:tcPr anchor="ctr">
                    <a:lnL>
                      <a:noFill/>
                    </a:lnL>
                    <a:lnR>
                      <a:noFill/>
                    </a:lnR>
                    <a:lnT>
                      <a:noFill/>
                    </a:lnT>
                    <a:lnB>
                      <a:noFill/>
                    </a:lnB>
                    <a:noFill/>
                  </a:tcPr>
                </a:tc>
                <a:extLst>
                  <a:ext uri="{0D108BD9-81ED-4DB2-BD59-A6C34878D82A}">
                    <a16:rowId xmlns:a16="http://schemas.microsoft.com/office/drawing/2014/main" val="487378822"/>
                  </a:ext>
                </a:extLst>
              </a:tr>
              <a:tr h="0">
                <a:tc>
                  <a:txBody>
                    <a:bodyPr/>
                    <a:lstStyle/>
                    <a:p>
                      <a:pPr>
                        <a:buNone/>
                      </a:pPr>
                      <a:r>
                        <a:rPr lang="en-IN" sz="2000">
                          <a:latin typeface="Times New Roman" panose="02020603050405020304" pitchFamily="18" charset="0"/>
                          <a:cs typeface="Times New Roman" panose="02020603050405020304" pitchFamily="18" charset="0"/>
                        </a:rPr>
                        <a:t>S10</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6</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88</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8</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1</a:t>
                      </a:r>
                    </a:p>
                  </a:txBody>
                  <a:tcPr anchor="ctr">
                    <a:lnL>
                      <a:noFill/>
                    </a:lnL>
                    <a:lnR>
                      <a:noFill/>
                    </a:lnR>
                    <a:lnT>
                      <a:noFill/>
                    </a:lnT>
                    <a:lnB>
                      <a:noFill/>
                    </a:lnB>
                    <a:noFill/>
                  </a:tcPr>
                </a:tc>
                <a:extLst>
                  <a:ext uri="{0D108BD9-81ED-4DB2-BD59-A6C34878D82A}">
                    <a16:rowId xmlns:a16="http://schemas.microsoft.com/office/drawing/2014/main" val="1415667762"/>
                  </a:ext>
                </a:extLst>
              </a:tr>
              <a:tr h="0">
                <a:tc>
                  <a:txBody>
                    <a:bodyPr/>
                    <a:lstStyle/>
                    <a:p>
                      <a:pPr>
                        <a:buNone/>
                      </a:pPr>
                      <a:r>
                        <a:rPr lang="en-IN" sz="2000">
                          <a:latin typeface="Times New Roman" panose="02020603050405020304" pitchFamily="18" charset="0"/>
                          <a:cs typeface="Times New Roman" panose="02020603050405020304" pitchFamily="18" charset="0"/>
                        </a:rPr>
                        <a:t>S11</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1</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45</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2</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0</a:t>
                      </a:r>
                    </a:p>
                  </a:txBody>
                  <a:tcPr anchor="ctr">
                    <a:lnL>
                      <a:noFill/>
                    </a:lnL>
                    <a:lnR>
                      <a:noFill/>
                    </a:lnR>
                    <a:lnT>
                      <a:noFill/>
                    </a:lnT>
                    <a:lnB>
                      <a:noFill/>
                    </a:lnB>
                    <a:noFill/>
                  </a:tcPr>
                </a:tc>
                <a:extLst>
                  <a:ext uri="{0D108BD9-81ED-4DB2-BD59-A6C34878D82A}">
                    <a16:rowId xmlns:a16="http://schemas.microsoft.com/office/drawing/2014/main" val="629615519"/>
                  </a:ext>
                </a:extLst>
              </a:tr>
              <a:tr h="0">
                <a:tc>
                  <a:txBody>
                    <a:bodyPr/>
                    <a:lstStyle/>
                    <a:p>
                      <a:pPr>
                        <a:buNone/>
                      </a:pPr>
                      <a:r>
                        <a:rPr lang="en-IN" sz="2000">
                          <a:latin typeface="Times New Roman" panose="02020603050405020304" pitchFamily="18" charset="0"/>
                          <a:cs typeface="Times New Roman" panose="02020603050405020304" pitchFamily="18" charset="0"/>
                        </a:rPr>
                        <a:t>S12</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3</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60</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5</a:t>
                      </a:r>
                    </a:p>
                  </a:txBody>
                  <a:tcPr anchor="ctr">
                    <a:lnL>
                      <a:noFill/>
                    </a:lnL>
                    <a:lnR>
                      <a:noFill/>
                    </a:lnR>
                    <a:lnT>
                      <a:noFill/>
                    </a:lnT>
                    <a:lnB>
                      <a:noFill/>
                    </a:lnB>
                    <a:noFill/>
                  </a:tcPr>
                </a:tc>
                <a:tc>
                  <a:txBody>
                    <a:bodyPr/>
                    <a:lstStyle/>
                    <a:p>
                      <a:pPr>
                        <a:buNone/>
                      </a:pPr>
                      <a:r>
                        <a:rPr lang="en-IN" sz="2000" dirty="0">
                          <a:latin typeface="Times New Roman" panose="02020603050405020304" pitchFamily="18" charset="0"/>
                          <a:cs typeface="Times New Roman" panose="02020603050405020304" pitchFamily="18" charset="0"/>
                        </a:rPr>
                        <a:t>0</a:t>
                      </a:r>
                    </a:p>
                  </a:txBody>
                  <a:tcPr anchor="ctr">
                    <a:lnL>
                      <a:noFill/>
                    </a:lnL>
                    <a:lnR>
                      <a:noFill/>
                    </a:lnR>
                    <a:lnT>
                      <a:noFill/>
                    </a:lnT>
                    <a:lnB>
                      <a:noFill/>
                    </a:lnB>
                    <a:noFill/>
                  </a:tcPr>
                </a:tc>
                <a:extLst>
                  <a:ext uri="{0D108BD9-81ED-4DB2-BD59-A6C34878D82A}">
                    <a16:rowId xmlns:a16="http://schemas.microsoft.com/office/drawing/2014/main" val="3392312746"/>
                  </a:ext>
                </a:extLst>
              </a:tr>
            </a:tbl>
          </a:graphicData>
        </a:graphic>
      </p:graphicFrame>
    </p:spTree>
    <p:extLst>
      <p:ext uri="{BB962C8B-B14F-4D97-AF65-F5344CB8AC3E}">
        <p14:creationId xmlns:p14="http://schemas.microsoft.com/office/powerpoint/2010/main" val="11178617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2EC9D2-45DD-5A87-C215-08C0D559DC5A}"/>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Simple splitting methods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194EF20-CE90-AFE7-F5CD-E16023BCB0D9}"/>
              </a:ext>
            </a:extLst>
          </p:cNvPr>
          <p:cNvSpPr>
            <a:spLocks noGrp="1"/>
          </p:cNvSpPr>
          <p:nvPr>
            <p:ph idx="1"/>
          </p:nvPr>
        </p:nvSpPr>
        <p:spPr/>
        <p:txBody>
          <a:bodyPr/>
          <a:lstStyle/>
          <a:p>
            <a:r>
              <a:rPr lang="en-IN" dirty="0">
                <a:solidFill>
                  <a:schemeClr val="tx1"/>
                </a:solidFill>
                <a:latin typeface="Times New Roman" panose="02020603050405020304" pitchFamily="18" charset="0"/>
                <a:cs typeface="Times New Roman" panose="02020603050405020304" pitchFamily="18" charset="0"/>
              </a:rPr>
              <a:t>If you have a limited amount of data, you need clever ways to split it.</a:t>
            </a:r>
          </a:p>
          <a:p>
            <a:r>
              <a:rPr lang="en-IN" dirty="0">
                <a:latin typeface="Times New Roman" panose="02020603050405020304" pitchFamily="18" charset="0"/>
                <a:cs typeface="Times New Roman" panose="02020603050405020304" pitchFamily="18" charset="0"/>
              </a:rPr>
              <a:t>In the holdout technique, some amount of data is earmarked for the purpose of testing, while the remainder is employed for training (and a portion of it is kept aside for validation, if needed). Practically speaking, it is common to hold out one-third of the data for testing and use the remainder for training.</a:t>
            </a:r>
          </a:p>
          <a:p>
            <a:endParaRPr lang="en-IN" dirty="0"/>
          </a:p>
        </p:txBody>
      </p:sp>
    </p:spTree>
    <p:extLst>
      <p:ext uri="{BB962C8B-B14F-4D97-AF65-F5344CB8AC3E}">
        <p14:creationId xmlns:p14="http://schemas.microsoft.com/office/powerpoint/2010/main" val="8512611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C8D7F-8222-ED17-C821-F02D76580FF2}"/>
              </a:ext>
            </a:extLst>
          </p:cNvPr>
          <p:cNvSpPr>
            <a:spLocks noGrp="1"/>
          </p:cNvSpPr>
          <p:nvPr>
            <p:ph type="title"/>
          </p:nvPr>
        </p:nvSpPr>
        <p:spPr/>
        <p:txBody>
          <a:bodyPr>
            <a:normAutofit/>
          </a:bodyPr>
          <a:lstStyle/>
          <a:p>
            <a:r>
              <a:rPr lang="en-IN" b="1" dirty="0">
                <a:solidFill>
                  <a:schemeClr val="tx1"/>
                </a:solidFill>
                <a:latin typeface="Times New Roman" panose="02020603050405020304" pitchFamily="18" charset="0"/>
                <a:cs typeface="Times New Roman" panose="02020603050405020304" pitchFamily="18" charset="0"/>
              </a:rPr>
              <a:t>Holdout Method</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7FCBC78-3DE9-2A7B-C0D6-4EC95A9FD293}"/>
              </a:ext>
            </a:extLst>
          </p:cNvPr>
          <p:cNvSpPr>
            <a:spLocks noGrp="1"/>
          </p:cNvSpPr>
          <p:nvPr>
            <p:ph idx="1"/>
          </p:nvPr>
        </p:nvSpPr>
        <p:spPr>
          <a:xfrm>
            <a:off x="1295400" y="2556931"/>
            <a:ext cx="10041193" cy="3578397"/>
          </a:xfrm>
        </p:spPr>
        <p:txBody>
          <a:bodyPr>
            <a:normAutofit fontScale="92500" lnSpcReduction="10000"/>
          </a:bodyPr>
          <a:lstStyle/>
          <a:p>
            <a:r>
              <a:rPr lang="en-US" dirty="0">
                <a:solidFill>
                  <a:schemeClr val="tx1"/>
                </a:solidFill>
                <a:latin typeface="Times New Roman" panose="02020603050405020304" pitchFamily="18" charset="0"/>
                <a:cs typeface="Times New Roman" panose="02020603050405020304" pitchFamily="18" charset="0"/>
              </a:rPr>
              <a:t>Take your original dataset and divide it into two main parts</a:t>
            </a:r>
          </a:p>
          <a:p>
            <a:pPr lvl="0"/>
            <a:r>
              <a:rPr lang="en-IN" b="1" dirty="0">
                <a:solidFill>
                  <a:schemeClr val="tx1"/>
                </a:solidFill>
                <a:latin typeface="Times New Roman" panose="02020603050405020304" pitchFamily="18" charset="0"/>
                <a:cs typeface="Times New Roman" panose="02020603050405020304" pitchFamily="18" charset="0"/>
              </a:rPr>
              <a:t>Training Set:</a:t>
            </a:r>
            <a:r>
              <a:rPr lang="en-IN" dirty="0">
                <a:solidFill>
                  <a:schemeClr val="tx1"/>
                </a:solidFill>
                <a:latin typeface="Times New Roman" panose="02020603050405020304" pitchFamily="18" charset="0"/>
                <a:cs typeface="Times New Roman" panose="02020603050405020304" pitchFamily="18" charset="0"/>
              </a:rPr>
              <a:t> This is what the machine uses to learn.</a:t>
            </a:r>
          </a:p>
          <a:p>
            <a:pPr lvl="0"/>
            <a:r>
              <a:rPr lang="en-IN" b="1" dirty="0">
                <a:solidFill>
                  <a:schemeClr val="tx1"/>
                </a:solidFill>
                <a:latin typeface="Times New Roman" panose="02020603050405020304" pitchFamily="18" charset="0"/>
                <a:cs typeface="Times New Roman" panose="02020603050405020304" pitchFamily="18" charset="0"/>
              </a:rPr>
              <a:t>Test Set:</a:t>
            </a:r>
            <a:r>
              <a:rPr lang="en-IN" dirty="0">
                <a:solidFill>
                  <a:schemeClr val="tx1"/>
                </a:solidFill>
                <a:latin typeface="Times New Roman" panose="02020603050405020304" pitchFamily="18" charset="0"/>
                <a:cs typeface="Times New Roman" panose="02020603050405020304" pitchFamily="18" charset="0"/>
              </a:rPr>
              <a:t> This is "earmarked" or set aside and used only to check the final accuracy.</a:t>
            </a:r>
          </a:p>
          <a:p>
            <a:r>
              <a:rPr lang="en-IN" b="1" dirty="0">
                <a:solidFill>
                  <a:schemeClr val="tx1"/>
                </a:solidFill>
                <a:latin typeface="Times New Roman" panose="02020603050405020304" pitchFamily="18" charset="0"/>
                <a:cs typeface="Times New Roman" panose="02020603050405020304" pitchFamily="18" charset="0"/>
              </a:rPr>
              <a:t>Key takeaways from the text:</a:t>
            </a:r>
            <a:endParaRPr lang="en-IN" dirty="0">
              <a:solidFill>
                <a:schemeClr val="tx1"/>
              </a:solidFill>
              <a:latin typeface="Times New Roman" panose="02020603050405020304" pitchFamily="18" charset="0"/>
              <a:cs typeface="Times New Roman" panose="02020603050405020304" pitchFamily="18" charset="0"/>
            </a:endParaRPr>
          </a:p>
          <a:p>
            <a:pPr lvl="0"/>
            <a:r>
              <a:rPr lang="en-IN" b="1" dirty="0">
                <a:solidFill>
                  <a:schemeClr val="tx1"/>
                </a:solidFill>
                <a:latin typeface="Times New Roman" panose="02020603050405020304" pitchFamily="18" charset="0"/>
                <a:cs typeface="Times New Roman" panose="02020603050405020304" pitchFamily="18" charset="0"/>
              </a:rPr>
              <a:t>The 1/3 Rule:</a:t>
            </a:r>
            <a:r>
              <a:rPr lang="en-IN" dirty="0">
                <a:solidFill>
                  <a:schemeClr val="tx1"/>
                </a:solidFill>
                <a:latin typeface="Times New Roman" panose="02020603050405020304" pitchFamily="18" charset="0"/>
                <a:cs typeface="Times New Roman" panose="02020603050405020304" pitchFamily="18" charset="0"/>
              </a:rPr>
              <a:t> It is common practice to use two-thirds of the data for training and hold out </a:t>
            </a:r>
            <a:r>
              <a:rPr lang="en-IN" b="1" dirty="0">
                <a:solidFill>
                  <a:schemeClr val="tx1"/>
                </a:solidFill>
                <a:latin typeface="Times New Roman" panose="02020603050405020304" pitchFamily="18" charset="0"/>
                <a:cs typeface="Times New Roman" panose="02020603050405020304" pitchFamily="18" charset="0"/>
              </a:rPr>
              <a:t>one-third</a:t>
            </a:r>
            <a:r>
              <a:rPr lang="en-IN" dirty="0">
                <a:solidFill>
                  <a:schemeClr val="tx1"/>
                </a:solidFill>
                <a:latin typeface="Times New Roman" panose="02020603050405020304" pitchFamily="18" charset="0"/>
                <a:cs typeface="Times New Roman" panose="02020603050405020304" pitchFamily="18" charset="0"/>
              </a:rPr>
              <a:t> for testing.</a:t>
            </a:r>
          </a:p>
          <a:p>
            <a:r>
              <a:rPr lang="en-IN" b="1" dirty="0">
                <a:solidFill>
                  <a:schemeClr val="tx1"/>
                </a:solidFill>
                <a:latin typeface="Times New Roman" panose="02020603050405020304" pitchFamily="18" charset="0"/>
                <a:cs typeface="Times New Roman" panose="02020603050405020304" pitchFamily="18" charset="0"/>
              </a:rPr>
              <a:t>Time-Series Data:</a:t>
            </a:r>
            <a:r>
              <a:rPr lang="en-IN" dirty="0">
                <a:solidFill>
                  <a:schemeClr val="tx1"/>
                </a:solidFill>
                <a:latin typeface="Times New Roman" panose="02020603050405020304" pitchFamily="18" charset="0"/>
                <a:cs typeface="Times New Roman" panose="02020603050405020304" pitchFamily="18" charset="0"/>
              </a:rPr>
              <a:t> If your data is collected over time, you should use the </a:t>
            </a:r>
            <a:r>
              <a:rPr lang="en-IN" b="1" dirty="0">
                <a:solidFill>
                  <a:schemeClr val="tx1"/>
                </a:solidFill>
                <a:latin typeface="Times New Roman" panose="02020603050405020304" pitchFamily="18" charset="0"/>
                <a:cs typeface="Times New Roman" panose="02020603050405020304" pitchFamily="18" charset="0"/>
              </a:rPr>
              <a:t>earlier part</a:t>
            </a:r>
            <a:r>
              <a:rPr lang="en-IN" dirty="0">
                <a:solidFill>
                  <a:schemeClr val="tx1"/>
                </a:solidFill>
                <a:latin typeface="Times New Roman" panose="02020603050405020304" pitchFamily="18" charset="0"/>
                <a:cs typeface="Times New Roman" panose="02020603050405020304" pitchFamily="18" charset="0"/>
              </a:rPr>
              <a:t> for training and the </a:t>
            </a:r>
            <a:r>
              <a:rPr lang="en-IN" b="1" dirty="0">
                <a:solidFill>
                  <a:schemeClr val="tx1"/>
                </a:solidFill>
                <a:latin typeface="Times New Roman" panose="02020603050405020304" pitchFamily="18" charset="0"/>
                <a:cs typeface="Times New Roman" panose="02020603050405020304" pitchFamily="18" charset="0"/>
              </a:rPr>
              <a:t>later part</a:t>
            </a:r>
            <a:r>
              <a:rPr lang="en-IN" dirty="0">
                <a:solidFill>
                  <a:schemeClr val="tx1"/>
                </a:solidFill>
                <a:latin typeface="Times New Roman" panose="02020603050405020304" pitchFamily="18" charset="0"/>
                <a:cs typeface="Times New Roman" panose="02020603050405020304" pitchFamily="18" charset="0"/>
              </a:rPr>
              <a:t> for testing. This mimics the real world, where the model is built on the past to predict the future</a:t>
            </a:r>
          </a:p>
        </p:txBody>
      </p:sp>
    </p:spTree>
    <p:extLst>
      <p:ext uri="{BB962C8B-B14F-4D97-AF65-F5344CB8AC3E}">
        <p14:creationId xmlns:p14="http://schemas.microsoft.com/office/powerpoint/2010/main" val="15478077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0FF89-FA90-3248-38BF-0A0E396089A1}"/>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Stratification</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0F4B5D8-7065-A1B5-5AC8-A7C6485DD5AE}"/>
              </a:ext>
            </a:extLst>
          </p:cNvPr>
          <p:cNvSpPr>
            <a:spLocks noGrp="1"/>
          </p:cNvSpPr>
          <p:nvPr>
            <p:ph idx="1"/>
          </p:nvPr>
        </p:nvSpPr>
        <p:spPr/>
        <p:txBody>
          <a:bodyPr/>
          <a:lstStyle/>
          <a:p>
            <a:r>
              <a:rPr lang="en-IN" sz="2200" dirty="0">
                <a:solidFill>
                  <a:schemeClr val="tx1"/>
                </a:solidFill>
                <a:latin typeface="Times New Roman" panose="02020603050405020304" pitchFamily="18" charset="0"/>
                <a:cs typeface="Times New Roman" panose="02020603050405020304" pitchFamily="18" charset="0"/>
              </a:rPr>
              <a:t>A simple random split can sometimes be "unfair." For example, if you are classifying diseases but the test set accidentally ends up with zero cases of the disease, the test is useless.</a:t>
            </a:r>
          </a:p>
          <a:p>
            <a:r>
              <a:rPr lang="en-IN" sz="2200" dirty="0">
                <a:solidFill>
                  <a:schemeClr val="tx1"/>
                </a:solidFill>
                <a:latin typeface="Times New Roman" panose="02020603050405020304" pitchFamily="18" charset="0"/>
                <a:cs typeface="Times New Roman" panose="02020603050405020304" pitchFamily="18" charset="0"/>
              </a:rPr>
              <a:t>Stratification ensures that each class (category) is represented in the </a:t>
            </a:r>
            <a:r>
              <a:rPr lang="en-IN" sz="2200" b="1" dirty="0">
                <a:solidFill>
                  <a:schemeClr val="tx1"/>
                </a:solidFill>
                <a:latin typeface="Times New Roman" panose="02020603050405020304" pitchFamily="18" charset="0"/>
                <a:cs typeface="Times New Roman" panose="02020603050405020304" pitchFamily="18" charset="0"/>
              </a:rPr>
              <a:t>same proportion</a:t>
            </a:r>
            <a:r>
              <a:rPr lang="en-IN" sz="2200" dirty="0">
                <a:solidFill>
                  <a:schemeClr val="tx1"/>
                </a:solidFill>
                <a:latin typeface="Times New Roman" panose="02020603050405020304" pitchFamily="18" charset="0"/>
                <a:cs typeface="Times New Roman" panose="02020603050405020304" pitchFamily="18" charset="0"/>
              </a:rPr>
              <a:t> in the training and test sets as it is in the full dataset.</a:t>
            </a:r>
          </a:p>
          <a:p>
            <a:r>
              <a:rPr lang="en-IN" sz="2200" dirty="0">
                <a:solidFill>
                  <a:schemeClr val="tx1"/>
                </a:solidFill>
                <a:latin typeface="Times New Roman" panose="02020603050405020304" pitchFamily="18" charset="0"/>
                <a:cs typeface="Times New Roman" panose="02020603050405020304" pitchFamily="18" charset="0"/>
              </a:rPr>
              <a:t>You check if the percentage of each class in the training and test sets is more or less the same as the full dataset.</a:t>
            </a:r>
          </a:p>
          <a:p>
            <a:endParaRPr lang="en-IN" dirty="0"/>
          </a:p>
        </p:txBody>
      </p:sp>
    </p:spTree>
    <p:extLst>
      <p:ext uri="{BB962C8B-B14F-4D97-AF65-F5344CB8AC3E}">
        <p14:creationId xmlns:p14="http://schemas.microsoft.com/office/powerpoint/2010/main" val="11816520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A09A76-73F3-E5F6-B890-2DD52C2C9E5B}"/>
              </a:ext>
            </a:extLst>
          </p:cNvPr>
          <p:cNvSpPr>
            <a:spLocks noGrp="1"/>
          </p:cNvSpPr>
          <p:nvPr>
            <p:ph idx="1"/>
          </p:nvPr>
        </p:nvSpPr>
        <p:spPr>
          <a:xfrm>
            <a:off x="865239" y="737419"/>
            <a:ext cx="10392696" cy="5279923"/>
          </a:xfrm>
        </p:spPr>
        <p:txBody>
          <a:bodyPr/>
          <a:lstStyle/>
          <a:p>
            <a:r>
              <a:rPr lang="en-US" sz="2200" b="1" dirty="0">
                <a:latin typeface="Times New Roman" panose="02020603050405020304" pitchFamily="18" charset="0"/>
                <a:cs typeface="Times New Roman" panose="02020603050405020304" pitchFamily="18" charset="0"/>
              </a:rPr>
              <a:t>Full Dataset (Before Split)</a:t>
            </a:r>
          </a:p>
          <a:p>
            <a:r>
              <a:rPr lang="en-US" sz="2200" dirty="0">
                <a:latin typeface="Times New Roman" panose="02020603050405020304" pitchFamily="18" charset="0"/>
                <a:cs typeface="Times New Roman" panose="02020603050405020304" pitchFamily="18" charset="0"/>
              </a:rPr>
              <a:t>Let’s assume we have </a:t>
            </a:r>
            <a:r>
              <a:rPr lang="en-US" sz="2200" b="1" dirty="0">
                <a:latin typeface="Times New Roman" panose="02020603050405020304" pitchFamily="18" charset="0"/>
                <a:cs typeface="Times New Roman" panose="02020603050405020304" pitchFamily="18" charset="0"/>
              </a:rPr>
              <a:t>10 students</a:t>
            </a:r>
            <a:r>
              <a:rPr lang="en-US" sz="2200" dirty="0">
                <a:latin typeface="Times New Roman" panose="02020603050405020304" pitchFamily="18" charset="0"/>
                <a:cs typeface="Times New Roman" panose="02020603050405020304" pitchFamily="18" charset="0"/>
              </a:rPr>
              <a:t>.</a:t>
            </a:r>
          </a:p>
          <a:p>
            <a:endParaRPr lang="en-IN" dirty="0"/>
          </a:p>
        </p:txBody>
      </p:sp>
      <p:graphicFrame>
        <p:nvGraphicFramePr>
          <p:cNvPr id="4" name="Table 3">
            <a:extLst>
              <a:ext uri="{FF2B5EF4-FFF2-40B4-BE49-F238E27FC236}">
                <a16:creationId xmlns:a16="http://schemas.microsoft.com/office/drawing/2014/main" id="{793D6A42-7748-BD7A-DD82-9FC7A581A383}"/>
              </a:ext>
            </a:extLst>
          </p:cNvPr>
          <p:cNvGraphicFramePr>
            <a:graphicFrameLocks noGrp="1"/>
          </p:cNvGraphicFramePr>
          <p:nvPr>
            <p:extLst>
              <p:ext uri="{D42A27DB-BD31-4B8C-83A1-F6EECF244321}">
                <p14:modId xmlns:p14="http://schemas.microsoft.com/office/powerpoint/2010/main" val="17993545"/>
              </p:ext>
            </p:extLst>
          </p:nvPr>
        </p:nvGraphicFramePr>
        <p:xfrm>
          <a:off x="934067" y="1756966"/>
          <a:ext cx="5919018" cy="4260377"/>
        </p:xfrm>
        <a:graphic>
          <a:graphicData uri="http://schemas.openxmlformats.org/drawingml/2006/table">
            <a:tbl>
              <a:tblPr/>
              <a:tblGrid>
                <a:gridCol w="1973006">
                  <a:extLst>
                    <a:ext uri="{9D8B030D-6E8A-4147-A177-3AD203B41FA5}">
                      <a16:colId xmlns:a16="http://schemas.microsoft.com/office/drawing/2014/main" val="1374203299"/>
                    </a:ext>
                  </a:extLst>
                </a:gridCol>
                <a:gridCol w="1973006">
                  <a:extLst>
                    <a:ext uri="{9D8B030D-6E8A-4147-A177-3AD203B41FA5}">
                      <a16:colId xmlns:a16="http://schemas.microsoft.com/office/drawing/2014/main" val="1261071871"/>
                    </a:ext>
                  </a:extLst>
                </a:gridCol>
                <a:gridCol w="1973006">
                  <a:extLst>
                    <a:ext uri="{9D8B030D-6E8A-4147-A177-3AD203B41FA5}">
                      <a16:colId xmlns:a16="http://schemas.microsoft.com/office/drawing/2014/main" val="195704806"/>
                    </a:ext>
                  </a:extLst>
                </a:gridCol>
              </a:tblGrid>
              <a:tr h="387307">
                <a:tc>
                  <a:txBody>
                    <a:bodyPr/>
                    <a:lstStyle/>
                    <a:p>
                      <a:pPr>
                        <a:buNone/>
                      </a:pPr>
                      <a:r>
                        <a:rPr lang="en-IN" sz="2000" b="1">
                          <a:latin typeface="Times New Roman" panose="02020603050405020304" pitchFamily="18" charset="0"/>
                          <a:cs typeface="Times New Roman" panose="02020603050405020304" pitchFamily="18" charset="0"/>
                        </a:rPr>
                        <a:t>Student</a:t>
                      </a:r>
                    </a:p>
                  </a:txBody>
                  <a:tcPr marL="75406" marR="75406" marT="37703" marB="37703" anchor="ctr">
                    <a:lnL>
                      <a:noFill/>
                    </a:lnL>
                    <a:lnR>
                      <a:noFill/>
                    </a:lnR>
                    <a:lnT>
                      <a:noFill/>
                    </a:lnT>
                    <a:lnB>
                      <a:noFill/>
                    </a:lnB>
                    <a:noFill/>
                  </a:tcPr>
                </a:tc>
                <a:tc>
                  <a:txBody>
                    <a:bodyPr/>
                    <a:lstStyle/>
                    <a:p>
                      <a:pPr>
                        <a:buNone/>
                      </a:pPr>
                      <a:r>
                        <a:rPr lang="en-IN" sz="2000" b="1">
                          <a:latin typeface="Times New Roman" panose="02020603050405020304" pitchFamily="18" charset="0"/>
                          <a:cs typeface="Times New Roman" panose="02020603050405020304" pitchFamily="18" charset="0"/>
                        </a:rPr>
                        <a:t>Study_Hours</a:t>
                      </a:r>
                    </a:p>
                  </a:txBody>
                  <a:tcPr marL="75406" marR="75406" marT="37703" marB="37703" anchor="ctr">
                    <a:lnL>
                      <a:noFill/>
                    </a:lnL>
                    <a:lnR>
                      <a:noFill/>
                    </a:lnR>
                    <a:lnT>
                      <a:noFill/>
                    </a:lnT>
                    <a:lnB>
                      <a:noFill/>
                    </a:lnB>
                    <a:noFill/>
                  </a:tcPr>
                </a:tc>
                <a:tc>
                  <a:txBody>
                    <a:bodyPr/>
                    <a:lstStyle/>
                    <a:p>
                      <a:pPr>
                        <a:buNone/>
                      </a:pPr>
                      <a:r>
                        <a:rPr lang="en-IN" sz="2000" b="1" dirty="0">
                          <a:latin typeface="Times New Roman" panose="02020603050405020304" pitchFamily="18" charset="0"/>
                          <a:cs typeface="Times New Roman" panose="02020603050405020304" pitchFamily="18" charset="0"/>
                        </a:rPr>
                        <a:t>Result</a:t>
                      </a:r>
                    </a:p>
                  </a:txBody>
                  <a:tcPr marL="75406" marR="75406" marT="37703" marB="37703" anchor="ctr">
                    <a:lnL>
                      <a:noFill/>
                    </a:lnL>
                    <a:lnR>
                      <a:noFill/>
                    </a:lnR>
                    <a:lnT>
                      <a:noFill/>
                    </a:lnT>
                    <a:lnB>
                      <a:noFill/>
                    </a:lnB>
                    <a:noFill/>
                  </a:tcPr>
                </a:tc>
                <a:extLst>
                  <a:ext uri="{0D108BD9-81ED-4DB2-BD59-A6C34878D82A}">
                    <a16:rowId xmlns:a16="http://schemas.microsoft.com/office/drawing/2014/main" val="368508193"/>
                  </a:ext>
                </a:extLst>
              </a:tr>
              <a:tr h="387307">
                <a:tc>
                  <a:txBody>
                    <a:bodyPr/>
                    <a:lstStyle/>
                    <a:p>
                      <a:pPr>
                        <a:buNone/>
                      </a:pPr>
                      <a:r>
                        <a:rPr lang="en-IN" sz="2000" dirty="0">
                          <a:latin typeface="Times New Roman" panose="02020603050405020304" pitchFamily="18" charset="0"/>
                          <a:cs typeface="Times New Roman" panose="02020603050405020304" pitchFamily="18" charset="0"/>
                        </a:rPr>
                        <a:t>S1</a:t>
                      </a:r>
                    </a:p>
                  </a:txBody>
                  <a:tcPr marL="75406" marR="75406" marT="37703" marB="37703"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1</a:t>
                      </a:r>
                    </a:p>
                  </a:txBody>
                  <a:tcPr marL="75406" marR="75406" marT="37703" marB="37703" anchor="ctr">
                    <a:lnL>
                      <a:noFill/>
                    </a:lnL>
                    <a:lnR>
                      <a:noFill/>
                    </a:lnR>
                    <a:lnT>
                      <a:noFill/>
                    </a:lnT>
                    <a:lnB>
                      <a:noFill/>
                    </a:lnB>
                    <a:noFill/>
                  </a:tcPr>
                </a:tc>
                <a:tc>
                  <a:txBody>
                    <a:bodyPr/>
                    <a:lstStyle/>
                    <a:p>
                      <a:pPr>
                        <a:buNone/>
                      </a:pPr>
                      <a:r>
                        <a:rPr lang="en-IN" sz="2000" dirty="0">
                          <a:latin typeface="Times New Roman" panose="02020603050405020304" pitchFamily="18" charset="0"/>
                          <a:cs typeface="Times New Roman" panose="02020603050405020304" pitchFamily="18" charset="0"/>
                        </a:rPr>
                        <a:t>0</a:t>
                      </a:r>
                    </a:p>
                  </a:txBody>
                  <a:tcPr marL="75406" marR="75406" marT="37703" marB="37703" anchor="ctr">
                    <a:lnL>
                      <a:noFill/>
                    </a:lnL>
                    <a:lnR>
                      <a:noFill/>
                    </a:lnR>
                    <a:lnT>
                      <a:noFill/>
                    </a:lnT>
                    <a:lnB>
                      <a:noFill/>
                    </a:lnB>
                    <a:noFill/>
                  </a:tcPr>
                </a:tc>
                <a:extLst>
                  <a:ext uri="{0D108BD9-81ED-4DB2-BD59-A6C34878D82A}">
                    <a16:rowId xmlns:a16="http://schemas.microsoft.com/office/drawing/2014/main" val="858281792"/>
                  </a:ext>
                </a:extLst>
              </a:tr>
              <a:tr h="387307">
                <a:tc>
                  <a:txBody>
                    <a:bodyPr/>
                    <a:lstStyle/>
                    <a:p>
                      <a:pPr>
                        <a:buNone/>
                      </a:pPr>
                      <a:r>
                        <a:rPr lang="en-IN" sz="2000">
                          <a:latin typeface="Times New Roman" panose="02020603050405020304" pitchFamily="18" charset="0"/>
                          <a:cs typeface="Times New Roman" panose="02020603050405020304" pitchFamily="18" charset="0"/>
                        </a:rPr>
                        <a:t>S2</a:t>
                      </a:r>
                    </a:p>
                  </a:txBody>
                  <a:tcPr marL="75406" marR="75406" marT="37703" marB="37703"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2</a:t>
                      </a:r>
                    </a:p>
                  </a:txBody>
                  <a:tcPr marL="75406" marR="75406" marT="37703" marB="37703"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0</a:t>
                      </a:r>
                    </a:p>
                  </a:txBody>
                  <a:tcPr marL="75406" marR="75406" marT="37703" marB="37703" anchor="ctr">
                    <a:lnL>
                      <a:noFill/>
                    </a:lnL>
                    <a:lnR>
                      <a:noFill/>
                    </a:lnR>
                    <a:lnT>
                      <a:noFill/>
                    </a:lnT>
                    <a:lnB>
                      <a:noFill/>
                    </a:lnB>
                    <a:noFill/>
                  </a:tcPr>
                </a:tc>
                <a:extLst>
                  <a:ext uri="{0D108BD9-81ED-4DB2-BD59-A6C34878D82A}">
                    <a16:rowId xmlns:a16="http://schemas.microsoft.com/office/drawing/2014/main" val="943239259"/>
                  </a:ext>
                </a:extLst>
              </a:tr>
              <a:tr h="387307">
                <a:tc>
                  <a:txBody>
                    <a:bodyPr/>
                    <a:lstStyle/>
                    <a:p>
                      <a:pPr>
                        <a:buNone/>
                      </a:pPr>
                      <a:r>
                        <a:rPr lang="en-IN" sz="2000">
                          <a:latin typeface="Times New Roman" panose="02020603050405020304" pitchFamily="18" charset="0"/>
                          <a:cs typeface="Times New Roman" panose="02020603050405020304" pitchFamily="18" charset="0"/>
                        </a:rPr>
                        <a:t>S3</a:t>
                      </a:r>
                    </a:p>
                  </a:txBody>
                  <a:tcPr marL="75406" marR="75406" marT="37703" marB="37703"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2</a:t>
                      </a:r>
                    </a:p>
                  </a:txBody>
                  <a:tcPr marL="75406" marR="75406" marT="37703" marB="37703"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0</a:t>
                      </a:r>
                    </a:p>
                  </a:txBody>
                  <a:tcPr marL="75406" marR="75406" marT="37703" marB="37703" anchor="ctr">
                    <a:lnL>
                      <a:noFill/>
                    </a:lnL>
                    <a:lnR>
                      <a:noFill/>
                    </a:lnR>
                    <a:lnT>
                      <a:noFill/>
                    </a:lnT>
                    <a:lnB>
                      <a:noFill/>
                    </a:lnB>
                    <a:noFill/>
                  </a:tcPr>
                </a:tc>
                <a:extLst>
                  <a:ext uri="{0D108BD9-81ED-4DB2-BD59-A6C34878D82A}">
                    <a16:rowId xmlns:a16="http://schemas.microsoft.com/office/drawing/2014/main" val="3636697983"/>
                  </a:ext>
                </a:extLst>
              </a:tr>
              <a:tr h="387307">
                <a:tc>
                  <a:txBody>
                    <a:bodyPr/>
                    <a:lstStyle/>
                    <a:p>
                      <a:pPr>
                        <a:buNone/>
                      </a:pPr>
                      <a:r>
                        <a:rPr lang="en-IN" sz="2000">
                          <a:latin typeface="Times New Roman" panose="02020603050405020304" pitchFamily="18" charset="0"/>
                          <a:cs typeface="Times New Roman" panose="02020603050405020304" pitchFamily="18" charset="0"/>
                        </a:rPr>
                        <a:t>S4</a:t>
                      </a:r>
                    </a:p>
                  </a:txBody>
                  <a:tcPr marL="75406" marR="75406" marT="37703" marB="37703"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3</a:t>
                      </a:r>
                    </a:p>
                  </a:txBody>
                  <a:tcPr marL="75406" marR="75406" marT="37703" marB="37703"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0</a:t>
                      </a:r>
                    </a:p>
                  </a:txBody>
                  <a:tcPr marL="75406" marR="75406" marT="37703" marB="37703" anchor="ctr">
                    <a:lnL>
                      <a:noFill/>
                    </a:lnL>
                    <a:lnR>
                      <a:noFill/>
                    </a:lnR>
                    <a:lnT>
                      <a:noFill/>
                    </a:lnT>
                    <a:lnB>
                      <a:noFill/>
                    </a:lnB>
                    <a:noFill/>
                  </a:tcPr>
                </a:tc>
                <a:extLst>
                  <a:ext uri="{0D108BD9-81ED-4DB2-BD59-A6C34878D82A}">
                    <a16:rowId xmlns:a16="http://schemas.microsoft.com/office/drawing/2014/main" val="3659167609"/>
                  </a:ext>
                </a:extLst>
              </a:tr>
              <a:tr h="387307">
                <a:tc>
                  <a:txBody>
                    <a:bodyPr/>
                    <a:lstStyle/>
                    <a:p>
                      <a:pPr>
                        <a:buNone/>
                      </a:pPr>
                      <a:r>
                        <a:rPr lang="en-IN" sz="2000">
                          <a:latin typeface="Times New Roman" panose="02020603050405020304" pitchFamily="18" charset="0"/>
                          <a:cs typeface="Times New Roman" panose="02020603050405020304" pitchFamily="18" charset="0"/>
                        </a:rPr>
                        <a:t>S5</a:t>
                      </a:r>
                    </a:p>
                  </a:txBody>
                  <a:tcPr marL="75406" marR="75406" marT="37703" marB="37703"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4</a:t>
                      </a:r>
                    </a:p>
                  </a:txBody>
                  <a:tcPr marL="75406" marR="75406" marT="37703" marB="37703"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1</a:t>
                      </a:r>
                    </a:p>
                  </a:txBody>
                  <a:tcPr marL="75406" marR="75406" marT="37703" marB="37703" anchor="ctr">
                    <a:lnL>
                      <a:noFill/>
                    </a:lnL>
                    <a:lnR>
                      <a:noFill/>
                    </a:lnR>
                    <a:lnT>
                      <a:noFill/>
                    </a:lnT>
                    <a:lnB>
                      <a:noFill/>
                    </a:lnB>
                    <a:noFill/>
                  </a:tcPr>
                </a:tc>
                <a:extLst>
                  <a:ext uri="{0D108BD9-81ED-4DB2-BD59-A6C34878D82A}">
                    <a16:rowId xmlns:a16="http://schemas.microsoft.com/office/drawing/2014/main" val="3833240928"/>
                  </a:ext>
                </a:extLst>
              </a:tr>
              <a:tr h="387307">
                <a:tc>
                  <a:txBody>
                    <a:bodyPr/>
                    <a:lstStyle/>
                    <a:p>
                      <a:pPr>
                        <a:buNone/>
                      </a:pPr>
                      <a:r>
                        <a:rPr lang="en-IN" sz="2000">
                          <a:latin typeface="Times New Roman" panose="02020603050405020304" pitchFamily="18" charset="0"/>
                          <a:cs typeface="Times New Roman" panose="02020603050405020304" pitchFamily="18" charset="0"/>
                        </a:rPr>
                        <a:t>S6</a:t>
                      </a:r>
                    </a:p>
                  </a:txBody>
                  <a:tcPr marL="75406" marR="75406" marT="37703" marB="37703"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5</a:t>
                      </a:r>
                    </a:p>
                  </a:txBody>
                  <a:tcPr marL="75406" marR="75406" marT="37703" marB="37703"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1</a:t>
                      </a:r>
                    </a:p>
                  </a:txBody>
                  <a:tcPr marL="75406" marR="75406" marT="37703" marB="37703" anchor="ctr">
                    <a:lnL>
                      <a:noFill/>
                    </a:lnL>
                    <a:lnR>
                      <a:noFill/>
                    </a:lnR>
                    <a:lnT>
                      <a:noFill/>
                    </a:lnT>
                    <a:lnB>
                      <a:noFill/>
                    </a:lnB>
                    <a:noFill/>
                  </a:tcPr>
                </a:tc>
                <a:extLst>
                  <a:ext uri="{0D108BD9-81ED-4DB2-BD59-A6C34878D82A}">
                    <a16:rowId xmlns:a16="http://schemas.microsoft.com/office/drawing/2014/main" val="1760837927"/>
                  </a:ext>
                </a:extLst>
              </a:tr>
              <a:tr h="387307">
                <a:tc>
                  <a:txBody>
                    <a:bodyPr/>
                    <a:lstStyle/>
                    <a:p>
                      <a:pPr>
                        <a:buNone/>
                      </a:pPr>
                      <a:r>
                        <a:rPr lang="en-IN" sz="2000">
                          <a:latin typeface="Times New Roman" panose="02020603050405020304" pitchFamily="18" charset="0"/>
                          <a:cs typeface="Times New Roman" panose="02020603050405020304" pitchFamily="18" charset="0"/>
                        </a:rPr>
                        <a:t>S7</a:t>
                      </a:r>
                    </a:p>
                  </a:txBody>
                  <a:tcPr marL="75406" marR="75406" marT="37703" marB="37703"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6</a:t>
                      </a:r>
                    </a:p>
                  </a:txBody>
                  <a:tcPr marL="75406" marR="75406" marT="37703" marB="37703"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1</a:t>
                      </a:r>
                    </a:p>
                  </a:txBody>
                  <a:tcPr marL="75406" marR="75406" marT="37703" marB="37703" anchor="ctr">
                    <a:lnL>
                      <a:noFill/>
                    </a:lnL>
                    <a:lnR>
                      <a:noFill/>
                    </a:lnR>
                    <a:lnT>
                      <a:noFill/>
                    </a:lnT>
                    <a:lnB>
                      <a:noFill/>
                    </a:lnB>
                    <a:noFill/>
                  </a:tcPr>
                </a:tc>
                <a:extLst>
                  <a:ext uri="{0D108BD9-81ED-4DB2-BD59-A6C34878D82A}">
                    <a16:rowId xmlns:a16="http://schemas.microsoft.com/office/drawing/2014/main" val="3861383014"/>
                  </a:ext>
                </a:extLst>
              </a:tr>
              <a:tr h="387307">
                <a:tc>
                  <a:txBody>
                    <a:bodyPr/>
                    <a:lstStyle/>
                    <a:p>
                      <a:pPr>
                        <a:buNone/>
                      </a:pPr>
                      <a:r>
                        <a:rPr lang="en-IN" sz="2000">
                          <a:latin typeface="Times New Roman" panose="02020603050405020304" pitchFamily="18" charset="0"/>
                          <a:cs typeface="Times New Roman" panose="02020603050405020304" pitchFamily="18" charset="0"/>
                        </a:rPr>
                        <a:t>S8</a:t>
                      </a:r>
                    </a:p>
                  </a:txBody>
                  <a:tcPr marL="75406" marR="75406" marT="37703" marB="37703"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7</a:t>
                      </a:r>
                    </a:p>
                  </a:txBody>
                  <a:tcPr marL="75406" marR="75406" marT="37703" marB="37703"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1</a:t>
                      </a:r>
                    </a:p>
                  </a:txBody>
                  <a:tcPr marL="75406" marR="75406" marT="37703" marB="37703" anchor="ctr">
                    <a:lnL>
                      <a:noFill/>
                    </a:lnL>
                    <a:lnR>
                      <a:noFill/>
                    </a:lnR>
                    <a:lnT>
                      <a:noFill/>
                    </a:lnT>
                    <a:lnB>
                      <a:noFill/>
                    </a:lnB>
                    <a:noFill/>
                  </a:tcPr>
                </a:tc>
                <a:extLst>
                  <a:ext uri="{0D108BD9-81ED-4DB2-BD59-A6C34878D82A}">
                    <a16:rowId xmlns:a16="http://schemas.microsoft.com/office/drawing/2014/main" val="1058963329"/>
                  </a:ext>
                </a:extLst>
              </a:tr>
              <a:tr h="387307">
                <a:tc>
                  <a:txBody>
                    <a:bodyPr/>
                    <a:lstStyle/>
                    <a:p>
                      <a:pPr>
                        <a:buNone/>
                      </a:pPr>
                      <a:r>
                        <a:rPr lang="en-IN" sz="2000">
                          <a:latin typeface="Times New Roman" panose="02020603050405020304" pitchFamily="18" charset="0"/>
                          <a:cs typeface="Times New Roman" panose="02020603050405020304" pitchFamily="18" charset="0"/>
                        </a:rPr>
                        <a:t>S9</a:t>
                      </a:r>
                    </a:p>
                  </a:txBody>
                  <a:tcPr marL="75406" marR="75406" marT="37703" marB="37703"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8</a:t>
                      </a:r>
                    </a:p>
                  </a:txBody>
                  <a:tcPr marL="75406" marR="75406" marT="37703" marB="37703"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1</a:t>
                      </a:r>
                    </a:p>
                  </a:txBody>
                  <a:tcPr marL="75406" marR="75406" marT="37703" marB="37703" anchor="ctr">
                    <a:lnL>
                      <a:noFill/>
                    </a:lnL>
                    <a:lnR>
                      <a:noFill/>
                    </a:lnR>
                    <a:lnT>
                      <a:noFill/>
                    </a:lnT>
                    <a:lnB>
                      <a:noFill/>
                    </a:lnB>
                    <a:noFill/>
                  </a:tcPr>
                </a:tc>
                <a:extLst>
                  <a:ext uri="{0D108BD9-81ED-4DB2-BD59-A6C34878D82A}">
                    <a16:rowId xmlns:a16="http://schemas.microsoft.com/office/drawing/2014/main" val="1922469212"/>
                  </a:ext>
                </a:extLst>
              </a:tr>
              <a:tr h="387307">
                <a:tc>
                  <a:txBody>
                    <a:bodyPr/>
                    <a:lstStyle/>
                    <a:p>
                      <a:pPr>
                        <a:buNone/>
                      </a:pPr>
                      <a:r>
                        <a:rPr lang="en-IN" sz="2000">
                          <a:latin typeface="Times New Roman" panose="02020603050405020304" pitchFamily="18" charset="0"/>
                          <a:cs typeface="Times New Roman" panose="02020603050405020304" pitchFamily="18" charset="0"/>
                        </a:rPr>
                        <a:t>S10</a:t>
                      </a:r>
                    </a:p>
                  </a:txBody>
                  <a:tcPr marL="75406" marR="75406" marT="37703" marB="37703"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9</a:t>
                      </a:r>
                    </a:p>
                  </a:txBody>
                  <a:tcPr marL="75406" marR="75406" marT="37703" marB="37703" anchor="ctr">
                    <a:lnL>
                      <a:noFill/>
                    </a:lnL>
                    <a:lnR>
                      <a:noFill/>
                    </a:lnR>
                    <a:lnT>
                      <a:noFill/>
                    </a:lnT>
                    <a:lnB>
                      <a:noFill/>
                    </a:lnB>
                    <a:noFill/>
                  </a:tcPr>
                </a:tc>
                <a:tc>
                  <a:txBody>
                    <a:bodyPr/>
                    <a:lstStyle/>
                    <a:p>
                      <a:pPr>
                        <a:buNone/>
                      </a:pPr>
                      <a:r>
                        <a:rPr lang="en-IN" sz="2000" dirty="0">
                          <a:latin typeface="Times New Roman" panose="02020603050405020304" pitchFamily="18" charset="0"/>
                          <a:cs typeface="Times New Roman" panose="02020603050405020304" pitchFamily="18" charset="0"/>
                        </a:rPr>
                        <a:t>1</a:t>
                      </a:r>
                    </a:p>
                  </a:txBody>
                  <a:tcPr marL="75406" marR="75406" marT="37703" marB="37703" anchor="ctr">
                    <a:lnL>
                      <a:noFill/>
                    </a:lnL>
                    <a:lnR>
                      <a:noFill/>
                    </a:lnR>
                    <a:lnT>
                      <a:noFill/>
                    </a:lnT>
                    <a:lnB>
                      <a:noFill/>
                    </a:lnB>
                    <a:noFill/>
                  </a:tcPr>
                </a:tc>
                <a:extLst>
                  <a:ext uri="{0D108BD9-81ED-4DB2-BD59-A6C34878D82A}">
                    <a16:rowId xmlns:a16="http://schemas.microsoft.com/office/drawing/2014/main" val="2345741419"/>
                  </a:ext>
                </a:extLst>
              </a:tr>
            </a:tbl>
          </a:graphicData>
        </a:graphic>
      </p:graphicFrame>
      <p:sp>
        <p:nvSpPr>
          <p:cNvPr id="5" name="TextBox 4">
            <a:extLst>
              <a:ext uri="{FF2B5EF4-FFF2-40B4-BE49-F238E27FC236}">
                <a16:creationId xmlns:a16="http://schemas.microsoft.com/office/drawing/2014/main" id="{2B94FA40-DE2D-592E-B872-98EFF82D8864}"/>
              </a:ext>
            </a:extLst>
          </p:cNvPr>
          <p:cNvSpPr txBox="1"/>
          <p:nvPr/>
        </p:nvSpPr>
        <p:spPr>
          <a:xfrm>
            <a:off x="6921913" y="2507226"/>
            <a:ext cx="3716591" cy="1323439"/>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Class Distribution in Full Dataset</a:t>
            </a:r>
          </a:p>
          <a:p>
            <a:r>
              <a:rPr lang="en-US" sz="2000" dirty="0">
                <a:latin typeface="Times New Roman" panose="02020603050405020304" pitchFamily="18" charset="0"/>
                <a:cs typeface="Times New Roman" panose="02020603050405020304" pitchFamily="18" charset="0"/>
              </a:rPr>
              <a:t>Pass (1) → 6 students → </a:t>
            </a:r>
            <a:r>
              <a:rPr lang="en-US" sz="2000" b="1" dirty="0">
                <a:latin typeface="Times New Roman" panose="02020603050405020304" pitchFamily="18" charset="0"/>
                <a:cs typeface="Times New Roman" panose="02020603050405020304" pitchFamily="18" charset="0"/>
              </a:rPr>
              <a:t>60%</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Fail (0) → 4 students → </a:t>
            </a:r>
            <a:r>
              <a:rPr lang="en-US" sz="2000" b="1" dirty="0">
                <a:latin typeface="Times New Roman" panose="02020603050405020304" pitchFamily="18" charset="0"/>
                <a:cs typeface="Times New Roman" panose="02020603050405020304" pitchFamily="18" charset="0"/>
              </a:rPr>
              <a:t>40%</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61199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FC09AA8-FE2C-1E25-407B-61C450457210}"/>
              </a:ext>
            </a:extLst>
          </p:cNvPr>
          <p:cNvSpPr>
            <a:spLocks noGrp="1"/>
          </p:cNvSpPr>
          <p:nvPr>
            <p:ph idx="1"/>
          </p:nvPr>
        </p:nvSpPr>
        <p:spPr>
          <a:xfrm>
            <a:off x="757084" y="747251"/>
            <a:ext cx="10697497" cy="5545393"/>
          </a:xfrm>
        </p:spPr>
        <p:txBody>
          <a:bodyPr>
            <a:normAutofit/>
          </a:bodyPr>
          <a:lstStyle/>
          <a:p>
            <a:r>
              <a:rPr lang="en-US" sz="2200" b="1" dirty="0">
                <a:latin typeface="Times New Roman" panose="02020603050405020304" pitchFamily="18" charset="0"/>
                <a:cs typeface="Times New Roman" panose="02020603050405020304" pitchFamily="18" charset="0"/>
              </a:rPr>
              <a:t>Problem: Random Split (Unfair)</a:t>
            </a:r>
          </a:p>
          <a:p>
            <a:r>
              <a:rPr lang="en-US" sz="2200" dirty="0">
                <a:latin typeface="Times New Roman" panose="02020603050405020304" pitchFamily="18" charset="0"/>
                <a:cs typeface="Times New Roman" panose="02020603050405020304" pitchFamily="18" charset="0"/>
              </a:rPr>
              <a:t>Suppose we randomly create:</a:t>
            </a:r>
          </a:p>
          <a:p>
            <a:r>
              <a:rPr lang="en-IN" sz="2200" b="1" dirty="0">
                <a:latin typeface="Times New Roman" panose="02020603050405020304" pitchFamily="18" charset="0"/>
                <a:cs typeface="Times New Roman" panose="02020603050405020304" pitchFamily="18" charset="0"/>
              </a:rPr>
              <a:t>Training Set (8 students)</a:t>
            </a:r>
          </a:p>
          <a:p>
            <a:endParaRPr lang="en-IN" sz="2200" b="1" dirty="0">
              <a:latin typeface="Times New Roman" panose="02020603050405020304" pitchFamily="18" charset="0"/>
              <a:cs typeface="Times New Roman" panose="02020603050405020304" pitchFamily="18" charset="0"/>
            </a:endParaRPr>
          </a:p>
          <a:p>
            <a:r>
              <a:rPr lang="en-IN" sz="2200" b="1" dirty="0">
                <a:latin typeface="Times New Roman" panose="02020603050405020304" pitchFamily="18" charset="0"/>
                <a:cs typeface="Times New Roman" panose="02020603050405020304" pitchFamily="18" charset="0"/>
              </a:rPr>
              <a:t>Pass= 4</a:t>
            </a:r>
          </a:p>
          <a:p>
            <a:r>
              <a:rPr lang="en-IN" sz="2200" b="1" dirty="0">
                <a:latin typeface="Times New Roman" panose="02020603050405020304" pitchFamily="18" charset="0"/>
                <a:cs typeface="Times New Roman" panose="02020603050405020304" pitchFamily="18" charset="0"/>
              </a:rPr>
              <a:t>Fail=4</a:t>
            </a:r>
          </a:p>
          <a:p>
            <a:r>
              <a:rPr lang="en-IN" sz="2000" b="1" dirty="0">
                <a:latin typeface="Times New Roman" panose="02020603050405020304" pitchFamily="18" charset="0"/>
                <a:cs typeface="Times New Roman" panose="02020603050405020304" pitchFamily="18" charset="0"/>
              </a:rPr>
              <a:t>Test Set (2 students)   </a:t>
            </a:r>
          </a:p>
          <a:p>
            <a:endParaRPr lang="en-IN" sz="2000" b="1" dirty="0">
              <a:latin typeface="Times New Roman" panose="02020603050405020304" pitchFamily="18" charset="0"/>
              <a:cs typeface="Times New Roman" panose="02020603050405020304" pitchFamily="18" charset="0"/>
            </a:endParaRPr>
          </a:p>
          <a:p>
            <a:endParaRPr lang="en-IN" sz="2000" b="1" dirty="0">
              <a:latin typeface="Times New Roman" panose="02020603050405020304" pitchFamily="18" charset="0"/>
              <a:cs typeface="Times New Roman" panose="02020603050405020304" pitchFamily="18" charset="0"/>
            </a:endParaRPr>
          </a:p>
          <a:p>
            <a:endParaRPr lang="en-IN" sz="2000" b="1"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Pass=</a:t>
            </a:r>
            <a:r>
              <a:rPr lang="en-IN" sz="2000" dirty="0">
                <a:latin typeface="Times New Roman" panose="02020603050405020304" pitchFamily="18" charset="0"/>
                <a:cs typeface="Times New Roman" panose="02020603050405020304" pitchFamily="18" charset="0"/>
              </a:rPr>
              <a:t>100%</a:t>
            </a:r>
            <a:r>
              <a:rPr lang="en-IN" sz="2000" b="1" dirty="0">
                <a:latin typeface="Times New Roman" panose="02020603050405020304" pitchFamily="18" charset="0"/>
                <a:cs typeface="Times New Roman" panose="02020603050405020304" pitchFamily="18" charset="0"/>
              </a:rPr>
              <a:t> and Fail =</a:t>
            </a:r>
            <a:r>
              <a:rPr lang="en-IN" sz="2000" dirty="0">
                <a:latin typeface="Times New Roman" panose="02020603050405020304" pitchFamily="18" charset="0"/>
                <a:cs typeface="Times New Roman" panose="02020603050405020304" pitchFamily="18" charset="0"/>
              </a:rPr>
              <a:t>0% </a:t>
            </a:r>
            <a:r>
              <a:rPr lang="en-US" sz="2000" dirty="0">
                <a:solidFill>
                  <a:schemeClr val="tx1"/>
                </a:solidFill>
                <a:latin typeface="Times New Roman" panose="02020603050405020304" pitchFamily="18" charset="0"/>
                <a:cs typeface="Times New Roman" panose="02020603050405020304" pitchFamily="18" charset="0"/>
              </a:rPr>
              <a:t>Test set has </a:t>
            </a:r>
            <a:r>
              <a:rPr lang="en-US" sz="2000" b="1" dirty="0">
                <a:solidFill>
                  <a:schemeClr val="tx1"/>
                </a:solidFill>
                <a:latin typeface="Times New Roman" panose="02020603050405020304" pitchFamily="18" charset="0"/>
                <a:cs typeface="Times New Roman" panose="02020603050405020304" pitchFamily="18" charset="0"/>
              </a:rPr>
              <a:t>no fail students  </a:t>
            </a:r>
            <a:r>
              <a:rPr lang="en-IN" sz="2200" dirty="0">
                <a:solidFill>
                  <a:schemeClr val="tx1"/>
                </a:solidFill>
                <a:latin typeface="Times New Roman" panose="02020603050405020304" pitchFamily="18" charset="0"/>
                <a:cs typeface="Times New Roman" panose="02020603050405020304" pitchFamily="18" charset="0"/>
              </a:rPr>
              <a:t>Model evaluation becomes meaningless</a:t>
            </a:r>
          </a:p>
          <a:p>
            <a:endParaRPr lang="en-IN" sz="2200" b="1" dirty="0">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629603A8-CF42-2967-674F-B1A7EE08ED0D}"/>
              </a:ext>
            </a:extLst>
          </p:cNvPr>
          <p:cNvGraphicFramePr>
            <a:graphicFrameLocks noGrp="1"/>
          </p:cNvGraphicFramePr>
          <p:nvPr>
            <p:extLst>
              <p:ext uri="{D42A27DB-BD31-4B8C-83A1-F6EECF244321}">
                <p14:modId xmlns:p14="http://schemas.microsoft.com/office/powerpoint/2010/main" val="323789648"/>
              </p:ext>
            </p:extLst>
          </p:nvPr>
        </p:nvGraphicFramePr>
        <p:xfrm>
          <a:off x="7529052" y="982132"/>
          <a:ext cx="3492910" cy="3566160"/>
        </p:xfrm>
        <a:graphic>
          <a:graphicData uri="http://schemas.openxmlformats.org/drawingml/2006/table">
            <a:tbl>
              <a:tblPr/>
              <a:tblGrid>
                <a:gridCol w="1746455">
                  <a:extLst>
                    <a:ext uri="{9D8B030D-6E8A-4147-A177-3AD203B41FA5}">
                      <a16:colId xmlns:a16="http://schemas.microsoft.com/office/drawing/2014/main" val="4031672416"/>
                    </a:ext>
                  </a:extLst>
                </a:gridCol>
                <a:gridCol w="1746455">
                  <a:extLst>
                    <a:ext uri="{9D8B030D-6E8A-4147-A177-3AD203B41FA5}">
                      <a16:colId xmlns:a16="http://schemas.microsoft.com/office/drawing/2014/main" val="2312946319"/>
                    </a:ext>
                  </a:extLst>
                </a:gridCol>
              </a:tblGrid>
              <a:tr h="343656">
                <a:tc>
                  <a:txBody>
                    <a:bodyPr/>
                    <a:lstStyle/>
                    <a:p>
                      <a:pPr>
                        <a:buNone/>
                      </a:pPr>
                      <a:r>
                        <a:rPr lang="en-IN" sz="2000" b="1" dirty="0" err="1">
                          <a:latin typeface="Times New Roman" panose="02020603050405020304" pitchFamily="18" charset="0"/>
                          <a:cs typeface="Times New Roman" panose="02020603050405020304" pitchFamily="18" charset="0"/>
                        </a:rPr>
                        <a:t>Study_Hours</a:t>
                      </a:r>
                      <a:endParaRPr lang="en-IN" sz="2000" b="1"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IN" sz="2000" b="1" dirty="0">
                          <a:latin typeface="Times New Roman" panose="02020603050405020304" pitchFamily="18" charset="0"/>
                          <a:cs typeface="Times New Roman" panose="02020603050405020304" pitchFamily="18" charset="0"/>
                        </a:rPr>
                        <a:t>Result</a:t>
                      </a:r>
                    </a:p>
                  </a:txBody>
                  <a:tcPr anchor="ctr">
                    <a:lnL>
                      <a:noFill/>
                    </a:lnL>
                    <a:lnR>
                      <a:noFill/>
                    </a:lnR>
                    <a:lnT>
                      <a:noFill/>
                    </a:lnT>
                    <a:lnB>
                      <a:noFill/>
                    </a:lnB>
                    <a:noFill/>
                  </a:tcPr>
                </a:tc>
                <a:extLst>
                  <a:ext uri="{0D108BD9-81ED-4DB2-BD59-A6C34878D82A}">
                    <a16:rowId xmlns:a16="http://schemas.microsoft.com/office/drawing/2014/main" val="3885798696"/>
                  </a:ext>
                </a:extLst>
              </a:tr>
              <a:tr h="343656">
                <a:tc>
                  <a:txBody>
                    <a:bodyPr/>
                    <a:lstStyle/>
                    <a:p>
                      <a:pPr>
                        <a:buNone/>
                      </a:pPr>
                      <a:r>
                        <a:rPr lang="en-IN" sz="2000" dirty="0">
                          <a:latin typeface="Times New Roman" panose="02020603050405020304" pitchFamily="18" charset="0"/>
                          <a:cs typeface="Times New Roman" panose="02020603050405020304" pitchFamily="18" charset="0"/>
                        </a:rPr>
                        <a:t>1</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0</a:t>
                      </a:r>
                    </a:p>
                  </a:txBody>
                  <a:tcPr anchor="ctr">
                    <a:lnL>
                      <a:noFill/>
                    </a:lnL>
                    <a:lnR>
                      <a:noFill/>
                    </a:lnR>
                    <a:lnT>
                      <a:noFill/>
                    </a:lnT>
                    <a:lnB>
                      <a:noFill/>
                    </a:lnB>
                    <a:noFill/>
                  </a:tcPr>
                </a:tc>
                <a:extLst>
                  <a:ext uri="{0D108BD9-81ED-4DB2-BD59-A6C34878D82A}">
                    <a16:rowId xmlns:a16="http://schemas.microsoft.com/office/drawing/2014/main" val="1075121305"/>
                  </a:ext>
                </a:extLst>
              </a:tr>
              <a:tr h="343656">
                <a:tc>
                  <a:txBody>
                    <a:bodyPr/>
                    <a:lstStyle/>
                    <a:p>
                      <a:pPr>
                        <a:buNone/>
                      </a:pPr>
                      <a:r>
                        <a:rPr lang="en-IN" sz="2000" dirty="0">
                          <a:latin typeface="Times New Roman" panose="02020603050405020304" pitchFamily="18" charset="0"/>
                          <a:cs typeface="Times New Roman" panose="02020603050405020304" pitchFamily="18" charset="0"/>
                        </a:rPr>
                        <a:t>2</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0</a:t>
                      </a:r>
                    </a:p>
                  </a:txBody>
                  <a:tcPr anchor="ctr">
                    <a:lnL>
                      <a:noFill/>
                    </a:lnL>
                    <a:lnR>
                      <a:noFill/>
                    </a:lnR>
                    <a:lnT>
                      <a:noFill/>
                    </a:lnT>
                    <a:lnB>
                      <a:noFill/>
                    </a:lnB>
                    <a:noFill/>
                  </a:tcPr>
                </a:tc>
                <a:extLst>
                  <a:ext uri="{0D108BD9-81ED-4DB2-BD59-A6C34878D82A}">
                    <a16:rowId xmlns:a16="http://schemas.microsoft.com/office/drawing/2014/main" val="3223007207"/>
                  </a:ext>
                </a:extLst>
              </a:tr>
              <a:tr h="343656">
                <a:tc>
                  <a:txBody>
                    <a:bodyPr/>
                    <a:lstStyle/>
                    <a:p>
                      <a:pPr>
                        <a:buNone/>
                      </a:pPr>
                      <a:r>
                        <a:rPr lang="en-IN" sz="2000">
                          <a:latin typeface="Times New Roman" panose="02020603050405020304" pitchFamily="18" charset="0"/>
                          <a:cs typeface="Times New Roman" panose="02020603050405020304" pitchFamily="18" charset="0"/>
                        </a:rPr>
                        <a:t>2</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0</a:t>
                      </a:r>
                    </a:p>
                  </a:txBody>
                  <a:tcPr anchor="ctr">
                    <a:lnL>
                      <a:noFill/>
                    </a:lnL>
                    <a:lnR>
                      <a:noFill/>
                    </a:lnR>
                    <a:lnT>
                      <a:noFill/>
                    </a:lnT>
                    <a:lnB>
                      <a:noFill/>
                    </a:lnB>
                    <a:noFill/>
                  </a:tcPr>
                </a:tc>
                <a:extLst>
                  <a:ext uri="{0D108BD9-81ED-4DB2-BD59-A6C34878D82A}">
                    <a16:rowId xmlns:a16="http://schemas.microsoft.com/office/drawing/2014/main" val="4214980330"/>
                  </a:ext>
                </a:extLst>
              </a:tr>
              <a:tr h="343656">
                <a:tc>
                  <a:txBody>
                    <a:bodyPr/>
                    <a:lstStyle/>
                    <a:p>
                      <a:pPr>
                        <a:buNone/>
                      </a:pPr>
                      <a:r>
                        <a:rPr lang="en-IN" sz="2000" dirty="0">
                          <a:latin typeface="Times New Roman" panose="02020603050405020304" pitchFamily="18" charset="0"/>
                          <a:cs typeface="Times New Roman" panose="02020603050405020304" pitchFamily="18" charset="0"/>
                        </a:rPr>
                        <a:t>3</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0</a:t>
                      </a:r>
                    </a:p>
                  </a:txBody>
                  <a:tcPr anchor="ctr">
                    <a:lnL>
                      <a:noFill/>
                    </a:lnL>
                    <a:lnR>
                      <a:noFill/>
                    </a:lnR>
                    <a:lnT>
                      <a:noFill/>
                    </a:lnT>
                    <a:lnB>
                      <a:noFill/>
                    </a:lnB>
                    <a:noFill/>
                  </a:tcPr>
                </a:tc>
                <a:extLst>
                  <a:ext uri="{0D108BD9-81ED-4DB2-BD59-A6C34878D82A}">
                    <a16:rowId xmlns:a16="http://schemas.microsoft.com/office/drawing/2014/main" val="2200499408"/>
                  </a:ext>
                </a:extLst>
              </a:tr>
              <a:tr h="343656">
                <a:tc>
                  <a:txBody>
                    <a:bodyPr/>
                    <a:lstStyle/>
                    <a:p>
                      <a:pPr>
                        <a:buNone/>
                      </a:pPr>
                      <a:r>
                        <a:rPr lang="en-IN" sz="2000" dirty="0">
                          <a:latin typeface="Times New Roman" panose="02020603050405020304" pitchFamily="18" charset="0"/>
                          <a:cs typeface="Times New Roman" panose="02020603050405020304" pitchFamily="18" charset="0"/>
                        </a:rPr>
                        <a:t>4</a:t>
                      </a:r>
                    </a:p>
                  </a:txBody>
                  <a:tcPr anchor="ctr">
                    <a:lnL>
                      <a:noFill/>
                    </a:lnL>
                    <a:lnR>
                      <a:noFill/>
                    </a:lnR>
                    <a:lnT>
                      <a:noFill/>
                    </a:lnT>
                    <a:lnB>
                      <a:noFill/>
                    </a:lnB>
                    <a:noFill/>
                  </a:tcPr>
                </a:tc>
                <a:tc>
                  <a:txBody>
                    <a:bodyPr/>
                    <a:lstStyle/>
                    <a:p>
                      <a:pPr>
                        <a:buNone/>
                      </a:pPr>
                      <a:r>
                        <a:rPr lang="en-IN" sz="2000" dirty="0">
                          <a:latin typeface="Times New Roman" panose="02020603050405020304" pitchFamily="18" charset="0"/>
                          <a:cs typeface="Times New Roman" panose="02020603050405020304" pitchFamily="18" charset="0"/>
                        </a:rPr>
                        <a:t>1</a:t>
                      </a:r>
                    </a:p>
                  </a:txBody>
                  <a:tcPr anchor="ctr">
                    <a:lnL>
                      <a:noFill/>
                    </a:lnL>
                    <a:lnR>
                      <a:noFill/>
                    </a:lnR>
                    <a:lnT>
                      <a:noFill/>
                    </a:lnT>
                    <a:lnB>
                      <a:noFill/>
                    </a:lnB>
                    <a:noFill/>
                  </a:tcPr>
                </a:tc>
                <a:extLst>
                  <a:ext uri="{0D108BD9-81ED-4DB2-BD59-A6C34878D82A}">
                    <a16:rowId xmlns:a16="http://schemas.microsoft.com/office/drawing/2014/main" val="103863221"/>
                  </a:ext>
                </a:extLst>
              </a:tr>
              <a:tr h="343656">
                <a:tc>
                  <a:txBody>
                    <a:bodyPr/>
                    <a:lstStyle/>
                    <a:p>
                      <a:pPr>
                        <a:buNone/>
                      </a:pPr>
                      <a:r>
                        <a:rPr lang="en-IN" sz="2000">
                          <a:latin typeface="Times New Roman" panose="02020603050405020304" pitchFamily="18" charset="0"/>
                          <a:cs typeface="Times New Roman" panose="02020603050405020304" pitchFamily="18" charset="0"/>
                        </a:rPr>
                        <a:t>5</a:t>
                      </a:r>
                    </a:p>
                  </a:txBody>
                  <a:tcPr anchor="ctr">
                    <a:lnL>
                      <a:noFill/>
                    </a:lnL>
                    <a:lnR>
                      <a:noFill/>
                    </a:lnR>
                    <a:lnT>
                      <a:noFill/>
                    </a:lnT>
                    <a:lnB>
                      <a:noFill/>
                    </a:lnB>
                    <a:noFill/>
                  </a:tcPr>
                </a:tc>
                <a:tc>
                  <a:txBody>
                    <a:bodyPr/>
                    <a:lstStyle/>
                    <a:p>
                      <a:pPr>
                        <a:buNone/>
                      </a:pPr>
                      <a:r>
                        <a:rPr lang="en-IN" sz="2000" dirty="0">
                          <a:latin typeface="Times New Roman" panose="02020603050405020304" pitchFamily="18" charset="0"/>
                          <a:cs typeface="Times New Roman" panose="02020603050405020304" pitchFamily="18" charset="0"/>
                        </a:rPr>
                        <a:t>1</a:t>
                      </a:r>
                    </a:p>
                  </a:txBody>
                  <a:tcPr anchor="ctr">
                    <a:lnL>
                      <a:noFill/>
                    </a:lnL>
                    <a:lnR>
                      <a:noFill/>
                    </a:lnR>
                    <a:lnT>
                      <a:noFill/>
                    </a:lnT>
                    <a:lnB>
                      <a:noFill/>
                    </a:lnB>
                    <a:noFill/>
                  </a:tcPr>
                </a:tc>
                <a:extLst>
                  <a:ext uri="{0D108BD9-81ED-4DB2-BD59-A6C34878D82A}">
                    <a16:rowId xmlns:a16="http://schemas.microsoft.com/office/drawing/2014/main" val="1690566036"/>
                  </a:ext>
                </a:extLst>
              </a:tr>
              <a:tr h="343656">
                <a:tc>
                  <a:txBody>
                    <a:bodyPr/>
                    <a:lstStyle/>
                    <a:p>
                      <a:pPr>
                        <a:buNone/>
                      </a:pPr>
                      <a:r>
                        <a:rPr lang="en-IN" sz="2000">
                          <a:latin typeface="Times New Roman" panose="02020603050405020304" pitchFamily="18" charset="0"/>
                          <a:cs typeface="Times New Roman" panose="02020603050405020304" pitchFamily="18" charset="0"/>
                        </a:rPr>
                        <a:t>6</a:t>
                      </a:r>
                    </a:p>
                  </a:txBody>
                  <a:tcPr anchor="ctr">
                    <a:lnL>
                      <a:noFill/>
                    </a:lnL>
                    <a:lnR>
                      <a:noFill/>
                    </a:lnR>
                    <a:lnT>
                      <a:noFill/>
                    </a:lnT>
                    <a:lnB>
                      <a:noFill/>
                    </a:lnB>
                    <a:noFill/>
                  </a:tcPr>
                </a:tc>
                <a:tc>
                  <a:txBody>
                    <a:bodyPr/>
                    <a:lstStyle/>
                    <a:p>
                      <a:pPr>
                        <a:buNone/>
                      </a:pPr>
                      <a:r>
                        <a:rPr lang="en-IN" sz="2000" dirty="0">
                          <a:latin typeface="Times New Roman" panose="02020603050405020304" pitchFamily="18" charset="0"/>
                          <a:cs typeface="Times New Roman" panose="02020603050405020304" pitchFamily="18" charset="0"/>
                        </a:rPr>
                        <a:t>1</a:t>
                      </a:r>
                    </a:p>
                  </a:txBody>
                  <a:tcPr anchor="ctr">
                    <a:lnL>
                      <a:noFill/>
                    </a:lnL>
                    <a:lnR>
                      <a:noFill/>
                    </a:lnR>
                    <a:lnT>
                      <a:noFill/>
                    </a:lnT>
                    <a:lnB>
                      <a:noFill/>
                    </a:lnB>
                    <a:noFill/>
                  </a:tcPr>
                </a:tc>
                <a:extLst>
                  <a:ext uri="{0D108BD9-81ED-4DB2-BD59-A6C34878D82A}">
                    <a16:rowId xmlns:a16="http://schemas.microsoft.com/office/drawing/2014/main" val="1311341322"/>
                  </a:ext>
                </a:extLst>
              </a:tr>
              <a:tr h="343656">
                <a:tc>
                  <a:txBody>
                    <a:bodyPr/>
                    <a:lstStyle/>
                    <a:p>
                      <a:pPr>
                        <a:buNone/>
                      </a:pPr>
                      <a:r>
                        <a:rPr lang="en-IN" sz="2000">
                          <a:latin typeface="Times New Roman" panose="02020603050405020304" pitchFamily="18" charset="0"/>
                          <a:cs typeface="Times New Roman" panose="02020603050405020304" pitchFamily="18" charset="0"/>
                        </a:rPr>
                        <a:t>7</a:t>
                      </a:r>
                    </a:p>
                  </a:txBody>
                  <a:tcPr anchor="ctr">
                    <a:lnL>
                      <a:noFill/>
                    </a:lnL>
                    <a:lnR>
                      <a:noFill/>
                    </a:lnR>
                    <a:lnT>
                      <a:noFill/>
                    </a:lnT>
                    <a:lnB>
                      <a:noFill/>
                    </a:lnB>
                    <a:noFill/>
                  </a:tcPr>
                </a:tc>
                <a:tc>
                  <a:txBody>
                    <a:bodyPr/>
                    <a:lstStyle/>
                    <a:p>
                      <a:pPr>
                        <a:buNone/>
                      </a:pPr>
                      <a:r>
                        <a:rPr lang="en-IN" sz="2000" dirty="0">
                          <a:latin typeface="Times New Roman" panose="02020603050405020304" pitchFamily="18" charset="0"/>
                          <a:cs typeface="Times New Roman" panose="02020603050405020304" pitchFamily="18" charset="0"/>
                        </a:rPr>
                        <a:t>1</a:t>
                      </a:r>
                    </a:p>
                  </a:txBody>
                  <a:tcPr anchor="ctr">
                    <a:lnL>
                      <a:noFill/>
                    </a:lnL>
                    <a:lnR>
                      <a:noFill/>
                    </a:lnR>
                    <a:lnT>
                      <a:noFill/>
                    </a:lnT>
                    <a:lnB>
                      <a:noFill/>
                    </a:lnB>
                    <a:noFill/>
                  </a:tcPr>
                </a:tc>
                <a:extLst>
                  <a:ext uri="{0D108BD9-81ED-4DB2-BD59-A6C34878D82A}">
                    <a16:rowId xmlns:a16="http://schemas.microsoft.com/office/drawing/2014/main" val="1509195250"/>
                  </a:ext>
                </a:extLst>
              </a:tr>
            </a:tbl>
          </a:graphicData>
        </a:graphic>
      </p:graphicFrame>
      <p:graphicFrame>
        <p:nvGraphicFramePr>
          <p:cNvPr id="10" name="Table 9">
            <a:extLst>
              <a:ext uri="{FF2B5EF4-FFF2-40B4-BE49-F238E27FC236}">
                <a16:creationId xmlns:a16="http://schemas.microsoft.com/office/drawing/2014/main" id="{3C67E5F7-8189-AE0F-D08D-347C6323494D}"/>
              </a:ext>
            </a:extLst>
          </p:cNvPr>
          <p:cNvGraphicFramePr>
            <a:graphicFrameLocks noGrp="1"/>
          </p:cNvGraphicFramePr>
          <p:nvPr>
            <p:extLst>
              <p:ext uri="{D42A27DB-BD31-4B8C-83A1-F6EECF244321}">
                <p14:modId xmlns:p14="http://schemas.microsoft.com/office/powerpoint/2010/main" val="1982815897"/>
              </p:ext>
            </p:extLst>
          </p:nvPr>
        </p:nvGraphicFramePr>
        <p:xfrm>
          <a:off x="986911" y="4060833"/>
          <a:ext cx="3565426" cy="1188720"/>
        </p:xfrm>
        <a:graphic>
          <a:graphicData uri="http://schemas.openxmlformats.org/drawingml/2006/table">
            <a:tbl>
              <a:tblPr/>
              <a:tblGrid>
                <a:gridCol w="1782713">
                  <a:extLst>
                    <a:ext uri="{9D8B030D-6E8A-4147-A177-3AD203B41FA5}">
                      <a16:colId xmlns:a16="http://schemas.microsoft.com/office/drawing/2014/main" val="2881438241"/>
                    </a:ext>
                  </a:extLst>
                </a:gridCol>
                <a:gridCol w="1782713">
                  <a:extLst>
                    <a:ext uri="{9D8B030D-6E8A-4147-A177-3AD203B41FA5}">
                      <a16:colId xmlns:a16="http://schemas.microsoft.com/office/drawing/2014/main" val="1854453545"/>
                    </a:ext>
                  </a:extLst>
                </a:gridCol>
              </a:tblGrid>
              <a:tr h="0">
                <a:tc>
                  <a:txBody>
                    <a:bodyPr/>
                    <a:lstStyle/>
                    <a:p>
                      <a:pPr>
                        <a:buNone/>
                      </a:pPr>
                      <a:r>
                        <a:rPr lang="en-IN" sz="2000" b="1">
                          <a:latin typeface="Times New Roman" panose="02020603050405020304" pitchFamily="18" charset="0"/>
                          <a:cs typeface="Times New Roman" panose="02020603050405020304" pitchFamily="18" charset="0"/>
                        </a:rPr>
                        <a:t>Study_Hours</a:t>
                      </a:r>
                    </a:p>
                  </a:txBody>
                  <a:tcPr anchor="ctr">
                    <a:lnL>
                      <a:noFill/>
                    </a:lnL>
                    <a:lnR>
                      <a:noFill/>
                    </a:lnR>
                    <a:lnT>
                      <a:noFill/>
                    </a:lnT>
                    <a:lnB>
                      <a:noFill/>
                    </a:lnB>
                    <a:noFill/>
                  </a:tcPr>
                </a:tc>
                <a:tc>
                  <a:txBody>
                    <a:bodyPr/>
                    <a:lstStyle/>
                    <a:p>
                      <a:pPr>
                        <a:buNone/>
                      </a:pPr>
                      <a:r>
                        <a:rPr lang="en-IN" sz="2000" b="1" dirty="0">
                          <a:latin typeface="Times New Roman" panose="02020603050405020304" pitchFamily="18" charset="0"/>
                          <a:cs typeface="Times New Roman" panose="02020603050405020304" pitchFamily="18" charset="0"/>
                        </a:rPr>
                        <a:t>Result</a:t>
                      </a:r>
                    </a:p>
                  </a:txBody>
                  <a:tcPr anchor="ctr">
                    <a:lnL>
                      <a:noFill/>
                    </a:lnL>
                    <a:lnR>
                      <a:noFill/>
                    </a:lnR>
                    <a:lnT>
                      <a:noFill/>
                    </a:lnT>
                    <a:lnB>
                      <a:noFill/>
                    </a:lnB>
                    <a:noFill/>
                  </a:tcPr>
                </a:tc>
                <a:extLst>
                  <a:ext uri="{0D108BD9-81ED-4DB2-BD59-A6C34878D82A}">
                    <a16:rowId xmlns:a16="http://schemas.microsoft.com/office/drawing/2014/main" val="581793165"/>
                  </a:ext>
                </a:extLst>
              </a:tr>
              <a:tr h="0">
                <a:tc>
                  <a:txBody>
                    <a:bodyPr/>
                    <a:lstStyle/>
                    <a:p>
                      <a:pPr>
                        <a:buNone/>
                      </a:pPr>
                      <a:r>
                        <a:rPr lang="en-IN" sz="2000">
                          <a:latin typeface="Times New Roman" panose="02020603050405020304" pitchFamily="18" charset="0"/>
                          <a:cs typeface="Times New Roman" panose="02020603050405020304" pitchFamily="18" charset="0"/>
                        </a:rPr>
                        <a:t>8</a:t>
                      </a:r>
                    </a:p>
                  </a:txBody>
                  <a:tcPr anchor="ctr">
                    <a:lnL>
                      <a:noFill/>
                    </a:lnL>
                    <a:lnR>
                      <a:noFill/>
                    </a:lnR>
                    <a:lnT>
                      <a:noFill/>
                    </a:lnT>
                    <a:lnB>
                      <a:noFill/>
                    </a:lnB>
                    <a:noFill/>
                  </a:tcPr>
                </a:tc>
                <a:tc>
                  <a:txBody>
                    <a:bodyPr/>
                    <a:lstStyle/>
                    <a:p>
                      <a:pPr>
                        <a:buNone/>
                      </a:pPr>
                      <a:r>
                        <a:rPr lang="en-IN" sz="2000" dirty="0">
                          <a:latin typeface="Times New Roman" panose="02020603050405020304" pitchFamily="18" charset="0"/>
                          <a:cs typeface="Times New Roman" panose="02020603050405020304" pitchFamily="18" charset="0"/>
                        </a:rPr>
                        <a:t>1</a:t>
                      </a:r>
                    </a:p>
                  </a:txBody>
                  <a:tcPr anchor="ctr">
                    <a:lnL>
                      <a:noFill/>
                    </a:lnL>
                    <a:lnR>
                      <a:noFill/>
                    </a:lnR>
                    <a:lnT>
                      <a:noFill/>
                    </a:lnT>
                    <a:lnB>
                      <a:noFill/>
                    </a:lnB>
                    <a:noFill/>
                  </a:tcPr>
                </a:tc>
                <a:extLst>
                  <a:ext uri="{0D108BD9-81ED-4DB2-BD59-A6C34878D82A}">
                    <a16:rowId xmlns:a16="http://schemas.microsoft.com/office/drawing/2014/main" val="3877744307"/>
                  </a:ext>
                </a:extLst>
              </a:tr>
              <a:tr h="0">
                <a:tc>
                  <a:txBody>
                    <a:bodyPr/>
                    <a:lstStyle/>
                    <a:p>
                      <a:pPr>
                        <a:buNone/>
                      </a:pPr>
                      <a:r>
                        <a:rPr lang="en-IN" sz="2000" dirty="0">
                          <a:latin typeface="Times New Roman" panose="02020603050405020304" pitchFamily="18" charset="0"/>
                          <a:cs typeface="Times New Roman" panose="02020603050405020304" pitchFamily="18" charset="0"/>
                        </a:rPr>
                        <a:t>9</a:t>
                      </a:r>
                    </a:p>
                  </a:txBody>
                  <a:tcPr anchor="ctr">
                    <a:lnL>
                      <a:noFill/>
                    </a:lnL>
                    <a:lnR>
                      <a:noFill/>
                    </a:lnR>
                    <a:lnT>
                      <a:noFill/>
                    </a:lnT>
                    <a:lnB>
                      <a:noFill/>
                    </a:lnB>
                    <a:noFill/>
                  </a:tcPr>
                </a:tc>
                <a:tc>
                  <a:txBody>
                    <a:bodyPr/>
                    <a:lstStyle/>
                    <a:p>
                      <a:pPr>
                        <a:buNone/>
                      </a:pPr>
                      <a:r>
                        <a:rPr lang="en-IN" sz="2000" dirty="0">
                          <a:latin typeface="Times New Roman" panose="02020603050405020304" pitchFamily="18" charset="0"/>
                          <a:cs typeface="Times New Roman" panose="02020603050405020304" pitchFamily="18" charset="0"/>
                        </a:rPr>
                        <a:t>1</a:t>
                      </a:r>
                    </a:p>
                  </a:txBody>
                  <a:tcPr anchor="ctr">
                    <a:lnL>
                      <a:noFill/>
                    </a:lnL>
                    <a:lnR>
                      <a:noFill/>
                    </a:lnR>
                    <a:lnT>
                      <a:noFill/>
                    </a:lnT>
                    <a:lnB>
                      <a:noFill/>
                    </a:lnB>
                    <a:noFill/>
                  </a:tcPr>
                </a:tc>
                <a:extLst>
                  <a:ext uri="{0D108BD9-81ED-4DB2-BD59-A6C34878D82A}">
                    <a16:rowId xmlns:a16="http://schemas.microsoft.com/office/drawing/2014/main" val="2390595075"/>
                  </a:ext>
                </a:extLst>
              </a:tr>
            </a:tbl>
          </a:graphicData>
        </a:graphic>
      </p:graphicFrame>
    </p:spTree>
    <p:extLst>
      <p:ext uri="{BB962C8B-B14F-4D97-AF65-F5344CB8AC3E}">
        <p14:creationId xmlns:p14="http://schemas.microsoft.com/office/powerpoint/2010/main" val="11826135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01DFF-809D-37A2-456C-99FCB2E87B0B}"/>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Stratified split </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D4D07C0-0236-63C9-ABDB-B4D410468C60}"/>
              </a:ext>
            </a:extLst>
          </p:cNvPr>
          <p:cNvSpPr>
            <a:spLocks noGrp="1"/>
          </p:cNvSpPr>
          <p:nvPr>
            <p:ph idx="1"/>
          </p:nvPr>
        </p:nvSpPr>
        <p:spPr>
          <a:xfrm>
            <a:off x="1295400" y="2556931"/>
            <a:ext cx="3964857" cy="3440745"/>
          </a:xfrm>
        </p:spPr>
        <p:txBody>
          <a:bodyPr/>
          <a:lstStyle/>
          <a:p>
            <a:r>
              <a:rPr lang="en-US" sz="2200" dirty="0">
                <a:solidFill>
                  <a:schemeClr val="tx1"/>
                </a:solidFill>
                <a:latin typeface="Times New Roman" panose="02020603050405020304" pitchFamily="18" charset="0"/>
                <a:cs typeface="Times New Roman" panose="02020603050405020304" pitchFamily="18" charset="0"/>
              </a:rPr>
              <a:t>Stratification keeps </a:t>
            </a:r>
            <a:r>
              <a:rPr lang="en-US" sz="2200" b="1" dirty="0">
                <a:solidFill>
                  <a:schemeClr val="tx1"/>
                </a:solidFill>
                <a:latin typeface="Times New Roman" panose="02020603050405020304" pitchFamily="18" charset="0"/>
                <a:cs typeface="Times New Roman" panose="02020603050405020304" pitchFamily="18" charset="0"/>
              </a:rPr>
              <a:t>same proportion</a:t>
            </a:r>
            <a:r>
              <a:rPr lang="en-US" sz="2200" dirty="0">
                <a:solidFill>
                  <a:schemeClr val="tx1"/>
                </a:solidFill>
                <a:latin typeface="Times New Roman" panose="02020603050405020304" pitchFamily="18" charset="0"/>
                <a:cs typeface="Times New Roman" panose="02020603050405020304" pitchFamily="18" charset="0"/>
              </a:rPr>
              <a:t> in all datasets.</a:t>
            </a:r>
          </a:p>
          <a:p>
            <a:r>
              <a:rPr lang="en-US" sz="2200" dirty="0">
                <a:solidFill>
                  <a:schemeClr val="tx1"/>
                </a:solidFill>
                <a:latin typeface="Times New Roman" panose="02020603050405020304" pitchFamily="18" charset="0"/>
                <a:cs typeface="Times New Roman" panose="02020603050405020304" pitchFamily="18" charset="0"/>
              </a:rPr>
              <a:t>We maintain:</a:t>
            </a:r>
          </a:p>
          <a:p>
            <a:r>
              <a:rPr lang="en-US" sz="2200" dirty="0">
                <a:solidFill>
                  <a:schemeClr val="tx1"/>
                </a:solidFill>
                <a:latin typeface="Times New Roman" panose="02020603050405020304" pitchFamily="18" charset="0"/>
                <a:cs typeface="Times New Roman" panose="02020603050405020304" pitchFamily="18" charset="0"/>
              </a:rPr>
              <a:t>60% Pass</a:t>
            </a:r>
          </a:p>
          <a:p>
            <a:r>
              <a:rPr lang="en-US" sz="2200" dirty="0">
                <a:solidFill>
                  <a:schemeClr val="tx1"/>
                </a:solidFill>
                <a:latin typeface="Times New Roman" panose="02020603050405020304" pitchFamily="18" charset="0"/>
                <a:cs typeface="Times New Roman" panose="02020603050405020304" pitchFamily="18" charset="0"/>
              </a:rPr>
              <a:t>40% Fail</a:t>
            </a:r>
          </a:p>
          <a:p>
            <a:r>
              <a:rPr lang="en-IN" sz="2200" dirty="0">
                <a:solidFill>
                  <a:schemeClr val="tx1"/>
                </a:solidFill>
                <a:latin typeface="Times New Roman" panose="02020603050405020304" pitchFamily="18" charset="0"/>
                <a:cs typeface="Times New Roman" panose="02020603050405020304" pitchFamily="18" charset="0"/>
              </a:rPr>
              <a:t>Pass=5, Fail=3</a:t>
            </a:r>
          </a:p>
        </p:txBody>
      </p:sp>
      <p:graphicFrame>
        <p:nvGraphicFramePr>
          <p:cNvPr id="4" name="Table 3">
            <a:extLst>
              <a:ext uri="{FF2B5EF4-FFF2-40B4-BE49-F238E27FC236}">
                <a16:creationId xmlns:a16="http://schemas.microsoft.com/office/drawing/2014/main" id="{5FCDAE26-9963-DE0D-77B4-5466F4B94670}"/>
              </a:ext>
            </a:extLst>
          </p:cNvPr>
          <p:cNvGraphicFramePr>
            <a:graphicFrameLocks noGrp="1"/>
          </p:cNvGraphicFramePr>
          <p:nvPr>
            <p:extLst>
              <p:ext uri="{D42A27DB-BD31-4B8C-83A1-F6EECF244321}">
                <p14:modId xmlns:p14="http://schemas.microsoft.com/office/powerpoint/2010/main" val="1744135132"/>
              </p:ext>
            </p:extLst>
          </p:nvPr>
        </p:nvGraphicFramePr>
        <p:xfrm>
          <a:off x="6705600" y="2570480"/>
          <a:ext cx="4191000" cy="3566160"/>
        </p:xfrm>
        <a:graphic>
          <a:graphicData uri="http://schemas.openxmlformats.org/drawingml/2006/table">
            <a:tbl>
              <a:tblPr/>
              <a:tblGrid>
                <a:gridCol w="2095500">
                  <a:extLst>
                    <a:ext uri="{9D8B030D-6E8A-4147-A177-3AD203B41FA5}">
                      <a16:colId xmlns:a16="http://schemas.microsoft.com/office/drawing/2014/main" val="3655642437"/>
                    </a:ext>
                  </a:extLst>
                </a:gridCol>
                <a:gridCol w="2095500">
                  <a:extLst>
                    <a:ext uri="{9D8B030D-6E8A-4147-A177-3AD203B41FA5}">
                      <a16:colId xmlns:a16="http://schemas.microsoft.com/office/drawing/2014/main" val="3163595894"/>
                    </a:ext>
                  </a:extLst>
                </a:gridCol>
              </a:tblGrid>
              <a:tr h="0">
                <a:tc>
                  <a:txBody>
                    <a:bodyPr/>
                    <a:lstStyle/>
                    <a:p>
                      <a:pPr>
                        <a:buNone/>
                      </a:pPr>
                      <a:r>
                        <a:rPr lang="en-IN" sz="2000" b="1">
                          <a:latin typeface="Times New Roman" panose="02020603050405020304" pitchFamily="18" charset="0"/>
                          <a:cs typeface="Times New Roman" panose="02020603050405020304" pitchFamily="18" charset="0"/>
                        </a:rPr>
                        <a:t>Study_Hours</a:t>
                      </a:r>
                    </a:p>
                  </a:txBody>
                  <a:tcPr anchor="ctr">
                    <a:lnL>
                      <a:noFill/>
                    </a:lnL>
                    <a:lnR>
                      <a:noFill/>
                    </a:lnR>
                    <a:lnT>
                      <a:noFill/>
                    </a:lnT>
                    <a:lnB>
                      <a:noFill/>
                    </a:lnB>
                    <a:noFill/>
                  </a:tcPr>
                </a:tc>
                <a:tc>
                  <a:txBody>
                    <a:bodyPr/>
                    <a:lstStyle/>
                    <a:p>
                      <a:pPr>
                        <a:buNone/>
                      </a:pPr>
                      <a:r>
                        <a:rPr lang="en-IN" sz="2000" b="1" dirty="0">
                          <a:latin typeface="Times New Roman" panose="02020603050405020304" pitchFamily="18" charset="0"/>
                          <a:cs typeface="Times New Roman" panose="02020603050405020304" pitchFamily="18" charset="0"/>
                        </a:rPr>
                        <a:t>Result</a:t>
                      </a:r>
                    </a:p>
                  </a:txBody>
                  <a:tcPr anchor="ctr">
                    <a:lnL>
                      <a:noFill/>
                    </a:lnL>
                    <a:lnR>
                      <a:noFill/>
                    </a:lnR>
                    <a:lnT>
                      <a:noFill/>
                    </a:lnT>
                    <a:lnB>
                      <a:noFill/>
                    </a:lnB>
                    <a:noFill/>
                  </a:tcPr>
                </a:tc>
                <a:extLst>
                  <a:ext uri="{0D108BD9-81ED-4DB2-BD59-A6C34878D82A}">
                    <a16:rowId xmlns:a16="http://schemas.microsoft.com/office/drawing/2014/main" val="287103203"/>
                  </a:ext>
                </a:extLst>
              </a:tr>
              <a:tr h="0">
                <a:tc>
                  <a:txBody>
                    <a:bodyPr/>
                    <a:lstStyle/>
                    <a:p>
                      <a:pPr>
                        <a:buNone/>
                      </a:pPr>
                      <a:r>
                        <a:rPr lang="en-IN" sz="2000" dirty="0">
                          <a:latin typeface="Times New Roman" panose="02020603050405020304" pitchFamily="18" charset="0"/>
                          <a:cs typeface="Times New Roman" panose="02020603050405020304" pitchFamily="18" charset="0"/>
                        </a:rPr>
                        <a:t>1</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0</a:t>
                      </a:r>
                    </a:p>
                  </a:txBody>
                  <a:tcPr anchor="ctr">
                    <a:lnL>
                      <a:noFill/>
                    </a:lnL>
                    <a:lnR>
                      <a:noFill/>
                    </a:lnR>
                    <a:lnT>
                      <a:noFill/>
                    </a:lnT>
                    <a:lnB>
                      <a:noFill/>
                    </a:lnB>
                    <a:noFill/>
                  </a:tcPr>
                </a:tc>
                <a:extLst>
                  <a:ext uri="{0D108BD9-81ED-4DB2-BD59-A6C34878D82A}">
                    <a16:rowId xmlns:a16="http://schemas.microsoft.com/office/drawing/2014/main" val="1116080085"/>
                  </a:ext>
                </a:extLst>
              </a:tr>
              <a:tr h="0">
                <a:tc>
                  <a:txBody>
                    <a:bodyPr/>
                    <a:lstStyle/>
                    <a:p>
                      <a:pPr>
                        <a:buNone/>
                      </a:pPr>
                      <a:r>
                        <a:rPr lang="en-IN" sz="2000">
                          <a:latin typeface="Times New Roman" panose="02020603050405020304" pitchFamily="18" charset="0"/>
                          <a:cs typeface="Times New Roman" panose="02020603050405020304" pitchFamily="18" charset="0"/>
                        </a:rPr>
                        <a:t>2</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0</a:t>
                      </a:r>
                    </a:p>
                  </a:txBody>
                  <a:tcPr anchor="ctr">
                    <a:lnL>
                      <a:noFill/>
                    </a:lnL>
                    <a:lnR>
                      <a:noFill/>
                    </a:lnR>
                    <a:lnT>
                      <a:noFill/>
                    </a:lnT>
                    <a:lnB>
                      <a:noFill/>
                    </a:lnB>
                    <a:noFill/>
                  </a:tcPr>
                </a:tc>
                <a:extLst>
                  <a:ext uri="{0D108BD9-81ED-4DB2-BD59-A6C34878D82A}">
                    <a16:rowId xmlns:a16="http://schemas.microsoft.com/office/drawing/2014/main" val="2139384766"/>
                  </a:ext>
                </a:extLst>
              </a:tr>
              <a:tr h="0">
                <a:tc>
                  <a:txBody>
                    <a:bodyPr/>
                    <a:lstStyle/>
                    <a:p>
                      <a:pPr>
                        <a:buNone/>
                      </a:pPr>
                      <a:r>
                        <a:rPr lang="en-IN" sz="2000">
                          <a:latin typeface="Times New Roman" panose="02020603050405020304" pitchFamily="18" charset="0"/>
                          <a:cs typeface="Times New Roman" panose="02020603050405020304" pitchFamily="18" charset="0"/>
                        </a:rPr>
                        <a:t>3</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0</a:t>
                      </a:r>
                    </a:p>
                  </a:txBody>
                  <a:tcPr anchor="ctr">
                    <a:lnL>
                      <a:noFill/>
                    </a:lnL>
                    <a:lnR>
                      <a:noFill/>
                    </a:lnR>
                    <a:lnT>
                      <a:noFill/>
                    </a:lnT>
                    <a:lnB>
                      <a:noFill/>
                    </a:lnB>
                    <a:noFill/>
                  </a:tcPr>
                </a:tc>
                <a:extLst>
                  <a:ext uri="{0D108BD9-81ED-4DB2-BD59-A6C34878D82A}">
                    <a16:rowId xmlns:a16="http://schemas.microsoft.com/office/drawing/2014/main" val="590032489"/>
                  </a:ext>
                </a:extLst>
              </a:tr>
              <a:tr h="0">
                <a:tc>
                  <a:txBody>
                    <a:bodyPr/>
                    <a:lstStyle/>
                    <a:p>
                      <a:pPr>
                        <a:buNone/>
                      </a:pPr>
                      <a:r>
                        <a:rPr lang="en-IN" sz="2000">
                          <a:latin typeface="Times New Roman" panose="02020603050405020304" pitchFamily="18" charset="0"/>
                          <a:cs typeface="Times New Roman" panose="02020603050405020304" pitchFamily="18" charset="0"/>
                        </a:rPr>
                        <a:t>4</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1</a:t>
                      </a:r>
                    </a:p>
                  </a:txBody>
                  <a:tcPr anchor="ctr">
                    <a:lnL>
                      <a:noFill/>
                    </a:lnL>
                    <a:lnR>
                      <a:noFill/>
                    </a:lnR>
                    <a:lnT>
                      <a:noFill/>
                    </a:lnT>
                    <a:lnB>
                      <a:noFill/>
                    </a:lnB>
                    <a:noFill/>
                  </a:tcPr>
                </a:tc>
                <a:extLst>
                  <a:ext uri="{0D108BD9-81ED-4DB2-BD59-A6C34878D82A}">
                    <a16:rowId xmlns:a16="http://schemas.microsoft.com/office/drawing/2014/main" val="192126318"/>
                  </a:ext>
                </a:extLst>
              </a:tr>
              <a:tr h="0">
                <a:tc>
                  <a:txBody>
                    <a:bodyPr/>
                    <a:lstStyle/>
                    <a:p>
                      <a:pPr>
                        <a:buNone/>
                      </a:pPr>
                      <a:r>
                        <a:rPr lang="en-IN" sz="2000">
                          <a:latin typeface="Times New Roman" panose="02020603050405020304" pitchFamily="18" charset="0"/>
                          <a:cs typeface="Times New Roman" panose="02020603050405020304" pitchFamily="18" charset="0"/>
                        </a:rPr>
                        <a:t>5</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1</a:t>
                      </a:r>
                    </a:p>
                  </a:txBody>
                  <a:tcPr anchor="ctr">
                    <a:lnL>
                      <a:noFill/>
                    </a:lnL>
                    <a:lnR>
                      <a:noFill/>
                    </a:lnR>
                    <a:lnT>
                      <a:noFill/>
                    </a:lnT>
                    <a:lnB>
                      <a:noFill/>
                    </a:lnB>
                    <a:noFill/>
                  </a:tcPr>
                </a:tc>
                <a:extLst>
                  <a:ext uri="{0D108BD9-81ED-4DB2-BD59-A6C34878D82A}">
                    <a16:rowId xmlns:a16="http://schemas.microsoft.com/office/drawing/2014/main" val="2849081561"/>
                  </a:ext>
                </a:extLst>
              </a:tr>
              <a:tr h="0">
                <a:tc>
                  <a:txBody>
                    <a:bodyPr/>
                    <a:lstStyle/>
                    <a:p>
                      <a:pPr>
                        <a:buNone/>
                      </a:pPr>
                      <a:r>
                        <a:rPr lang="en-IN" sz="2000">
                          <a:latin typeface="Times New Roman" panose="02020603050405020304" pitchFamily="18" charset="0"/>
                          <a:cs typeface="Times New Roman" panose="02020603050405020304" pitchFamily="18" charset="0"/>
                        </a:rPr>
                        <a:t>6</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1</a:t>
                      </a:r>
                    </a:p>
                  </a:txBody>
                  <a:tcPr anchor="ctr">
                    <a:lnL>
                      <a:noFill/>
                    </a:lnL>
                    <a:lnR>
                      <a:noFill/>
                    </a:lnR>
                    <a:lnT>
                      <a:noFill/>
                    </a:lnT>
                    <a:lnB>
                      <a:noFill/>
                    </a:lnB>
                    <a:noFill/>
                  </a:tcPr>
                </a:tc>
                <a:extLst>
                  <a:ext uri="{0D108BD9-81ED-4DB2-BD59-A6C34878D82A}">
                    <a16:rowId xmlns:a16="http://schemas.microsoft.com/office/drawing/2014/main" val="3122266194"/>
                  </a:ext>
                </a:extLst>
              </a:tr>
              <a:tr h="0">
                <a:tc>
                  <a:txBody>
                    <a:bodyPr/>
                    <a:lstStyle/>
                    <a:p>
                      <a:pPr>
                        <a:buNone/>
                      </a:pPr>
                      <a:r>
                        <a:rPr lang="en-IN" sz="2000">
                          <a:latin typeface="Times New Roman" panose="02020603050405020304" pitchFamily="18" charset="0"/>
                          <a:cs typeface="Times New Roman" panose="02020603050405020304" pitchFamily="18" charset="0"/>
                        </a:rPr>
                        <a:t>7</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1</a:t>
                      </a:r>
                    </a:p>
                  </a:txBody>
                  <a:tcPr anchor="ctr">
                    <a:lnL>
                      <a:noFill/>
                    </a:lnL>
                    <a:lnR>
                      <a:noFill/>
                    </a:lnR>
                    <a:lnT>
                      <a:noFill/>
                    </a:lnT>
                    <a:lnB>
                      <a:noFill/>
                    </a:lnB>
                    <a:noFill/>
                  </a:tcPr>
                </a:tc>
                <a:extLst>
                  <a:ext uri="{0D108BD9-81ED-4DB2-BD59-A6C34878D82A}">
                    <a16:rowId xmlns:a16="http://schemas.microsoft.com/office/drawing/2014/main" val="3703058137"/>
                  </a:ext>
                </a:extLst>
              </a:tr>
              <a:tr h="0">
                <a:tc>
                  <a:txBody>
                    <a:bodyPr/>
                    <a:lstStyle/>
                    <a:p>
                      <a:pPr>
                        <a:buNone/>
                      </a:pPr>
                      <a:r>
                        <a:rPr lang="en-IN" sz="2000">
                          <a:latin typeface="Times New Roman" panose="02020603050405020304" pitchFamily="18" charset="0"/>
                          <a:cs typeface="Times New Roman" panose="02020603050405020304" pitchFamily="18" charset="0"/>
                        </a:rPr>
                        <a:t>8</a:t>
                      </a:r>
                    </a:p>
                  </a:txBody>
                  <a:tcPr anchor="ctr">
                    <a:lnL>
                      <a:noFill/>
                    </a:lnL>
                    <a:lnR>
                      <a:noFill/>
                    </a:lnR>
                    <a:lnT>
                      <a:noFill/>
                    </a:lnT>
                    <a:lnB>
                      <a:noFill/>
                    </a:lnB>
                    <a:noFill/>
                  </a:tcPr>
                </a:tc>
                <a:tc>
                  <a:txBody>
                    <a:bodyPr/>
                    <a:lstStyle/>
                    <a:p>
                      <a:pPr>
                        <a:buNone/>
                      </a:pPr>
                      <a:r>
                        <a:rPr lang="en-IN" sz="2000" dirty="0">
                          <a:latin typeface="Times New Roman" panose="02020603050405020304" pitchFamily="18" charset="0"/>
                          <a:cs typeface="Times New Roman" panose="02020603050405020304" pitchFamily="18" charset="0"/>
                        </a:rPr>
                        <a:t>1</a:t>
                      </a:r>
                    </a:p>
                  </a:txBody>
                  <a:tcPr anchor="ctr">
                    <a:lnL>
                      <a:noFill/>
                    </a:lnL>
                    <a:lnR>
                      <a:noFill/>
                    </a:lnR>
                    <a:lnT>
                      <a:noFill/>
                    </a:lnT>
                    <a:lnB>
                      <a:noFill/>
                    </a:lnB>
                    <a:noFill/>
                  </a:tcPr>
                </a:tc>
                <a:extLst>
                  <a:ext uri="{0D108BD9-81ED-4DB2-BD59-A6C34878D82A}">
                    <a16:rowId xmlns:a16="http://schemas.microsoft.com/office/drawing/2014/main" val="2328868373"/>
                  </a:ext>
                </a:extLst>
              </a:tr>
            </a:tbl>
          </a:graphicData>
        </a:graphic>
      </p:graphicFrame>
    </p:spTree>
    <p:extLst>
      <p:ext uri="{BB962C8B-B14F-4D97-AF65-F5344CB8AC3E}">
        <p14:creationId xmlns:p14="http://schemas.microsoft.com/office/powerpoint/2010/main" val="42420982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F571F4-11BD-94B0-AF53-F698BDD49CD8}"/>
              </a:ext>
            </a:extLst>
          </p:cNvPr>
          <p:cNvSpPr>
            <a:spLocks noGrp="1"/>
          </p:cNvSpPr>
          <p:nvPr>
            <p:ph idx="1"/>
          </p:nvPr>
        </p:nvSpPr>
        <p:spPr>
          <a:xfrm>
            <a:off x="970937" y="580648"/>
            <a:ext cx="9601196" cy="3318936"/>
          </a:xfrm>
        </p:spPr>
        <p:txBody>
          <a:bodyPr>
            <a:normAutofit/>
          </a:bodyPr>
          <a:lstStyle/>
          <a:p>
            <a:r>
              <a:rPr lang="en-IN" sz="2200" b="1" dirty="0">
                <a:latin typeface="Times New Roman" panose="02020603050405020304" pitchFamily="18" charset="0"/>
                <a:cs typeface="Times New Roman" panose="02020603050405020304" pitchFamily="18" charset="0"/>
              </a:rPr>
              <a:t>Test Set (2 students)</a:t>
            </a:r>
          </a:p>
          <a:p>
            <a:endParaRPr lang="en-IN" sz="2200" b="1" dirty="0">
              <a:latin typeface="Times New Roman" panose="02020603050405020304" pitchFamily="18" charset="0"/>
              <a:cs typeface="Times New Roman" panose="02020603050405020304" pitchFamily="18" charset="0"/>
            </a:endParaRPr>
          </a:p>
          <a:p>
            <a:endParaRPr lang="en-IN" sz="2200" b="1" dirty="0">
              <a:latin typeface="Times New Roman" panose="02020603050405020304" pitchFamily="18" charset="0"/>
              <a:cs typeface="Times New Roman" panose="02020603050405020304" pitchFamily="18" charset="0"/>
            </a:endParaRPr>
          </a:p>
          <a:p>
            <a:endParaRPr lang="en-IN" sz="2200" b="1" dirty="0">
              <a:latin typeface="Times New Roman" panose="02020603050405020304" pitchFamily="18" charset="0"/>
              <a:cs typeface="Times New Roman" panose="02020603050405020304" pitchFamily="18" charset="0"/>
            </a:endParaRPr>
          </a:p>
          <a:p>
            <a:r>
              <a:rPr lang="en-IN" sz="2200" dirty="0">
                <a:latin typeface="Times New Roman" panose="02020603050405020304" pitchFamily="18" charset="0"/>
                <a:cs typeface="Times New Roman" panose="02020603050405020304" pitchFamily="18" charset="0"/>
              </a:rPr>
              <a:t>Pass = 1, Fail =1  50% in both the cases</a:t>
            </a:r>
          </a:p>
          <a:p>
            <a:r>
              <a:rPr lang="en-IN" sz="2200" dirty="0">
                <a:latin typeface="Times New Roman" panose="02020603050405020304" pitchFamily="18" charset="0"/>
                <a:cs typeface="Times New Roman" panose="02020603050405020304" pitchFamily="18" charset="0"/>
              </a:rPr>
              <a:t>(close to original proportion)</a:t>
            </a:r>
            <a:endParaRPr lang="en-IN" sz="2200" b="1" dirty="0">
              <a:latin typeface="Times New Roman" panose="02020603050405020304" pitchFamily="18" charset="0"/>
              <a:cs typeface="Times New Roman" panose="02020603050405020304" pitchFamily="18" charset="0"/>
            </a:endParaRPr>
          </a:p>
          <a:p>
            <a:endParaRPr lang="en-IN" sz="2200" b="1"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9B08B12D-3B05-07AD-44C5-24BB3302CF19}"/>
              </a:ext>
            </a:extLst>
          </p:cNvPr>
          <p:cNvGraphicFramePr>
            <a:graphicFrameLocks noGrp="1"/>
          </p:cNvGraphicFramePr>
          <p:nvPr>
            <p:extLst>
              <p:ext uri="{D42A27DB-BD31-4B8C-83A1-F6EECF244321}">
                <p14:modId xmlns:p14="http://schemas.microsoft.com/office/powerpoint/2010/main" val="1280228974"/>
              </p:ext>
            </p:extLst>
          </p:nvPr>
        </p:nvGraphicFramePr>
        <p:xfrm>
          <a:off x="1128251" y="1142835"/>
          <a:ext cx="3797710" cy="1197240"/>
        </p:xfrm>
        <a:graphic>
          <a:graphicData uri="http://schemas.openxmlformats.org/drawingml/2006/table">
            <a:tbl>
              <a:tblPr/>
              <a:tblGrid>
                <a:gridCol w="1898855">
                  <a:extLst>
                    <a:ext uri="{9D8B030D-6E8A-4147-A177-3AD203B41FA5}">
                      <a16:colId xmlns:a16="http://schemas.microsoft.com/office/drawing/2014/main" val="3155762615"/>
                    </a:ext>
                  </a:extLst>
                </a:gridCol>
                <a:gridCol w="1898855">
                  <a:extLst>
                    <a:ext uri="{9D8B030D-6E8A-4147-A177-3AD203B41FA5}">
                      <a16:colId xmlns:a16="http://schemas.microsoft.com/office/drawing/2014/main" val="938963617"/>
                    </a:ext>
                  </a:extLst>
                </a:gridCol>
              </a:tblGrid>
              <a:tr h="399080">
                <a:tc>
                  <a:txBody>
                    <a:bodyPr/>
                    <a:lstStyle/>
                    <a:p>
                      <a:pPr>
                        <a:buNone/>
                      </a:pPr>
                      <a:r>
                        <a:rPr lang="en-IN" sz="2000" b="1">
                          <a:solidFill>
                            <a:schemeClr val="tx1"/>
                          </a:solidFill>
                          <a:latin typeface="Times New Roman" panose="02020603050405020304" pitchFamily="18" charset="0"/>
                          <a:cs typeface="Times New Roman" panose="02020603050405020304" pitchFamily="18" charset="0"/>
                        </a:rPr>
                        <a:t>Study_Hours</a:t>
                      </a:r>
                    </a:p>
                  </a:txBody>
                  <a:tcPr anchor="ctr">
                    <a:lnL>
                      <a:noFill/>
                    </a:lnL>
                    <a:lnR>
                      <a:noFill/>
                    </a:lnR>
                    <a:lnT>
                      <a:noFill/>
                    </a:lnT>
                    <a:lnB>
                      <a:noFill/>
                    </a:lnB>
                    <a:noFill/>
                  </a:tcPr>
                </a:tc>
                <a:tc>
                  <a:txBody>
                    <a:bodyPr/>
                    <a:lstStyle/>
                    <a:p>
                      <a:pPr>
                        <a:buNone/>
                      </a:pPr>
                      <a:r>
                        <a:rPr lang="en-IN" sz="2000" b="1" dirty="0">
                          <a:solidFill>
                            <a:schemeClr val="tx1"/>
                          </a:solidFill>
                          <a:latin typeface="Times New Roman" panose="02020603050405020304" pitchFamily="18" charset="0"/>
                          <a:cs typeface="Times New Roman" panose="02020603050405020304" pitchFamily="18" charset="0"/>
                        </a:rPr>
                        <a:t>Result</a:t>
                      </a:r>
                    </a:p>
                  </a:txBody>
                  <a:tcPr anchor="ctr">
                    <a:lnL>
                      <a:noFill/>
                    </a:lnL>
                    <a:lnR>
                      <a:noFill/>
                    </a:lnR>
                    <a:lnT>
                      <a:noFill/>
                    </a:lnT>
                    <a:lnB>
                      <a:noFill/>
                    </a:lnB>
                    <a:noFill/>
                  </a:tcPr>
                </a:tc>
                <a:extLst>
                  <a:ext uri="{0D108BD9-81ED-4DB2-BD59-A6C34878D82A}">
                    <a16:rowId xmlns:a16="http://schemas.microsoft.com/office/drawing/2014/main" val="2463933954"/>
                  </a:ext>
                </a:extLst>
              </a:tr>
              <a:tr h="399080">
                <a:tc>
                  <a:txBody>
                    <a:bodyPr/>
                    <a:lstStyle/>
                    <a:p>
                      <a:pPr>
                        <a:buNone/>
                      </a:pPr>
                      <a:r>
                        <a:rPr lang="en-IN" sz="2000" dirty="0">
                          <a:solidFill>
                            <a:schemeClr val="tx1"/>
                          </a:solidFill>
                          <a:latin typeface="Times New Roman" panose="02020603050405020304" pitchFamily="18" charset="0"/>
                          <a:cs typeface="Times New Roman" panose="02020603050405020304" pitchFamily="18" charset="0"/>
                        </a:rPr>
                        <a:t>2</a:t>
                      </a:r>
                    </a:p>
                  </a:txBody>
                  <a:tcPr anchor="ctr">
                    <a:lnL>
                      <a:noFill/>
                    </a:lnL>
                    <a:lnR>
                      <a:noFill/>
                    </a:lnR>
                    <a:lnT>
                      <a:noFill/>
                    </a:lnT>
                    <a:lnB>
                      <a:noFill/>
                    </a:lnB>
                    <a:noFill/>
                  </a:tcPr>
                </a:tc>
                <a:tc>
                  <a:txBody>
                    <a:bodyPr/>
                    <a:lstStyle/>
                    <a:p>
                      <a:pPr>
                        <a:buNone/>
                      </a:pPr>
                      <a:r>
                        <a:rPr lang="en-IN" sz="2000" dirty="0">
                          <a:solidFill>
                            <a:schemeClr val="tx1"/>
                          </a:solidFill>
                          <a:latin typeface="Times New Roman" panose="02020603050405020304" pitchFamily="18" charset="0"/>
                          <a:cs typeface="Times New Roman" panose="02020603050405020304" pitchFamily="18" charset="0"/>
                        </a:rPr>
                        <a:t>0</a:t>
                      </a:r>
                    </a:p>
                  </a:txBody>
                  <a:tcPr anchor="ctr">
                    <a:lnL>
                      <a:noFill/>
                    </a:lnL>
                    <a:lnR>
                      <a:noFill/>
                    </a:lnR>
                    <a:lnT>
                      <a:noFill/>
                    </a:lnT>
                    <a:lnB>
                      <a:noFill/>
                    </a:lnB>
                    <a:noFill/>
                  </a:tcPr>
                </a:tc>
                <a:extLst>
                  <a:ext uri="{0D108BD9-81ED-4DB2-BD59-A6C34878D82A}">
                    <a16:rowId xmlns:a16="http://schemas.microsoft.com/office/drawing/2014/main" val="4233305552"/>
                  </a:ext>
                </a:extLst>
              </a:tr>
              <a:tr h="399080">
                <a:tc>
                  <a:txBody>
                    <a:bodyPr/>
                    <a:lstStyle/>
                    <a:p>
                      <a:pPr>
                        <a:buNone/>
                      </a:pPr>
                      <a:r>
                        <a:rPr lang="en-IN" sz="2000">
                          <a:solidFill>
                            <a:schemeClr val="tx1"/>
                          </a:solidFill>
                          <a:latin typeface="Times New Roman" panose="02020603050405020304" pitchFamily="18" charset="0"/>
                          <a:cs typeface="Times New Roman" panose="02020603050405020304" pitchFamily="18" charset="0"/>
                        </a:rPr>
                        <a:t>9</a:t>
                      </a:r>
                    </a:p>
                  </a:txBody>
                  <a:tcPr anchor="ctr">
                    <a:lnL>
                      <a:noFill/>
                    </a:lnL>
                    <a:lnR>
                      <a:noFill/>
                    </a:lnR>
                    <a:lnT>
                      <a:noFill/>
                    </a:lnT>
                    <a:lnB>
                      <a:noFill/>
                    </a:lnB>
                    <a:noFill/>
                  </a:tcPr>
                </a:tc>
                <a:tc>
                  <a:txBody>
                    <a:bodyPr/>
                    <a:lstStyle/>
                    <a:p>
                      <a:pPr>
                        <a:buNone/>
                      </a:pPr>
                      <a:r>
                        <a:rPr lang="en-IN" sz="2000" dirty="0">
                          <a:solidFill>
                            <a:schemeClr val="tx1"/>
                          </a:solidFill>
                          <a:latin typeface="Times New Roman" panose="02020603050405020304" pitchFamily="18" charset="0"/>
                          <a:cs typeface="Times New Roman" panose="02020603050405020304" pitchFamily="18" charset="0"/>
                        </a:rPr>
                        <a:t>1</a:t>
                      </a:r>
                    </a:p>
                  </a:txBody>
                  <a:tcPr anchor="ctr">
                    <a:lnL>
                      <a:noFill/>
                    </a:lnL>
                    <a:lnR>
                      <a:noFill/>
                    </a:lnR>
                    <a:lnT>
                      <a:noFill/>
                    </a:lnT>
                    <a:lnB>
                      <a:noFill/>
                    </a:lnB>
                    <a:noFill/>
                  </a:tcPr>
                </a:tc>
                <a:extLst>
                  <a:ext uri="{0D108BD9-81ED-4DB2-BD59-A6C34878D82A}">
                    <a16:rowId xmlns:a16="http://schemas.microsoft.com/office/drawing/2014/main" val="4103561415"/>
                  </a:ext>
                </a:extLst>
              </a:tr>
            </a:tbl>
          </a:graphicData>
        </a:graphic>
      </p:graphicFrame>
      <p:graphicFrame>
        <p:nvGraphicFramePr>
          <p:cNvPr id="7" name="Table 6">
            <a:extLst>
              <a:ext uri="{FF2B5EF4-FFF2-40B4-BE49-F238E27FC236}">
                <a16:creationId xmlns:a16="http://schemas.microsoft.com/office/drawing/2014/main" id="{1477C64C-6244-0DE3-607D-E82DF49479B1}"/>
              </a:ext>
            </a:extLst>
          </p:cNvPr>
          <p:cNvGraphicFramePr>
            <a:graphicFrameLocks noGrp="1"/>
          </p:cNvGraphicFramePr>
          <p:nvPr>
            <p:extLst>
              <p:ext uri="{D42A27DB-BD31-4B8C-83A1-F6EECF244321}">
                <p14:modId xmlns:p14="http://schemas.microsoft.com/office/powerpoint/2010/main" val="660613204"/>
              </p:ext>
            </p:extLst>
          </p:nvPr>
        </p:nvGraphicFramePr>
        <p:xfrm>
          <a:off x="1295400" y="3484880"/>
          <a:ext cx="9601200" cy="1584960"/>
        </p:xfrm>
        <a:graphic>
          <a:graphicData uri="http://schemas.openxmlformats.org/drawingml/2006/table">
            <a:tbl>
              <a:tblPr/>
              <a:tblGrid>
                <a:gridCol w="3200400">
                  <a:extLst>
                    <a:ext uri="{9D8B030D-6E8A-4147-A177-3AD203B41FA5}">
                      <a16:colId xmlns:a16="http://schemas.microsoft.com/office/drawing/2014/main" val="523298326"/>
                    </a:ext>
                  </a:extLst>
                </a:gridCol>
                <a:gridCol w="3200400">
                  <a:extLst>
                    <a:ext uri="{9D8B030D-6E8A-4147-A177-3AD203B41FA5}">
                      <a16:colId xmlns:a16="http://schemas.microsoft.com/office/drawing/2014/main" val="2461462186"/>
                    </a:ext>
                  </a:extLst>
                </a:gridCol>
                <a:gridCol w="3200400">
                  <a:extLst>
                    <a:ext uri="{9D8B030D-6E8A-4147-A177-3AD203B41FA5}">
                      <a16:colId xmlns:a16="http://schemas.microsoft.com/office/drawing/2014/main" val="2420763724"/>
                    </a:ext>
                  </a:extLst>
                </a:gridCol>
              </a:tblGrid>
              <a:tr h="0">
                <a:tc>
                  <a:txBody>
                    <a:bodyPr/>
                    <a:lstStyle/>
                    <a:p>
                      <a:pPr>
                        <a:buNone/>
                      </a:pPr>
                      <a:r>
                        <a:rPr lang="en-IN" sz="2000" b="1">
                          <a:latin typeface="Times New Roman" panose="02020603050405020304" pitchFamily="18" charset="0"/>
                          <a:cs typeface="Times New Roman" panose="02020603050405020304" pitchFamily="18" charset="0"/>
                        </a:rPr>
                        <a:t>Dataset</a:t>
                      </a:r>
                    </a:p>
                  </a:txBody>
                  <a:tcPr anchor="ctr">
                    <a:lnL>
                      <a:noFill/>
                    </a:lnL>
                    <a:lnR>
                      <a:noFill/>
                    </a:lnR>
                    <a:lnT>
                      <a:noFill/>
                    </a:lnT>
                    <a:lnB>
                      <a:noFill/>
                    </a:lnB>
                    <a:noFill/>
                  </a:tcPr>
                </a:tc>
                <a:tc>
                  <a:txBody>
                    <a:bodyPr/>
                    <a:lstStyle/>
                    <a:p>
                      <a:pPr>
                        <a:buNone/>
                      </a:pPr>
                      <a:r>
                        <a:rPr lang="en-IN" sz="2000" b="1">
                          <a:latin typeface="Times New Roman" panose="02020603050405020304" pitchFamily="18" charset="0"/>
                          <a:cs typeface="Times New Roman" panose="02020603050405020304" pitchFamily="18" charset="0"/>
                        </a:rPr>
                        <a:t>% Pass</a:t>
                      </a:r>
                    </a:p>
                  </a:txBody>
                  <a:tcPr anchor="ctr">
                    <a:lnL>
                      <a:noFill/>
                    </a:lnL>
                    <a:lnR>
                      <a:noFill/>
                    </a:lnR>
                    <a:lnT>
                      <a:noFill/>
                    </a:lnT>
                    <a:lnB>
                      <a:noFill/>
                    </a:lnB>
                    <a:noFill/>
                  </a:tcPr>
                </a:tc>
                <a:tc>
                  <a:txBody>
                    <a:bodyPr/>
                    <a:lstStyle/>
                    <a:p>
                      <a:pPr>
                        <a:buNone/>
                      </a:pPr>
                      <a:r>
                        <a:rPr lang="en-IN" sz="2000" b="1" dirty="0">
                          <a:latin typeface="Times New Roman" panose="02020603050405020304" pitchFamily="18" charset="0"/>
                          <a:cs typeface="Times New Roman" panose="02020603050405020304" pitchFamily="18" charset="0"/>
                        </a:rPr>
                        <a:t>% Fail</a:t>
                      </a:r>
                    </a:p>
                  </a:txBody>
                  <a:tcPr anchor="ctr">
                    <a:lnL>
                      <a:noFill/>
                    </a:lnL>
                    <a:lnR>
                      <a:noFill/>
                    </a:lnR>
                    <a:lnT>
                      <a:noFill/>
                    </a:lnT>
                    <a:lnB>
                      <a:noFill/>
                    </a:lnB>
                    <a:noFill/>
                  </a:tcPr>
                </a:tc>
                <a:extLst>
                  <a:ext uri="{0D108BD9-81ED-4DB2-BD59-A6C34878D82A}">
                    <a16:rowId xmlns:a16="http://schemas.microsoft.com/office/drawing/2014/main" val="1099613863"/>
                  </a:ext>
                </a:extLst>
              </a:tr>
              <a:tr h="0">
                <a:tc>
                  <a:txBody>
                    <a:bodyPr/>
                    <a:lstStyle/>
                    <a:p>
                      <a:pPr>
                        <a:buNone/>
                      </a:pPr>
                      <a:r>
                        <a:rPr lang="en-IN" sz="2000">
                          <a:latin typeface="Times New Roman" panose="02020603050405020304" pitchFamily="18" charset="0"/>
                          <a:cs typeface="Times New Roman" panose="02020603050405020304" pitchFamily="18" charset="0"/>
                        </a:rPr>
                        <a:t>Full data</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60%</a:t>
                      </a:r>
                    </a:p>
                  </a:txBody>
                  <a:tcPr anchor="ctr">
                    <a:lnL>
                      <a:noFill/>
                    </a:lnL>
                    <a:lnR>
                      <a:noFill/>
                    </a:lnR>
                    <a:lnT>
                      <a:noFill/>
                    </a:lnT>
                    <a:lnB>
                      <a:noFill/>
                    </a:lnB>
                    <a:noFill/>
                  </a:tcPr>
                </a:tc>
                <a:tc>
                  <a:txBody>
                    <a:bodyPr/>
                    <a:lstStyle/>
                    <a:p>
                      <a:pPr>
                        <a:buNone/>
                      </a:pPr>
                      <a:r>
                        <a:rPr lang="en-IN" sz="2000" dirty="0">
                          <a:latin typeface="Times New Roman" panose="02020603050405020304" pitchFamily="18" charset="0"/>
                          <a:cs typeface="Times New Roman" panose="02020603050405020304" pitchFamily="18" charset="0"/>
                        </a:rPr>
                        <a:t>40%</a:t>
                      </a:r>
                    </a:p>
                  </a:txBody>
                  <a:tcPr anchor="ctr">
                    <a:lnL>
                      <a:noFill/>
                    </a:lnL>
                    <a:lnR>
                      <a:noFill/>
                    </a:lnR>
                    <a:lnT>
                      <a:noFill/>
                    </a:lnT>
                    <a:lnB>
                      <a:noFill/>
                    </a:lnB>
                    <a:noFill/>
                  </a:tcPr>
                </a:tc>
                <a:extLst>
                  <a:ext uri="{0D108BD9-81ED-4DB2-BD59-A6C34878D82A}">
                    <a16:rowId xmlns:a16="http://schemas.microsoft.com/office/drawing/2014/main" val="3320264732"/>
                  </a:ext>
                </a:extLst>
              </a:tr>
              <a:tr h="0">
                <a:tc>
                  <a:txBody>
                    <a:bodyPr/>
                    <a:lstStyle/>
                    <a:p>
                      <a:pPr>
                        <a:buNone/>
                      </a:pPr>
                      <a:r>
                        <a:rPr lang="en-IN" sz="2000">
                          <a:latin typeface="Times New Roman" panose="02020603050405020304" pitchFamily="18" charset="0"/>
                          <a:cs typeface="Times New Roman" panose="02020603050405020304" pitchFamily="18" charset="0"/>
                        </a:rPr>
                        <a:t>Training</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~60%</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~40%</a:t>
                      </a:r>
                    </a:p>
                  </a:txBody>
                  <a:tcPr anchor="ctr">
                    <a:lnL>
                      <a:noFill/>
                    </a:lnL>
                    <a:lnR>
                      <a:noFill/>
                    </a:lnR>
                    <a:lnT>
                      <a:noFill/>
                    </a:lnT>
                    <a:lnB>
                      <a:noFill/>
                    </a:lnB>
                    <a:noFill/>
                  </a:tcPr>
                </a:tc>
                <a:extLst>
                  <a:ext uri="{0D108BD9-81ED-4DB2-BD59-A6C34878D82A}">
                    <a16:rowId xmlns:a16="http://schemas.microsoft.com/office/drawing/2014/main" val="411681901"/>
                  </a:ext>
                </a:extLst>
              </a:tr>
              <a:tr h="0">
                <a:tc>
                  <a:txBody>
                    <a:bodyPr/>
                    <a:lstStyle/>
                    <a:p>
                      <a:pPr>
                        <a:buNone/>
                      </a:pPr>
                      <a:r>
                        <a:rPr lang="en-IN" sz="2000">
                          <a:latin typeface="Times New Roman" panose="02020603050405020304" pitchFamily="18" charset="0"/>
                          <a:cs typeface="Times New Roman" panose="02020603050405020304" pitchFamily="18" charset="0"/>
                        </a:rPr>
                        <a:t>Test</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~60%</a:t>
                      </a:r>
                    </a:p>
                  </a:txBody>
                  <a:tcPr anchor="ctr">
                    <a:lnL>
                      <a:noFill/>
                    </a:lnL>
                    <a:lnR>
                      <a:noFill/>
                    </a:lnR>
                    <a:lnT>
                      <a:noFill/>
                    </a:lnT>
                    <a:lnB>
                      <a:noFill/>
                    </a:lnB>
                    <a:noFill/>
                  </a:tcPr>
                </a:tc>
                <a:tc>
                  <a:txBody>
                    <a:bodyPr/>
                    <a:lstStyle/>
                    <a:p>
                      <a:pPr>
                        <a:buNone/>
                      </a:pPr>
                      <a:r>
                        <a:rPr lang="en-IN" sz="2000" dirty="0">
                          <a:latin typeface="Times New Roman" panose="02020603050405020304" pitchFamily="18" charset="0"/>
                          <a:cs typeface="Times New Roman" panose="02020603050405020304" pitchFamily="18" charset="0"/>
                        </a:rPr>
                        <a:t>~40%</a:t>
                      </a:r>
                    </a:p>
                  </a:txBody>
                  <a:tcPr anchor="ctr">
                    <a:lnL>
                      <a:noFill/>
                    </a:lnL>
                    <a:lnR>
                      <a:noFill/>
                    </a:lnR>
                    <a:lnT>
                      <a:noFill/>
                    </a:lnT>
                    <a:lnB>
                      <a:noFill/>
                    </a:lnB>
                    <a:noFill/>
                  </a:tcPr>
                </a:tc>
                <a:extLst>
                  <a:ext uri="{0D108BD9-81ED-4DB2-BD59-A6C34878D82A}">
                    <a16:rowId xmlns:a16="http://schemas.microsoft.com/office/drawing/2014/main" val="1622841124"/>
                  </a:ext>
                </a:extLst>
              </a:tr>
            </a:tbl>
          </a:graphicData>
        </a:graphic>
      </p:graphicFrame>
    </p:spTree>
    <p:extLst>
      <p:ext uri="{BB962C8B-B14F-4D97-AF65-F5344CB8AC3E}">
        <p14:creationId xmlns:p14="http://schemas.microsoft.com/office/powerpoint/2010/main" val="29589030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DFF5E-8E40-D874-9CA2-5217918A85C3}"/>
              </a:ext>
            </a:extLst>
          </p:cNvPr>
          <p:cNvSpPr>
            <a:spLocks noGrp="1"/>
          </p:cNvSpPr>
          <p:nvPr>
            <p:ph type="title"/>
          </p:nvPr>
        </p:nvSpPr>
        <p:spPr/>
        <p:txBody>
          <a:bodyPr>
            <a:normAutofit/>
          </a:bodyPr>
          <a:lstStyle/>
          <a:p>
            <a:r>
              <a:rPr lang="en-IN" b="1" dirty="0">
                <a:solidFill>
                  <a:schemeClr val="tx1"/>
                </a:solidFill>
                <a:latin typeface="Times New Roman" panose="02020603050405020304" pitchFamily="18" charset="0"/>
                <a:cs typeface="Times New Roman" panose="02020603050405020304" pitchFamily="18" charset="0"/>
              </a:rPr>
              <a:t>Random Subsampling</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6F23059-E33A-CB80-FB07-AAC5D714D5C9}"/>
              </a:ext>
            </a:extLst>
          </p:cNvPr>
          <p:cNvSpPr>
            <a:spLocks noGrp="1"/>
          </p:cNvSpPr>
          <p:nvPr>
            <p:ph idx="1"/>
          </p:nvPr>
        </p:nvSpPr>
        <p:spPr/>
        <p:txBody>
          <a:bodyPr/>
          <a:lstStyle/>
          <a:p>
            <a:r>
              <a:rPr lang="en-IN" dirty="0">
                <a:solidFill>
                  <a:schemeClr val="tx1"/>
                </a:solidFill>
                <a:latin typeface="Times New Roman" panose="02020603050405020304" pitchFamily="18" charset="0"/>
                <a:cs typeface="Times New Roman" panose="02020603050405020304" pitchFamily="18" charset="0"/>
              </a:rPr>
              <a:t>Even with stratification, one single split might result in a biased or "lucky" outcome. To fix this, we use </a:t>
            </a:r>
            <a:r>
              <a:rPr lang="en-IN" b="1" dirty="0">
                <a:solidFill>
                  <a:schemeClr val="tx1"/>
                </a:solidFill>
                <a:latin typeface="Times New Roman" panose="02020603050405020304" pitchFamily="18" charset="0"/>
                <a:cs typeface="Times New Roman" panose="02020603050405020304" pitchFamily="18" charset="0"/>
              </a:rPr>
              <a:t>Random Subsampling</a:t>
            </a:r>
            <a:r>
              <a:rPr lang="en-IN" dirty="0">
                <a:solidFill>
                  <a:schemeClr val="tx1"/>
                </a:solidFill>
                <a:latin typeface="Times New Roman" panose="02020603050405020304" pitchFamily="18" charset="0"/>
                <a:cs typeface="Times New Roman" panose="02020603050405020304" pitchFamily="18" charset="0"/>
              </a:rPr>
              <a:t>.</a:t>
            </a:r>
          </a:p>
          <a:p>
            <a:r>
              <a:rPr lang="en-IN" dirty="0">
                <a:solidFill>
                  <a:schemeClr val="tx1"/>
                </a:solidFill>
                <a:latin typeface="Times New Roman" panose="02020603050405020304" pitchFamily="18" charset="0"/>
                <a:cs typeface="Times New Roman" panose="02020603050405020304" pitchFamily="18" charset="0"/>
              </a:rPr>
              <a:t>You repeat the holdout method K times, each time using different random samples for the training and test sets.</a:t>
            </a:r>
          </a:p>
          <a:p>
            <a:r>
              <a:rPr lang="en-IN" dirty="0">
                <a:solidFill>
                  <a:schemeClr val="tx1"/>
                </a:solidFill>
                <a:latin typeface="Times New Roman" panose="02020603050405020304" pitchFamily="18" charset="0"/>
                <a:cs typeface="Times New Roman" panose="02020603050405020304" pitchFamily="18" charset="0"/>
              </a:rPr>
              <a:t>You calculate the accuracy for each of the K repetitions and then </a:t>
            </a:r>
            <a:r>
              <a:rPr lang="en-IN" b="1" dirty="0">
                <a:solidFill>
                  <a:schemeClr val="tx1"/>
                </a:solidFill>
                <a:latin typeface="Times New Roman" panose="02020603050405020304" pitchFamily="18" charset="0"/>
                <a:cs typeface="Times New Roman" panose="02020603050405020304" pitchFamily="18" charset="0"/>
              </a:rPr>
              <a:t>average</a:t>
            </a:r>
            <a:r>
              <a:rPr lang="en-IN" dirty="0">
                <a:solidFill>
                  <a:schemeClr val="tx1"/>
                </a:solidFill>
                <a:latin typeface="Times New Roman" panose="02020603050405020304" pitchFamily="18" charset="0"/>
                <a:cs typeface="Times New Roman" panose="02020603050405020304" pitchFamily="18" charset="0"/>
              </a:rPr>
              <a:t> them to get a more reliable overall estimate</a:t>
            </a:r>
          </a:p>
        </p:txBody>
      </p:sp>
    </p:spTree>
    <p:extLst>
      <p:ext uri="{BB962C8B-B14F-4D97-AF65-F5344CB8AC3E}">
        <p14:creationId xmlns:p14="http://schemas.microsoft.com/office/powerpoint/2010/main" val="22437953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69E0D4-81AF-B019-287B-BCC1BD40DC9C}"/>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Swapping roles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BD7AE9B-72D0-65FB-13C8-12BCBD237209}"/>
              </a:ext>
            </a:extLst>
          </p:cNvPr>
          <p:cNvSpPr>
            <a:spLocks noGrp="1"/>
          </p:cNvSpPr>
          <p:nvPr>
            <p:ph idx="1"/>
          </p:nvPr>
        </p:nvSpPr>
        <p:spPr/>
        <p:txBody>
          <a:bodyPr/>
          <a:lstStyle/>
          <a:p>
            <a:r>
              <a:rPr lang="en-IN" dirty="0">
                <a:solidFill>
                  <a:schemeClr val="tx1"/>
                </a:solidFill>
                <a:latin typeface="Times New Roman" panose="02020603050405020304" pitchFamily="18" charset="0"/>
                <a:cs typeface="Times New Roman" panose="02020603050405020304" pitchFamily="18" charset="0"/>
              </a:rPr>
              <a:t>Another variation involves a 50:50 split where you train on the first half and test on the second, then </a:t>
            </a:r>
            <a:r>
              <a:rPr lang="en-IN" b="1" dirty="0">
                <a:solidFill>
                  <a:schemeClr val="tx1"/>
                </a:solidFill>
                <a:latin typeface="Times New Roman" panose="02020603050405020304" pitchFamily="18" charset="0"/>
                <a:cs typeface="Times New Roman" panose="02020603050405020304" pitchFamily="18" charset="0"/>
              </a:rPr>
              <a:t>swap</a:t>
            </a:r>
            <a:r>
              <a:rPr lang="en-IN" dirty="0">
                <a:solidFill>
                  <a:schemeClr val="tx1"/>
                </a:solidFill>
                <a:latin typeface="Times New Roman" panose="02020603050405020304" pitchFamily="18" charset="0"/>
                <a:cs typeface="Times New Roman" panose="02020603050405020304" pitchFamily="18" charset="0"/>
              </a:rPr>
              <a:t> (train on the second and test on the first).</a:t>
            </a:r>
          </a:p>
          <a:p>
            <a:r>
              <a:rPr lang="en-IN" b="1" dirty="0">
                <a:solidFill>
                  <a:schemeClr val="tx1"/>
                </a:solidFill>
                <a:latin typeface="Times New Roman" panose="02020603050405020304" pitchFamily="18" charset="0"/>
                <a:cs typeface="Times New Roman" panose="02020603050405020304" pitchFamily="18" charset="0"/>
              </a:rPr>
              <a:t>Pros:</a:t>
            </a:r>
            <a:r>
              <a:rPr lang="en-IN" dirty="0">
                <a:solidFill>
                  <a:schemeClr val="tx1"/>
                </a:solidFill>
                <a:latin typeface="Times New Roman" panose="02020603050405020304" pitchFamily="18" charset="0"/>
                <a:cs typeface="Times New Roman" panose="02020603050405020304" pitchFamily="18" charset="0"/>
              </a:rPr>
              <a:t> This helps decrease the effect of an uneven data distribution.</a:t>
            </a:r>
          </a:p>
          <a:p>
            <a:r>
              <a:rPr lang="en-IN" b="1" dirty="0">
                <a:solidFill>
                  <a:schemeClr val="tx1"/>
                </a:solidFill>
                <a:latin typeface="Times New Roman" panose="02020603050405020304" pitchFamily="18" charset="0"/>
                <a:cs typeface="Times New Roman" panose="02020603050405020304" pitchFamily="18" charset="0"/>
              </a:rPr>
              <a:t>Cons:</a:t>
            </a:r>
            <a:r>
              <a:rPr lang="en-IN" dirty="0">
                <a:solidFill>
                  <a:schemeClr val="tx1"/>
                </a:solidFill>
                <a:latin typeface="Times New Roman" panose="02020603050405020304" pitchFamily="18" charset="0"/>
                <a:cs typeface="Times New Roman" panose="02020603050405020304" pitchFamily="18" charset="0"/>
              </a:rPr>
              <a:t> It is usually not ideal because it is better to have </a:t>
            </a:r>
            <a:r>
              <a:rPr lang="en-IN" b="1" dirty="0">
                <a:solidFill>
                  <a:schemeClr val="tx1"/>
                </a:solidFill>
                <a:latin typeface="Times New Roman" panose="02020603050405020304" pitchFamily="18" charset="0"/>
                <a:cs typeface="Times New Roman" panose="02020603050405020304" pitchFamily="18" charset="0"/>
              </a:rPr>
              <a:t>more than 50%</a:t>
            </a:r>
            <a:r>
              <a:rPr lang="en-IN" dirty="0">
                <a:solidFill>
                  <a:schemeClr val="tx1"/>
                </a:solidFill>
                <a:latin typeface="Times New Roman" panose="02020603050405020304" pitchFamily="18" charset="0"/>
                <a:cs typeface="Times New Roman" panose="02020603050405020304" pitchFamily="18" charset="0"/>
              </a:rPr>
              <a:t> of your data dedicated to training the machine</a:t>
            </a:r>
          </a:p>
          <a:p>
            <a:endParaRPr lang="en-IN" dirty="0"/>
          </a:p>
        </p:txBody>
      </p:sp>
    </p:spTree>
    <p:extLst>
      <p:ext uri="{BB962C8B-B14F-4D97-AF65-F5344CB8AC3E}">
        <p14:creationId xmlns:p14="http://schemas.microsoft.com/office/powerpoint/2010/main" val="20696069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B8D0C-1936-326B-C4EF-5B408C946E25}"/>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Cross validation</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B1909B1-82BA-7808-B388-4A1F2FB3531B}"/>
              </a:ext>
            </a:extLst>
          </p:cNvPr>
          <p:cNvSpPr>
            <a:spLocks noGrp="1"/>
          </p:cNvSpPr>
          <p:nvPr>
            <p:ph idx="1"/>
          </p:nvPr>
        </p:nvSpPr>
        <p:spPr/>
        <p:txBody>
          <a:bodyPr/>
          <a:lstStyle/>
          <a:p>
            <a:r>
              <a:rPr lang="en-IN" b="1" dirty="0">
                <a:solidFill>
                  <a:schemeClr val="tx1"/>
                </a:solidFill>
                <a:latin typeface="Times New Roman" panose="02020603050405020304" pitchFamily="18" charset="0"/>
                <a:cs typeface="Times New Roman" panose="02020603050405020304" pitchFamily="18" charset="0"/>
              </a:rPr>
              <a:t>K-Fold Cross-Validation</a:t>
            </a:r>
            <a:endParaRPr lang="en-IN" dirty="0">
              <a:solidFill>
                <a:schemeClr val="tx1"/>
              </a:solidFill>
              <a:latin typeface="Times New Roman" panose="02020603050405020304" pitchFamily="18" charset="0"/>
              <a:cs typeface="Times New Roman" panose="02020603050405020304" pitchFamily="18" charset="0"/>
            </a:endParaRPr>
          </a:p>
          <a:p>
            <a:pPr lvl="0"/>
            <a:r>
              <a:rPr lang="en-IN" dirty="0">
                <a:solidFill>
                  <a:schemeClr val="tx1"/>
                </a:solidFill>
                <a:latin typeface="Times New Roman" panose="02020603050405020304" pitchFamily="18" charset="0"/>
                <a:cs typeface="Times New Roman" panose="02020603050405020304" pitchFamily="18" charset="0"/>
              </a:rPr>
              <a:t>Divide your data into K equal parts (usually K = 10).</a:t>
            </a:r>
          </a:p>
          <a:p>
            <a:pPr lvl="0"/>
            <a:r>
              <a:rPr lang="en-IN" dirty="0">
                <a:solidFill>
                  <a:schemeClr val="tx1"/>
                </a:solidFill>
                <a:latin typeface="Times New Roman" panose="02020603050405020304" pitchFamily="18" charset="0"/>
                <a:cs typeface="Times New Roman" panose="02020603050405020304" pitchFamily="18" charset="0"/>
              </a:rPr>
              <a:t>In the first round, use parts 2–10 for training and part 1 for testing.</a:t>
            </a:r>
          </a:p>
          <a:p>
            <a:pPr lvl="0"/>
            <a:r>
              <a:rPr lang="en-IN" dirty="0">
                <a:solidFill>
                  <a:schemeClr val="tx1"/>
                </a:solidFill>
                <a:latin typeface="Times New Roman" panose="02020603050405020304" pitchFamily="18" charset="0"/>
                <a:cs typeface="Times New Roman" panose="02020603050405020304" pitchFamily="18" charset="0"/>
              </a:rPr>
              <a:t>Repeat this until every part has been the "test set" once.</a:t>
            </a:r>
          </a:p>
          <a:p>
            <a:pPr lvl="0"/>
            <a:r>
              <a:rPr lang="en-IN" dirty="0">
                <a:solidFill>
                  <a:schemeClr val="tx1"/>
                </a:solidFill>
                <a:latin typeface="Times New Roman" panose="02020603050405020304" pitchFamily="18" charset="0"/>
                <a:cs typeface="Times New Roman" panose="02020603050405020304" pitchFamily="18" charset="0"/>
              </a:rPr>
              <a:t>Average all the errors to get a final score.</a:t>
            </a:r>
          </a:p>
          <a:p>
            <a:r>
              <a:rPr lang="en-IN" dirty="0">
                <a:solidFill>
                  <a:schemeClr val="tx1"/>
                </a:solidFill>
                <a:latin typeface="Times New Roman" panose="02020603050405020304" pitchFamily="18" charset="0"/>
                <a:cs typeface="Times New Roman" panose="02020603050405020304" pitchFamily="18" charset="0"/>
              </a:rPr>
              <a:t> </a:t>
            </a:r>
          </a:p>
          <a:p>
            <a:endParaRPr lang="en-IN" dirty="0"/>
          </a:p>
        </p:txBody>
      </p:sp>
    </p:spTree>
    <p:extLst>
      <p:ext uri="{BB962C8B-B14F-4D97-AF65-F5344CB8AC3E}">
        <p14:creationId xmlns:p14="http://schemas.microsoft.com/office/powerpoint/2010/main" val="28660771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93319-F47B-4F20-08D3-20D2CFBB4E29}"/>
              </a:ext>
            </a:extLst>
          </p:cNvPr>
          <p:cNvSpPr>
            <a:spLocks noGrp="1"/>
          </p:cNvSpPr>
          <p:nvPr>
            <p:ph type="title"/>
          </p:nvPr>
        </p:nvSpPr>
        <p:spPr/>
        <p:txBody>
          <a:bodyPr>
            <a:normAutofit fontScale="90000"/>
          </a:bodyPr>
          <a:lstStyle/>
          <a:p>
            <a:r>
              <a:rPr lang="en-IN" b="1" dirty="0">
                <a:latin typeface="Times New Roman" panose="02020603050405020304" pitchFamily="18" charset="0"/>
                <a:cs typeface="Times New Roman" panose="02020603050405020304" pitchFamily="18" charset="0"/>
              </a:rPr>
              <a:t>Leave-One-Out Cross-Validation (LOOCV)</a:t>
            </a: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98C98DF-62A8-B1E7-E09D-2B345D78ADD8}"/>
              </a:ext>
            </a:extLst>
          </p:cNvPr>
          <p:cNvSpPr>
            <a:spLocks noGrp="1"/>
          </p:cNvSpPr>
          <p:nvPr>
            <p:ph idx="1"/>
          </p:nvPr>
        </p:nvSpPr>
        <p:spPr/>
        <p:txBody>
          <a:bodyPr/>
          <a:lstStyle/>
          <a:p>
            <a:r>
              <a:rPr lang="en-IN" dirty="0">
                <a:solidFill>
                  <a:schemeClr val="tx1"/>
                </a:solidFill>
                <a:latin typeface="Times New Roman" panose="02020603050405020304" pitchFamily="18" charset="0"/>
                <a:cs typeface="Times New Roman" panose="02020603050405020304" pitchFamily="18" charset="0"/>
              </a:rPr>
              <a:t>You train on every single piece of data except for </a:t>
            </a:r>
            <a:r>
              <a:rPr lang="en-IN" b="1" dirty="0">
                <a:solidFill>
                  <a:schemeClr val="tx1"/>
                </a:solidFill>
                <a:latin typeface="Times New Roman" panose="02020603050405020304" pitchFamily="18" charset="0"/>
                <a:cs typeface="Times New Roman" panose="02020603050405020304" pitchFamily="18" charset="0"/>
              </a:rPr>
              <a:t>one</a:t>
            </a:r>
            <a:r>
              <a:rPr lang="en-IN" dirty="0">
                <a:solidFill>
                  <a:schemeClr val="tx1"/>
                </a:solidFill>
                <a:latin typeface="Times New Roman" panose="02020603050405020304" pitchFamily="18" charset="0"/>
                <a:cs typeface="Times New Roman" panose="02020603050405020304" pitchFamily="18" charset="0"/>
              </a:rPr>
              <a:t> lone sample, which you use for testing. You repeat this for every single sample in the set.</a:t>
            </a:r>
          </a:p>
          <a:p>
            <a:pPr lvl="0"/>
            <a:r>
              <a:rPr lang="en-IN" b="1" dirty="0">
                <a:solidFill>
                  <a:schemeClr val="tx1"/>
                </a:solidFill>
                <a:latin typeface="Times New Roman" panose="02020603050405020304" pitchFamily="18" charset="0"/>
                <a:cs typeface="Times New Roman" panose="02020603050405020304" pitchFamily="18" charset="0"/>
              </a:rPr>
              <a:t>Pro:</a:t>
            </a:r>
            <a:r>
              <a:rPr lang="en-IN" dirty="0">
                <a:solidFill>
                  <a:schemeClr val="tx1"/>
                </a:solidFill>
                <a:latin typeface="Times New Roman" panose="02020603050405020304" pitchFamily="18" charset="0"/>
                <a:cs typeface="Times New Roman" panose="02020603050405020304" pitchFamily="18" charset="0"/>
              </a:rPr>
              <a:t> Great for getting the most out of tiny datasets.</a:t>
            </a:r>
          </a:p>
          <a:p>
            <a:pPr lvl="0"/>
            <a:r>
              <a:rPr lang="en-IN" b="1" dirty="0">
                <a:solidFill>
                  <a:schemeClr val="tx1"/>
                </a:solidFill>
                <a:latin typeface="Times New Roman" panose="02020603050405020304" pitchFamily="18" charset="0"/>
                <a:cs typeface="Times New Roman" panose="02020603050405020304" pitchFamily="18" charset="0"/>
              </a:rPr>
              <a:t>Con:</a:t>
            </a:r>
            <a:r>
              <a:rPr lang="en-IN" dirty="0">
                <a:solidFill>
                  <a:schemeClr val="tx1"/>
                </a:solidFill>
                <a:latin typeface="Times New Roman" panose="02020603050405020304" pitchFamily="18" charset="0"/>
                <a:cs typeface="Times New Roman" panose="02020603050405020304" pitchFamily="18" charset="0"/>
              </a:rPr>
              <a:t> Very slow and expensive for large datasets.</a:t>
            </a:r>
          </a:p>
          <a:p>
            <a:endParaRPr lang="en-IN" dirty="0"/>
          </a:p>
        </p:txBody>
      </p:sp>
    </p:spTree>
    <p:extLst>
      <p:ext uri="{BB962C8B-B14F-4D97-AF65-F5344CB8AC3E}">
        <p14:creationId xmlns:p14="http://schemas.microsoft.com/office/powerpoint/2010/main" val="34940753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152AE-1B8B-E622-F389-FE13018AB1D4}"/>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Bootstrapping</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2271457-7DED-6EDA-DD48-8E22ED4DD3CD}"/>
              </a:ext>
            </a:extLst>
          </p:cNvPr>
          <p:cNvSpPr>
            <a:spLocks noGrp="1"/>
          </p:cNvSpPr>
          <p:nvPr>
            <p:ph idx="1"/>
          </p:nvPr>
        </p:nvSpPr>
        <p:spPr/>
        <p:txBody>
          <a:bodyPr/>
          <a:lstStyle/>
          <a:p>
            <a:r>
              <a:rPr lang="en-IN" dirty="0">
                <a:solidFill>
                  <a:schemeClr val="tx1"/>
                </a:solidFill>
                <a:latin typeface="Times New Roman" panose="02020603050405020304" pitchFamily="18" charset="0"/>
                <a:cs typeface="Times New Roman" panose="02020603050405020304" pitchFamily="18" charset="0"/>
              </a:rPr>
              <a:t>Bootstrap technique is based on the process of </a:t>
            </a:r>
            <a:r>
              <a:rPr lang="en-IN" b="1" dirty="0">
                <a:solidFill>
                  <a:schemeClr val="tx1"/>
                </a:solidFill>
                <a:latin typeface="Times New Roman" panose="02020603050405020304" pitchFamily="18" charset="0"/>
                <a:cs typeface="Times New Roman" panose="02020603050405020304" pitchFamily="18" charset="0"/>
              </a:rPr>
              <a:t>sampling with replacement.</a:t>
            </a:r>
          </a:p>
          <a:p>
            <a:r>
              <a:rPr lang="en-IN" dirty="0">
                <a:solidFill>
                  <a:schemeClr val="tx1"/>
                </a:solidFill>
                <a:latin typeface="Times New Roman" panose="02020603050405020304" pitchFamily="18" charset="0"/>
                <a:cs typeface="Times New Roman" panose="02020603050405020304" pitchFamily="18" charset="0"/>
              </a:rPr>
              <a:t>The concept of bootstrapping aims to sample the dataset by replacement, so as to form a training set and a test set.</a:t>
            </a:r>
          </a:p>
          <a:p>
            <a:r>
              <a:rPr lang="en-IN" dirty="0">
                <a:solidFill>
                  <a:schemeClr val="tx1"/>
                </a:solidFill>
                <a:latin typeface="Times New Roman" panose="02020603050405020304" pitchFamily="18" charset="0"/>
                <a:cs typeface="Times New Roman" panose="02020603050405020304" pitchFamily="18" charset="0"/>
              </a:rPr>
              <a:t>There are many bootstrap techniques. The most popular one is the 0.632 bootstrap, which works as follows:</a:t>
            </a:r>
          </a:p>
          <a:p>
            <a:endParaRPr lang="en-IN" dirty="0">
              <a:solidFill>
                <a:schemeClr val="tx1"/>
              </a:solidFill>
              <a:latin typeface="Times New Roman" panose="02020603050405020304" pitchFamily="18" charset="0"/>
              <a:cs typeface="Times New Roman" panose="02020603050405020304" pitchFamily="18" charset="0"/>
            </a:endParaRPr>
          </a:p>
          <a:p>
            <a:endParaRPr lang="en-IN"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874379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376EAE6-D56B-EEB3-88E6-F38232B1540D}"/>
              </a:ext>
            </a:extLst>
          </p:cNvPr>
          <p:cNvSpPr>
            <a:spLocks noGrp="1"/>
          </p:cNvSpPr>
          <p:nvPr>
            <p:ph idx="1"/>
          </p:nvPr>
        </p:nvSpPr>
        <p:spPr>
          <a:xfrm>
            <a:off x="970936" y="787125"/>
            <a:ext cx="9942870" cy="3942191"/>
          </a:xfrm>
        </p:spPr>
        <p:txBody>
          <a:bodyPr>
            <a:normAutofit fontScale="85000" lnSpcReduction="10000"/>
          </a:bodyPr>
          <a:lstStyle/>
          <a:p>
            <a:r>
              <a:rPr lang="en-IN" sz="2800" b="1" dirty="0">
                <a:latin typeface="Times New Roman" panose="02020603050405020304" pitchFamily="18" charset="0"/>
                <a:cs typeface="Times New Roman" panose="02020603050405020304" pitchFamily="18" charset="0"/>
              </a:rPr>
              <a:t>1. The "Names in a Hat" Analogy</a:t>
            </a:r>
            <a:endParaRPr lang="en-IN" sz="2800" dirty="0">
              <a:latin typeface="Times New Roman" panose="02020603050405020304" pitchFamily="18" charset="0"/>
              <a:cs typeface="Times New Roman" panose="02020603050405020304" pitchFamily="18" charset="0"/>
            </a:endParaRPr>
          </a:p>
          <a:p>
            <a:r>
              <a:rPr lang="en-IN" sz="2800" dirty="0">
                <a:latin typeface="Times New Roman" panose="02020603050405020304" pitchFamily="18" charset="0"/>
                <a:cs typeface="Times New Roman" panose="02020603050405020304" pitchFamily="18" charset="0"/>
              </a:rPr>
              <a:t>Imagine you have a hat with 10 different names in it. You want to create a "Training Team" of 10 people.</a:t>
            </a:r>
          </a:p>
          <a:p>
            <a:r>
              <a:rPr lang="en-IN" sz="2800" b="1" dirty="0">
                <a:latin typeface="Times New Roman" panose="02020603050405020304" pitchFamily="18" charset="0"/>
                <a:cs typeface="Times New Roman" panose="02020603050405020304" pitchFamily="18" charset="0"/>
              </a:rPr>
              <a:t>The Process:</a:t>
            </a:r>
            <a:r>
              <a:rPr lang="en-IN" sz="2800" dirty="0">
                <a:latin typeface="Times New Roman" panose="02020603050405020304" pitchFamily="18" charset="0"/>
                <a:cs typeface="Times New Roman" panose="02020603050405020304" pitchFamily="18" charset="0"/>
              </a:rPr>
              <a:t> You reach in, pull out a name, write it down, and </a:t>
            </a:r>
            <a:r>
              <a:rPr lang="en-IN" sz="2800" b="1" dirty="0">
                <a:latin typeface="Times New Roman" panose="02020603050405020304" pitchFamily="18" charset="0"/>
                <a:cs typeface="Times New Roman" panose="02020603050405020304" pitchFamily="18" charset="0"/>
              </a:rPr>
              <a:t>put the name back in the hat</a:t>
            </a:r>
            <a:r>
              <a:rPr lang="en-IN" sz="2800" dirty="0">
                <a:latin typeface="Times New Roman" panose="02020603050405020304" pitchFamily="18" charset="0"/>
                <a:cs typeface="Times New Roman" panose="02020603050405020304" pitchFamily="18" charset="0"/>
              </a:rPr>
              <a:t>.</a:t>
            </a:r>
          </a:p>
          <a:p>
            <a:r>
              <a:rPr lang="en-IN" sz="2800" b="1" dirty="0">
                <a:latin typeface="Times New Roman" panose="02020603050405020304" pitchFamily="18" charset="0"/>
                <a:cs typeface="Times New Roman" panose="02020603050405020304" pitchFamily="18" charset="0"/>
              </a:rPr>
              <a:t>The Result:</a:t>
            </a:r>
            <a:r>
              <a:rPr lang="en-IN" sz="2800" dirty="0">
                <a:latin typeface="Times New Roman" panose="02020603050405020304" pitchFamily="18" charset="0"/>
                <a:cs typeface="Times New Roman" panose="02020603050405020304" pitchFamily="18" charset="0"/>
              </a:rPr>
              <a:t> You repeat this 10 times. Because you put the names back, you might pick "John" three times and never pick "Sarah" at all.</a:t>
            </a:r>
          </a:p>
          <a:p>
            <a:r>
              <a:rPr lang="en-IN" sz="2800" b="1" dirty="0">
                <a:latin typeface="Times New Roman" panose="02020603050405020304" pitchFamily="18" charset="0"/>
                <a:cs typeface="Times New Roman" panose="02020603050405020304" pitchFamily="18" charset="0"/>
              </a:rPr>
              <a:t>The Split:</a:t>
            </a:r>
            <a:r>
              <a:rPr lang="en-IN" sz="2800" dirty="0">
                <a:latin typeface="Times New Roman" panose="02020603050405020304" pitchFamily="18" charset="0"/>
                <a:cs typeface="Times New Roman" panose="02020603050405020304" pitchFamily="18" charset="0"/>
              </a:rPr>
              <a:t> The names you picked go on the </a:t>
            </a:r>
            <a:r>
              <a:rPr lang="en-IN" sz="2800" b="1" dirty="0">
                <a:latin typeface="Times New Roman" panose="02020603050405020304" pitchFamily="18" charset="0"/>
                <a:cs typeface="Times New Roman" panose="02020603050405020304" pitchFamily="18" charset="0"/>
              </a:rPr>
              <a:t>Training Team</a:t>
            </a:r>
            <a:r>
              <a:rPr lang="en-IN" sz="2800" dirty="0">
                <a:latin typeface="Times New Roman" panose="02020603050405020304" pitchFamily="18" charset="0"/>
                <a:cs typeface="Times New Roman" panose="02020603050405020304" pitchFamily="18" charset="0"/>
              </a:rPr>
              <a:t>. The names that were left in the hat (the ones you never picked) become your </a:t>
            </a:r>
            <a:r>
              <a:rPr lang="en-IN" sz="2800" b="1" dirty="0">
                <a:latin typeface="Times New Roman" panose="02020603050405020304" pitchFamily="18" charset="0"/>
                <a:cs typeface="Times New Roman" panose="02020603050405020304" pitchFamily="18" charset="0"/>
              </a:rPr>
              <a:t>Test Set</a:t>
            </a:r>
            <a:r>
              <a:rPr lang="en-IN" sz="2800" dirty="0">
                <a:latin typeface="Times New Roman" panose="02020603050405020304" pitchFamily="18" charset="0"/>
                <a:cs typeface="Times New Roman" panose="02020603050405020304" pitchFamily="18" charset="0"/>
              </a:rPr>
              <a:t>.</a:t>
            </a:r>
          </a:p>
          <a:p>
            <a:endParaRPr lang="en-IN" dirty="0"/>
          </a:p>
        </p:txBody>
      </p:sp>
    </p:spTree>
    <p:extLst>
      <p:ext uri="{BB962C8B-B14F-4D97-AF65-F5344CB8AC3E}">
        <p14:creationId xmlns:p14="http://schemas.microsoft.com/office/powerpoint/2010/main" val="29470796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E3C276-22E7-2027-6384-BB045D1F1459}"/>
              </a:ext>
            </a:extLst>
          </p:cNvPr>
          <p:cNvSpPr>
            <a:spLocks noGrp="1"/>
          </p:cNvSpPr>
          <p:nvPr>
            <p:ph idx="1"/>
          </p:nvPr>
        </p:nvSpPr>
        <p:spPr>
          <a:xfrm>
            <a:off x="1079091" y="1111590"/>
            <a:ext cx="10021528" cy="4227326"/>
          </a:xfrm>
        </p:spPr>
        <p:txBody>
          <a:bodyPr>
            <a:normAutofit/>
          </a:bodyPr>
          <a:lstStyle/>
          <a:p>
            <a:r>
              <a:rPr lang="en-IN" b="1" dirty="0">
                <a:latin typeface="Times New Roman" panose="02020603050405020304" pitchFamily="18" charset="0"/>
                <a:cs typeface="Times New Roman" panose="02020603050405020304" pitchFamily="18" charset="0"/>
              </a:rPr>
              <a:t>Where does "63.2%" come from?</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The probability that a particular instance will be picked is 1/N; so the probability of not being picked is (1-1/N)</a:t>
            </a:r>
          </a:p>
          <a:p>
            <a:r>
              <a:rPr lang="en-IN" dirty="0">
                <a:latin typeface="Times New Roman" panose="02020603050405020304" pitchFamily="18" charset="0"/>
                <a:cs typeface="Times New Roman" panose="02020603050405020304" pitchFamily="18" charset="0"/>
              </a:rPr>
              <a:t>This method is called 0.632 Bootstrap because after drawing samples n times roughly 63.2% of data is drawn at least once and 36.8% of the data is never drawn.</a:t>
            </a:r>
          </a:p>
          <a:p>
            <a:r>
              <a:rPr lang="en-IN" dirty="0">
                <a:latin typeface="Times New Roman" panose="02020603050405020304" pitchFamily="18" charset="0"/>
                <a:cs typeface="Times New Roman" panose="02020603050405020304" pitchFamily="18" charset="0"/>
              </a:rPr>
              <a:t>On average, your training set will contain </a:t>
            </a:r>
            <a:r>
              <a:rPr lang="en-IN" b="1" dirty="0">
                <a:latin typeface="Times New Roman" panose="02020603050405020304" pitchFamily="18" charset="0"/>
                <a:cs typeface="Times New Roman" panose="02020603050405020304" pitchFamily="18" charset="0"/>
              </a:rPr>
              <a:t>63.2%</a:t>
            </a:r>
            <a:r>
              <a:rPr lang="en-IN" dirty="0">
                <a:latin typeface="Times New Roman" panose="02020603050405020304" pitchFamily="18" charset="0"/>
                <a:cs typeface="Times New Roman" panose="02020603050405020304" pitchFamily="18" charset="0"/>
              </a:rPr>
              <a:t> of your original unique data points, while the remaining </a:t>
            </a:r>
            <a:r>
              <a:rPr lang="en-IN" b="1" dirty="0">
                <a:latin typeface="Times New Roman" panose="02020603050405020304" pitchFamily="18" charset="0"/>
                <a:cs typeface="Times New Roman" panose="02020603050405020304" pitchFamily="18" charset="0"/>
              </a:rPr>
              <a:t>36.8%</a:t>
            </a:r>
            <a:r>
              <a:rPr lang="en-IN" dirty="0">
                <a:latin typeface="Times New Roman" panose="02020603050405020304" pitchFamily="18" charset="0"/>
                <a:cs typeface="Times New Roman" panose="02020603050405020304" pitchFamily="18" charset="0"/>
              </a:rPr>
              <a:t> are your "unseen" test instances</a:t>
            </a:r>
            <a:r>
              <a:rPr lang="en-IN" dirty="0"/>
              <a:t>.</a:t>
            </a:r>
          </a:p>
          <a:p>
            <a:r>
              <a:rPr lang="en-IN" sz="2600" dirty="0"/>
              <a:t> </a:t>
            </a:r>
          </a:p>
          <a:p>
            <a:endParaRPr lang="en-IN" dirty="0"/>
          </a:p>
        </p:txBody>
      </p:sp>
    </p:spTree>
    <p:extLst>
      <p:ext uri="{BB962C8B-B14F-4D97-AF65-F5344CB8AC3E}">
        <p14:creationId xmlns:p14="http://schemas.microsoft.com/office/powerpoint/2010/main" val="21223031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877CBB-A888-CDD8-D44C-9DC0E0DF3762}"/>
              </a:ext>
            </a:extLst>
          </p:cNvPr>
          <p:cNvSpPr>
            <a:spLocks noGrp="1"/>
          </p:cNvSpPr>
          <p:nvPr>
            <p:ph idx="1"/>
          </p:nvPr>
        </p:nvSpPr>
        <p:spPr>
          <a:xfrm>
            <a:off x="931606" y="855950"/>
            <a:ext cx="10277167" cy="5397365"/>
          </a:xfrm>
        </p:spPr>
        <p:txBody>
          <a:bodyPr>
            <a:normAutofit fontScale="92500" lnSpcReduction="10000"/>
          </a:bodyPr>
          <a:lstStyle/>
          <a:p>
            <a:r>
              <a:rPr lang="en-IN" b="1" dirty="0">
                <a:solidFill>
                  <a:schemeClr val="tx1"/>
                </a:solidFill>
                <a:latin typeface="Times New Roman" panose="02020603050405020304" pitchFamily="18" charset="0"/>
                <a:cs typeface="Times New Roman" panose="02020603050405020304" pitchFamily="18" charset="0"/>
              </a:rPr>
              <a:t>The 0.632 Error Formula</a:t>
            </a:r>
            <a:endParaRPr lang="en-IN" dirty="0">
              <a:solidFill>
                <a:schemeClr val="tx1"/>
              </a:solidFill>
              <a:latin typeface="Times New Roman" panose="02020603050405020304" pitchFamily="18" charset="0"/>
              <a:cs typeface="Times New Roman" panose="02020603050405020304" pitchFamily="18" charset="0"/>
            </a:endParaRPr>
          </a:p>
          <a:p>
            <a:r>
              <a:rPr lang="en-IN" dirty="0">
                <a:solidFill>
                  <a:schemeClr val="tx1"/>
                </a:solidFill>
                <a:latin typeface="Times New Roman" panose="02020603050405020304" pitchFamily="18" charset="0"/>
                <a:cs typeface="Times New Roman" panose="02020603050405020304" pitchFamily="18" charset="0"/>
              </a:rPr>
              <a:t>If we only measured the error on the test set, it would be too "pessimistic" (it would look worse than it is) because the model only learned from 63.2% of the unique data. To get a more realistic score, we combine the performance from both sets using a weighted average:</a:t>
            </a:r>
          </a:p>
          <a:p>
            <a:r>
              <a:rPr lang="en-IN" dirty="0">
                <a:solidFill>
                  <a:schemeClr val="tx1"/>
                </a:solidFill>
                <a:latin typeface="Times New Roman" panose="02020603050405020304" pitchFamily="18" charset="0"/>
                <a:cs typeface="Times New Roman" panose="02020603050405020304" pitchFamily="18" charset="0"/>
              </a:rPr>
              <a:t> </a:t>
            </a:r>
          </a:p>
          <a:p>
            <a:r>
              <a:rPr lang="en-IN" dirty="0">
                <a:solidFill>
                  <a:schemeClr val="tx1"/>
                </a:solidFill>
                <a:latin typeface="Times New Roman" panose="02020603050405020304" pitchFamily="18" charset="0"/>
                <a:cs typeface="Times New Roman" panose="02020603050405020304" pitchFamily="18" charset="0"/>
              </a:rPr>
              <a:t>Final Error= (0.632× Error on test data) +(0.368 × Error on training data)</a:t>
            </a:r>
          </a:p>
          <a:p>
            <a:r>
              <a:rPr lang="en-IN" dirty="0">
                <a:solidFill>
                  <a:schemeClr val="tx1"/>
                </a:solidFill>
                <a:latin typeface="Times New Roman" panose="02020603050405020304" pitchFamily="18" charset="0"/>
                <a:cs typeface="Times New Roman" panose="02020603050405020304" pitchFamily="18" charset="0"/>
              </a:rPr>
              <a:t>Why use this?</a:t>
            </a:r>
          </a:p>
          <a:p>
            <a:pPr lvl="0"/>
            <a:r>
              <a:rPr lang="en-IN" b="1" dirty="0">
                <a:solidFill>
                  <a:schemeClr val="tx1"/>
                </a:solidFill>
                <a:latin typeface="Times New Roman" panose="02020603050405020304" pitchFamily="18" charset="0"/>
                <a:cs typeface="Times New Roman" panose="02020603050405020304" pitchFamily="18" charset="0"/>
              </a:rPr>
              <a:t>Best for Small Data:</a:t>
            </a:r>
            <a:r>
              <a:rPr lang="en-IN" dirty="0">
                <a:solidFill>
                  <a:schemeClr val="tx1"/>
                </a:solidFill>
                <a:latin typeface="Times New Roman" panose="02020603050405020304" pitchFamily="18" charset="0"/>
                <a:cs typeface="Times New Roman" panose="02020603050405020304" pitchFamily="18" charset="0"/>
              </a:rPr>
              <a:t> When you don't have enough data to comfortably set aside a large "Test Set," bootstrapping allows you to use every single piece of data for both training and testing in different iterations.</a:t>
            </a:r>
          </a:p>
          <a:p>
            <a:pPr lvl="0"/>
            <a:r>
              <a:rPr lang="en-IN" b="1" dirty="0">
                <a:solidFill>
                  <a:schemeClr val="tx1"/>
                </a:solidFill>
                <a:latin typeface="Times New Roman" panose="02020603050405020304" pitchFamily="18" charset="0"/>
                <a:cs typeface="Times New Roman" panose="02020603050405020304" pitchFamily="18" charset="0"/>
              </a:rPr>
              <a:t>The Catch:</a:t>
            </a:r>
            <a:r>
              <a:rPr lang="en-IN" dirty="0">
                <a:solidFill>
                  <a:schemeClr val="tx1"/>
                </a:solidFill>
                <a:latin typeface="Times New Roman" panose="02020603050405020304" pitchFamily="18" charset="0"/>
                <a:cs typeface="Times New Roman" panose="02020603050405020304" pitchFamily="18" charset="0"/>
              </a:rPr>
              <a:t> It can be "overly optimistic," meaning it might make the model look slightly better than it actually is.</a:t>
            </a:r>
          </a:p>
          <a:p>
            <a:r>
              <a:rPr lang="en-IN" dirty="0"/>
              <a:t> </a:t>
            </a:r>
          </a:p>
          <a:p>
            <a:endParaRPr lang="en-IN" dirty="0"/>
          </a:p>
        </p:txBody>
      </p:sp>
    </p:spTree>
    <p:extLst>
      <p:ext uri="{BB962C8B-B14F-4D97-AF65-F5344CB8AC3E}">
        <p14:creationId xmlns:p14="http://schemas.microsoft.com/office/powerpoint/2010/main" val="1143854847"/>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480</TotalTime>
  <Words>3997</Words>
  <Application>Microsoft Office PowerPoint</Application>
  <PresentationFormat>Widescreen</PresentationFormat>
  <Paragraphs>416</Paragraphs>
  <Slides>34</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Arial</vt:lpstr>
      <vt:lpstr>Calibri</vt:lpstr>
      <vt:lpstr>Cambria Math</vt:lpstr>
      <vt:lpstr>Garamond</vt:lpstr>
      <vt:lpstr>Times New Roman</vt:lpstr>
      <vt:lpstr>Organic</vt:lpstr>
      <vt:lpstr>Heuristic Search in Inductive Learning</vt:lpstr>
      <vt:lpstr>Content</vt:lpstr>
      <vt:lpstr>PowerPoint Presentation</vt:lpstr>
      <vt:lpstr>Bias-Variance Trade-off</vt:lpstr>
      <vt:lpstr>Search through heuristic space</vt:lpstr>
      <vt:lpstr>PowerPoint Presentation</vt:lpstr>
      <vt:lpstr>PowerPoint Presentation</vt:lpstr>
      <vt:lpstr>PowerPoint Presentation</vt:lpstr>
      <vt:lpstr>Techniques in heuristics </vt:lpstr>
      <vt:lpstr>Regularization</vt:lpstr>
      <vt:lpstr>Early Stopping</vt:lpstr>
      <vt:lpstr>Pruning (Gardening approach)</vt:lpstr>
      <vt:lpstr>Ensemble Learning </vt:lpstr>
      <vt:lpstr>Class Imbalance problem </vt:lpstr>
      <vt:lpstr>Evaluation Metrics</vt:lpstr>
      <vt:lpstr>Estimating generalization Errors</vt:lpstr>
      <vt:lpstr>Training data </vt:lpstr>
      <vt:lpstr>Validation data </vt:lpstr>
      <vt:lpstr>Test data</vt:lpstr>
      <vt:lpstr>Simple splitting methods</vt:lpstr>
      <vt:lpstr>Holdout Method</vt:lpstr>
      <vt:lpstr>Stratification</vt:lpstr>
      <vt:lpstr>PowerPoint Presentation</vt:lpstr>
      <vt:lpstr>PowerPoint Presentation</vt:lpstr>
      <vt:lpstr>Stratified split </vt:lpstr>
      <vt:lpstr>PowerPoint Presentation</vt:lpstr>
      <vt:lpstr>Random Subsampling</vt:lpstr>
      <vt:lpstr>Swapping roles</vt:lpstr>
      <vt:lpstr>Cross validation</vt:lpstr>
      <vt:lpstr>Leave-One-Out Cross-Validation (LOOCV) </vt:lpstr>
      <vt:lpstr>Bootstrapping</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Shrikrishna Narvekar</dc:creator>
  <cp:lastModifiedBy>Shrikrishna Narvekar</cp:lastModifiedBy>
  <cp:revision>9</cp:revision>
  <dcterms:created xsi:type="dcterms:W3CDTF">2026-02-04T05:14:36Z</dcterms:created>
  <dcterms:modified xsi:type="dcterms:W3CDTF">2026-02-17T05:39:34Z</dcterms:modified>
</cp:coreProperties>
</file>