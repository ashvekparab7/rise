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C892B4-BE08-47A1-BAAB-59548C93BD1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rikrishna Narvekar" initials="SN" lastIdx="1" clrIdx="0">
    <p:extLst>
      <p:ext uri="{19B8F6BF-5375-455C-9EA6-DF929625EA0E}">
        <p15:presenceInfo xmlns:p15="http://schemas.microsoft.com/office/powerpoint/2012/main" userId="f4bc5d624d5605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28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59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5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49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10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38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59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0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34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482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40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43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245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64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662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96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E6E40B-EEC8-4177-A55F-B35385B0098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B64C46-B859-490D-9AE5-0F993AA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3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8301-7E12-F756-6B22-7168BFA55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Linear discriminant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9044-2B6D-ECB9-83BF-E44F1DC49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997292" cy="179930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Shrikrishna Anand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Narvekar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</a:p>
        </p:txBody>
      </p:sp>
    </p:spTree>
    <p:extLst>
      <p:ext uri="{BB962C8B-B14F-4D97-AF65-F5344CB8AC3E}">
        <p14:creationId xmlns:p14="http://schemas.microsoft.com/office/powerpoint/2010/main" val="193692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1CEC-AF2B-9C68-4374-4D1AC718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Discriminant Functions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B717D-B8E0-B1B5-A35E-338470E47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discriminant function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formula that helps us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decide which class a data point belongs to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Think of it as a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class.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it works: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class, we calculate a value: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choose the class with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highest value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B717D-B8E0-B1B5-A35E-338470E47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3670" b="-5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67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F2EF-5F8D-4D5A-24FC-C32CF74F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0" y="2536722"/>
            <a:ext cx="10559845" cy="377558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want to classify a fruit: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calculate: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score → 0.8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score → 0.3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 &gt; 0.3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classify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016747-3BDE-9A33-6EC4-6E5213820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17583"/>
              </p:ext>
            </p:extLst>
          </p:nvPr>
        </p:nvGraphicFramePr>
        <p:xfrm>
          <a:off x="8050160" y="3671037"/>
          <a:ext cx="2966884" cy="1217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3442">
                  <a:extLst>
                    <a:ext uri="{9D8B030D-6E8A-4147-A177-3AD203B41FA5}">
                      <a16:colId xmlns:a16="http://schemas.microsoft.com/office/drawing/2014/main" val="43221750"/>
                    </a:ext>
                  </a:extLst>
                </a:gridCol>
                <a:gridCol w="1483442">
                  <a:extLst>
                    <a:ext uri="{9D8B030D-6E8A-4147-A177-3AD203B41FA5}">
                      <a16:colId xmlns:a16="http://schemas.microsoft.com/office/drawing/2014/main" val="3607975316"/>
                    </a:ext>
                  </a:extLst>
                </a:gridCol>
              </a:tblGrid>
              <a:tr h="3642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3977958"/>
                  </a:ext>
                </a:extLst>
              </a:tr>
              <a:tr h="3642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0419731"/>
                  </a:ext>
                </a:extLst>
              </a:tr>
              <a:tr h="3642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150g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005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24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0DB5A-2122-2AA6-4560-E979CA04E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6" y="634181"/>
            <a:ext cx="10412361" cy="560438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(Multi-Class)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doctor using an AI tool to analyse an X-ray. The system needs to decide if the image shows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Bronchitis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Lungs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a discriminant function for each possibility based on features like lung capacity, fluid levels, and texture: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g{Pneumonia}(x) = 0.15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g{Bronchitis}(x) = 0.65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g{Healthy}(x) = 0.20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0.65 is the highest score, the system classifies the scan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Bronchitis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065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E853-144C-A478-7E1C-51A876EF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Filters (Binary Classification)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9F09-B37E-A067-4A7C-B237CB284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classic "Class 1 or Class 2" scenario. Your email provider uses a single discriminant function g(x) to analyse an incoming message based on features like "Words in ALL CAPS" or "Number of suspicious links."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g(x) &gt; 0, it’s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g(x) ≤0, it’s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Inbox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Calculation: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function might look at an email and produce a score of +2.5.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+2.5 &gt; 0, the email is sent straight to the junk folder.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48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C7AF-6231-471C-5E98-01F38D12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A7B9-41D1-3C1E-D492-C19B8498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apply for a credit card, the bank doesn't just look at one number; they use a function that combines your income, debt, and payment history.</a:t>
            </a:r>
          </a:p>
          <a:p>
            <a:pPr lvl="0"/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g(Income, Debt, History) &gt; Threshold, you are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result is below the threshold, you are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Denied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"Discriminant" here is literally the line in the sand that separates "Reliable Borrowers" from "High-Risk Borrowers."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48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2933-C78C-C12A-50F9-3D89FC2C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322" y="604684"/>
            <a:ext cx="10471355" cy="536841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Boundaries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lines/curves that separate classes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 line → linear boundary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 → nonlinear boundary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Real-life Example: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divided into: 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</a:t>
            </a: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Risky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separates both groups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075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AF7E-AA4E-8870-306A-DE2D9C70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Linear Discriminant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AC65-AD34-0AE5-99E8-6D53B7DF9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7697" y="2424196"/>
                <a:ext cx="6418005" cy="3888113"/>
              </a:xfrm>
            </p:spPr>
            <p:txBody>
              <a:bodyPr>
                <a:norm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Fisher’s Linear Discriminant (FLD) is a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dimensionality reduction technique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used to: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high-dimensional data → 1D line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keeping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classes as separable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possible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project data using:   z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 original n-dimensional data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w: projection vector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z: projected 1D value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AC65-AD34-0AE5-99E8-6D53B7DF9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7697" y="2424196"/>
                <a:ext cx="6418005" cy="3888113"/>
              </a:xfrm>
              <a:blipFill>
                <a:blip r:embed="rId2"/>
                <a:stretch>
                  <a:fillRect l="-1709" t="-2355" b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89A3865-D0AB-D2BF-F726-40811B2226A0}"/>
              </a:ext>
            </a:extLst>
          </p:cNvPr>
          <p:cNvSpPr txBox="1"/>
          <p:nvPr/>
        </p:nvSpPr>
        <p:spPr>
          <a:xfrm>
            <a:off x="7285701" y="2424196"/>
            <a:ext cx="40386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direction 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class points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together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class points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apart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39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F369-7832-5566-BCA0-C195882A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many dimensions to One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A044C-30BF-DCB6-0924-FB8458C2F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Imagine you have data points defined by many features (like height, weight, age, etc.). This is represented as a vector x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FLD wants to transform this multi-dimensional vector into a single number z. This is done using a linear combination: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+………..+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W: This is the "projection vector." It tells us the direction of the line we are projecting onto.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Z: This is the resulting 1D coordinate of your data point on that line.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A044C-30BF-DCB6-0924-FB8458C2F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2936" r="-5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517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EDD5F-1328-3451-777A-7EC099C708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473" y="527179"/>
                <a:ext cx="10646229" cy="580364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have: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points in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n-dimensional space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(many features) 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classes: </a:t>
                </a:r>
              </a:p>
              <a:p>
                <a:pPr lvl="1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→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 Convert this complex data into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1D (a single line)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easier classification.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convert n-D to 1-D?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project data using: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z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 original n-dimensional data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w: projection vector 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z: projected 1D value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means: Each point becomes just one number (z) 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EDD5F-1328-3451-777A-7EC099C708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473" y="527179"/>
                <a:ext cx="10646229" cy="5803641"/>
              </a:xfrm>
              <a:blipFill>
                <a:blip r:embed="rId2"/>
                <a:stretch>
                  <a:fillRect l="-859" t="-1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38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2A3BA-8B09-9DA8-4939-C90F50577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4440" y="746449"/>
                <a:ext cx="10571583" cy="5439747"/>
              </a:xfrm>
            </p:spPr>
            <p:txBody>
              <a:bodyPr/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happens after projection?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the points from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the points from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200" b="1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200" b="1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Many-to-One Mapping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Many-dimensional points → mapped to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number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called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many-to-one mapping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Problem: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points may map to similar values →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overlap can happen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2A3BA-8B09-9DA8-4939-C90F50577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440" y="746449"/>
                <a:ext cx="10571583" cy="5439747"/>
              </a:xfrm>
              <a:blipFill>
                <a:blip r:embed="rId2"/>
                <a:stretch>
                  <a:fillRect l="-1038" t="-15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7EA5654-3286-4778-6223-F3B27EA7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31" y="746448"/>
            <a:ext cx="5381225" cy="215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1A74-F6BC-E7DD-72AA-619D572C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Geometrical Meaning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F24E5-4D3C-CCCD-7AA3-34F5C6F50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190999" cy="321871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in space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point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onto that 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casting a shadow of points onto a line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shadow = z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25639-10BF-7CF3-6BBA-A597CB08D840}"/>
              </a:ext>
            </a:extLst>
          </p:cNvPr>
          <p:cNvSpPr txBox="1"/>
          <p:nvPr/>
        </p:nvSpPr>
        <p:spPr>
          <a:xfrm>
            <a:off x="6096000" y="2556932"/>
            <a:ext cx="464353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vector 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decides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of the 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matters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its size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magnitude only scales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change separation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547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E288-5CE0-1058-2313-2FD11F549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662473"/>
            <a:ext cx="10496939" cy="535577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goal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find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direction 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Points of same class → close together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Points of different classes → far apart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dots (Class 1)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dots (Class 2)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draw a line: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lines mix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❌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lines separate them nicely ✅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FLD tries to find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7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D2519-E612-1F86-C076-CE08F675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Understanding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04789C-4A6D-7BAB-A41C-7ADAA0C38E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10181252" cy="3769223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high-dimensional data →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1D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direction w carefully 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 data using z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Try to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separate classes as much as possible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projecting data to 1D: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1 → values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2 → values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Now we need a way to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how well these two classes are separated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 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04789C-4A6D-7BAB-A41C-7ADAA0C38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10181252" cy="3769223"/>
              </a:xfrm>
              <a:blipFill>
                <a:blip r:embed="rId2"/>
                <a:stretch>
                  <a:fillRect l="-898" t="-3554" b="-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59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4878-3D76-2C05-B144-411648B5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used in FLD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229C6-8B7C-46F7-FE82-31FCFDA374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Find Mean of Each Class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calculate average (mean) of projected values: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order to find a good projection vector w, we need to define a measure of separation between the projections. The means of data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given by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229C6-8B7C-46F7-FE82-31FCFDA37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569" r="-15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CD14C93-0073-30CD-623C-986AF3C05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253" y="4492481"/>
            <a:ext cx="4401178" cy="110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0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D720-9493-A14A-8AA2-B1FCAABB5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811763"/>
            <a:ext cx="10038181" cy="506410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Idea (Simple but Not Enough)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may think: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“If means are far apart, classes are well separated</a:t>
            </a:r>
            <a:r>
              <a:rPr lang="en-IN" dirty="0"/>
              <a:t>”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Bigger distance = better separation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ignores how spread out the data is!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Mean Alone is Not Enough?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 → tight clusters → good separation ✅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 → very spread data → overlapping ❌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means are same distance,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matters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E16F7-8E9C-114F-FA7A-FF06A3A3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30" y="3429000"/>
            <a:ext cx="2551624" cy="47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56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B75C43-5AD7-838A-3FAC-283EE29EA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25" y="736600"/>
            <a:ext cx="10683875" cy="5608638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Measure Spread (Variance)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class: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tells: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much data is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scattered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divide by N−?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 → biased result ❌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N−1→ correct (unbiased) estimate</a:t>
            </a:r>
          </a:p>
          <a:p>
            <a:r>
              <a:rPr lang="en-IN" dirty="0"/>
              <a:t> 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Combine Both Variances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pooled variance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spread of both classes together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47545F-5BE7-D374-599E-82D2C3D349A8}"/>
              </a:ext>
            </a:extLst>
          </p:cNvPr>
          <p:cNvSpPr txBox="1">
            <a:spLocks/>
          </p:cNvSpPr>
          <p:nvPr/>
        </p:nvSpPr>
        <p:spPr>
          <a:xfrm>
            <a:off x="754062" y="708608"/>
            <a:ext cx="10683875" cy="56086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45DC8-8033-F7FE-69DB-D6DAB350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09" y="1295546"/>
            <a:ext cx="2552214" cy="2507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67436-8DFC-EDC7-C7FD-6A848CDD3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8" y="3951440"/>
            <a:ext cx="4672449" cy="219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73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9B7D-7770-D49D-6979-0A7ADB398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49" y="699796"/>
            <a:ext cx="10150148" cy="51760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Measure (MOST IMPORTANT)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combine both ideas: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separation happens when: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 are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 apart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↑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↓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Large value → classes well separated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Small value → overlap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85D511-E805-3EB3-E100-2C7F56990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425" y="1191688"/>
            <a:ext cx="4388219" cy="99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31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F446-F0C5-24B7-066C-DCA89356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DEF36-DF06-49A6-8045-7DC7D9B663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r>
                  <a:rPr lang="en-IN" sz="6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 Using FLD</a:t>
                </a:r>
                <a:endParaRPr lang="en-IN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projection:</a:t>
                </a:r>
              </a:p>
              <a:p>
                <a:pPr lvl="0"/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becomes </a:t>
                </a:r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1D</a:t>
                </a:r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we just choose a </a:t>
                </a:r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 t</a:t>
                </a:r>
                <a:endParaRPr lang="en-IN" sz="5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Rule:</a:t>
                </a:r>
                <a:endParaRPr lang="en-IN" sz="5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5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5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IN" sz="5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x≥ t </a:t>
                </a:r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5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55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 </a:t>
                </a:r>
                <a:r>
                  <a:rPr lang="en-IN" sz="5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5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5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4400" b="1" dirty="0"/>
                  <a:t> </a:t>
                </a:r>
                <a:endParaRPr lang="en-IN" sz="4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DEF36-DF06-49A6-8045-7DC7D9B663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4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196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BF49-FF04-495E-1183-10105A8B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Choose Threshold?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F1C03-4722-0CA9-04EC-8E5CD5093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4184" y="2556931"/>
                <a:ext cx="5515946" cy="3461313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both classes are equally likely: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Midpoint between projected means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not equal: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Shift threshold toward smaller class 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choose t that minimizes training error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F1C03-4722-0CA9-04EC-8E5CD5093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4184" y="2556931"/>
                <a:ext cx="5515946" cy="3461313"/>
              </a:xfrm>
              <a:blipFill>
                <a:blip r:embed="rId2"/>
                <a:stretch>
                  <a:fillRect l="-1989" t="-2465" r="-16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734FD2-4C40-7FE9-56A6-72FB734B3254}"/>
              </a:ext>
            </a:extLst>
          </p:cNvPr>
          <p:cNvSpPr txBox="1"/>
          <p:nvPr/>
        </p:nvSpPr>
        <p:spPr>
          <a:xfrm>
            <a:off x="6727371" y="2621902"/>
            <a:ext cx="428275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FLD is trying to: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 distance between classes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 spread within classes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Best separation happens when: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are far apart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is small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100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CF09-1029-D7A8-FD39-34D94733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description length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12479-C3FB-C33F-A54D-2AA81E2F3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equally good classifier pick the one which required least amount of bit to describe itself.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length should be as small as possible given that it has some acceptable level of performance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classifier is very complex then you need lots of bits to describe it like neural network with lots of weight , support vector machine with lots of support vectors, decision tree with lots of branches. 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More information you have more detail classifier it is.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895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4C800-2092-A318-5604-9957F6328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102" y="671804"/>
                <a:ext cx="10692882" cy="546774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can represent the concept in minimum possible way then it is said to be good one.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𝑀𝐴𝑃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=argmax P(D/h)p(h)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h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𝟄H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H= complete hypothesis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h= individual hypothesis space which is present in a bigger hypothesis space</a:t>
                </a:r>
              </a:p>
              <a:p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Apply logarithm                                        log(ab)= log a +log b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argmax log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P(D/h)+ log p(h)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𝟄H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need to represent the concept in minimum possible way so we will convert max to min 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4C800-2092-A318-5604-9957F6328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102" y="671804"/>
                <a:ext cx="10692882" cy="5467740"/>
              </a:xfrm>
              <a:blipFill>
                <a:blip r:embed="rId2"/>
                <a:stretch>
                  <a:fillRect l="-1026" t="-2230" r="-1368" b="-1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611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329E-36E3-7ACF-E66C-02F0C998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0DB41-4985-2899-0FD6-42F367E12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–log P(D/h) – log P(h)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𝟄H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can be interpreted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terms of MDL principle linking minimum description length to Bayesian approach.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836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381</TotalTime>
  <Words>1522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Garamond</vt:lpstr>
      <vt:lpstr>Times New Roman</vt:lpstr>
      <vt:lpstr>Organic</vt:lpstr>
      <vt:lpstr>Fisher’s Linear discriminant</vt:lpstr>
      <vt:lpstr>Introduction to Discriminant Functions</vt:lpstr>
      <vt:lpstr>PowerPoint Presentation</vt:lpstr>
      <vt:lpstr>PowerPoint Presentation</vt:lpstr>
      <vt:lpstr>Spam Filters (Binary Classification)</vt:lpstr>
      <vt:lpstr>Credit scoring</vt:lpstr>
      <vt:lpstr>PowerPoint Presentation</vt:lpstr>
      <vt:lpstr>Fisher’s Linear Discriminant</vt:lpstr>
      <vt:lpstr>Mapping from many dimensions to One</vt:lpstr>
      <vt:lpstr>PowerPoint Presentation</vt:lpstr>
      <vt:lpstr>PowerPoint Presentation</vt:lpstr>
      <vt:lpstr>Geometrical Meaning</vt:lpstr>
      <vt:lpstr>PowerPoint Presentation</vt:lpstr>
      <vt:lpstr>Final Understanding</vt:lpstr>
      <vt:lpstr>Steps used in FLD</vt:lpstr>
      <vt:lpstr>PowerPoint Presentation</vt:lpstr>
      <vt:lpstr>PowerPoint Presentation</vt:lpstr>
      <vt:lpstr>PowerPoint Presentation</vt:lpstr>
      <vt:lpstr>Thresholding</vt:lpstr>
      <vt:lpstr>How to Choose Threshold?</vt:lpstr>
      <vt:lpstr>Minimum description length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Shrikrishna Narvekar</cp:lastModifiedBy>
  <cp:revision>7</cp:revision>
  <dcterms:created xsi:type="dcterms:W3CDTF">2026-04-05T11:56:37Z</dcterms:created>
  <dcterms:modified xsi:type="dcterms:W3CDTF">2026-04-07T10:29:31Z</dcterms:modified>
</cp:coreProperties>
</file>