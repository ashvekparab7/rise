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3" r:id="rId11"/>
    <p:sldId id="274" r:id="rId12"/>
    <p:sldId id="275" r:id="rId13"/>
    <p:sldId id="269" r:id="rId14"/>
    <p:sldId id="276" r:id="rId15"/>
    <p:sldId id="277" r:id="rId16"/>
    <p:sldId id="278" r:id="rId17"/>
    <p:sldId id="266" r:id="rId18"/>
    <p:sldId id="267" r:id="rId19"/>
    <p:sldId id="268" r:id="rId20"/>
    <p:sldId id="279" r:id="rId21"/>
    <p:sldId id="270" r:id="rId22"/>
    <p:sldId id="271" r:id="rId23"/>
    <p:sldId id="272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7ECB89-6325-4D25-BC57-7113A1E06CD9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C8B94-AA03-471C-BDB0-7FD30EBF7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762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If a new patient comes, we compare their BMI and Age with previous patients and assign the class (Sugar) based on similar cases.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How it Works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C8B94-AA03-471C-BDB0-7FD30EBF73C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804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Important Points:</a:t>
            </a:r>
          </a:p>
          <a:p>
            <a:r>
              <a:rPr lang="en-US" dirty="0"/>
              <a:t>Called </a:t>
            </a:r>
            <a:r>
              <a:rPr lang="en-US" b="1" dirty="0"/>
              <a:t>Lazy Learning</a:t>
            </a:r>
            <a:r>
              <a:rPr lang="en-US" dirty="0"/>
              <a:t> </a:t>
            </a:r>
          </a:p>
          <a:p>
            <a:r>
              <a:rPr lang="en-US" dirty="0"/>
              <a:t>Computation happens during </a:t>
            </a:r>
            <a:r>
              <a:rPr lang="en-US" b="1" dirty="0"/>
              <a:t>testing phase</a:t>
            </a:r>
            <a:r>
              <a:rPr lang="en-US" dirty="0"/>
              <a:t> </a:t>
            </a:r>
          </a:p>
          <a:p>
            <a:r>
              <a:rPr lang="en-US" dirty="0"/>
              <a:t>Uses similarity (distance) to classify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C8B94-AA03-471C-BDB0-7FD30EBF73C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555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Examples:</a:t>
            </a:r>
          </a:p>
          <a:p>
            <a:r>
              <a:rPr lang="en-US" dirty="0"/>
              <a:t>Decision Trees </a:t>
            </a:r>
          </a:p>
          <a:p>
            <a:r>
              <a:rPr lang="en-US" dirty="0"/>
              <a:t>Neural Networks </a:t>
            </a:r>
          </a:p>
          <a:p>
            <a:r>
              <a:rPr lang="en-US" dirty="0"/>
              <a:t>SVM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C8B94-AA03-471C-BDB0-7FD30EBF73C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02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0810B91-0989-4BA7-BA63-21A2FB15D18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1E6E2C6C-820E-419E-BB5D-11351009365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176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0B91-0989-4BA7-BA63-21A2FB15D18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E2C6C-820E-419E-BB5D-113510093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903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0B91-0989-4BA7-BA63-21A2FB15D18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E2C6C-820E-419E-BB5D-11351009365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113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0B91-0989-4BA7-BA63-21A2FB15D18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E2C6C-820E-419E-BB5D-113510093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932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0B91-0989-4BA7-BA63-21A2FB15D18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E2C6C-820E-419E-BB5D-11351009365D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324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0B91-0989-4BA7-BA63-21A2FB15D18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E2C6C-820E-419E-BB5D-11351009365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746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0B91-0989-4BA7-BA63-21A2FB15D18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E2C6C-820E-419E-BB5D-113510093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47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0B91-0989-4BA7-BA63-21A2FB15D18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E2C6C-820E-419E-BB5D-11351009365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71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0B91-0989-4BA7-BA63-21A2FB15D18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E2C6C-820E-419E-BB5D-113510093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97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0B91-0989-4BA7-BA63-21A2FB15D18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E2C6C-820E-419E-BB5D-113510093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086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0B91-0989-4BA7-BA63-21A2FB15D18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E2C6C-820E-419E-BB5D-11351009365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179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0B91-0989-4BA7-BA63-21A2FB15D18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E2C6C-820E-419E-BB5D-11351009365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362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0B91-0989-4BA7-BA63-21A2FB15D18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E2C6C-820E-419E-BB5D-113510093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90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0B91-0989-4BA7-BA63-21A2FB15D18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E2C6C-820E-419E-BB5D-11351009365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20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0B91-0989-4BA7-BA63-21A2FB15D18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E2C6C-820E-419E-BB5D-11351009365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247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0B91-0989-4BA7-BA63-21A2FB15D18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E2C6C-820E-419E-BB5D-11351009365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56905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0B91-0989-4BA7-BA63-21A2FB15D18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E2C6C-820E-419E-BB5D-11351009365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44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0810B91-0989-4BA7-BA63-21A2FB15D18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E6E2C6C-820E-419E-BB5D-113510093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714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C1F72-5E24-8983-0AFF-8C7C724AB8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 Classifier(K-NN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70B6EF-EE3C-3F98-4FD4-8DCAE3319A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Shrikrishna Anand Narvekar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Agnel Institute of Technology and Design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8265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5CF26-73C9-83F1-55D0-F6C1F0CBC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CEE42-8DB6-A9D3-3E0C-E3BD6E2C7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Objects which are similar belong to the same class.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when we want to classify 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data point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we: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 at the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nearest data points in the dataset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their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labels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 the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majority class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the new data point.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similar to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deciding based on 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3765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536C8-FC2A-449E-C959-D46DAEAFA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101" y="625151"/>
            <a:ext cx="10655560" cy="5523722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Suppose we want to classify 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fruit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               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fruit: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 = 155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Red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check the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nearest 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Nearest examples → Apples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the new fruit is classified as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5C9520-5C71-2F91-A880-02DEE540D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218560"/>
              </p:ext>
            </p:extLst>
          </p:nvPr>
        </p:nvGraphicFramePr>
        <p:xfrm>
          <a:off x="8542177" y="1091593"/>
          <a:ext cx="2856722" cy="1707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06624">
                  <a:extLst>
                    <a:ext uri="{9D8B030D-6E8A-4147-A177-3AD203B41FA5}">
                      <a16:colId xmlns:a16="http://schemas.microsoft.com/office/drawing/2014/main" val="1185024744"/>
                    </a:ext>
                  </a:extLst>
                </a:gridCol>
                <a:gridCol w="933062">
                  <a:extLst>
                    <a:ext uri="{9D8B030D-6E8A-4147-A177-3AD203B41FA5}">
                      <a16:colId xmlns:a16="http://schemas.microsoft.com/office/drawing/2014/main" val="690746669"/>
                    </a:ext>
                  </a:extLst>
                </a:gridCol>
                <a:gridCol w="1017036">
                  <a:extLst>
                    <a:ext uri="{9D8B030D-6E8A-4147-A177-3AD203B41FA5}">
                      <a16:colId xmlns:a16="http://schemas.microsoft.com/office/drawing/2014/main" val="735629923"/>
                    </a:ext>
                  </a:extLst>
                </a:gridCol>
              </a:tblGrid>
              <a:tr h="2556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12322620"/>
                  </a:ext>
                </a:extLst>
              </a:tr>
              <a:tr h="2556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193665"/>
                  </a:ext>
                </a:extLst>
              </a:tr>
              <a:tr h="2556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44081918"/>
                  </a:ext>
                </a:extLst>
              </a:tr>
              <a:tr h="2556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Yellow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Mango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35775661"/>
                  </a:ext>
                </a:extLst>
              </a:tr>
              <a:tr h="2556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Yellow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Mango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95858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547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907FA-EFE6-A62F-07AB-41CEAA3D4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K-NN is non-Parametric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67A27-5359-500C-AFF1-B860F0311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k-NN is called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non-parametric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because: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It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assume any mathematical model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It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estimate parameters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like linear and logistic regression assumes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 mathematical relationship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Instead, k-NN simply: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all training data and compares new data with it.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835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139D8-A39A-5D6A-1211-6375264D4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method(old density estimation method)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B06FD-0656-3360-3C38-B7EA54799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histogram data range is divided into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bins (intervals)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is estimated using: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total samples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width of bin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bins → noisy (spiky graph)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bins → over smoothing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F2FD3B-9DCC-BCDB-481D-359742BA8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187491"/>
              </p:ext>
            </p:extLst>
          </p:nvPr>
        </p:nvGraphicFramePr>
        <p:xfrm>
          <a:off x="9151775" y="2724070"/>
          <a:ext cx="1970315" cy="2408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650">
                  <a:extLst>
                    <a:ext uri="{9D8B030D-6E8A-4147-A177-3AD203B41FA5}">
                      <a16:colId xmlns:a16="http://schemas.microsoft.com/office/drawing/2014/main" val="3158491698"/>
                    </a:ext>
                  </a:extLst>
                </a:gridCol>
                <a:gridCol w="1147665">
                  <a:extLst>
                    <a:ext uri="{9D8B030D-6E8A-4147-A177-3AD203B41FA5}">
                      <a16:colId xmlns:a16="http://schemas.microsoft.com/office/drawing/2014/main" val="1581166161"/>
                    </a:ext>
                  </a:extLst>
                </a:gridCol>
              </a:tblGrid>
              <a:tr h="2855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 Range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Students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95052994"/>
                  </a:ext>
                </a:extLst>
              </a:tr>
              <a:tr h="2855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0–20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33459197"/>
                  </a:ext>
                </a:extLst>
              </a:tr>
              <a:tr h="2855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20–40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74796139"/>
                  </a:ext>
                </a:extLst>
              </a:tr>
              <a:tr h="2855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40–60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4614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60–80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3807276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CAB0CAE8-F17D-95E3-9792-3A282EEA0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792" y="2795225"/>
            <a:ext cx="2676842" cy="5630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39D4CB-EC70-2082-F1BB-A9DA6B443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704" y="3315029"/>
            <a:ext cx="2872088" cy="56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054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8BBE3-53DD-951F-7998-C720BA49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Curse of dimensionality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01D86-9B22-373E-8F32-436DD2C0F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dimensions increase: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1D → N points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2D → N² points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→ N³ points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for high-dimensional data we need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huge datasets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called the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Curse of Dimensionality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6280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D97A7-7B0D-E728-1473-B14B85C11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5627913" cy="3318936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Density Estimation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fixing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 width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k-NN does something smarter.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We: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(number of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to kth nearest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that region to estimate density.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66D13E-21F0-F820-B9E6-10B11DA2A8DE}"/>
              </a:ext>
            </a:extLst>
          </p:cNvPr>
          <p:cNvSpPr txBox="1"/>
          <p:nvPr/>
        </p:nvSpPr>
        <p:spPr>
          <a:xfrm>
            <a:off x="6923314" y="2556932"/>
            <a:ext cx="445070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number of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total samples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dₖ(x)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distance to kth nearest point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3B28E7-E2CC-1A0E-F107-D93081FC1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285" y="2790929"/>
            <a:ext cx="2377528" cy="90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811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9D8A-E09D-71DB-FCD6-51CD227B5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K-NN for classification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D4E4-B3F1-967C-2D0B-2E9CC304C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3939072" cy="3405329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comes the most important part.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a new sample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5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00829D-A32D-276E-3963-9816D3621C5C}"/>
              </a:ext>
            </a:extLst>
          </p:cNvPr>
          <p:cNvSpPr txBox="1"/>
          <p:nvPr/>
        </p:nvSpPr>
        <p:spPr>
          <a:xfrm>
            <a:off x="5066523" y="2361274"/>
            <a:ext cx="402149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distance between: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sample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training samples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distances: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0BB6C8-5EBD-34FA-644C-652983B7D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329996"/>
              </p:ext>
            </p:extLst>
          </p:nvPr>
        </p:nvGraphicFramePr>
        <p:xfrm>
          <a:off x="7600560" y="3827228"/>
          <a:ext cx="2810069" cy="2048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2527">
                  <a:extLst>
                    <a:ext uri="{9D8B030D-6E8A-4147-A177-3AD203B41FA5}">
                      <a16:colId xmlns:a16="http://schemas.microsoft.com/office/drawing/2014/main" val="3396262876"/>
                    </a:ext>
                  </a:extLst>
                </a:gridCol>
                <a:gridCol w="990852">
                  <a:extLst>
                    <a:ext uri="{9D8B030D-6E8A-4147-A177-3AD203B41FA5}">
                      <a16:colId xmlns:a16="http://schemas.microsoft.com/office/drawing/2014/main" val="1166616755"/>
                    </a:ext>
                  </a:extLst>
                </a:gridCol>
                <a:gridCol w="936690">
                  <a:extLst>
                    <a:ext uri="{9D8B030D-6E8A-4147-A177-3AD203B41FA5}">
                      <a16:colId xmlns:a16="http://schemas.microsoft.com/office/drawing/2014/main" val="3963041153"/>
                    </a:ext>
                  </a:extLst>
                </a:gridCol>
              </a:tblGrid>
              <a:tr h="2901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21678454"/>
                  </a:ext>
                </a:extLst>
              </a:tr>
              <a:tr h="2901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27919445"/>
                  </a:ext>
                </a:extLst>
              </a:tr>
              <a:tr h="2901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25842858"/>
                  </a:ext>
                </a:extLst>
              </a:tr>
              <a:tr h="2901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65724956"/>
                  </a:ext>
                </a:extLst>
              </a:tr>
              <a:tr h="2901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51195024"/>
                  </a:ext>
                </a:extLst>
              </a:tr>
              <a:tr h="2901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42821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911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6F710-3680-1FED-2EAE-C02AE50A4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813" y="700141"/>
            <a:ext cx="10209244" cy="5560700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nearest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(k=5):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B, A, A, B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votes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 2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→ 3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→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9443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E7597-9608-FBDA-700D-DA6BE260E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Lazy Learners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B9087-4704-3DFE-41B0-732D292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Lazy learners are a class of machine learning algorithms that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defer generalization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(i.e., model building)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until a query (test instance)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needs to be classified or predicted.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Unlike eager learners, which generalize from training data immediately, lazy learners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the training data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delay computation until absolutely necessary.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595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2389B-1337-3A69-D945-6951E8946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225" y="746792"/>
            <a:ext cx="5341775" cy="537408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Lazy Learning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Simple implementation.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training time – useful for dynamic/streaming environments.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Adaptive – naturally supports incremental learning.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Powerful for non-linear decision boundaries – can approximate very complex class regions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50D263-C789-06CA-CCE4-23B49556401F}"/>
              </a:ext>
            </a:extLst>
          </p:cNvPr>
          <p:cNvSpPr txBox="1">
            <a:spLocks/>
          </p:cNvSpPr>
          <p:nvPr/>
        </p:nvSpPr>
        <p:spPr>
          <a:xfrm>
            <a:off x="5900058" y="914742"/>
            <a:ext cx="5184710" cy="53740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Lazy Learning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Slow at prediction time – may scan the entire dataset.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memory consumption – stores all training data.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interpretability – no clear model or rules to inspect.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Sensitive to irrelevant/noisy features – treats all attributes equally unless modified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035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CFAF5-C824-58DC-C4CA-662C99C2D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Similarity/Instance based learning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BF020-8B0A-64A5-479F-04B559050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10003970" cy="3638595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method where we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a new data point by comparing it with existing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building a model, it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all training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uses it when needed.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called: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Instance-based learning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Lazy learning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In-time learning</a:t>
            </a:r>
          </a:p>
        </p:txBody>
      </p:sp>
    </p:spTree>
    <p:extLst>
      <p:ext uri="{BB962C8B-B14F-4D97-AF65-F5344CB8AC3E}">
        <p14:creationId xmlns:p14="http://schemas.microsoft.com/office/powerpoint/2010/main" val="925055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02C91-D5CF-9660-3D20-9B29D0BA1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Instance-based learning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432EC-47F2-89DE-C4DE-9F0F5287F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one data record (row in dataset)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(attributes)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e.g., BMI, Age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label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e.g., Sugar (0 or 1)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all training data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build a model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Makes decisions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when a new data point comes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275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185BB-2DBB-4711-C659-B5315B24C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Model-based learning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D0FCB-5BC9-4201-8EC2-AE0802FB6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Builds a model first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training data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 uses that model to predict new data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Eager Learning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two phases: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phase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(model building) 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phase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(prediction)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3452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3020B-F7A6-5CFD-E25C-91F5EAE36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861" y="849429"/>
            <a:ext cx="10498493" cy="5112831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instance-based learning and Model-based learning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D770C5-C5DE-294D-FFB7-B38E68EEC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516932"/>
              </p:ext>
            </p:extLst>
          </p:nvPr>
        </p:nvGraphicFramePr>
        <p:xfrm>
          <a:off x="1117600" y="1607524"/>
          <a:ext cx="8128000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7265905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2685855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Instance based Learning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based learning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901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Lazy learners 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Eager learner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236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 of training instances is only done at testing phase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 of training instance is done during training phase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537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model is built with training instance before it receives a test instance 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Generalizes a model with the training instance before it receives test instance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14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 the class of test instance directly from training data 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 the class of test instance from the model built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860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 in testing phase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in testing phase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968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951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53BFE7-67D7-410F-D331-131AF1E84E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1763" y="709127"/>
                <a:ext cx="10748866" cy="516674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K-NN Algorithm</a:t>
                </a:r>
              </a:p>
              <a:p>
                <a:r>
                  <a:rPr lang="en-US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Inputs: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dataset T, distance metrics d, number of nearest neighbor k</a:t>
                </a:r>
              </a:p>
              <a:p>
                <a:r>
                  <a:rPr lang="en-US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Predicted class or category</a:t>
                </a:r>
              </a:p>
              <a:p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Prediction: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test instance t,</a:t>
                </a:r>
              </a:p>
              <a:p>
                <a:pPr marL="0" indent="0">
                  <a:buNone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For each instance </a:t>
                </a:r>
                <a:r>
                  <a:rPr lang="en-IN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T, compute the distance between the test instance t, and every other distance </a:t>
                </a:r>
                <a:r>
                  <a:rPr lang="en-IN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the training dataset using a distance metric(Euclidean distance)</a:t>
                </a:r>
              </a:p>
              <a:p>
                <a:pPr marL="0" indent="0">
                  <a:buNone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[continuous attributes – Euclidean distance between two points in the plane with coordinates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&amp;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 given as D=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IN" sz="2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sz="2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IN" sz="22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sz="22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rad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</a:p>
              <a:p>
                <a:pPr marL="0" indent="0">
                  <a:buNone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[Categorical attributes(Binary)- Hamming distance: If the value of two instances is same, distance d will be equal to 0 otherwise d=1]</a:t>
                </a:r>
              </a:p>
              <a:p>
                <a:pPr marL="0" indent="0">
                  <a:buNone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Sort the distance in ascending order and select first k nearest training data instances to the test instance.</a:t>
                </a:r>
              </a:p>
              <a:p>
                <a:pPr marL="0" indent="0">
                  <a:buNone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Predict the class of test instance by majority voting (if target attribute is discrete valued) or mean (if target attribute is continuous valued) of the k selected nearest instances.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53BFE7-67D7-410F-D331-131AF1E84E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1763" y="709127"/>
                <a:ext cx="10748866" cy="5166741"/>
              </a:xfrm>
              <a:blipFill>
                <a:blip r:embed="rId2"/>
                <a:stretch>
                  <a:fillRect l="-681" t="-1651" r="-681" b="-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1939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44E07-CDF5-5E40-C3A9-A5B4FFD3B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739" y="858416"/>
            <a:ext cx="10515600" cy="536510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KNN algorithm for following dataset Assem K=3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D4E085-DE98-351B-0F36-D3394D111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036128"/>
              </p:ext>
            </p:extLst>
          </p:nvPr>
        </p:nvGraphicFramePr>
        <p:xfrm>
          <a:off x="1350865" y="1568752"/>
          <a:ext cx="812800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339887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402957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535411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442476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Height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637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673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155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070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20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161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022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158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46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20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157</a:t>
                      </a:r>
                      <a:endParaRPr lang="en-IN" sz="20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</a:t>
                      </a:r>
                      <a:endParaRPr lang="en-IN" sz="20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IN" sz="20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0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5374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AB190-625E-67DD-3DC8-63FA061EF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927" y="667311"/>
            <a:ext cx="10601130" cy="552337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dataset with attributes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Sugar (class label)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(KNN)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algorithm: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= 3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Euclidean Distance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the distance metric.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Classify the following test tuple: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BMI = 43.6, Age = 40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F815235-0CD0-D66A-5B88-5F4275A9F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378690"/>
              </p:ext>
            </p:extLst>
          </p:nvPr>
        </p:nvGraphicFramePr>
        <p:xfrm>
          <a:off x="7193902" y="1312728"/>
          <a:ext cx="4497354" cy="3846986"/>
        </p:xfrm>
        <a:graphic>
          <a:graphicData uri="http://schemas.openxmlformats.org/drawingml/2006/table">
            <a:tbl>
              <a:tblPr/>
              <a:tblGrid>
                <a:gridCol w="1499118">
                  <a:extLst>
                    <a:ext uri="{9D8B030D-6E8A-4147-A177-3AD203B41FA5}">
                      <a16:colId xmlns:a16="http://schemas.microsoft.com/office/drawing/2014/main" val="2223043856"/>
                    </a:ext>
                  </a:extLst>
                </a:gridCol>
                <a:gridCol w="1499118">
                  <a:extLst>
                    <a:ext uri="{9D8B030D-6E8A-4147-A177-3AD203B41FA5}">
                      <a16:colId xmlns:a16="http://schemas.microsoft.com/office/drawing/2014/main" val="3294901699"/>
                    </a:ext>
                  </a:extLst>
                </a:gridCol>
                <a:gridCol w="1499118">
                  <a:extLst>
                    <a:ext uri="{9D8B030D-6E8A-4147-A177-3AD203B41FA5}">
                      <a16:colId xmlns:a16="http://schemas.microsoft.com/office/drawing/2014/main" val="898207908"/>
                    </a:ext>
                  </a:extLst>
                </a:gridCol>
              </a:tblGrid>
              <a:tr h="301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BMI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Sugar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065773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33.6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60033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26.6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498859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23.4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871574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43.1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674414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35.3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705768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35.9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953003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36.7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995426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25.7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209503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23.3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789866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31.0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5406" marR="75406" marT="37703" marB="37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804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2990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90E80-C419-B20D-A5D1-E1887CFA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933F1-9C35-A0E1-B546-A7F82EE12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(or distance)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data points.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nearest neighbors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the class based on those neighbors.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810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6FA267-5712-671E-8315-8BB7FD4447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5022194"/>
              </p:ext>
            </p:extLst>
          </p:nvPr>
        </p:nvGraphicFramePr>
        <p:xfrm>
          <a:off x="1248747" y="1988295"/>
          <a:ext cx="6094445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042">
                  <a:extLst>
                    <a:ext uri="{9D8B030D-6E8A-4147-A177-3AD203B41FA5}">
                      <a16:colId xmlns:a16="http://schemas.microsoft.com/office/drawing/2014/main" val="3674045360"/>
                    </a:ext>
                  </a:extLst>
                </a:gridCol>
                <a:gridCol w="2082149">
                  <a:extLst>
                    <a:ext uri="{9D8B030D-6E8A-4147-A177-3AD203B41FA5}">
                      <a16:colId xmlns:a16="http://schemas.microsoft.com/office/drawing/2014/main" val="3370070217"/>
                    </a:ext>
                  </a:extLst>
                </a:gridCol>
                <a:gridCol w="2188254">
                  <a:extLst>
                    <a:ext uri="{9D8B030D-6E8A-4147-A177-3AD203B41FA5}">
                      <a16:colId xmlns:a16="http://schemas.microsoft.com/office/drawing/2014/main" val="2108210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Height(CM)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Weight(Kg)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732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Underweight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132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901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757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264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261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Underweight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997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229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2855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640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170</a:t>
                      </a:r>
                      <a:endParaRPr lang="en-IN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lang="en-IN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IN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3011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9A24501-AD15-6CEB-58C7-A24F87B26D9A}"/>
              </a:ext>
            </a:extLst>
          </p:cNvPr>
          <p:cNvSpPr txBox="1"/>
          <p:nvPr/>
        </p:nvSpPr>
        <p:spPr>
          <a:xfrm>
            <a:off x="1362269" y="1035698"/>
            <a:ext cx="9685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K-NN Algorithm to predict the class of test instance. K=4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151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4B287E-34EC-1D8E-A631-3339C33C0C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6106" y="1101887"/>
            <a:ext cx="10419787" cy="443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51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2A494-B5AC-011F-7AE3-05C258C2F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655A8-66DD-ED5E-9F8C-FF16C1DE4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989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0709D-0806-F69D-346F-DAB4AAAA7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F339B-D7D4-EAF6-6B63-4B281A923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5317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494</TotalTime>
  <Words>1272</Words>
  <Application>Microsoft Office PowerPoint</Application>
  <PresentationFormat>Widescreen</PresentationFormat>
  <Paragraphs>301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Cambria Math</vt:lpstr>
      <vt:lpstr>Garamond</vt:lpstr>
      <vt:lpstr>Times New Roman</vt:lpstr>
      <vt:lpstr>Wingdings</vt:lpstr>
      <vt:lpstr>Organic</vt:lpstr>
      <vt:lpstr>K-Nearest Neighbor Classifier(K-NN)</vt:lpstr>
      <vt:lpstr>Introduction</vt:lpstr>
      <vt:lpstr>PowerPoint Presentation</vt:lpstr>
      <vt:lpstr>K-NN is non-Parametric</vt:lpstr>
      <vt:lpstr>Histogram method(old density estimation method)</vt:lpstr>
      <vt:lpstr>Curse of dimensionality</vt:lpstr>
      <vt:lpstr>PowerPoint Presentation</vt:lpstr>
      <vt:lpstr>K-NN for classification</vt:lpstr>
      <vt:lpstr>PowerPoint Presentation</vt:lpstr>
      <vt:lpstr>Lazy Learners</vt:lpstr>
      <vt:lpstr>PowerPoint Presentation</vt:lpstr>
      <vt:lpstr>Similarity/Instance based learning</vt:lpstr>
      <vt:lpstr>Instance-based learning</vt:lpstr>
      <vt:lpstr>Model-based learning </vt:lpstr>
      <vt:lpstr>PowerPoint Presentation</vt:lpstr>
      <vt:lpstr>PowerPoint Presentation</vt:lpstr>
      <vt:lpstr>PowerPoint Presentation</vt:lpstr>
      <vt:lpstr>PowerPoint Presentation</vt:lpstr>
      <vt:lpstr>How it works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Shrikrishna Narvekar</dc:creator>
  <cp:lastModifiedBy>Shrikrishna Narvekar</cp:lastModifiedBy>
  <cp:revision>8</cp:revision>
  <dcterms:created xsi:type="dcterms:W3CDTF">2026-03-18T05:54:39Z</dcterms:created>
  <dcterms:modified xsi:type="dcterms:W3CDTF">2026-04-07T04:44:58Z</dcterms:modified>
</cp:coreProperties>
</file>