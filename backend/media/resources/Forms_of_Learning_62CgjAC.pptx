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2F33D-A506-4F53-AD05-25DAB81AE0D1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79F36-5628-45D9-838B-C80DBC9A1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71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to control a mobile robot.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Optimizing operations in factories.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to play complex board games (e.g., Chess, Go).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79F36-5628-45D9-838B-C80DBC9A1B7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844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Works: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It's a search and optimization method where the problem-solving technique itself evolves.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Examples: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Genetic Algorithms (GA)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are the most common computational model derived from this process.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79F36-5628-45D9-838B-C80DBC9A1B7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71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25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29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29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69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97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23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46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7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60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0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231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4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89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688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719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98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60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BA0600-6B23-4A7B-9868-BE0FE94DA1C0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AE99CCD-438D-4745-A1E5-BFF756A04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6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7613-4103-14EE-BA6D-F6FF489E29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Learning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29482-A36D-F725-4268-8A1330467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927463" cy="17728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01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D200-B834-3603-EF30-9172962E7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8F5EE-A64C-2C12-A51E-BED22A49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Major forms of learning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Supervised/Directed learning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51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1C8C-C9E7-7804-84F0-254813C4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Major forms of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9EB5E-9167-25B3-60F5-3C092EDA8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field of machine learning generally distinguishes four major forms of learning: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Supervised/Directed Learning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Unsupervised/Undirected Learning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based on Natural Processes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(Evolution, Swarming, Immune Systems)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689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4BA0-28CD-C991-4ED1-48224C89C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Supervised/ Directed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495E0-8166-43D5-AEC6-8DD1F13E68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2" y="2556932"/>
                <a:ext cx="4984100" cy="331893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IN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machine is trained using a dataset where the desired output for each input is </a:t>
                </a:r>
                <a:r>
                  <a:rPr lang="en-IN" sz="2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already known</a:t>
                </a:r>
                <a:r>
                  <a:rPr lang="en-IN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input-output pairs act as the "supervisor" providing the correct answers.</a:t>
                </a:r>
              </a:p>
              <a:p>
                <a:pPr marL="0" indent="0">
                  <a:buNone/>
                </a:pPr>
                <a:r>
                  <a:rPr lang="en-IN" sz="2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</a:t>
                </a:r>
                <a:endParaRPr lang="en-IN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"supervisor" provides a dataset D:</a:t>
                </a:r>
              </a:p>
              <a:p>
                <a:r>
                  <a:rPr lang="en-IN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 = {(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)}; </a:t>
                </a:r>
                <a:r>
                  <a:rPr lang="en-IN" sz="2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=1,.N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495E0-8166-43D5-AEC6-8DD1F13E6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2" y="2556932"/>
                <a:ext cx="4984100" cy="3318936"/>
              </a:xfrm>
              <a:blipFill>
                <a:blip r:embed="rId2"/>
                <a:stretch>
                  <a:fillRect l="-1836" t="-2936" r="-1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9F4A83-2E44-ACEE-D100-D50DB01AEEA3}"/>
                  </a:ext>
                </a:extLst>
              </p:cNvPr>
              <p:cNvSpPr txBox="1"/>
              <p:nvPr/>
            </p:nvSpPr>
            <p:spPr>
              <a:xfrm>
                <a:off x="6410131" y="2556932"/>
                <a:ext cx="4984100" cy="3547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vector (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Observed values/System state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n features: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IN" sz="22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IN" sz="22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}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corresponding known correct response/output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is the number of training examples.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goal is to infer a model of the system from this representative dataset D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9F4A83-2E44-ACEE-D100-D50DB01AE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131" y="2556932"/>
                <a:ext cx="4984100" cy="3547638"/>
              </a:xfrm>
              <a:prstGeom prst="rect">
                <a:avLst/>
              </a:prstGeom>
              <a:blipFill>
                <a:blip r:embed="rId3"/>
                <a:stretch>
                  <a:fillRect l="-1591" t="-1031" r="-1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28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0D32-92BC-2D0A-1A36-68B79C2C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in supervised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54FD5-3DAE-56C3-D57F-3B6119D283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5124060" cy="352662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Supervised learning is used for two main types of tasks: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Classification (Pattern Recognition)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(y):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discrete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class label,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q=1,……,M (M classes)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predict the class label (y) for a new, unseen input vector (x), essentially deciding which of the M classes it belongs to.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54FD5-3DAE-56C3-D57F-3B6119D283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5124060" cy="3526627"/>
              </a:xfrm>
              <a:blipFill>
                <a:blip r:embed="rId2"/>
                <a:stretch>
                  <a:fillRect l="-1786" t="-2763" r="-1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245C3E8-062A-F5A2-4636-5B380069BC62}"/>
              </a:ext>
            </a:extLst>
          </p:cNvPr>
          <p:cNvSpPr txBox="1"/>
          <p:nvPr/>
        </p:nvSpPr>
        <p:spPr>
          <a:xfrm>
            <a:off x="6559420" y="2556931"/>
            <a:ext cx="471196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Regression (Numeric Prediction)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(y):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continuous numeric quantity.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fit a continuous function to the input-output data to predict a numeric output value (y) for new unseen input vector (x)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20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397C-8C2C-E58B-F1A4-482B4A14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abelled images">
            <a:extLst>
              <a:ext uri="{FF2B5EF4-FFF2-40B4-BE49-F238E27FC236}">
                <a16:creationId xmlns:a16="http://schemas.microsoft.com/office/drawing/2014/main" id="{3C2750E2-36FE-86D9-B478-55B482DDE3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557993"/>
            <a:ext cx="469318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ogs vs Cats Image Classification using ResNet | by Anubhav Shrimal |  Anubhav Shrimal | Medium">
            <a:extLst>
              <a:ext uri="{FF2B5EF4-FFF2-40B4-BE49-F238E27FC236}">
                <a16:creationId xmlns:a16="http://schemas.microsoft.com/office/drawing/2014/main" id="{FA4489DF-4F9D-412C-D434-32F65F30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77" y="2733870"/>
            <a:ext cx="4511869" cy="253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60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FA0B0-AE7F-2956-F0BF-2BF3D832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ython - Linear regression with matplotlib / numpy - Stack Overflow">
            <a:extLst>
              <a:ext uri="{FF2B5EF4-FFF2-40B4-BE49-F238E27FC236}">
                <a16:creationId xmlns:a16="http://schemas.microsoft.com/office/drawing/2014/main" id="{4EDB9B0E-6AF7-7A0F-D37B-3B2B1DAC2E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599" y="2537478"/>
            <a:ext cx="6178197" cy="363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36B953-7E4E-1155-B44B-31AF6A86D361}"/>
              </a:ext>
            </a:extLst>
          </p:cNvPr>
          <p:cNvSpPr txBox="1"/>
          <p:nvPr/>
        </p:nvSpPr>
        <p:spPr>
          <a:xfrm>
            <a:off x="1108129" y="2705878"/>
            <a:ext cx="410547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understand relationship between two variables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dependent(outcome 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independent(predictor or explanatory)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mx+c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835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56B4-294B-B730-F788-D04477FE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E34197-E93F-24F2-9484-8F99630A5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2" y="2407643"/>
                <a:ext cx="9601196" cy="3318936"/>
              </a:xfrm>
            </p:spPr>
            <p:txBody>
              <a:bodyPr/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training data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does not include the desired output (y).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goal is to uncover the inherent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underlying similarities, patterns, or structure within the input data,</a:t>
                </a:r>
                <a:r>
                  <a:rPr lang="en-I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2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2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2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IN" sz="220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E34197-E93F-24F2-9484-8F99630A5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2" y="2407643"/>
                <a:ext cx="9601196" cy="3318936"/>
              </a:xfrm>
              <a:blipFill>
                <a:blip r:embed="rId2"/>
                <a:stretch>
                  <a:fillRect l="-953" t="-2206" r="-5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Visualization of discovered groupings">
            <a:extLst>
              <a:ext uri="{FF2B5EF4-FFF2-40B4-BE49-F238E27FC236}">
                <a16:creationId xmlns:a16="http://schemas.microsoft.com/office/drawing/2014/main" id="{168D6B7E-22B7-1CCD-0440-E4802A669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3512975"/>
            <a:ext cx="3547132" cy="250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ogs vs Cats Image Classification using ResNet | by Anubhav Shrimal |  Anubhav Shrimal | Medium">
            <a:extLst>
              <a:ext uri="{FF2B5EF4-FFF2-40B4-BE49-F238E27FC236}">
                <a16:creationId xmlns:a16="http://schemas.microsoft.com/office/drawing/2014/main" id="{ACB67B5D-A722-1E78-14D8-B5F92D42B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868" y="3418534"/>
            <a:ext cx="4511869" cy="253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84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F35B-02F4-5E05-3C77-6BB6DC32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in unsupervised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40C39-704F-A013-2FF2-C15DCF5D4A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0424" y="2556931"/>
                <a:ext cx="5589037" cy="35826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 Analysis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Creating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groups (clusters)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similar records based on measurements made for those records.</a:t>
                </a:r>
              </a:p>
              <a:p>
                <a:pPr lvl="0"/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Primary Issues: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Defining a measure of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'similarity'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(or distance) between feature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Selecting an algorithmic scheme to group the vectors based on that measure.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40C39-704F-A013-2FF2-C15DCF5D4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0424" y="2556931"/>
                <a:ext cx="5589037" cy="3582611"/>
              </a:xfrm>
              <a:blipFill>
                <a:blip r:embed="rId2"/>
                <a:stretch>
                  <a:fillRect l="-1963" t="-2721" r="-1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907E76A-B1A2-A73A-C833-A3D3875201BB}"/>
              </a:ext>
            </a:extLst>
          </p:cNvPr>
          <p:cNvSpPr txBox="1"/>
          <p:nvPr/>
        </p:nvSpPr>
        <p:spPr>
          <a:xfrm>
            <a:off x="6494106" y="2640563"/>
            <a:ext cx="473995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Organizing species into classes/subclasses.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segmentation (grouping customers by demographics/transaction history).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balanced portfolios.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Search: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Grouping similar user queries.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913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8852-BC78-8726-2043-505105CB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K- means clustering with SciPy - GeeksforGeeks">
            <a:extLst>
              <a:ext uri="{FF2B5EF4-FFF2-40B4-BE49-F238E27FC236}">
                <a16:creationId xmlns:a16="http://schemas.microsoft.com/office/drawing/2014/main" id="{A0FC9B11-8396-0426-8CBF-80CD9CDF5D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96" y="2369974"/>
            <a:ext cx="5403885" cy="386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75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68D34-E2E7-C80D-83A4-62F08DF1C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84" y="606490"/>
            <a:ext cx="9888891" cy="512941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Analysis 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Discovering patterns or rules in the data where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target variable is specified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interpretation of the discovered patterns is left to human analysis.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(Market co-occurrence).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 patterns of products that are frequently bought together.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Online recommender systems (e.g., "Customers who bought X also bought Y").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A5CDEE-3A06-0ED7-4463-D0D09DC8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605" y="3335694"/>
            <a:ext cx="5261550" cy="275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A708-5FB7-6330-5361-07018DEA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41454-98E0-03D9-BB94-8A52BFB99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is founded on the idea of learning through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trial-and-error interaction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an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 reward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 minimize a cumulative penalty).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form of scalar reward(or penalty) after taking action.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Instruction: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instructed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which action to take. It must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out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actions yield the maximum cumulative reward by </a:t>
            </a:r>
            <a:r>
              <a:rPr lang="en-I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trying them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 Reward: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Actions influence not only the immediate reward but also future states and all subsequent rewards. </a:t>
            </a:r>
          </a:p>
          <a:p>
            <a:pPr marL="457200" indent="-457200">
              <a:buFont typeface="+mj-lt"/>
              <a:buAutoNum type="arabicPeriod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6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1E513-1EF7-1AF6-F40A-24745A347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427" y="737462"/>
            <a:ext cx="10569251" cy="5271452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Distinguishing attributes of RL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Trial-and-Error Search: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agent explores the environment to see the results of its actions.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 Reward: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objective is to maximize the 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expected reward over time.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 Vs other forms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Unsupervised: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unsupervised agent cannot learn what to do because it has no information about what constitutes a 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desirable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 or a 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action.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Supervised: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supervised learning, the agent is trained to predict the result of an action; the state-action model is available. In RL, the state-action model is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 is concerned with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decisions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(finding an optimal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rather than just making predictions.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38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1A16E-1B80-ACAA-A683-0130C053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based on natural process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AB661-41DC-F8CE-2009-2748C915A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involves machine learning techniques inspired by biological and natural processes, such as: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computation: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inspired by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Darwinian evolution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(natural selection).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"population" of random solutions (individuals).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best solutions are allowed to "reproduce" (combine their successful traits), and "mutations" (small, random changes) are introduced.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generations, the population naturally evolves toward better and "fitter" solutions to the problem.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4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EDDC-983A-A7B8-466B-48A361531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746449"/>
            <a:ext cx="10767526" cy="565435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Swarm Intelligence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Inspired by the collective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social animals, like ants or birds, where many simple individuals achieve a complex, intelligent goal together.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group (Colony or Swarm) of agents, which are unintelligent individually, can collectively display intelligent behaviour through simple interaction rules.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all rely on a population of individuals that can interact directly or indirectly with each other and the environment.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Examples: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 Colony Optimization (ACO):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Inspired by how ants find the shortest path to food. Ants leave a chemical trail (pheromone) which guides other ants. This indirect communication leads to the entire colony collectively finding the optimal route.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343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3E86-2A53-26F9-B86E-9D04551DC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788" y="634480"/>
            <a:ext cx="10580914" cy="539309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Immune system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inspired by the amazing ability of the human body's immune system to protect itself from disease.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natural immune system is a master of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can quickly identify and differentiate between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"self"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(the body's own cells) and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"non-self"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antigens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foreign invaders like bacteria/viruses).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in Computing: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 algorithms are primarily used for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clustering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mimic the immune system's process of creating different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antibodies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match and neutralize foreign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antigens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Crucially, the system exhibits an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nature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—it "memorizes" the structure of the recognized threat to ensure a faster response the next time (like a vaccination).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271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201</TotalTime>
  <Words>1170</Words>
  <Application>Microsoft Office PowerPoint</Application>
  <PresentationFormat>Widescreen</PresentationFormat>
  <Paragraphs>104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Garamond</vt:lpstr>
      <vt:lpstr>Times New Roman</vt:lpstr>
      <vt:lpstr>Organic</vt:lpstr>
      <vt:lpstr>Forms of Learning</vt:lpstr>
      <vt:lpstr>Content</vt:lpstr>
      <vt:lpstr>Four Major forms of learning</vt:lpstr>
      <vt:lpstr>Supervised/ Directed Learning</vt:lpstr>
      <vt:lpstr>Task in supervised Learning</vt:lpstr>
      <vt:lpstr>Classification</vt:lpstr>
      <vt:lpstr>Regression </vt:lpstr>
      <vt:lpstr>Unsupervised learning</vt:lpstr>
      <vt:lpstr>Task in unsupervised learning</vt:lpstr>
      <vt:lpstr>Clusters</vt:lpstr>
      <vt:lpstr>PowerPoint Presentation</vt:lpstr>
      <vt:lpstr>Reinforcement Learning</vt:lpstr>
      <vt:lpstr>PowerPoint Presentation</vt:lpstr>
      <vt:lpstr>Learning based on natural process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Dell</cp:lastModifiedBy>
  <cp:revision>6</cp:revision>
  <dcterms:created xsi:type="dcterms:W3CDTF">2025-12-11T03:54:00Z</dcterms:created>
  <dcterms:modified xsi:type="dcterms:W3CDTF">2025-12-29T04:13:07Z</dcterms:modified>
</cp:coreProperties>
</file>