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60"/>
  </p:normalViewPr>
  <p:slideViewPr>
    <p:cSldViewPr snapToGrid="0">
      <p:cViewPr varScale="1">
        <p:scale>
          <a:sx n="82" d="100"/>
          <a:sy n="82" d="100"/>
        </p:scale>
        <p:origin x="720"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6D632AF-0334-45BB-936B-AC10431905F6}" type="datetimeFigureOut">
              <a:rPr lang="en-IN" smtClean="0"/>
              <a:t>17-02-2026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6C5A2A8-7EA0-4EC1-A51B-9D1F42222B32}" type="slidenum">
              <a:rPr lang="en-IN" smtClean="0"/>
              <a:t>‹#›</a:t>
            </a:fld>
            <a:endParaRPr lang="en-IN"/>
          </a:p>
        </p:txBody>
      </p:sp>
    </p:spTree>
    <p:extLst>
      <p:ext uri="{BB962C8B-B14F-4D97-AF65-F5344CB8AC3E}">
        <p14:creationId xmlns:p14="http://schemas.microsoft.com/office/powerpoint/2010/main" val="34003970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200" b="1" kern="1200" dirty="0">
                <a:solidFill>
                  <a:schemeClr val="tx1"/>
                </a:solidFill>
                <a:effectLst/>
                <a:latin typeface="+mn-lt"/>
                <a:ea typeface="+mn-ea"/>
                <a:cs typeface="+mn-cs"/>
              </a:rPr>
              <a:t>Why use it?</a:t>
            </a:r>
            <a:r>
              <a:rPr lang="en-IN" sz="1200" kern="1200" dirty="0">
                <a:solidFill>
                  <a:schemeClr val="tx1"/>
                </a:solidFill>
                <a:effectLst/>
                <a:latin typeface="+mn-lt"/>
                <a:ea typeface="+mn-ea"/>
                <a:cs typeface="+mn-cs"/>
              </a:rPr>
              <a:t> If you are predicting house prices in dollars, MSE gives you "dollars squared," which is hard to imagine. RMSE brings the unit back to "dollars," making it easier to explain to humans.</a:t>
            </a:r>
          </a:p>
          <a:p>
            <a:endParaRPr lang="en-IN" dirty="0"/>
          </a:p>
        </p:txBody>
      </p:sp>
      <p:sp>
        <p:nvSpPr>
          <p:cNvPr id="4" name="Slide Number Placeholder 3"/>
          <p:cNvSpPr>
            <a:spLocks noGrp="1"/>
          </p:cNvSpPr>
          <p:nvPr>
            <p:ph type="sldNum" sz="quarter" idx="5"/>
          </p:nvPr>
        </p:nvSpPr>
        <p:spPr/>
        <p:txBody>
          <a:bodyPr/>
          <a:lstStyle/>
          <a:p>
            <a:fld id="{E6C5A2A8-7EA0-4EC1-A51B-9D1F42222B32}" type="slidenum">
              <a:rPr lang="en-IN" smtClean="0"/>
              <a:t>4</a:t>
            </a:fld>
            <a:endParaRPr lang="en-IN"/>
          </a:p>
        </p:txBody>
      </p:sp>
    </p:spTree>
    <p:extLst>
      <p:ext uri="{BB962C8B-B14F-4D97-AF65-F5344CB8AC3E}">
        <p14:creationId xmlns:p14="http://schemas.microsoft.com/office/powerpoint/2010/main" val="34907497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baseline="-25000" dirty="0"/>
          </a:p>
        </p:txBody>
      </p:sp>
      <p:sp>
        <p:nvSpPr>
          <p:cNvPr id="4" name="Slide Number Placeholder 3"/>
          <p:cNvSpPr>
            <a:spLocks noGrp="1"/>
          </p:cNvSpPr>
          <p:nvPr>
            <p:ph type="sldNum" sz="quarter" idx="5"/>
          </p:nvPr>
        </p:nvSpPr>
        <p:spPr/>
        <p:txBody>
          <a:bodyPr/>
          <a:lstStyle/>
          <a:p>
            <a:fld id="{E6C5A2A8-7EA0-4EC1-A51B-9D1F42222B32}" type="slidenum">
              <a:rPr lang="en-IN" smtClean="0"/>
              <a:t>9</a:t>
            </a:fld>
            <a:endParaRPr lang="en-IN"/>
          </a:p>
        </p:txBody>
      </p:sp>
    </p:spTree>
    <p:extLst>
      <p:ext uri="{BB962C8B-B14F-4D97-AF65-F5344CB8AC3E}">
        <p14:creationId xmlns:p14="http://schemas.microsoft.com/office/powerpoint/2010/main" val="122915540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E6C5A2A8-7EA0-4EC1-A51B-9D1F42222B32}" type="slidenum">
              <a:rPr lang="en-IN" smtClean="0"/>
              <a:t>10</a:t>
            </a:fld>
            <a:endParaRPr lang="en-IN"/>
          </a:p>
        </p:txBody>
      </p:sp>
    </p:spTree>
    <p:extLst>
      <p:ext uri="{BB962C8B-B14F-4D97-AF65-F5344CB8AC3E}">
        <p14:creationId xmlns:p14="http://schemas.microsoft.com/office/powerpoint/2010/main" val="57318270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200" kern="1200" dirty="0">
                <a:solidFill>
                  <a:schemeClr val="tx1"/>
                </a:solidFill>
                <a:effectLst/>
                <a:latin typeface="+mn-lt"/>
                <a:ea typeface="+mn-ea"/>
                <a:cs typeface="+mn-cs"/>
              </a:rPr>
              <a:t>In medicine, a </a:t>
            </a:r>
            <a:r>
              <a:rPr lang="en-IN" sz="1200" b="1" kern="1200" dirty="0">
                <a:solidFill>
                  <a:schemeClr val="tx1"/>
                </a:solidFill>
                <a:effectLst/>
                <a:latin typeface="+mn-lt"/>
                <a:ea typeface="+mn-ea"/>
                <a:cs typeface="+mn-cs"/>
              </a:rPr>
              <a:t>False Negative</a:t>
            </a:r>
            <a:r>
              <a:rPr lang="en-IN" sz="1200" kern="1200" dirty="0">
                <a:solidFill>
                  <a:schemeClr val="tx1"/>
                </a:solidFill>
                <a:effectLst/>
                <a:latin typeface="+mn-lt"/>
                <a:ea typeface="+mn-ea"/>
                <a:cs typeface="+mn-cs"/>
              </a:rPr>
              <a:t> is usually much worse than a </a:t>
            </a:r>
            <a:r>
              <a:rPr lang="en-IN" sz="1200" b="1" kern="1200" dirty="0">
                <a:solidFill>
                  <a:schemeClr val="tx1"/>
                </a:solidFill>
                <a:effectLst/>
                <a:latin typeface="+mn-lt"/>
                <a:ea typeface="+mn-ea"/>
                <a:cs typeface="+mn-cs"/>
              </a:rPr>
              <a:t>False Positive</a:t>
            </a:r>
            <a:r>
              <a:rPr lang="en-IN" sz="1200" kern="1200" dirty="0">
                <a:solidFill>
                  <a:schemeClr val="tx1"/>
                </a:solidFill>
                <a:effectLst/>
                <a:latin typeface="+mn-lt"/>
                <a:ea typeface="+mn-ea"/>
                <a:cs typeface="+mn-cs"/>
              </a:rPr>
              <a:t> because a sick person goes untreated.</a:t>
            </a:r>
          </a:p>
          <a:p>
            <a:endParaRPr lang="en-IN" dirty="0"/>
          </a:p>
        </p:txBody>
      </p:sp>
      <p:sp>
        <p:nvSpPr>
          <p:cNvPr id="4" name="Slide Number Placeholder 3"/>
          <p:cNvSpPr>
            <a:spLocks noGrp="1"/>
          </p:cNvSpPr>
          <p:nvPr>
            <p:ph type="sldNum" sz="quarter" idx="5"/>
          </p:nvPr>
        </p:nvSpPr>
        <p:spPr/>
        <p:txBody>
          <a:bodyPr/>
          <a:lstStyle/>
          <a:p>
            <a:fld id="{E6C5A2A8-7EA0-4EC1-A51B-9D1F42222B32}" type="slidenum">
              <a:rPr lang="en-IN" smtClean="0"/>
              <a:t>11</a:t>
            </a:fld>
            <a:endParaRPr lang="en-IN"/>
          </a:p>
        </p:txBody>
      </p:sp>
    </p:spTree>
    <p:extLst>
      <p:ext uri="{BB962C8B-B14F-4D97-AF65-F5344CB8AC3E}">
        <p14:creationId xmlns:p14="http://schemas.microsoft.com/office/powerpoint/2010/main" val="143497109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E6C5A2A8-7EA0-4EC1-A51B-9D1F42222B32}" type="slidenum">
              <a:rPr lang="en-IN" smtClean="0"/>
              <a:t>12</a:t>
            </a:fld>
            <a:endParaRPr lang="en-IN"/>
          </a:p>
        </p:txBody>
      </p:sp>
    </p:spTree>
    <p:extLst>
      <p:ext uri="{BB962C8B-B14F-4D97-AF65-F5344CB8AC3E}">
        <p14:creationId xmlns:p14="http://schemas.microsoft.com/office/powerpoint/2010/main" val="320590130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E6C5A2A8-7EA0-4EC1-A51B-9D1F42222B32}" type="slidenum">
              <a:rPr lang="en-IN" smtClean="0"/>
              <a:t>13</a:t>
            </a:fld>
            <a:endParaRPr lang="en-IN"/>
          </a:p>
        </p:txBody>
      </p:sp>
    </p:spTree>
    <p:extLst>
      <p:ext uri="{BB962C8B-B14F-4D97-AF65-F5344CB8AC3E}">
        <p14:creationId xmlns:p14="http://schemas.microsoft.com/office/powerpoint/2010/main" val="10490611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E6C5A2A8-7EA0-4EC1-A51B-9D1F42222B32}" type="slidenum">
              <a:rPr lang="en-IN" smtClean="0"/>
              <a:t>14</a:t>
            </a:fld>
            <a:endParaRPr lang="en-IN"/>
          </a:p>
        </p:txBody>
      </p:sp>
    </p:spTree>
    <p:extLst>
      <p:ext uri="{BB962C8B-B14F-4D97-AF65-F5344CB8AC3E}">
        <p14:creationId xmlns:p14="http://schemas.microsoft.com/office/powerpoint/2010/main" val="398307991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16934" y="0"/>
            <a:ext cx="12231160" cy="6856214"/>
            <a:chOff x="-16934" y="0"/>
            <a:chExt cx="12231160" cy="6856214"/>
          </a:xfrm>
        </p:grpSpPr>
        <p:pic>
          <p:nvPicPr>
            <p:cNvPr id="16" name="Picture 15" descr="H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16934" y="3147609"/>
              <a:ext cx="2478024" cy="612648"/>
            </a:xfrm>
            <a:prstGeom prst="rect">
              <a:avLst/>
            </a:prstGeom>
          </p:spPr>
        </p:pic>
        <p:pic>
          <p:nvPicPr>
            <p:cNvPr id="20" name="Picture 19"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9736202" y="3147609"/>
              <a:ext cx="2478024" cy="612648"/>
            </a:xfrm>
            <a:prstGeom prst="rect">
              <a:avLst/>
            </a:prstGeom>
          </p:spPr>
        </p:pic>
      </p:grpSp>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en-US"/>
              <a:t>Click to edit Master title style</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983232" y="5037663"/>
            <a:ext cx="897467" cy="279400"/>
          </a:xfrm>
        </p:spPr>
        <p:txBody>
          <a:bodyPr/>
          <a:lstStyle/>
          <a:p>
            <a:fld id="{2829BF63-02D5-473D-B875-70E0C4916458}" type="datetimeFigureOut">
              <a:rPr lang="en-IN" smtClean="0"/>
              <a:t>17-02-2026</a:t>
            </a:fld>
            <a:endParaRPr lang="en-IN"/>
          </a:p>
        </p:txBody>
      </p:sp>
      <p:sp>
        <p:nvSpPr>
          <p:cNvPr id="5" name="Footer Placeholder 4"/>
          <p:cNvSpPr>
            <a:spLocks noGrp="1"/>
          </p:cNvSpPr>
          <p:nvPr>
            <p:ph type="ftr" sz="quarter" idx="11"/>
          </p:nvPr>
        </p:nvSpPr>
        <p:spPr>
          <a:xfrm>
            <a:off x="2692397" y="5037663"/>
            <a:ext cx="5214635" cy="279400"/>
          </a:xfrm>
        </p:spPr>
        <p:txBody>
          <a:bodyPr/>
          <a:lstStyle/>
          <a:p>
            <a:endParaRPr lang="en-IN"/>
          </a:p>
        </p:txBody>
      </p:sp>
      <p:sp>
        <p:nvSpPr>
          <p:cNvPr id="6" name="Slide Number Placeholder 5"/>
          <p:cNvSpPr>
            <a:spLocks noGrp="1"/>
          </p:cNvSpPr>
          <p:nvPr>
            <p:ph type="sldNum" sz="quarter" idx="12"/>
          </p:nvPr>
        </p:nvSpPr>
        <p:spPr>
          <a:xfrm>
            <a:off x="8956900" y="5037663"/>
            <a:ext cx="551167" cy="279400"/>
          </a:xfrm>
        </p:spPr>
        <p:txBody>
          <a:bodyPr/>
          <a:lstStyle/>
          <a:p>
            <a:fld id="{D55216A8-A32C-44A1-9809-AE95B0A83D7D}" type="slidenum">
              <a:rPr lang="en-IN" smtClean="0"/>
              <a:t>‹#›</a:t>
            </a:fld>
            <a:endParaRPr lang="en-IN"/>
          </a:p>
        </p:txBody>
      </p:sp>
      <p:cxnSp>
        <p:nvCxnSpPr>
          <p:cNvPr id="15" name="Straight Connector 14"/>
          <p:cNvCxnSpPr/>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7832004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829BF63-02D5-473D-B875-70E0C4916458}" type="datetimeFigureOut">
              <a:rPr lang="en-IN" smtClean="0"/>
              <a:t>17-02-2026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55216A8-A32C-44A1-9809-AE95B0A83D7D}" type="slidenum">
              <a:rPr lang="en-IN" smtClean="0"/>
              <a:t>‹#›</a:t>
            </a:fld>
            <a:endParaRPr lang="en-IN"/>
          </a:p>
        </p:txBody>
      </p:sp>
    </p:spTree>
    <p:extLst>
      <p:ext uri="{BB962C8B-B14F-4D97-AF65-F5344CB8AC3E}">
        <p14:creationId xmlns:p14="http://schemas.microsoft.com/office/powerpoint/2010/main" val="20438017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829BF63-02D5-473D-B875-70E0C4916458}" type="datetimeFigureOut">
              <a:rPr lang="en-IN" smtClean="0"/>
              <a:t>17-02-2026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55216A8-A32C-44A1-9809-AE95B0A83D7D}" type="slidenum">
              <a:rPr lang="en-IN" smtClean="0"/>
              <a:t>‹#›</a:t>
            </a:fld>
            <a:endParaRPr lang="en-IN"/>
          </a:p>
        </p:txBody>
      </p:sp>
      <p:cxnSp>
        <p:nvCxnSpPr>
          <p:cNvPr id="16" name="Straight Connector 15"/>
          <p:cNvCxnSpPr/>
          <p:nvPr/>
        </p:nvCxnSpPr>
        <p:spPr>
          <a:xfrm>
            <a:off x="2012723" y="3710585"/>
            <a:ext cx="8163380"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7889049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829BF63-02D5-473D-B875-70E0C4916458}" type="datetimeFigureOut">
              <a:rPr lang="en-IN" smtClean="0"/>
              <a:t>17-02-2026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55216A8-A32C-44A1-9809-AE95B0A83D7D}" type="slidenum">
              <a:rPr lang="en-IN" smtClean="0"/>
              <a:t>‹#›</a:t>
            </a:fld>
            <a:endParaRPr lang="en-IN"/>
          </a:p>
        </p:txBody>
      </p:sp>
    </p:spTree>
    <p:extLst>
      <p:ext uri="{BB962C8B-B14F-4D97-AF65-F5344CB8AC3E}">
        <p14:creationId xmlns:p14="http://schemas.microsoft.com/office/powerpoint/2010/main" val="29473234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8067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8067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829BF63-02D5-473D-B875-70E0C4916458}" type="datetimeFigureOut">
              <a:rPr lang="en-IN" smtClean="0"/>
              <a:t>17-02-2026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D55216A8-A32C-44A1-9809-AE95B0A83D7D}" type="slidenum">
              <a:rPr lang="en-IN" smtClean="0"/>
              <a:t>‹#›</a:t>
            </a:fld>
            <a:endParaRPr lang="en-IN"/>
          </a:p>
        </p:txBody>
      </p:sp>
      <p:cxnSp>
        <p:nvCxnSpPr>
          <p:cNvPr id="18" name="Straight Connector 1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474130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829BF63-02D5-473D-B875-70E0C4916458}" type="datetimeFigureOut">
              <a:rPr lang="en-IN" smtClean="0"/>
              <a:t>17-02-2026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D55216A8-A32C-44A1-9809-AE95B0A83D7D}" type="slidenum">
              <a:rPr lang="en-IN" smtClean="0"/>
              <a:t>‹#›</a:t>
            </a:fld>
            <a:endParaRPr lang="en-IN"/>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7719967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829BF63-02D5-473D-B875-70E0C4916458}" type="datetimeFigureOut">
              <a:rPr lang="en-IN" smtClean="0"/>
              <a:t>17-02-2026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D55216A8-A32C-44A1-9809-AE95B0A83D7D}" type="slidenum">
              <a:rPr lang="en-IN" smtClean="0"/>
              <a:t>‹#›</a:t>
            </a:fld>
            <a:endParaRPr lang="en-IN"/>
          </a:p>
        </p:txBody>
      </p:sp>
    </p:spTree>
    <p:extLst>
      <p:ext uri="{BB962C8B-B14F-4D97-AF65-F5344CB8AC3E}">
        <p14:creationId xmlns:p14="http://schemas.microsoft.com/office/powerpoint/2010/main" val="17492533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829BF63-02D5-473D-B875-70E0C4916458}" type="datetimeFigureOut">
              <a:rPr lang="en-IN" smtClean="0"/>
              <a:t>17-02-2026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55216A8-A32C-44A1-9809-AE95B0A83D7D}" type="slidenum">
              <a:rPr lang="en-IN" smtClean="0"/>
              <a:t>‹#›</a:t>
            </a:fld>
            <a:endParaRPr lang="en-IN"/>
          </a:p>
        </p:txBody>
      </p:sp>
      <p:cxnSp>
        <p:nvCxnSpPr>
          <p:cNvPr id="16" name="Straight Connector 15"/>
          <p:cNvCxnSpPr/>
          <p:nvPr/>
        </p:nvCxnSpPr>
        <p:spPr>
          <a:xfrm>
            <a:off x="1396169" y="2912533"/>
            <a:ext cx="35144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448288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n-US"/>
              <a:t>Click to edit Master title style</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829BF63-02D5-473D-B875-70E0C4916458}" type="datetimeFigureOut">
              <a:rPr lang="en-IN" smtClean="0"/>
              <a:t>17-02-2026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55216A8-A32C-44A1-9809-AE95B0A83D7D}" type="slidenum">
              <a:rPr lang="en-IN" smtClean="0"/>
              <a:t>‹#›</a:t>
            </a:fld>
            <a:endParaRPr lang="en-IN"/>
          </a:p>
        </p:txBody>
      </p:sp>
    </p:spTree>
    <p:extLst>
      <p:ext uri="{BB962C8B-B14F-4D97-AF65-F5344CB8AC3E}">
        <p14:creationId xmlns:p14="http://schemas.microsoft.com/office/powerpoint/2010/main" val="5445135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829BF63-02D5-473D-B875-70E0C4916458}" type="datetimeFigureOut">
              <a:rPr lang="en-IN" smtClean="0"/>
              <a:t>17-02-2026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55216A8-A32C-44A1-9809-AE95B0A83D7D}" type="slidenum">
              <a:rPr lang="en-IN" smtClean="0"/>
              <a:t>‹#›</a:t>
            </a:fld>
            <a:endParaRPr lang="en-IN"/>
          </a:p>
        </p:txBody>
      </p:sp>
    </p:spTree>
    <p:extLst>
      <p:ext uri="{BB962C8B-B14F-4D97-AF65-F5344CB8AC3E}">
        <p14:creationId xmlns:p14="http://schemas.microsoft.com/office/powerpoint/2010/main" val="28103439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829BF63-02D5-473D-B875-70E0C4916458}" type="datetimeFigureOut">
              <a:rPr lang="en-IN" smtClean="0"/>
              <a:t>17-02-2026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55216A8-A32C-44A1-9809-AE95B0A83D7D}" type="slidenum">
              <a:rPr lang="en-IN" smtClean="0"/>
              <a:t>‹#›</a:t>
            </a:fld>
            <a:endParaRPr lang="en-IN"/>
          </a:p>
        </p:txBody>
      </p:sp>
      <p:cxnSp>
        <p:nvCxnSpPr>
          <p:cNvPr id="15" name="Straight Connector 14"/>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93001270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829BF63-02D5-473D-B875-70E0C4916458}" type="datetimeFigureOut">
              <a:rPr lang="en-IN" smtClean="0"/>
              <a:t>17-02-2026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55216A8-A32C-44A1-9809-AE95B0A83D7D}" type="slidenum">
              <a:rPr lang="en-IN" smtClean="0"/>
              <a:t>‹#›</a:t>
            </a:fld>
            <a:endParaRPr lang="en-IN"/>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19" name="Straight Connector 18"/>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87724950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829BF63-02D5-473D-B875-70E0C4916458}" type="datetimeFigureOut">
              <a:rPr lang="en-IN" smtClean="0"/>
              <a:t>17-02-2026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55216A8-A32C-44A1-9809-AE95B0A83D7D}" type="slidenum">
              <a:rPr lang="en-IN" smtClean="0"/>
              <a:t>‹#›</a:t>
            </a:fld>
            <a:endParaRPr lang="en-IN"/>
          </a:p>
        </p:txBody>
      </p:sp>
    </p:spTree>
    <p:extLst>
      <p:ext uri="{BB962C8B-B14F-4D97-AF65-F5344CB8AC3E}">
        <p14:creationId xmlns:p14="http://schemas.microsoft.com/office/powerpoint/2010/main" val="168378724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23"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829BF63-02D5-473D-B875-70E0C4916458}" type="datetimeFigureOut">
              <a:rPr lang="en-IN" smtClean="0"/>
              <a:t>17-02-2026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55216A8-A32C-44A1-9809-AE95B0A83D7D}" type="slidenum">
              <a:rPr lang="en-IN" smtClean="0"/>
              <a:t>‹#›</a:t>
            </a:fld>
            <a:endParaRPr lang="en-IN"/>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11066052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20"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829BF63-02D5-473D-B875-70E0C4916458}" type="datetimeFigureOut">
              <a:rPr lang="en-IN" smtClean="0"/>
              <a:t>17-02-2026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55216A8-A32C-44A1-9809-AE95B0A83D7D}" type="slidenum">
              <a:rPr lang="en-IN" smtClean="0"/>
              <a:t>‹#›</a:t>
            </a:fld>
            <a:endParaRPr lang="en-IN"/>
          </a:p>
        </p:txBody>
      </p:sp>
      <p:cxnSp>
        <p:nvCxnSpPr>
          <p:cNvPr id="15" name="Straight Connector 14"/>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9816001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829BF63-02D5-473D-B875-70E0C4916458}" type="datetimeFigureOut">
              <a:rPr lang="en-IN" smtClean="0"/>
              <a:t>17-02-2026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55216A8-A32C-44A1-9809-AE95B0A83D7D}" type="slidenum">
              <a:rPr lang="en-IN" smtClean="0"/>
              <a:t>‹#›</a:t>
            </a:fld>
            <a:endParaRPr lang="en-IN"/>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37073642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829BF63-02D5-473D-B875-70E0C4916458}" type="datetimeFigureOut">
              <a:rPr lang="en-IN" smtClean="0"/>
              <a:t>17-02-2026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55216A8-A32C-44A1-9809-AE95B0A83D7D}" type="slidenum">
              <a:rPr lang="en-IN" smtClean="0"/>
              <a:t>‹#›</a:t>
            </a:fld>
            <a:endParaRPr lang="en-IN"/>
          </a:p>
        </p:txBody>
      </p:sp>
      <p:cxnSp>
        <p:nvCxnSpPr>
          <p:cNvPr id="14" name="Straight Connector 13"/>
          <p:cNvCxnSpPr/>
          <p:nvPr/>
        </p:nvCxnSpPr>
        <p:spPr>
          <a:xfrm>
            <a:off x="8863890" y="990600"/>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6087015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15736" y="0"/>
            <a:ext cx="12229962" cy="6856214"/>
            <a:chOff x="-15736" y="0"/>
            <a:chExt cx="12229962" cy="6856214"/>
          </a:xfrm>
        </p:grpSpPr>
        <p:pic>
          <p:nvPicPr>
            <p:cNvPr id="8" name="Picture 7" descr="HD-PanelContent.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2829BF63-02D5-473D-B875-70E0C4916458}" type="datetimeFigureOut">
              <a:rPr lang="en-IN" smtClean="0"/>
              <a:t>17-02-2026</a:t>
            </a:fld>
            <a:endParaRPr lang="en-IN"/>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IN"/>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D55216A8-A32C-44A1-9809-AE95B0A83D7D}" type="slidenum">
              <a:rPr lang="en-IN" smtClean="0"/>
              <a:t>‹#›</a:t>
            </a:fld>
            <a:endParaRPr lang="en-IN"/>
          </a:p>
        </p:txBody>
      </p:sp>
    </p:spTree>
    <p:extLst>
      <p:ext uri="{BB962C8B-B14F-4D97-AF65-F5344CB8AC3E}">
        <p14:creationId xmlns:p14="http://schemas.microsoft.com/office/powerpoint/2010/main" val="233233839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440CB0-51BF-6646-1990-4F51CE59D90D}"/>
              </a:ext>
            </a:extLst>
          </p:cNvPr>
          <p:cNvSpPr>
            <a:spLocks noGrp="1"/>
          </p:cNvSpPr>
          <p:nvPr>
            <p:ph type="ctrTitle"/>
          </p:nvPr>
        </p:nvSpPr>
        <p:spPr/>
        <p:txBody>
          <a:bodyPr/>
          <a:lstStyle/>
          <a:p>
            <a:r>
              <a:rPr lang="en-US" sz="4800" b="1" dirty="0">
                <a:latin typeface="Times New Roman" panose="02020603050405020304" pitchFamily="18" charset="0"/>
                <a:cs typeface="Times New Roman" panose="02020603050405020304" pitchFamily="18" charset="0"/>
              </a:rPr>
              <a:t>Metrics for assessing regression accuracy</a:t>
            </a:r>
            <a:endParaRPr lang="en-IN" sz="4800" b="1"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EFC46340-92E4-FB5F-8B1D-82269286E68E}"/>
              </a:ext>
            </a:extLst>
          </p:cNvPr>
          <p:cNvSpPr>
            <a:spLocks noGrp="1"/>
          </p:cNvSpPr>
          <p:nvPr>
            <p:ph type="subTitle" idx="1"/>
          </p:nvPr>
        </p:nvSpPr>
        <p:spPr>
          <a:xfrm>
            <a:off x="2692398" y="3657596"/>
            <a:ext cx="6923550" cy="1681319"/>
          </a:xfrm>
        </p:spPr>
        <p:txBody>
          <a:bodyPr>
            <a:normAutofit fontScale="92500" lnSpcReduction="20000"/>
          </a:bodyPr>
          <a:lstStyle/>
          <a:p>
            <a:r>
              <a:rPr lang="en-US" sz="2400" dirty="0">
                <a:latin typeface="Times New Roman" panose="02020603050405020304" pitchFamily="18" charset="0"/>
                <a:cs typeface="Times New Roman" panose="02020603050405020304" pitchFamily="18" charset="0"/>
              </a:rPr>
              <a:t>Mr. Shrikrishna Anand </a:t>
            </a:r>
            <a:r>
              <a:rPr lang="en-US" sz="2400" dirty="0" err="1">
                <a:latin typeface="Times New Roman" panose="02020603050405020304" pitchFamily="18" charset="0"/>
                <a:cs typeface="Times New Roman" panose="02020603050405020304" pitchFamily="18" charset="0"/>
              </a:rPr>
              <a:t>Narvekar</a:t>
            </a:r>
            <a:r>
              <a:rPr lang="en-US" sz="2400" dirty="0">
                <a:latin typeface="Times New Roman" panose="02020603050405020304" pitchFamily="18" charset="0"/>
                <a:cs typeface="Times New Roman" panose="02020603050405020304" pitchFamily="18" charset="0"/>
              </a:rPr>
              <a:t> </a:t>
            </a:r>
          </a:p>
          <a:p>
            <a:r>
              <a:rPr lang="en-US" sz="2400" dirty="0">
                <a:latin typeface="Times New Roman" panose="02020603050405020304" pitchFamily="18" charset="0"/>
                <a:cs typeface="Times New Roman" panose="02020603050405020304" pitchFamily="18" charset="0"/>
              </a:rPr>
              <a:t>Assistant Professor </a:t>
            </a:r>
          </a:p>
          <a:p>
            <a:r>
              <a:rPr lang="en-US" sz="2400" dirty="0">
                <a:latin typeface="Times New Roman" panose="02020603050405020304" pitchFamily="18" charset="0"/>
                <a:cs typeface="Times New Roman" panose="02020603050405020304" pitchFamily="18" charset="0"/>
              </a:rPr>
              <a:t>Computer Engineering Department </a:t>
            </a:r>
          </a:p>
          <a:p>
            <a:r>
              <a:rPr lang="en-US" sz="2400" dirty="0">
                <a:latin typeface="Times New Roman" panose="02020603050405020304" pitchFamily="18" charset="0"/>
                <a:cs typeface="Times New Roman" panose="02020603050405020304" pitchFamily="18" charset="0"/>
              </a:rPr>
              <a:t>Agnel Institute of Technology and Design</a:t>
            </a:r>
            <a:endParaRPr lang="en-IN" sz="2400"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31555988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FCE163-555E-C526-74CF-B00EE64A80DD}"/>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Content</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A46CD272-916B-C42A-D4C3-4DE099E6F3C1}"/>
              </a:ext>
            </a:extLst>
          </p:cNvPr>
          <p:cNvSpPr>
            <a:spLocks noGrp="1"/>
          </p:cNvSpPr>
          <p:nvPr>
            <p:ph idx="1"/>
          </p:nvPr>
        </p:nvSpPr>
        <p:spPr/>
        <p:txBody>
          <a:bodyPr/>
          <a:lstStyle/>
          <a:p>
            <a:r>
              <a:rPr lang="en-US" dirty="0">
                <a:solidFill>
                  <a:schemeClr val="tx1"/>
                </a:solidFill>
                <a:latin typeface="Times New Roman" panose="02020603050405020304" pitchFamily="18" charset="0"/>
                <a:cs typeface="Times New Roman" panose="02020603050405020304" pitchFamily="18" charset="0"/>
              </a:rPr>
              <a:t>Metrics for assessing regression accuracy</a:t>
            </a:r>
          </a:p>
          <a:p>
            <a:r>
              <a:rPr lang="en-US" dirty="0">
                <a:solidFill>
                  <a:schemeClr val="tx1"/>
                </a:solidFill>
                <a:latin typeface="Times New Roman" panose="02020603050405020304" pitchFamily="18" charset="0"/>
                <a:cs typeface="Times New Roman" panose="02020603050405020304" pitchFamily="18" charset="0"/>
              </a:rPr>
              <a:t>Metrics for assessing classification accuracy</a:t>
            </a:r>
          </a:p>
          <a:p>
            <a:endParaRPr lang="en-US" dirty="0"/>
          </a:p>
          <a:p>
            <a:endParaRPr lang="en-IN" dirty="0"/>
          </a:p>
        </p:txBody>
      </p:sp>
    </p:spTree>
    <p:extLst>
      <p:ext uri="{BB962C8B-B14F-4D97-AF65-F5344CB8AC3E}">
        <p14:creationId xmlns:p14="http://schemas.microsoft.com/office/powerpoint/2010/main" val="32976324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8E43C1-4A11-24AE-965C-961383CBE927}"/>
              </a:ext>
            </a:extLst>
          </p:cNvPr>
          <p:cNvSpPr>
            <a:spLocks noGrp="1"/>
          </p:cNvSpPr>
          <p:nvPr>
            <p:ph type="title"/>
          </p:nvPr>
        </p:nvSpPr>
        <p:spPr/>
        <p:txBody>
          <a:bodyPr>
            <a:normAutofit fontScale="90000"/>
          </a:bodyPr>
          <a:lstStyle/>
          <a:p>
            <a:r>
              <a:rPr lang="en-US" b="1" dirty="0">
                <a:latin typeface="Times New Roman" panose="02020603050405020304" pitchFamily="18" charset="0"/>
                <a:cs typeface="Times New Roman" panose="02020603050405020304" pitchFamily="18" charset="0"/>
              </a:rPr>
              <a:t>Metrics for assessing regression accuracy</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801CF910-FF7C-A94F-11B5-620BC05355DC}"/>
              </a:ext>
            </a:extLst>
          </p:cNvPr>
          <p:cNvSpPr>
            <a:spLocks noGrp="1"/>
          </p:cNvSpPr>
          <p:nvPr>
            <p:ph idx="1"/>
          </p:nvPr>
        </p:nvSpPr>
        <p:spPr/>
        <p:txBody>
          <a:bodyPr/>
          <a:lstStyle/>
          <a:p>
            <a:r>
              <a:rPr lang="en-US" dirty="0">
                <a:solidFill>
                  <a:schemeClr val="tx1"/>
                </a:solidFill>
                <a:latin typeface="Times New Roman" panose="02020603050405020304" pitchFamily="18" charset="0"/>
                <a:cs typeface="Times New Roman" panose="02020603050405020304" pitchFamily="18" charset="0"/>
              </a:rPr>
              <a:t>What is </a:t>
            </a:r>
            <a:r>
              <a:rPr lang="en-US" b="1" dirty="0">
                <a:solidFill>
                  <a:schemeClr val="tx1"/>
                </a:solidFill>
                <a:latin typeface="Times New Roman" panose="02020603050405020304" pitchFamily="18" charset="0"/>
                <a:cs typeface="Times New Roman" panose="02020603050405020304" pitchFamily="18" charset="0"/>
              </a:rPr>
              <a:t>residual</a:t>
            </a:r>
            <a:r>
              <a:rPr lang="en-US" dirty="0">
                <a:solidFill>
                  <a:schemeClr val="tx1"/>
                </a:solidFill>
                <a:latin typeface="Times New Roman" panose="02020603050405020304" pitchFamily="18" charset="0"/>
                <a:cs typeface="Times New Roman" panose="02020603050405020304" pitchFamily="18" charset="0"/>
              </a:rPr>
              <a:t>(Error)</a:t>
            </a:r>
          </a:p>
          <a:p>
            <a:r>
              <a:rPr lang="en-IN" b="1" dirty="0">
                <a:solidFill>
                  <a:schemeClr val="tx1"/>
                </a:solidFill>
                <a:latin typeface="Times New Roman" panose="02020603050405020304" pitchFamily="18" charset="0"/>
                <a:cs typeface="Times New Roman" panose="02020603050405020304" pitchFamily="18" charset="0"/>
              </a:rPr>
              <a:t>Actual Value (y):</a:t>
            </a:r>
            <a:r>
              <a:rPr lang="en-IN" dirty="0">
                <a:solidFill>
                  <a:schemeClr val="tx1"/>
                </a:solidFill>
                <a:latin typeface="Times New Roman" panose="02020603050405020304" pitchFamily="18" charset="0"/>
                <a:cs typeface="Times New Roman" panose="02020603050405020304" pitchFamily="18" charset="0"/>
              </a:rPr>
              <a:t> The real result (e.g., a house actually sold for $300k)</a:t>
            </a:r>
          </a:p>
          <a:p>
            <a:pPr lvl="0"/>
            <a:r>
              <a:rPr lang="en-IN" b="1" dirty="0">
                <a:solidFill>
                  <a:schemeClr val="tx1"/>
                </a:solidFill>
                <a:latin typeface="Times New Roman" panose="02020603050405020304" pitchFamily="18" charset="0"/>
                <a:cs typeface="Times New Roman" panose="02020603050405020304" pitchFamily="18" charset="0"/>
              </a:rPr>
              <a:t>Predicted Value</a:t>
            </a:r>
            <a:r>
              <a:rPr lang="en-IN" dirty="0">
                <a:solidFill>
                  <a:schemeClr val="tx1"/>
                </a:solidFill>
                <a:latin typeface="Times New Roman" panose="02020603050405020304" pitchFamily="18" charset="0"/>
                <a:cs typeface="Times New Roman" panose="02020603050405020304" pitchFamily="18" charset="0"/>
              </a:rPr>
              <a:t> (</a:t>
            </a:r>
            <a:r>
              <a:rPr lang="en-IN" b="1" dirty="0">
                <a:solidFill>
                  <a:schemeClr val="tx1"/>
                </a:solidFill>
                <a:latin typeface="Times New Roman" panose="02020603050405020304" pitchFamily="18" charset="0"/>
                <a:cs typeface="Times New Roman" panose="02020603050405020304" pitchFamily="18" charset="0"/>
              </a:rPr>
              <a:t>h(x)</a:t>
            </a:r>
            <a:r>
              <a:rPr lang="en-IN" dirty="0">
                <a:solidFill>
                  <a:schemeClr val="tx1"/>
                </a:solidFill>
                <a:latin typeface="Times New Roman" panose="02020603050405020304" pitchFamily="18" charset="0"/>
                <a:cs typeface="Times New Roman" panose="02020603050405020304" pitchFamily="18" charset="0"/>
              </a:rPr>
              <a:t>): What your model guessed (e.g., your model guessed $280k).</a:t>
            </a:r>
          </a:p>
          <a:p>
            <a:pPr lvl="0"/>
            <a:r>
              <a:rPr lang="en-IN" b="1" dirty="0">
                <a:solidFill>
                  <a:schemeClr val="tx1"/>
                </a:solidFill>
                <a:latin typeface="Times New Roman" panose="02020603050405020304" pitchFamily="18" charset="0"/>
                <a:cs typeface="Times New Roman" panose="02020603050405020304" pitchFamily="18" charset="0"/>
              </a:rPr>
              <a:t>Error:</a:t>
            </a:r>
            <a:r>
              <a:rPr lang="en-IN" dirty="0">
                <a:solidFill>
                  <a:schemeClr val="tx1"/>
                </a:solidFill>
                <a:latin typeface="Times New Roman" panose="02020603050405020304" pitchFamily="18" charset="0"/>
                <a:cs typeface="Times New Roman" panose="02020603050405020304" pitchFamily="18" charset="0"/>
              </a:rPr>
              <a:t> The difference between them ($20k).</a:t>
            </a:r>
          </a:p>
          <a:p>
            <a:endParaRPr lang="en-IN"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8375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0B769D-1FF6-96A2-F6AE-39437FF9745E}"/>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Metrics</a:t>
            </a:r>
            <a:endParaRPr lang="en-IN" b="1"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6BBCCE2-0759-68F8-BB18-BB11319CA124}"/>
                  </a:ext>
                </a:extLst>
              </p:cNvPr>
              <p:cNvSpPr>
                <a:spLocks noGrp="1"/>
              </p:cNvSpPr>
              <p:nvPr>
                <p:ph idx="1"/>
              </p:nvPr>
            </p:nvSpPr>
            <p:spPr/>
            <p:txBody>
              <a:bodyPr/>
              <a:lstStyle/>
              <a:p>
                <a:r>
                  <a:rPr lang="en-IN" b="1" dirty="0">
                    <a:solidFill>
                      <a:schemeClr val="tx1"/>
                    </a:solidFill>
                    <a:latin typeface="Times New Roman" panose="02020603050405020304" pitchFamily="18" charset="0"/>
                    <a:cs typeface="Times New Roman" panose="02020603050405020304" pitchFamily="18" charset="0"/>
                  </a:rPr>
                  <a:t>Mean Square Error (MSE)</a:t>
                </a:r>
                <a:endParaRPr lang="en-IN" dirty="0">
                  <a:solidFill>
                    <a:schemeClr val="tx1"/>
                  </a:solidFill>
                  <a:latin typeface="Times New Roman" panose="02020603050405020304" pitchFamily="18" charset="0"/>
                  <a:cs typeface="Times New Roman" panose="02020603050405020304" pitchFamily="18" charset="0"/>
                </a:endParaRPr>
              </a:p>
              <a:p>
                <a:r>
                  <a:rPr lang="en-IN" dirty="0">
                    <a:solidFill>
                      <a:schemeClr val="tx1"/>
                    </a:solidFill>
                    <a:latin typeface="Times New Roman" panose="02020603050405020304" pitchFamily="18" charset="0"/>
                    <a:cs typeface="Times New Roman" panose="02020603050405020304" pitchFamily="18" charset="0"/>
                  </a:rPr>
                  <a:t>MSE takes every error, squares it, and then finds the average.</a:t>
                </a:r>
              </a:p>
              <a:p>
                <a:r>
                  <a:rPr lang="en-IN" dirty="0">
                    <a:solidFill>
                      <a:schemeClr val="tx1"/>
                    </a:solidFill>
                    <a:latin typeface="Times New Roman" panose="02020603050405020304" pitchFamily="18" charset="0"/>
                    <a:cs typeface="Times New Roman" panose="02020603050405020304" pitchFamily="18" charset="0"/>
                  </a:rPr>
                  <a:t>                  </a:t>
                </a:r>
                <a:r>
                  <a:rPr lang="en-IN" b="1" dirty="0">
                    <a:solidFill>
                      <a:schemeClr val="tx1"/>
                    </a:solidFill>
                    <a:latin typeface="Times New Roman" panose="02020603050405020304" pitchFamily="18" charset="0"/>
                    <a:cs typeface="Times New Roman" panose="02020603050405020304" pitchFamily="18" charset="0"/>
                  </a:rPr>
                  <a:t>MSE</a:t>
                </a:r>
                <a:r>
                  <a:rPr lang="en-IN" dirty="0">
                    <a:solidFill>
                      <a:schemeClr val="tx1"/>
                    </a:solidFill>
                    <a:latin typeface="Times New Roman" panose="02020603050405020304" pitchFamily="18" charset="0"/>
                    <a:cs typeface="Times New Roman" panose="02020603050405020304" pitchFamily="18" charset="0"/>
                  </a:rPr>
                  <a:t>= </a:t>
                </a:r>
                <a14:m>
                  <m:oMath xmlns:m="http://schemas.openxmlformats.org/officeDocument/2006/math">
                    <m:f>
                      <m:fPr>
                        <m:ctrlPr>
                          <a:rPr lang="en-IN" i="1">
                            <a:solidFill>
                              <a:schemeClr val="tx1"/>
                            </a:solidFill>
                            <a:latin typeface="Cambria Math" panose="02040503050406030204" pitchFamily="18" charset="0"/>
                          </a:rPr>
                        </m:ctrlPr>
                      </m:fPr>
                      <m:num>
                        <m:r>
                          <a:rPr lang="en-IN" i="1">
                            <a:solidFill>
                              <a:schemeClr val="tx1"/>
                            </a:solidFill>
                            <a:latin typeface="Cambria Math" panose="02040503050406030204" pitchFamily="18" charset="0"/>
                          </a:rPr>
                          <m:t>1</m:t>
                        </m:r>
                      </m:num>
                      <m:den>
                        <m:r>
                          <a:rPr lang="en-IN" i="1">
                            <a:solidFill>
                              <a:schemeClr val="tx1"/>
                            </a:solidFill>
                            <a:latin typeface="Cambria Math" panose="02040503050406030204" pitchFamily="18" charset="0"/>
                          </a:rPr>
                          <m:t>𝑁</m:t>
                        </m:r>
                      </m:den>
                    </m:f>
                    <m:sSup>
                      <m:sSupPr>
                        <m:ctrlPr>
                          <a:rPr lang="en-IN" i="1">
                            <a:solidFill>
                              <a:schemeClr val="tx1"/>
                            </a:solidFill>
                            <a:latin typeface="Cambria Math" panose="02040503050406030204" pitchFamily="18" charset="0"/>
                          </a:rPr>
                        </m:ctrlPr>
                      </m:sSupPr>
                      <m:e>
                        <m:nary>
                          <m:naryPr>
                            <m:chr m:val="∑"/>
                            <m:limLoc m:val="undOvr"/>
                            <m:ctrlPr>
                              <a:rPr lang="en-IN" i="1">
                                <a:solidFill>
                                  <a:schemeClr val="tx1"/>
                                </a:solidFill>
                                <a:latin typeface="Cambria Math" panose="02040503050406030204" pitchFamily="18" charset="0"/>
                              </a:rPr>
                            </m:ctrlPr>
                          </m:naryPr>
                          <m:sub>
                            <m:r>
                              <a:rPr lang="en-IN" i="1">
                                <a:solidFill>
                                  <a:schemeClr val="tx1"/>
                                </a:solidFill>
                                <a:latin typeface="Cambria Math" panose="02040503050406030204" pitchFamily="18" charset="0"/>
                              </a:rPr>
                              <m:t>𝑖</m:t>
                            </m:r>
                            <m:r>
                              <a:rPr lang="en-IN" i="1">
                                <a:solidFill>
                                  <a:schemeClr val="tx1"/>
                                </a:solidFill>
                                <a:latin typeface="Cambria Math" panose="02040503050406030204" pitchFamily="18" charset="0"/>
                              </a:rPr>
                              <m:t>=</m:t>
                            </m:r>
                            <m:r>
                              <a:rPr lang="en-IN" i="1">
                                <a:solidFill>
                                  <a:schemeClr val="tx1"/>
                                </a:solidFill>
                                <a:latin typeface="Cambria Math" panose="02040503050406030204" pitchFamily="18" charset="0"/>
                              </a:rPr>
                              <m:t>1</m:t>
                            </m:r>
                          </m:sub>
                          <m:sup>
                            <m:r>
                              <a:rPr lang="en-IN" i="1">
                                <a:solidFill>
                                  <a:schemeClr val="tx1"/>
                                </a:solidFill>
                                <a:latin typeface="Cambria Math" panose="02040503050406030204" pitchFamily="18" charset="0"/>
                              </a:rPr>
                              <m:t>𝑁</m:t>
                            </m:r>
                          </m:sup>
                          <m:e>
                            <m:sSup>
                              <m:sSupPr>
                                <m:ctrlPr>
                                  <a:rPr lang="en-IN" i="1">
                                    <a:solidFill>
                                      <a:schemeClr val="tx1"/>
                                    </a:solidFill>
                                    <a:latin typeface="Cambria Math" panose="02040503050406030204" pitchFamily="18" charset="0"/>
                                  </a:rPr>
                                </m:ctrlPr>
                              </m:sSupPr>
                              <m:e>
                                <m:r>
                                  <a:rPr lang="en-IN" i="1">
                                    <a:solidFill>
                                      <a:schemeClr val="tx1"/>
                                    </a:solidFill>
                                    <a:latin typeface="Cambria Math" panose="02040503050406030204" pitchFamily="18" charset="0"/>
                                  </a:rPr>
                                  <m:t>(</m:t>
                                </m:r>
                                <m:r>
                                  <a:rPr lang="en-IN" i="1">
                                    <a:solidFill>
                                      <a:schemeClr val="tx1"/>
                                    </a:solidFill>
                                    <a:latin typeface="Cambria Math" panose="02040503050406030204" pitchFamily="18" charset="0"/>
                                  </a:rPr>
                                  <m:t>𝑦</m:t>
                                </m:r>
                              </m:e>
                              <m:sup>
                                <m:r>
                                  <a:rPr lang="en-IN" i="1">
                                    <a:solidFill>
                                      <a:schemeClr val="tx1"/>
                                    </a:solidFill>
                                    <a:latin typeface="Cambria Math" panose="02040503050406030204" pitchFamily="18" charset="0"/>
                                  </a:rPr>
                                  <m:t>𝑖</m:t>
                                </m:r>
                                <m:r>
                                  <a:rPr lang="en-IN" i="1">
                                    <a:solidFill>
                                      <a:schemeClr val="tx1"/>
                                    </a:solidFill>
                                    <a:latin typeface="Cambria Math" panose="02040503050406030204" pitchFamily="18" charset="0"/>
                                  </a:rPr>
                                  <m:t>  </m:t>
                                </m:r>
                              </m:sup>
                            </m:sSup>
                          </m:e>
                        </m:nary>
                        <m:r>
                          <a:rPr lang="en-IN">
                            <a:solidFill>
                              <a:schemeClr val="tx1"/>
                            </a:solidFill>
                            <a:latin typeface="Cambria Math" panose="02040503050406030204" pitchFamily="18" charset="0"/>
                          </a:rPr>
                          <m:t>̶</m:t>
                        </m:r>
                        <m:r>
                          <a:rPr lang="en-IN">
                            <a:solidFill>
                              <a:schemeClr val="tx1"/>
                            </a:solidFill>
                            <a:latin typeface="Cambria Math" panose="02040503050406030204" pitchFamily="18" charset="0"/>
                          </a:rPr>
                          <m:t>  </m:t>
                        </m:r>
                        <m:r>
                          <m:rPr>
                            <m:sty m:val="p"/>
                          </m:rPr>
                          <a:rPr lang="en-IN">
                            <a:solidFill>
                              <a:schemeClr val="tx1"/>
                            </a:solidFill>
                            <a:latin typeface="Cambria Math" panose="02040503050406030204" pitchFamily="18" charset="0"/>
                          </a:rPr>
                          <m:t>h</m:t>
                        </m:r>
                        <m:r>
                          <a:rPr lang="en-IN">
                            <a:solidFill>
                              <a:schemeClr val="tx1"/>
                            </a:solidFill>
                            <a:latin typeface="Cambria Math" panose="02040503050406030204" pitchFamily="18" charset="0"/>
                          </a:rPr>
                          <m:t>(</m:t>
                        </m:r>
                        <m:r>
                          <m:rPr>
                            <m:sty m:val="p"/>
                          </m:rPr>
                          <a:rPr lang="en-IN">
                            <a:solidFill>
                              <a:schemeClr val="tx1"/>
                            </a:solidFill>
                            <a:latin typeface="Cambria Math" panose="02040503050406030204" pitchFamily="18" charset="0"/>
                          </a:rPr>
                          <m:t>w</m:t>
                        </m:r>
                        <m:r>
                          <a:rPr lang="en-IN">
                            <a:solidFill>
                              <a:schemeClr val="tx1"/>
                            </a:solidFill>
                            <a:latin typeface="Cambria Math" panose="02040503050406030204" pitchFamily="18" charset="0"/>
                          </a:rPr>
                          <m:t>,</m:t>
                        </m:r>
                        <m:sSup>
                          <m:sSupPr>
                            <m:ctrlPr>
                              <a:rPr lang="en-IN" i="1">
                                <a:solidFill>
                                  <a:schemeClr val="tx1"/>
                                </a:solidFill>
                                <a:latin typeface="Cambria Math" panose="02040503050406030204" pitchFamily="18" charset="0"/>
                              </a:rPr>
                            </m:ctrlPr>
                          </m:sSupPr>
                          <m:e>
                            <m:r>
                              <a:rPr lang="en-IN" i="1">
                                <a:solidFill>
                                  <a:schemeClr val="tx1"/>
                                </a:solidFill>
                                <a:latin typeface="Cambria Math" panose="02040503050406030204" pitchFamily="18" charset="0"/>
                              </a:rPr>
                              <m:t>𝑥</m:t>
                            </m:r>
                          </m:e>
                          <m:sup>
                            <m:r>
                              <a:rPr lang="en-IN" i="1">
                                <a:solidFill>
                                  <a:schemeClr val="tx1"/>
                                </a:solidFill>
                                <a:latin typeface="Cambria Math" panose="02040503050406030204" pitchFamily="18" charset="0"/>
                              </a:rPr>
                              <m:t>𝑖</m:t>
                            </m:r>
                          </m:sup>
                        </m:sSup>
                        <m:r>
                          <a:rPr lang="en-IN">
                            <a:solidFill>
                              <a:schemeClr val="tx1"/>
                            </a:solidFill>
                            <a:latin typeface="Cambria Math" panose="02040503050406030204" pitchFamily="18" charset="0"/>
                          </a:rPr>
                          <m:t>))</m:t>
                        </m:r>
                      </m:e>
                      <m:sup>
                        <m:r>
                          <a:rPr lang="en-IN" i="1">
                            <a:solidFill>
                              <a:schemeClr val="tx1"/>
                            </a:solidFill>
                            <a:latin typeface="Cambria Math" panose="02040503050406030204" pitchFamily="18" charset="0"/>
                          </a:rPr>
                          <m:t>2</m:t>
                        </m:r>
                      </m:sup>
                    </m:sSup>
                  </m:oMath>
                </a14:m>
                <a:endParaRPr lang="en-IN" dirty="0">
                  <a:solidFill>
                    <a:schemeClr val="tx1"/>
                  </a:solidFill>
                  <a:latin typeface="Times New Roman" panose="02020603050405020304" pitchFamily="18" charset="0"/>
                  <a:cs typeface="Times New Roman" panose="02020603050405020304" pitchFamily="18" charset="0"/>
                </a:endParaRPr>
              </a:p>
              <a:p>
                <a:r>
                  <a:rPr lang="en-IN" b="1" dirty="0">
                    <a:solidFill>
                      <a:schemeClr val="tx1"/>
                    </a:solidFill>
                    <a:latin typeface="Times New Roman" panose="02020603050405020304" pitchFamily="18" charset="0"/>
                    <a:cs typeface="Times New Roman" panose="02020603050405020304" pitchFamily="18" charset="0"/>
                  </a:rPr>
                  <a:t>Root Mean Square Error (RMSE)</a:t>
                </a:r>
                <a:endParaRPr lang="en-IN" dirty="0">
                  <a:solidFill>
                    <a:schemeClr val="tx1"/>
                  </a:solidFill>
                  <a:latin typeface="Times New Roman" panose="02020603050405020304" pitchFamily="18" charset="0"/>
                  <a:cs typeface="Times New Roman" panose="02020603050405020304" pitchFamily="18" charset="0"/>
                </a:endParaRPr>
              </a:p>
              <a:p>
                <a:r>
                  <a:rPr lang="en-IN" dirty="0">
                    <a:solidFill>
                      <a:schemeClr val="tx1"/>
                    </a:solidFill>
                    <a:latin typeface="Times New Roman" panose="02020603050405020304" pitchFamily="18" charset="0"/>
                    <a:cs typeface="Times New Roman" panose="02020603050405020304" pitchFamily="18" charset="0"/>
                  </a:rPr>
                  <a:t>This is just the square root of the MSE.</a:t>
                </a:r>
              </a:p>
              <a:p>
                <a:r>
                  <a:rPr lang="en-IN" b="1" dirty="0">
                    <a:solidFill>
                      <a:schemeClr val="tx1"/>
                    </a:solidFill>
                    <a:latin typeface="Times New Roman" panose="02020603050405020304" pitchFamily="18" charset="0"/>
                    <a:cs typeface="Times New Roman" panose="02020603050405020304" pitchFamily="18" charset="0"/>
                  </a:rPr>
                  <a:t>RMSE</a:t>
                </a:r>
                <a:r>
                  <a:rPr lang="en-IN" dirty="0">
                    <a:solidFill>
                      <a:schemeClr val="tx1"/>
                    </a:solidFill>
                    <a:latin typeface="Times New Roman" panose="02020603050405020304" pitchFamily="18" charset="0"/>
                    <a:cs typeface="Times New Roman" panose="02020603050405020304" pitchFamily="18" charset="0"/>
                  </a:rPr>
                  <a:t>=</a:t>
                </a:r>
                <a14:m>
                  <m:oMath xmlns:m="http://schemas.openxmlformats.org/officeDocument/2006/math">
                    <m:rad>
                      <m:radPr>
                        <m:degHide m:val="on"/>
                        <m:ctrlPr>
                          <a:rPr lang="en-IN" i="1">
                            <a:solidFill>
                              <a:schemeClr val="tx1"/>
                            </a:solidFill>
                            <a:latin typeface="Cambria Math" panose="02040503050406030204" pitchFamily="18" charset="0"/>
                          </a:rPr>
                        </m:ctrlPr>
                      </m:radPr>
                      <m:deg/>
                      <m:e>
                        <m:r>
                          <a:rPr lang="en-IN" i="1">
                            <a:solidFill>
                              <a:schemeClr val="tx1"/>
                            </a:solidFill>
                            <a:latin typeface="Cambria Math" panose="02040503050406030204" pitchFamily="18" charset="0"/>
                          </a:rPr>
                          <m:t>𝑀𝑆𝐸</m:t>
                        </m:r>
                      </m:e>
                    </m:rad>
                  </m:oMath>
                </a14:m>
                <a:endParaRPr lang="en-IN" dirty="0">
                  <a:solidFill>
                    <a:schemeClr val="tx1"/>
                  </a:solidFill>
                  <a:latin typeface="Times New Roman" panose="02020603050405020304" pitchFamily="18" charset="0"/>
                  <a:cs typeface="Times New Roman" panose="02020603050405020304" pitchFamily="18" charset="0"/>
                </a:endParaRPr>
              </a:p>
            </p:txBody>
          </p:sp>
        </mc:Choice>
        <mc:Fallback xmlns="">
          <p:sp>
            <p:nvSpPr>
              <p:cNvPr id="3" name="Content Placeholder 2">
                <a:extLst>
                  <a:ext uri="{FF2B5EF4-FFF2-40B4-BE49-F238E27FC236}">
                    <a16:creationId xmlns:a16="http://schemas.microsoft.com/office/drawing/2014/main" id="{F6BBCCE2-0759-68F8-BB18-BB11319CA124}"/>
                  </a:ext>
                </a:extLst>
              </p:cNvPr>
              <p:cNvSpPr>
                <a:spLocks noGrp="1" noRot="1" noChangeAspect="1" noMove="1" noResize="1" noEditPoints="1" noAdjustHandles="1" noChangeArrowheads="1" noChangeShapeType="1" noTextEdit="1"/>
              </p:cNvSpPr>
              <p:nvPr>
                <p:ph idx="1"/>
              </p:nvPr>
            </p:nvSpPr>
            <p:spPr>
              <a:blipFill>
                <a:blip r:embed="rId3"/>
                <a:stretch>
                  <a:fillRect l="-1144" t="-2569" b="-2752"/>
                </a:stretch>
              </a:blipFill>
            </p:spPr>
            <p:txBody>
              <a:bodyPr/>
              <a:lstStyle/>
              <a:p>
                <a:r>
                  <a:rPr lang="en-IN">
                    <a:noFill/>
                  </a:rPr>
                  <a:t> </a:t>
                </a:r>
              </a:p>
            </p:txBody>
          </p:sp>
        </mc:Fallback>
      </mc:AlternateContent>
    </p:spTree>
    <p:extLst>
      <p:ext uri="{BB962C8B-B14F-4D97-AF65-F5344CB8AC3E}">
        <p14:creationId xmlns:p14="http://schemas.microsoft.com/office/powerpoint/2010/main" val="22018869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3B0261-6CCF-46AB-1880-316E061882EB}"/>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Mean absolute Error</a:t>
            </a:r>
            <a:endParaRPr lang="en-IN" b="1"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4C3D441-2F75-F329-16BA-2FABFA5E1D7D}"/>
                  </a:ext>
                </a:extLst>
              </p:cNvPr>
              <p:cNvSpPr>
                <a:spLocks noGrp="1"/>
              </p:cNvSpPr>
              <p:nvPr>
                <p:ph idx="1"/>
              </p:nvPr>
            </p:nvSpPr>
            <p:spPr/>
            <p:txBody>
              <a:bodyPr/>
              <a:lstStyle/>
              <a:p>
                <a:r>
                  <a:rPr lang="en-IN" dirty="0">
                    <a:solidFill>
                      <a:schemeClr val="tx1"/>
                    </a:solidFill>
                    <a:latin typeface="Times New Roman" panose="02020603050405020304" pitchFamily="18" charset="0"/>
                    <a:cs typeface="Times New Roman" panose="02020603050405020304" pitchFamily="18" charset="0"/>
                  </a:rPr>
                  <a:t>MAE just takes the "absolute value" (ignores the plus or minus sign) and averages them.</a:t>
                </a:r>
              </a:p>
              <a:p>
                <a:r>
                  <a:rPr lang="en-IN" dirty="0">
                    <a:solidFill>
                      <a:schemeClr val="tx1"/>
                    </a:solidFill>
                    <a:latin typeface="Times New Roman" panose="02020603050405020304" pitchFamily="18" charset="0"/>
                    <a:cs typeface="Times New Roman" panose="02020603050405020304" pitchFamily="18" charset="0"/>
                  </a:rPr>
                  <a:t>MAE= </a:t>
                </a:r>
                <a14:m>
                  <m:oMath xmlns:m="http://schemas.openxmlformats.org/officeDocument/2006/math">
                    <m:f>
                      <m:fPr>
                        <m:ctrlPr>
                          <a:rPr lang="en-IN" i="1">
                            <a:solidFill>
                              <a:schemeClr val="tx1"/>
                            </a:solidFill>
                            <a:latin typeface="Cambria Math" panose="02040503050406030204" pitchFamily="18" charset="0"/>
                          </a:rPr>
                        </m:ctrlPr>
                      </m:fPr>
                      <m:num>
                        <m:r>
                          <a:rPr lang="en-IN" i="1">
                            <a:solidFill>
                              <a:schemeClr val="tx1"/>
                            </a:solidFill>
                            <a:latin typeface="Cambria Math" panose="02040503050406030204" pitchFamily="18" charset="0"/>
                          </a:rPr>
                          <m:t>1</m:t>
                        </m:r>
                      </m:num>
                      <m:den>
                        <m:r>
                          <a:rPr lang="en-IN" i="1">
                            <a:solidFill>
                              <a:schemeClr val="tx1"/>
                            </a:solidFill>
                            <a:latin typeface="Cambria Math" panose="02040503050406030204" pitchFamily="18" charset="0"/>
                          </a:rPr>
                          <m:t>𝑁</m:t>
                        </m:r>
                      </m:den>
                    </m:f>
                    <m:nary>
                      <m:naryPr>
                        <m:chr m:val="∑"/>
                        <m:limLoc m:val="undOvr"/>
                        <m:ctrlPr>
                          <a:rPr lang="en-IN" i="1">
                            <a:solidFill>
                              <a:schemeClr val="tx1"/>
                            </a:solidFill>
                            <a:latin typeface="Cambria Math" panose="02040503050406030204" pitchFamily="18" charset="0"/>
                          </a:rPr>
                        </m:ctrlPr>
                      </m:naryPr>
                      <m:sub>
                        <m:r>
                          <a:rPr lang="en-IN" i="1">
                            <a:solidFill>
                              <a:schemeClr val="tx1"/>
                            </a:solidFill>
                            <a:latin typeface="Cambria Math" panose="02040503050406030204" pitchFamily="18" charset="0"/>
                          </a:rPr>
                          <m:t>𝑖</m:t>
                        </m:r>
                        <m:r>
                          <a:rPr lang="en-IN" i="1">
                            <a:solidFill>
                              <a:schemeClr val="tx1"/>
                            </a:solidFill>
                            <a:latin typeface="Cambria Math" panose="02040503050406030204" pitchFamily="18" charset="0"/>
                          </a:rPr>
                          <m:t>=</m:t>
                        </m:r>
                        <m:r>
                          <a:rPr lang="en-IN" i="1">
                            <a:solidFill>
                              <a:schemeClr val="tx1"/>
                            </a:solidFill>
                            <a:latin typeface="Cambria Math" panose="02040503050406030204" pitchFamily="18" charset="0"/>
                          </a:rPr>
                          <m:t>1</m:t>
                        </m:r>
                      </m:sub>
                      <m:sup>
                        <m:r>
                          <a:rPr lang="en-IN" i="1">
                            <a:solidFill>
                              <a:schemeClr val="tx1"/>
                            </a:solidFill>
                            <a:latin typeface="Cambria Math" panose="02040503050406030204" pitchFamily="18" charset="0"/>
                          </a:rPr>
                          <m:t>𝑁</m:t>
                        </m:r>
                      </m:sup>
                      <m:e>
                        <m:sSup>
                          <m:sSupPr>
                            <m:ctrlPr>
                              <a:rPr lang="en-IN" i="1">
                                <a:solidFill>
                                  <a:schemeClr val="tx1"/>
                                </a:solidFill>
                                <a:latin typeface="Cambria Math" panose="02040503050406030204" pitchFamily="18" charset="0"/>
                              </a:rPr>
                            </m:ctrlPr>
                          </m:sSupPr>
                          <m:e>
                            <m:r>
                              <a:rPr lang="en-IN" i="1">
                                <a:solidFill>
                                  <a:schemeClr val="tx1"/>
                                </a:solidFill>
                                <a:latin typeface="Cambria Math" panose="02040503050406030204" pitchFamily="18" charset="0"/>
                              </a:rPr>
                              <m:t>|</m:t>
                            </m:r>
                            <m:r>
                              <a:rPr lang="en-IN" i="1">
                                <a:solidFill>
                                  <a:schemeClr val="tx1"/>
                                </a:solidFill>
                                <a:latin typeface="Cambria Math" panose="02040503050406030204" pitchFamily="18" charset="0"/>
                              </a:rPr>
                              <m:t>𝑦</m:t>
                            </m:r>
                          </m:e>
                          <m:sup>
                            <m:r>
                              <a:rPr lang="en-IN" i="1">
                                <a:solidFill>
                                  <a:schemeClr val="tx1"/>
                                </a:solidFill>
                                <a:latin typeface="Cambria Math" panose="02040503050406030204" pitchFamily="18" charset="0"/>
                              </a:rPr>
                              <m:t>𝑖</m:t>
                            </m:r>
                            <m:r>
                              <a:rPr lang="en-IN" i="1">
                                <a:solidFill>
                                  <a:schemeClr val="tx1"/>
                                </a:solidFill>
                                <a:latin typeface="Cambria Math" panose="02040503050406030204" pitchFamily="18" charset="0"/>
                              </a:rPr>
                              <m:t>  </m:t>
                            </m:r>
                          </m:sup>
                        </m:sSup>
                      </m:e>
                    </m:nary>
                    <m:r>
                      <a:rPr lang="en-IN">
                        <a:solidFill>
                          <a:schemeClr val="tx1"/>
                        </a:solidFill>
                        <a:latin typeface="Cambria Math" panose="02040503050406030204" pitchFamily="18" charset="0"/>
                      </a:rPr>
                      <m:t>̶</m:t>
                    </m:r>
                    <m:r>
                      <a:rPr lang="en-IN">
                        <a:solidFill>
                          <a:schemeClr val="tx1"/>
                        </a:solidFill>
                        <a:latin typeface="Cambria Math" panose="02040503050406030204" pitchFamily="18" charset="0"/>
                      </a:rPr>
                      <m:t>  </m:t>
                    </m:r>
                    <m:r>
                      <m:rPr>
                        <m:sty m:val="p"/>
                      </m:rPr>
                      <a:rPr lang="en-IN">
                        <a:solidFill>
                          <a:schemeClr val="tx1"/>
                        </a:solidFill>
                        <a:latin typeface="Cambria Math" panose="02040503050406030204" pitchFamily="18" charset="0"/>
                      </a:rPr>
                      <m:t>h</m:t>
                    </m:r>
                    <m:d>
                      <m:dPr>
                        <m:ctrlPr>
                          <a:rPr lang="en-IN" i="1">
                            <a:solidFill>
                              <a:schemeClr val="tx1"/>
                            </a:solidFill>
                            <a:latin typeface="Cambria Math" panose="02040503050406030204" pitchFamily="18" charset="0"/>
                          </a:rPr>
                        </m:ctrlPr>
                      </m:dPr>
                      <m:e>
                        <m:r>
                          <m:rPr>
                            <m:sty m:val="p"/>
                          </m:rPr>
                          <a:rPr lang="en-IN">
                            <a:solidFill>
                              <a:schemeClr val="tx1"/>
                            </a:solidFill>
                            <a:latin typeface="Cambria Math" panose="02040503050406030204" pitchFamily="18" charset="0"/>
                          </a:rPr>
                          <m:t>w</m:t>
                        </m:r>
                        <m:r>
                          <a:rPr lang="en-IN">
                            <a:solidFill>
                              <a:schemeClr val="tx1"/>
                            </a:solidFill>
                            <a:latin typeface="Cambria Math" panose="02040503050406030204" pitchFamily="18" charset="0"/>
                          </a:rPr>
                          <m:t>,</m:t>
                        </m:r>
                        <m:sSup>
                          <m:sSupPr>
                            <m:ctrlPr>
                              <a:rPr lang="en-IN" i="1">
                                <a:solidFill>
                                  <a:schemeClr val="tx1"/>
                                </a:solidFill>
                                <a:latin typeface="Cambria Math" panose="02040503050406030204" pitchFamily="18" charset="0"/>
                              </a:rPr>
                            </m:ctrlPr>
                          </m:sSupPr>
                          <m:e>
                            <m:r>
                              <a:rPr lang="en-IN" i="1">
                                <a:solidFill>
                                  <a:schemeClr val="tx1"/>
                                </a:solidFill>
                                <a:latin typeface="Cambria Math" panose="02040503050406030204" pitchFamily="18" charset="0"/>
                              </a:rPr>
                              <m:t>𝑥</m:t>
                            </m:r>
                          </m:e>
                          <m:sup>
                            <m:r>
                              <a:rPr lang="en-IN" i="1">
                                <a:solidFill>
                                  <a:schemeClr val="tx1"/>
                                </a:solidFill>
                                <a:latin typeface="Cambria Math" panose="02040503050406030204" pitchFamily="18" charset="0"/>
                              </a:rPr>
                              <m:t>𝑖</m:t>
                            </m:r>
                          </m:sup>
                        </m:sSup>
                      </m:e>
                    </m:d>
                    <m:r>
                      <a:rPr lang="en-IN">
                        <a:solidFill>
                          <a:schemeClr val="tx1"/>
                        </a:solidFill>
                        <a:latin typeface="Cambria Math" panose="02040503050406030204" pitchFamily="18" charset="0"/>
                      </a:rPr>
                      <m:t>|</m:t>
                    </m:r>
                  </m:oMath>
                </a14:m>
                <a:endParaRPr lang="en-IN" dirty="0">
                  <a:solidFill>
                    <a:schemeClr val="tx1"/>
                  </a:solidFill>
                  <a:latin typeface="Times New Roman" panose="02020603050405020304" pitchFamily="18" charset="0"/>
                  <a:cs typeface="Times New Roman" panose="02020603050405020304" pitchFamily="18" charset="0"/>
                </a:endParaRPr>
              </a:p>
              <a:p>
                <a:r>
                  <a:rPr lang="en-IN" dirty="0">
                    <a:solidFill>
                      <a:schemeClr val="tx1"/>
                    </a:solidFill>
                    <a:latin typeface="Times New Roman" panose="02020603050405020304" pitchFamily="18" charset="0"/>
                    <a:cs typeface="Times New Roman" panose="02020603050405020304" pitchFamily="18" charset="0"/>
                  </a:rPr>
                  <a:t> </a:t>
                </a:r>
                <a:r>
                  <a:rPr lang="en-IN" b="1" dirty="0">
                    <a:solidFill>
                      <a:schemeClr val="tx1"/>
                    </a:solidFill>
                    <a:latin typeface="Times New Roman" panose="02020603050405020304" pitchFamily="18" charset="0"/>
                    <a:cs typeface="Times New Roman" panose="02020603050405020304" pitchFamily="18" charset="0"/>
                  </a:rPr>
                  <a:t>MSE vs MAE </a:t>
                </a:r>
                <a:r>
                  <a:rPr lang="en-IN" dirty="0">
                    <a:solidFill>
                      <a:schemeClr val="tx1"/>
                    </a:solidFill>
                    <a:latin typeface="Times New Roman" panose="02020603050405020304" pitchFamily="18" charset="0"/>
                    <a:cs typeface="Times New Roman" panose="02020603050405020304" pitchFamily="18" charset="0"/>
                  </a:rPr>
                  <a:t>which one is better</a:t>
                </a:r>
              </a:p>
              <a:p>
                <a:r>
                  <a:rPr lang="en-IN" dirty="0">
                    <a:solidFill>
                      <a:schemeClr val="tx1"/>
                    </a:solidFill>
                    <a:latin typeface="Times New Roman" panose="02020603050405020304" pitchFamily="18" charset="0"/>
                    <a:cs typeface="Times New Roman" panose="02020603050405020304" pitchFamily="18" charset="0"/>
                  </a:rPr>
                  <a:t>Imagine you have two models predicting the price of 4 houses.</a:t>
                </a:r>
              </a:p>
              <a:p>
                <a:r>
                  <a:rPr lang="en-IN" dirty="0"/>
                  <a:t> </a:t>
                </a:r>
              </a:p>
              <a:p>
                <a:endParaRPr lang="en-IN" dirty="0">
                  <a:solidFill>
                    <a:schemeClr val="tx1"/>
                  </a:solidFill>
                  <a:latin typeface="Times New Roman" panose="02020603050405020304" pitchFamily="18" charset="0"/>
                  <a:cs typeface="Times New Roman" panose="02020603050405020304" pitchFamily="18" charset="0"/>
                </a:endParaRPr>
              </a:p>
              <a:p>
                <a:endParaRPr lang="en-IN" dirty="0"/>
              </a:p>
            </p:txBody>
          </p:sp>
        </mc:Choice>
        <mc:Fallback xmlns="">
          <p:sp>
            <p:nvSpPr>
              <p:cNvPr id="3" name="Content Placeholder 2">
                <a:extLst>
                  <a:ext uri="{FF2B5EF4-FFF2-40B4-BE49-F238E27FC236}">
                    <a16:creationId xmlns:a16="http://schemas.microsoft.com/office/drawing/2014/main" id="{B4C3D441-2F75-F329-16BA-2FABFA5E1D7D}"/>
                  </a:ext>
                </a:extLst>
              </p:cNvPr>
              <p:cNvSpPr>
                <a:spLocks noGrp="1" noRot="1" noChangeAspect="1" noMove="1" noResize="1" noEditPoints="1" noAdjustHandles="1" noChangeArrowheads="1" noChangeShapeType="1" noTextEdit="1"/>
              </p:cNvSpPr>
              <p:nvPr>
                <p:ph idx="1"/>
              </p:nvPr>
            </p:nvSpPr>
            <p:spPr>
              <a:blipFill>
                <a:blip r:embed="rId2"/>
                <a:stretch>
                  <a:fillRect l="-1144" t="-2569"/>
                </a:stretch>
              </a:blipFill>
            </p:spPr>
            <p:txBody>
              <a:bodyPr/>
              <a:lstStyle/>
              <a:p>
                <a:r>
                  <a:rPr lang="en-IN">
                    <a:noFill/>
                  </a:rPr>
                  <a:t> </a:t>
                </a:r>
              </a:p>
            </p:txBody>
          </p:sp>
        </mc:Fallback>
      </mc:AlternateContent>
    </p:spTree>
    <p:extLst>
      <p:ext uri="{BB962C8B-B14F-4D97-AF65-F5344CB8AC3E}">
        <p14:creationId xmlns:p14="http://schemas.microsoft.com/office/powerpoint/2010/main" val="39672046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3594E9-20FC-5B8B-4412-92560795BAE6}"/>
              </a:ext>
            </a:extLst>
          </p:cNvPr>
          <p:cNvSpPr>
            <a:spLocks noGrp="1"/>
          </p:cNvSpPr>
          <p:nvPr>
            <p:ph type="title"/>
          </p:nvPr>
        </p:nvSpPr>
        <p:spPr/>
        <p:txBody>
          <a:bodyPr/>
          <a:lstStyle/>
          <a:p>
            <a:endParaRPr lang="en-IN"/>
          </a:p>
        </p:txBody>
      </p:sp>
      <p:graphicFrame>
        <p:nvGraphicFramePr>
          <p:cNvPr id="4" name="Content Placeholder 3">
            <a:extLst>
              <a:ext uri="{FF2B5EF4-FFF2-40B4-BE49-F238E27FC236}">
                <a16:creationId xmlns:a16="http://schemas.microsoft.com/office/drawing/2014/main" id="{60BBD595-7516-4A2F-19C7-4CB19A6E610A}"/>
              </a:ext>
            </a:extLst>
          </p:cNvPr>
          <p:cNvGraphicFramePr>
            <a:graphicFrameLocks noGrp="1"/>
          </p:cNvGraphicFramePr>
          <p:nvPr>
            <p:ph idx="1"/>
            <p:extLst>
              <p:ext uri="{D42A27DB-BD31-4B8C-83A1-F6EECF244321}">
                <p14:modId xmlns:p14="http://schemas.microsoft.com/office/powerpoint/2010/main" val="1098871148"/>
              </p:ext>
            </p:extLst>
          </p:nvPr>
        </p:nvGraphicFramePr>
        <p:xfrm>
          <a:off x="1295398" y="2708617"/>
          <a:ext cx="9601200" cy="3374962"/>
        </p:xfrm>
        <a:graphic>
          <a:graphicData uri="http://schemas.openxmlformats.org/drawingml/2006/table">
            <a:tbl>
              <a:tblPr firstRow="1" firstCol="1" bandRow="1">
                <a:tableStyleId>{5C22544A-7EE6-4342-B048-85BDC9FD1C3A}</a:tableStyleId>
              </a:tblPr>
              <a:tblGrid>
                <a:gridCol w="1600200">
                  <a:extLst>
                    <a:ext uri="{9D8B030D-6E8A-4147-A177-3AD203B41FA5}">
                      <a16:colId xmlns:a16="http://schemas.microsoft.com/office/drawing/2014/main" val="4157252464"/>
                    </a:ext>
                  </a:extLst>
                </a:gridCol>
                <a:gridCol w="1600200">
                  <a:extLst>
                    <a:ext uri="{9D8B030D-6E8A-4147-A177-3AD203B41FA5}">
                      <a16:colId xmlns:a16="http://schemas.microsoft.com/office/drawing/2014/main" val="1110466862"/>
                    </a:ext>
                  </a:extLst>
                </a:gridCol>
                <a:gridCol w="1600200">
                  <a:extLst>
                    <a:ext uri="{9D8B030D-6E8A-4147-A177-3AD203B41FA5}">
                      <a16:colId xmlns:a16="http://schemas.microsoft.com/office/drawing/2014/main" val="973111355"/>
                    </a:ext>
                  </a:extLst>
                </a:gridCol>
                <a:gridCol w="1600200">
                  <a:extLst>
                    <a:ext uri="{9D8B030D-6E8A-4147-A177-3AD203B41FA5}">
                      <a16:colId xmlns:a16="http://schemas.microsoft.com/office/drawing/2014/main" val="2654955002"/>
                    </a:ext>
                  </a:extLst>
                </a:gridCol>
                <a:gridCol w="1600200">
                  <a:extLst>
                    <a:ext uri="{9D8B030D-6E8A-4147-A177-3AD203B41FA5}">
                      <a16:colId xmlns:a16="http://schemas.microsoft.com/office/drawing/2014/main" val="182801702"/>
                    </a:ext>
                  </a:extLst>
                </a:gridCol>
                <a:gridCol w="1600200">
                  <a:extLst>
                    <a:ext uri="{9D8B030D-6E8A-4147-A177-3AD203B41FA5}">
                      <a16:colId xmlns:a16="http://schemas.microsoft.com/office/drawing/2014/main" val="3931575425"/>
                    </a:ext>
                  </a:extLst>
                </a:gridCol>
              </a:tblGrid>
              <a:tr h="0">
                <a:tc>
                  <a:txBody>
                    <a:bodyPr/>
                    <a:lstStyle/>
                    <a:p>
                      <a:pPr algn="just">
                        <a:lnSpc>
                          <a:spcPct val="115000"/>
                        </a:lnSpc>
                        <a:spcAft>
                          <a:spcPts val="800"/>
                        </a:spcAft>
                        <a:buNone/>
                      </a:pPr>
                      <a:r>
                        <a:rPr lang="en-IN" sz="2800" kern="100" dirty="0">
                          <a:effectLst/>
                          <a:latin typeface="Times New Roman" panose="02020603050405020304" pitchFamily="18" charset="0"/>
                          <a:cs typeface="Times New Roman" panose="02020603050405020304" pitchFamily="18" charset="0"/>
                        </a:rPr>
                        <a:t>House</a:t>
                      </a:r>
                      <a:endParaRPr lang="en-IN" sz="28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114300" marR="114300" marT="76200" marB="76200" anchor="ctr"/>
                </a:tc>
                <a:tc>
                  <a:txBody>
                    <a:bodyPr/>
                    <a:lstStyle/>
                    <a:p>
                      <a:pPr algn="just">
                        <a:lnSpc>
                          <a:spcPct val="115000"/>
                        </a:lnSpc>
                        <a:spcAft>
                          <a:spcPts val="800"/>
                        </a:spcAft>
                        <a:buNone/>
                      </a:pPr>
                      <a:r>
                        <a:rPr lang="en-IN" sz="2800" kern="100" dirty="0">
                          <a:effectLst/>
                          <a:latin typeface="Times New Roman" panose="02020603050405020304" pitchFamily="18" charset="0"/>
                          <a:cs typeface="Times New Roman" panose="02020603050405020304" pitchFamily="18" charset="0"/>
                        </a:rPr>
                        <a:t>Actual</a:t>
                      </a:r>
                      <a:endParaRPr lang="en-IN" sz="28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114300" marR="114300" marT="76200" marB="76200" anchor="ctr"/>
                </a:tc>
                <a:tc>
                  <a:txBody>
                    <a:bodyPr/>
                    <a:lstStyle/>
                    <a:p>
                      <a:pPr algn="just">
                        <a:lnSpc>
                          <a:spcPct val="115000"/>
                        </a:lnSpc>
                        <a:spcAft>
                          <a:spcPts val="800"/>
                        </a:spcAft>
                        <a:buNone/>
                      </a:pPr>
                      <a:r>
                        <a:rPr lang="en-IN" sz="2400" kern="100">
                          <a:effectLst/>
                          <a:latin typeface="Times New Roman" panose="02020603050405020304" pitchFamily="18" charset="0"/>
                          <a:cs typeface="Times New Roman" panose="02020603050405020304" pitchFamily="18" charset="0"/>
                        </a:rPr>
                        <a:t>Model A Guess</a:t>
                      </a:r>
                      <a:endParaRPr lang="en-IN" sz="24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114300" marR="114300" marT="76200" marB="76200" anchor="ctr"/>
                </a:tc>
                <a:tc>
                  <a:txBody>
                    <a:bodyPr/>
                    <a:lstStyle/>
                    <a:p>
                      <a:pPr algn="just">
                        <a:lnSpc>
                          <a:spcPct val="115000"/>
                        </a:lnSpc>
                        <a:spcAft>
                          <a:spcPts val="800"/>
                        </a:spcAft>
                        <a:buNone/>
                      </a:pPr>
                      <a:r>
                        <a:rPr lang="en-IN" sz="2400" kern="100">
                          <a:effectLst/>
                          <a:latin typeface="Times New Roman" panose="02020603050405020304" pitchFamily="18" charset="0"/>
                          <a:cs typeface="Times New Roman" panose="02020603050405020304" pitchFamily="18" charset="0"/>
                        </a:rPr>
                        <a:t>Model A Error</a:t>
                      </a:r>
                      <a:endParaRPr lang="en-IN" sz="24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114300" marR="114300" marT="76200" marB="76200" anchor="ctr"/>
                </a:tc>
                <a:tc>
                  <a:txBody>
                    <a:bodyPr/>
                    <a:lstStyle/>
                    <a:p>
                      <a:pPr algn="just">
                        <a:lnSpc>
                          <a:spcPct val="115000"/>
                        </a:lnSpc>
                        <a:spcAft>
                          <a:spcPts val="800"/>
                        </a:spcAft>
                        <a:buNone/>
                      </a:pPr>
                      <a:r>
                        <a:rPr lang="en-IN" sz="2400" kern="100" dirty="0">
                          <a:effectLst/>
                          <a:latin typeface="Times New Roman" panose="02020603050405020304" pitchFamily="18" charset="0"/>
                          <a:cs typeface="Times New Roman" panose="02020603050405020304" pitchFamily="18" charset="0"/>
                        </a:rPr>
                        <a:t>Model B Guess</a:t>
                      </a:r>
                      <a:endParaRPr lang="en-IN" sz="24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114300" marR="114300" marT="76200" marB="76200" anchor="ctr"/>
                </a:tc>
                <a:tc>
                  <a:txBody>
                    <a:bodyPr/>
                    <a:lstStyle/>
                    <a:p>
                      <a:pPr algn="just">
                        <a:lnSpc>
                          <a:spcPct val="115000"/>
                        </a:lnSpc>
                        <a:spcAft>
                          <a:spcPts val="800"/>
                        </a:spcAft>
                        <a:buNone/>
                      </a:pPr>
                      <a:r>
                        <a:rPr lang="en-IN" sz="2400" kern="100" dirty="0">
                          <a:effectLst/>
                          <a:latin typeface="Times New Roman" panose="02020603050405020304" pitchFamily="18" charset="0"/>
                          <a:cs typeface="Times New Roman" panose="02020603050405020304" pitchFamily="18" charset="0"/>
                        </a:rPr>
                        <a:t>Model B Error</a:t>
                      </a:r>
                      <a:endParaRPr lang="en-IN" sz="24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114300" marR="114300" marT="76200" marB="76200" anchor="ctr"/>
                </a:tc>
                <a:extLst>
                  <a:ext uri="{0D108BD9-81ED-4DB2-BD59-A6C34878D82A}">
                    <a16:rowId xmlns:a16="http://schemas.microsoft.com/office/drawing/2014/main" val="3193438044"/>
                  </a:ext>
                </a:extLst>
              </a:tr>
              <a:tr h="0">
                <a:tc>
                  <a:txBody>
                    <a:bodyPr/>
                    <a:lstStyle/>
                    <a:p>
                      <a:pPr algn="just">
                        <a:lnSpc>
                          <a:spcPct val="115000"/>
                        </a:lnSpc>
                        <a:spcAft>
                          <a:spcPts val="800"/>
                        </a:spcAft>
                        <a:buNone/>
                      </a:pPr>
                      <a:r>
                        <a:rPr lang="en-IN" sz="2800" kern="100">
                          <a:effectLst/>
                          <a:latin typeface="Times New Roman" panose="02020603050405020304" pitchFamily="18" charset="0"/>
                          <a:cs typeface="Times New Roman" panose="02020603050405020304" pitchFamily="18" charset="0"/>
                        </a:rPr>
                        <a:t>1</a:t>
                      </a:r>
                      <a:endParaRPr lang="en-IN" sz="28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114300" marR="114300" marT="76200" marB="76200" anchor="ctr"/>
                </a:tc>
                <a:tc>
                  <a:txBody>
                    <a:bodyPr/>
                    <a:lstStyle/>
                    <a:p>
                      <a:pPr algn="just">
                        <a:lnSpc>
                          <a:spcPct val="115000"/>
                        </a:lnSpc>
                        <a:spcAft>
                          <a:spcPts val="800"/>
                        </a:spcAft>
                        <a:buNone/>
                      </a:pPr>
                      <a:r>
                        <a:rPr lang="en-IN" sz="2800" kern="100">
                          <a:effectLst/>
                          <a:latin typeface="Times New Roman" panose="02020603050405020304" pitchFamily="18" charset="0"/>
                          <a:cs typeface="Times New Roman" panose="02020603050405020304" pitchFamily="18" charset="0"/>
                        </a:rPr>
                        <a:t>$100k</a:t>
                      </a:r>
                      <a:endParaRPr lang="en-IN" sz="28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114300" marR="114300" marT="76200" marB="76200" anchor="ctr"/>
                </a:tc>
                <a:tc>
                  <a:txBody>
                    <a:bodyPr/>
                    <a:lstStyle/>
                    <a:p>
                      <a:pPr algn="just">
                        <a:lnSpc>
                          <a:spcPct val="115000"/>
                        </a:lnSpc>
                        <a:spcAft>
                          <a:spcPts val="800"/>
                        </a:spcAft>
                        <a:buNone/>
                      </a:pPr>
                      <a:r>
                        <a:rPr lang="en-IN" sz="2800" kern="100">
                          <a:effectLst/>
                          <a:latin typeface="Times New Roman" panose="02020603050405020304" pitchFamily="18" charset="0"/>
                          <a:cs typeface="Times New Roman" panose="02020603050405020304" pitchFamily="18" charset="0"/>
                        </a:rPr>
                        <a:t>$105k</a:t>
                      </a:r>
                      <a:endParaRPr lang="en-IN" sz="28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114300" marR="114300" marT="76200" marB="76200" anchor="ctr"/>
                </a:tc>
                <a:tc>
                  <a:txBody>
                    <a:bodyPr/>
                    <a:lstStyle/>
                    <a:p>
                      <a:pPr algn="just">
                        <a:lnSpc>
                          <a:spcPct val="115000"/>
                        </a:lnSpc>
                        <a:spcAft>
                          <a:spcPts val="800"/>
                        </a:spcAft>
                        <a:buNone/>
                      </a:pPr>
                      <a:r>
                        <a:rPr lang="en-IN" sz="2800" kern="100">
                          <a:effectLst/>
                          <a:latin typeface="Times New Roman" panose="02020603050405020304" pitchFamily="18" charset="0"/>
                          <a:cs typeface="Times New Roman" panose="02020603050405020304" pitchFamily="18" charset="0"/>
                        </a:rPr>
                        <a:t>+5</a:t>
                      </a:r>
                      <a:endParaRPr lang="en-IN" sz="28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114300" marR="114300" marT="76200" marB="76200" anchor="ctr"/>
                </a:tc>
                <a:tc>
                  <a:txBody>
                    <a:bodyPr/>
                    <a:lstStyle/>
                    <a:p>
                      <a:pPr algn="just">
                        <a:lnSpc>
                          <a:spcPct val="115000"/>
                        </a:lnSpc>
                        <a:spcAft>
                          <a:spcPts val="800"/>
                        </a:spcAft>
                        <a:buNone/>
                      </a:pPr>
                      <a:r>
                        <a:rPr lang="en-IN" sz="2800" kern="100">
                          <a:effectLst/>
                          <a:latin typeface="Times New Roman" panose="02020603050405020304" pitchFamily="18" charset="0"/>
                          <a:cs typeface="Times New Roman" panose="02020603050405020304" pitchFamily="18" charset="0"/>
                        </a:rPr>
                        <a:t>$95k</a:t>
                      </a:r>
                      <a:endParaRPr lang="en-IN" sz="28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114300" marR="114300" marT="76200" marB="76200" anchor="ctr"/>
                </a:tc>
                <a:tc>
                  <a:txBody>
                    <a:bodyPr/>
                    <a:lstStyle/>
                    <a:p>
                      <a:pPr algn="just">
                        <a:lnSpc>
                          <a:spcPct val="115000"/>
                        </a:lnSpc>
                        <a:spcAft>
                          <a:spcPts val="800"/>
                        </a:spcAft>
                        <a:buNone/>
                      </a:pPr>
                      <a:r>
                        <a:rPr lang="en-IN" sz="2800" kern="100">
                          <a:effectLst/>
                          <a:latin typeface="Times New Roman" panose="02020603050405020304" pitchFamily="18" charset="0"/>
                          <a:cs typeface="Times New Roman" panose="02020603050405020304" pitchFamily="18" charset="0"/>
                        </a:rPr>
                        <a:t>-5</a:t>
                      </a:r>
                      <a:endParaRPr lang="en-IN" sz="28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114300" marR="114300" marT="76200" marB="76200" anchor="ctr"/>
                </a:tc>
                <a:extLst>
                  <a:ext uri="{0D108BD9-81ED-4DB2-BD59-A6C34878D82A}">
                    <a16:rowId xmlns:a16="http://schemas.microsoft.com/office/drawing/2014/main" val="125909705"/>
                  </a:ext>
                </a:extLst>
              </a:tr>
              <a:tr h="0">
                <a:tc>
                  <a:txBody>
                    <a:bodyPr/>
                    <a:lstStyle/>
                    <a:p>
                      <a:pPr algn="just">
                        <a:lnSpc>
                          <a:spcPct val="115000"/>
                        </a:lnSpc>
                        <a:spcAft>
                          <a:spcPts val="800"/>
                        </a:spcAft>
                        <a:buNone/>
                      </a:pPr>
                      <a:r>
                        <a:rPr lang="en-IN" sz="2800" kern="100">
                          <a:effectLst/>
                          <a:latin typeface="Times New Roman" panose="02020603050405020304" pitchFamily="18" charset="0"/>
                          <a:cs typeface="Times New Roman" panose="02020603050405020304" pitchFamily="18" charset="0"/>
                        </a:rPr>
                        <a:t>2</a:t>
                      </a:r>
                      <a:endParaRPr lang="en-IN" sz="28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114300" marR="114300" marT="76200" marB="76200" anchor="ctr"/>
                </a:tc>
                <a:tc>
                  <a:txBody>
                    <a:bodyPr/>
                    <a:lstStyle/>
                    <a:p>
                      <a:pPr algn="just">
                        <a:lnSpc>
                          <a:spcPct val="115000"/>
                        </a:lnSpc>
                        <a:spcAft>
                          <a:spcPts val="800"/>
                        </a:spcAft>
                        <a:buNone/>
                      </a:pPr>
                      <a:r>
                        <a:rPr lang="en-IN" sz="2800" kern="100">
                          <a:effectLst/>
                          <a:latin typeface="Times New Roman" panose="02020603050405020304" pitchFamily="18" charset="0"/>
                          <a:cs typeface="Times New Roman" panose="02020603050405020304" pitchFamily="18" charset="0"/>
                        </a:rPr>
                        <a:t>$100k</a:t>
                      </a:r>
                      <a:endParaRPr lang="en-IN" sz="28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114300" marR="114300" marT="76200" marB="76200" anchor="ctr"/>
                </a:tc>
                <a:tc>
                  <a:txBody>
                    <a:bodyPr/>
                    <a:lstStyle/>
                    <a:p>
                      <a:pPr algn="just">
                        <a:lnSpc>
                          <a:spcPct val="115000"/>
                        </a:lnSpc>
                        <a:spcAft>
                          <a:spcPts val="800"/>
                        </a:spcAft>
                        <a:buNone/>
                      </a:pPr>
                      <a:r>
                        <a:rPr lang="en-IN" sz="2800" kern="100">
                          <a:effectLst/>
                          <a:latin typeface="Times New Roman" panose="02020603050405020304" pitchFamily="18" charset="0"/>
                          <a:cs typeface="Times New Roman" panose="02020603050405020304" pitchFamily="18" charset="0"/>
                        </a:rPr>
                        <a:t>$95k</a:t>
                      </a:r>
                      <a:endParaRPr lang="en-IN" sz="28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114300" marR="114300" marT="76200" marB="76200" anchor="ctr"/>
                </a:tc>
                <a:tc>
                  <a:txBody>
                    <a:bodyPr/>
                    <a:lstStyle/>
                    <a:p>
                      <a:pPr algn="just">
                        <a:lnSpc>
                          <a:spcPct val="115000"/>
                        </a:lnSpc>
                        <a:spcAft>
                          <a:spcPts val="800"/>
                        </a:spcAft>
                        <a:buNone/>
                      </a:pPr>
                      <a:r>
                        <a:rPr lang="en-IN" sz="2800" kern="100">
                          <a:effectLst/>
                          <a:latin typeface="Times New Roman" panose="02020603050405020304" pitchFamily="18" charset="0"/>
                          <a:cs typeface="Times New Roman" panose="02020603050405020304" pitchFamily="18" charset="0"/>
                        </a:rPr>
                        <a:t>-5</a:t>
                      </a:r>
                      <a:endParaRPr lang="en-IN" sz="28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114300" marR="114300" marT="76200" marB="76200" anchor="ctr"/>
                </a:tc>
                <a:tc>
                  <a:txBody>
                    <a:bodyPr/>
                    <a:lstStyle/>
                    <a:p>
                      <a:pPr algn="just">
                        <a:lnSpc>
                          <a:spcPct val="115000"/>
                        </a:lnSpc>
                        <a:spcAft>
                          <a:spcPts val="800"/>
                        </a:spcAft>
                        <a:buNone/>
                      </a:pPr>
                      <a:r>
                        <a:rPr lang="en-IN" sz="2800" kern="100">
                          <a:effectLst/>
                          <a:latin typeface="Times New Roman" panose="02020603050405020304" pitchFamily="18" charset="0"/>
                          <a:cs typeface="Times New Roman" panose="02020603050405020304" pitchFamily="18" charset="0"/>
                        </a:rPr>
                        <a:t>$105k</a:t>
                      </a:r>
                      <a:endParaRPr lang="en-IN" sz="28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114300" marR="114300" marT="76200" marB="76200" anchor="ctr"/>
                </a:tc>
                <a:tc>
                  <a:txBody>
                    <a:bodyPr/>
                    <a:lstStyle/>
                    <a:p>
                      <a:pPr algn="just">
                        <a:lnSpc>
                          <a:spcPct val="115000"/>
                        </a:lnSpc>
                        <a:spcAft>
                          <a:spcPts val="800"/>
                        </a:spcAft>
                        <a:buNone/>
                      </a:pPr>
                      <a:r>
                        <a:rPr lang="en-IN" sz="2800" kern="100">
                          <a:effectLst/>
                          <a:latin typeface="Times New Roman" panose="02020603050405020304" pitchFamily="18" charset="0"/>
                          <a:cs typeface="Times New Roman" panose="02020603050405020304" pitchFamily="18" charset="0"/>
                        </a:rPr>
                        <a:t>+5</a:t>
                      </a:r>
                      <a:endParaRPr lang="en-IN" sz="28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114300" marR="114300" marT="76200" marB="76200" anchor="ctr"/>
                </a:tc>
                <a:extLst>
                  <a:ext uri="{0D108BD9-81ED-4DB2-BD59-A6C34878D82A}">
                    <a16:rowId xmlns:a16="http://schemas.microsoft.com/office/drawing/2014/main" val="2548980322"/>
                  </a:ext>
                </a:extLst>
              </a:tr>
              <a:tr h="0">
                <a:tc>
                  <a:txBody>
                    <a:bodyPr/>
                    <a:lstStyle/>
                    <a:p>
                      <a:pPr algn="just">
                        <a:lnSpc>
                          <a:spcPct val="115000"/>
                        </a:lnSpc>
                        <a:spcAft>
                          <a:spcPts val="800"/>
                        </a:spcAft>
                        <a:buNone/>
                      </a:pPr>
                      <a:r>
                        <a:rPr lang="en-IN" sz="2800" kern="100">
                          <a:effectLst/>
                          <a:latin typeface="Times New Roman" panose="02020603050405020304" pitchFamily="18" charset="0"/>
                          <a:cs typeface="Times New Roman" panose="02020603050405020304" pitchFamily="18" charset="0"/>
                        </a:rPr>
                        <a:t>3</a:t>
                      </a:r>
                      <a:endParaRPr lang="en-IN" sz="28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114300" marR="114300" marT="76200" marB="76200" anchor="ctr"/>
                </a:tc>
                <a:tc>
                  <a:txBody>
                    <a:bodyPr/>
                    <a:lstStyle/>
                    <a:p>
                      <a:pPr algn="just">
                        <a:lnSpc>
                          <a:spcPct val="115000"/>
                        </a:lnSpc>
                        <a:spcAft>
                          <a:spcPts val="800"/>
                        </a:spcAft>
                        <a:buNone/>
                      </a:pPr>
                      <a:r>
                        <a:rPr lang="en-IN" sz="2800" kern="100">
                          <a:effectLst/>
                          <a:latin typeface="Times New Roman" panose="02020603050405020304" pitchFamily="18" charset="0"/>
                          <a:cs typeface="Times New Roman" panose="02020603050405020304" pitchFamily="18" charset="0"/>
                        </a:rPr>
                        <a:t>$100k</a:t>
                      </a:r>
                      <a:endParaRPr lang="en-IN" sz="28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114300" marR="114300" marT="76200" marB="76200" anchor="ctr"/>
                </a:tc>
                <a:tc>
                  <a:txBody>
                    <a:bodyPr/>
                    <a:lstStyle/>
                    <a:p>
                      <a:pPr algn="just">
                        <a:lnSpc>
                          <a:spcPct val="115000"/>
                        </a:lnSpc>
                        <a:spcAft>
                          <a:spcPts val="800"/>
                        </a:spcAft>
                        <a:buNone/>
                      </a:pPr>
                      <a:r>
                        <a:rPr lang="en-IN" sz="2800" kern="100">
                          <a:effectLst/>
                          <a:latin typeface="Times New Roman" panose="02020603050405020304" pitchFamily="18" charset="0"/>
                          <a:cs typeface="Times New Roman" panose="02020603050405020304" pitchFamily="18" charset="0"/>
                        </a:rPr>
                        <a:t>$105k</a:t>
                      </a:r>
                      <a:endParaRPr lang="en-IN" sz="28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114300" marR="114300" marT="76200" marB="76200" anchor="ctr"/>
                </a:tc>
                <a:tc>
                  <a:txBody>
                    <a:bodyPr/>
                    <a:lstStyle/>
                    <a:p>
                      <a:pPr algn="just">
                        <a:lnSpc>
                          <a:spcPct val="115000"/>
                        </a:lnSpc>
                        <a:spcAft>
                          <a:spcPts val="800"/>
                        </a:spcAft>
                        <a:buNone/>
                      </a:pPr>
                      <a:r>
                        <a:rPr lang="en-IN" sz="2800" kern="100">
                          <a:effectLst/>
                          <a:latin typeface="Times New Roman" panose="02020603050405020304" pitchFamily="18" charset="0"/>
                          <a:cs typeface="Times New Roman" panose="02020603050405020304" pitchFamily="18" charset="0"/>
                        </a:rPr>
                        <a:t>+5</a:t>
                      </a:r>
                      <a:endParaRPr lang="en-IN" sz="28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114300" marR="114300" marT="76200" marB="76200" anchor="ctr"/>
                </a:tc>
                <a:tc>
                  <a:txBody>
                    <a:bodyPr/>
                    <a:lstStyle/>
                    <a:p>
                      <a:pPr algn="just">
                        <a:lnSpc>
                          <a:spcPct val="115000"/>
                        </a:lnSpc>
                        <a:spcAft>
                          <a:spcPts val="800"/>
                        </a:spcAft>
                        <a:buNone/>
                      </a:pPr>
                      <a:r>
                        <a:rPr lang="en-IN" sz="2800" kern="100">
                          <a:effectLst/>
                          <a:latin typeface="Times New Roman" panose="02020603050405020304" pitchFamily="18" charset="0"/>
                          <a:cs typeface="Times New Roman" panose="02020603050405020304" pitchFamily="18" charset="0"/>
                        </a:rPr>
                        <a:t>$95k</a:t>
                      </a:r>
                      <a:endParaRPr lang="en-IN" sz="28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114300" marR="114300" marT="76200" marB="76200" anchor="ctr"/>
                </a:tc>
                <a:tc>
                  <a:txBody>
                    <a:bodyPr/>
                    <a:lstStyle/>
                    <a:p>
                      <a:pPr algn="just">
                        <a:lnSpc>
                          <a:spcPct val="115000"/>
                        </a:lnSpc>
                        <a:spcAft>
                          <a:spcPts val="800"/>
                        </a:spcAft>
                        <a:buNone/>
                      </a:pPr>
                      <a:r>
                        <a:rPr lang="en-IN" sz="2800" kern="100">
                          <a:effectLst/>
                          <a:latin typeface="Times New Roman" panose="02020603050405020304" pitchFamily="18" charset="0"/>
                          <a:cs typeface="Times New Roman" panose="02020603050405020304" pitchFamily="18" charset="0"/>
                        </a:rPr>
                        <a:t>-5</a:t>
                      </a:r>
                      <a:endParaRPr lang="en-IN" sz="28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114300" marR="114300" marT="76200" marB="76200" anchor="ctr"/>
                </a:tc>
                <a:extLst>
                  <a:ext uri="{0D108BD9-81ED-4DB2-BD59-A6C34878D82A}">
                    <a16:rowId xmlns:a16="http://schemas.microsoft.com/office/drawing/2014/main" val="2196869653"/>
                  </a:ext>
                </a:extLst>
              </a:tr>
              <a:tr h="0">
                <a:tc>
                  <a:txBody>
                    <a:bodyPr/>
                    <a:lstStyle/>
                    <a:p>
                      <a:pPr algn="just">
                        <a:lnSpc>
                          <a:spcPct val="115000"/>
                        </a:lnSpc>
                        <a:spcAft>
                          <a:spcPts val="800"/>
                        </a:spcAft>
                        <a:buNone/>
                      </a:pPr>
                      <a:r>
                        <a:rPr lang="en-IN" sz="2800" kern="100" dirty="0">
                          <a:effectLst/>
                          <a:latin typeface="Times New Roman" panose="02020603050405020304" pitchFamily="18" charset="0"/>
                          <a:cs typeface="Times New Roman" panose="02020603050405020304" pitchFamily="18" charset="0"/>
                        </a:rPr>
                        <a:t>4</a:t>
                      </a:r>
                      <a:endParaRPr lang="en-IN" sz="28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114300" marR="114300" marT="76200" marB="76200" anchor="ctr"/>
                </a:tc>
                <a:tc>
                  <a:txBody>
                    <a:bodyPr/>
                    <a:lstStyle/>
                    <a:p>
                      <a:pPr algn="just">
                        <a:lnSpc>
                          <a:spcPct val="115000"/>
                        </a:lnSpc>
                        <a:spcAft>
                          <a:spcPts val="800"/>
                        </a:spcAft>
                        <a:buNone/>
                      </a:pPr>
                      <a:r>
                        <a:rPr lang="en-IN" sz="2800" kern="100">
                          <a:effectLst/>
                          <a:latin typeface="Times New Roman" panose="02020603050405020304" pitchFamily="18" charset="0"/>
                          <a:cs typeface="Times New Roman" panose="02020603050405020304" pitchFamily="18" charset="0"/>
                        </a:rPr>
                        <a:t>$100k</a:t>
                      </a:r>
                      <a:endParaRPr lang="en-IN" sz="28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114300" marR="114300" marT="76200" marB="76200" anchor="ctr"/>
                </a:tc>
                <a:tc>
                  <a:txBody>
                    <a:bodyPr/>
                    <a:lstStyle/>
                    <a:p>
                      <a:pPr algn="just">
                        <a:lnSpc>
                          <a:spcPct val="115000"/>
                        </a:lnSpc>
                        <a:spcAft>
                          <a:spcPts val="800"/>
                        </a:spcAft>
                        <a:buNone/>
                      </a:pPr>
                      <a:r>
                        <a:rPr lang="en-IN" sz="2800" kern="100">
                          <a:effectLst/>
                          <a:latin typeface="Times New Roman" panose="02020603050405020304" pitchFamily="18" charset="0"/>
                          <a:cs typeface="Times New Roman" panose="02020603050405020304" pitchFamily="18" charset="0"/>
                        </a:rPr>
                        <a:t>$95k</a:t>
                      </a:r>
                      <a:endParaRPr lang="en-IN" sz="28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114300" marR="114300" marT="76200" marB="76200" anchor="ctr"/>
                </a:tc>
                <a:tc>
                  <a:txBody>
                    <a:bodyPr/>
                    <a:lstStyle/>
                    <a:p>
                      <a:pPr algn="just">
                        <a:lnSpc>
                          <a:spcPct val="115000"/>
                        </a:lnSpc>
                        <a:spcAft>
                          <a:spcPts val="800"/>
                        </a:spcAft>
                        <a:buNone/>
                      </a:pPr>
                      <a:r>
                        <a:rPr lang="en-IN" sz="2800" kern="100">
                          <a:effectLst/>
                          <a:latin typeface="Times New Roman" panose="02020603050405020304" pitchFamily="18" charset="0"/>
                          <a:cs typeface="Times New Roman" panose="02020603050405020304" pitchFamily="18" charset="0"/>
                        </a:rPr>
                        <a:t>-5</a:t>
                      </a:r>
                      <a:endParaRPr lang="en-IN" sz="28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114300" marR="114300" marT="76200" marB="76200" anchor="ctr"/>
                </a:tc>
                <a:tc>
                  <a:txBody>
                    <a:bodyPr/>
                    <a:lstStyle/>
                    <a:p>
                      <a:pPr algn="just">
                        <a:lnSpc>
                          <a:spcPct val="115000"/>
                        </a:lnSpc>
                        <a:spcAft>
                          <a:spcPts val="800"/>
                        </a:spcAft>
                        <a:buNone/>
                      </a:pPr>
                      <a:r>
                        <a:rPr lang="en-IN" sz="2800" kern="100">
                          <a:effectLst/>
                          <a:latin typeface="Times New Roman" panose="02020603050405020304" pitchFamily="18" charset="0"/>
                          <a:cs typeface="Times New Roman" panose="02020603050405020304" pitchFamily="18" charset="0"/>
                        </a:rPr>
                        <a:t>$150k</a:t>
                      </a:r>
                      <a:endParaRPr lang="en-IN" sz="28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114300" marR="114300" marT="76200" marB="76200" anchor="ctr"/>
                </a:tc>
                <a:tc>
                  <a:txBody>
                    <a:bodyPr/>
                    <a:lstStyle/>
                    <a:p>
                      <a:pPr algn="just">
                        <a:lnSpc>
                          <a:spcPct val="115000"/>
                        </a:lnSpc>
                        <a:spcAft>
                          <a:spcPts val="800"/>
                        </a:spcAft>
                        <a:buNone/>
                      </a:pPr>
                      <a:r>
                        <a:rPr lang="en-IN" sz="2800" kern="100" dirty="0">
                          <a:effectLst/>
                          <a:latin typeface="Times New Roman" panose="02020603050405020304" pitchFamily="18" charset="0"/>
                          <a:cs typeface="Times New Roman" panose="02020603050405020304" pitchFamily="18" charset="0"/>
                        </a:rPr>
                        <a:t>+50</a:t>
                      </a:r>
                      <a:endParaRPr lang="en-IN" sz="28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114300" marR="114300" marT="76200" marB="76200" anchor="ctr"/>
                </a:tc>
                <a:extLst>
                  <a:ext uri="{0D108BD9-81ED-4DB2-BD59-A6C34878D82A}">
                    <a16:rowId xmlns:a16="http://schemas.microsoft.com/office/drawing/2014/main" val="1266763066"/>
                  </a:ext>
                </a:extLst>
              </a:tr>
            </a:tbl>
          </a:graphicData>
        </a:graphic>
      </p:graphicFrame>
    </p:spTree>
    <p:extLst>
      <p:ext uri="{BB962C8B-B14F-4D97-AF65-F5344CB8AC3E}">
        <p14:creationId xmlns:p14="http://schemas.microsoft.com/office/powerpoint/2010/main" val="15587283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5690F9C-466E-6C03-3004-9F6DDF91E888}"/>
              </a:ext>
            </a:extLst>
          </p:cNvPr>
          <p:cNvSpPr>
            <a:spLocks noGrp="1"/>
          </p:cNvSpPr>
          <p:nvPr>
            <p:ph idx="1"/>
          </p:nvPr>
        </p:nvSpPr>
        <p:spPr>
          <a:xfrm>
            <a:off x="882445" y="787125"/>
            <a:ext cx="10518057" cy="5362951"/>
          </a:xfrm>
        </p:spPr>
        <p:txBody>
          <a:bodyPr>
            <a:normAutofit/>
          </a:bodyPr>
          <a:lstStyle/>
          <a:p>
            <a:pPr>
              <a:buFont typeface="Wingdings" panose="05000000000000000000" pitchFamily="2" charset="2"/>
              <a:buChar char="Ø"/>
            </a:pPr>
            <a:r>
              <a:rPr lang="en-IN" b="1" dirty="0">
                <a:solidFill>
                  <a:schemeClr val="tx1"/>
                </a:solidFill>
                <a:latin typeface="Times New Roman" panose="02020603050405020304" pitchFamily="18" charset="0"/>
                <a:cs typeface="Times New Roman" panose="02020603050405020304" pitchFamily="18" charset="0"/>
              </a:rPr>
              <a:t>MAE Calculation:</a:t>
            </a:r>
            <a:endParaRPr lang="en-IN" dirty="0">
              <a:solidFill>
                <a:schemeClr val="tx1"/>
              </a:solidFill>
              <a:latin typeface="Times New Roman" panose="02020603050405020304" pitchFamily="18" charset="0"/>
              <a:cs typeface="Times New Roman" panose="02020603050405020304" pitchFamily="18" charset="0"/>
            </a:endParaRPr>
          </a:p>
          <a:p>
            <a:pPr lvl="0"/>
            <a:r>
              <a:rPr lang="en-IN" b="1" dirty="0">
                <a:solidFill>
                  <a:schemeClr val="tx1"/>
                </a:solidFill>
                <a:latin typeface="Times New Roman" panose="02020603050405020304" pitchFamily="18" charset="0"/>
                <a:cs typeface="Times New Roman" panose="02020603050405020304" pitchFamily="18" charset="0"/>
              </a:rPr>
              <a:t>Model A:</a:t>
            </a:r>
            <a:r>
              <a:rPr lang="en-IN" dirty="0">
                <a:solidFill>
                  <a:schemeClr val="tx1"/>
                </a:solidFill>
                <a:latin typeface="Times New Roman" panose="02020603050405020304" pitchFamily="18" charset="0"/>
                <a:cs typeface="Times New Roman" panose="02020603050405020304" pitchFamily="18" charset="0"/>
              </a:rPr>
              <a:t> (5+5+5+5) / 4 = 5</a:t>
            </a:r>
          </a:p>
          <a:p>
            <a:pPr lvl="0"/>
            <a:r>
              <a:rPr lang="en-IN" b="1" dirty="0">
                <a:solidFill>
                  <a:schemeClr val="tx1"/>
                </a:solidFill>
                <a:latin typeface="Times New Roman" panose="02020603050405020304" pitchFamily="18" charset="0"/>
                <a:cs typeface="Times New Roman" panose="02020603050405020304" pitchFamily="18" charset="0"/>
              </a:rPr>
              <a:t>Model B:</a:t>
            </a:r>
            <a:r>
              <a:rPr lang="en-IN" dirty="0">
                <a:solidFill>
                  <a:schemeClr val="tx1"/>
                </a:solidFill>
                <a:latin typeface="Times New Roman" panose="02020603050405020304" pitchFamily="18" charset="0"/>
                <a:cs typeface="Times New Roman" panose="02020603050405020304" pitchFamily="18" charset="0"/>
              </a:rPr>
              <a:t> (5+5+5+50) / 4 = 16.5</a:t>
            </a:r>
          </a:p>
          <a:p>
            <a:pPr>
              <a:buFont typeface="Wingdings" panose="05000000000000000000" pitchFamily="2" charset="2"/>
              <a:buChar char="Ø"/>
            </a:pPr>
            <a:r>
              <a:rPr lang="en-IN" b="1" dirty="0">
                <a:solidFill>
                  <a:schemeClr val="tx1"/>
                </a:solidFill>
                <a:latin typeface="Times New Roman" panose="02020603050405020304" pitchFamily="18" charset="0"/>
                <a:cs typeface="Times New Roman" panose="02020603050405020304" pitchFamily="18" charset="0"/>
              </a:rPr>
              <a:t>MSE Calculation:</a:t>
            </a:r>
            <a:endParaRPr lang="en-IN" dirty="0">
              <a:solidFill>
                <a:schemeClr val="tx1"/>
              </a:solidFill>
              <a:latin typeface="Times New Roman" panose="02020603050405020304" pitchFamily="18" charset="0"/>
              <a:cs typeface="Times New Roman" panose="02020603050405020304" pitchFamily="18" charset="0"/>
            </a:endParaRPr>
          </a:p>
          <a:p>
            <a:pPr lvl="0"/>
            <a:r>
              <a:rPr lang="en-IN" b="1" dirty="0">
                <a:solidFill>
                  <a:schemeClr val="tx1"/>
                </a:solidFill>
                <a:latin typeface="Times New Roman" panose="02020603050405020304" pitchFamily="18" charset="0"/>
                <a:cs typeface="Times New Roman" panose="02020603050405020304" pitchFamily="18" charset="0"/>
              </a:rPr>
              <a:t>Model A:</a:t>
            </a:r>
            <a:r>
              <a:rPr lang="en-IN" dirty="0">
                <a:solidFill>
                  <a:schemeClr val="tx1"/>
                </a:solidFill>
                <a:latin typeface="Times New Roman" panose="02020603050405020304" pitchFamily="18" charset="0"/>
                <a:cs typeface="Times New Roman" panose="02020603050405020304" pitchFamily="18" charset="0"/>
              </a:rPr>
              <a:t> (5^2 + 5^2 + 5^2 + 5^2) / 4 = 25</a:t>
            </a:r>
          </a:p>
          <a:p>
            <a:r>
              <a:rPr lang="en-IN" b="1" dirty="0">
                <a:solidFill>
                  <a:schemeClr val="tx1"/>
                </a:solidFill>
                <a:latin typeface="Times New Roman" panose="02020603050405020304" pitchFamily="18" charset="0"/>
                <a:cs typeface="Times New Roman" panose="02020603050405020304" pitchFamily="18" charset="0"/>
              </a:rPr>
              <a:t>Model B:</a:t>
            </a:r>
            <a:r>
              <a:rPr lang="en-IN" dirty="0">
                <a:solidFill>
                  <a:schemeClr val="tx1"/>
                </a:solidFill>
                <a:latin typeface="Times New Roman" panose="02020603050405020304" pitchFamily="18" charset="0"/>
                <a:cs typeface="Times New Roman" panose="02020603050405020304" pitchFamily="18" charset="0"/>
              </a:rPr>
              <a:t> (5^2 + 5^2 + 5^2 + 50^2) / 4 = (25 + 25 + 25 + 2500) / 4=643.75 </a:t>
            </a:r>
          </a:p>
          <a:p>
            <a:r>
              <a:rPr lang="en-IN" dirty="0">
                <a:solidFill>
                  <a:schemeClr val="tx1"/>
                </a:solidFill>
                <a:latin typeface="Times New Roman" panose="02020603050405020304" pitchFamily="18" charset="0"/>
                <a:cs typeface="Times New Roman" panose="02020603050405020304" pitchFamily="18" charset="0"/>
              </a:rPr>
              <a:t>Model B’s MSE exploded because of that one big mistake (50).</a:t>
            </a:r>
          </a:p>
          <a:p>
            <a:pPr lvl="0"/>
            <a:r>
              <a:rPr lang="en-IN" b="1" dirty="0">
                <a:solidFill>
                  <a:schemeClr val="tx1"/>
                </a:solidFill>
                <a:latin typeface="Times New Roman" panose="02020603050405020304" pitchFamily="18" charset="0"/>
                <a:cs typeface="Times New Roman" panose="02020603050405020304" pitchFamily="18" charset="0"/>
              </a:rPr>
              <a:t>Use MSE</a:t>
            </a:r>
            <a:r>
              <a:rPr lang="en-IN" dirty="0">
                <a:solidFill>
                  <a:schemeClr val="tx1"/>
                </a:solidFill>
                <a:latin typeface="Times New Roman" panose="02020603050405020304" pitchFamily="18" charset="0"/>
                <a:cs typeface="Times New Roman" panose="02020603050405020304" pitchFamily="18" charset="0"/>
              </a:rPr>
              <a:t> if you want to strictly punish large errors (e.g., in a medical device where a big error is dangerous).</a:t>
            </a:r>
          </a:p>
          <a:p>
            <a:r>
              <a:rPr lang="en-IN" b="1" dirty="0">
                <a:solidFill>
                  <a:schemeClr val="tx1"/>
                </a:solidFill>
                <a:latin typeface="Times New Roman" panose="02020603050405020304" pitchFamily="18" charset="0"/>
                <a:cs typeface="Times New Roman" panose="02020603050405020304" pitchFamily="18" charset="0"/>
              </a:rPr>
              <a:t>Use MAE</a:t>
            </a:r>
            <a:r>
              <a:rPr lang="en-IN" dirty="0">
                <a:solidFill>
                  <a:schemeClr val="tx1"/>
                </a:solidFill>
                <a:latin typeface="Times New Roman" panose="02020603050405020304" pitchFamily="18" charset="0"/>
                <a:cs typeface="Times New Roman" panose="02020603050405020304" pitchFamily="18" charset="0"/>
              </a:rPr>
              <a:t> if you want a more "realistic" average and don't want a few weird data points (outliers) to ruin your score.</a:t>
            </a:r>
          </a:p>
        </p:txBody>
      </p:sp>
    </p:spTree>
    <p:extLst>
      <p:ext uri="{BB962C8B-B14F-4D97-AF65-F5344CB8AC3E}">
        <p14:creationId xmlns:p14="http://schemas.microsoft.com/office/powerpoint/2010/main" val="1379196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E70D18E-42EC-3FF9-61A2-9A3F8580AA9A}"/>
              </a:ext>
            </a:extLst>
          </p:cNvPr>
          <p:cNvSpPr>
            <a:spLocks noGrp="1"/>
          </p:cNvSpPr>
          <p:nvPr>
            <p:ph idx="1"/>
          </p:nvPr>
        </p:nvSpPr>
        <p:spPr>
          <a:xfrm>
            <a:off x="796413" y="766915"/>
            <a:ext cx="10441858" cy="5353665"/>
          </a:xfrm>
        </p:spPr>
        <p:txBody>
          <a:bodyPr>
            <a:normAutofit/>
          </a:bodyPr>
          <a:lstStyle/>
          <a:p>
            <a:r>
              <a:rPr lang="en-US" dirty="0">
                <a:latin typeface="Times New Roman" panose="02020603050405020304" pitchFamily="18" charset="0"/>
                <a:cs typeface="Times New Roman" panose="02020603050405020304" pitchFamily="18" charset="0"/>
              </a:rPr>
              <a:t>A model predicts house prices (in ₹ lakhs):</a:t>
            </a:r>
          </a:p>
          <a:p>
            <a:endParaRPr lang="en-US" dirty="0"/>
          </a:p>
          <a:p>
            <a:endParaRPr lang="en-US" dirty="0"/>
          </a:p>
          <a:p>
            <a:endParaRPr lang="en-US" dirty="0"/>
          </a:p>
          <a:p>
            <a:endParaRPr lang="en-US" dirty="0"/>
          </a:p>
          <a:p>
            <a:endParaRPr lang="en-US" dirty="0"/>
          </a:p>
          <a:p>
            <a:r>
              <a:rPr lang="en-US" dirty="0">
                <a:latin typeface="Times New Roman" panose="02020603050405020304" pitchFamily="18" charset="0"/>
                <a:cs typeface="Times New Roman" panose="02020603050405020304" pitchFamily="18" charset="0"/>
              </a:rPr>
              <a:t>Find: Error for each house price</a:t>
            </a:r>
          </a:p>
          <a:p>
            <a:r>
              <a:rPr lang="en-US" dirty="0">
                <a:latin typeface="Times New Roman" panose="02020603050405020304" pitchFamily="18" charset="0"/>
                <a:cs typeface="Times New Roman" panose="02020603050405020304" pitchFamily="18" charset="0"/>
              </a:rPr>
              <a:t>Calculate MSE,RMSE,MAE</a:t>
            </a:r>
          </a:p>
          <a:p>
            <a:endParaRPr lang="en-US" dirty="0"/>
          </a:p>
          <a:p>
            <a:endParaRPr lang="en-IN" dirty="0"/>
          </a:p>
        </p:txBody>
      </p:sp>
      <p:graphicFrame>
        <p:nvGraphicFramePr>
          <p:cNvPr id="8" name="Table 7">
            <a:extLst>
              <a:ext uri="{FF2B5EF4-FFF2-40B4-BE49-F238E27FC236}">
                <a16:creationId xmlns:a16="http://schemas.microsoft.com/office/drawing/2014/main" id="{717E5EC5-1E5A-9593-AAD2-604734FC933E}"/>
              </a:ext>
            </a:extLst>
          </p:cNvPr>
          <p:cNvGraphicFramePr>
            <a:graphicFrameLocks noGrp="1"/>
          </p:cNvGraphicFramePr>
          <p:nvPr>
            <p:extLst>
              <p:ext uri="{D42A27DB-BD31-4B8C-83A1-F6EECF244321}">
                <p14:modId xmlns:p14="http://schemas.microsoft.com/office/powerpoint/2010/main" val="1695439486"/>
              </p:ext>
            </p:extLst>
          </p:nvPr>
        </p:nvGraphicFramePr>
        <p:xfrm>
          <a:off x="953729" y="1237225"/>
          <a:ext cx="4768644" cy="2454460"/>
        </p:xfrm>
        <a:graphic>
          <a:graphicData uri="http://schemas.openxmlformats.org/drawingml/2006/table">
            <a:tbl>
              <a:tblPr/>
              <a:tblGrid>
                <a:gridCol w="1589548">
                  <a:extLst>
                    <a:ext uri="{9D8B030D-6E8A-4147-A177-3AD203B41FA5}">
                      <a16:colId xmlns:a16="http://schemas.microsoft.com/office/drawing/2014/main" val="4239113497"/>
                    </a:ext>
                  </a:extLst>
                </a:gridCol>
                <a:gridCol w="1589548">
                  <a:extLst>
                    <a:ext uri="{9D8B030D-6E8A-4147-A177-3AD203B41FA5}">
                      <a16:colId xmlns:a16="http://schemas.microsoft.com/office/drawing/2014/main" val="181811351"/>
                    </a:ext>
                  </a:extLst>
                </a:gridCol>
                <a:gridCol w="1589548">
                  <a:extLst>
                    <a:ext uri="{9D8B030D-6E8A-4147-A177-3AD203B41FA5}">
                      <a16:colId xmlns:a16="http://schemas.microsoft.com/office/drawing/2014/main" val="4169428715"/>
                    </a:ext>
                  </a:extLst>
                </a:gridCol>
              </a:tblGrid>
              <a:tr h="438355">
                <a:tc>
                  <a:txBody>
                    <a:bodyPr/>
                    <a:lstStyle/>
                    <a:p>
                      <a:pPr>
                        <a:buNone/>
                      </a:pPr>
                      <a:r>
                        <a:rPr lang="en-IN" sz="2000" dirty="0">
                          <a:latin typeface="Times New Roman" panose="02020603050405020304" pitchFamily="18" charset="0"/>
                          <a:cs typeface="Times New Roman" panose="02020603050405020304" pitchFamily="18" charset="0"/>
                        </a:rPr>
                        <a:t>House</a:t>
                      </a:r>
                    </a:p>
                  </a:txBody>
                  <a:tcPr anchor="ctr">
                    <a:lnL>
                      <a:noFill/>
                    </a:lnL>
                    <a:lnR>
                      <a:noFill/>
                    </a:lnR>
                    <a:lnT>
                      <a:noFill/>
                    </a:lnT>
                    <a:lnB>
                      <a:noFill/>
                    </a:lnB>
                    <a:noFill/>
                  </a:tcPr>
                </a:tc>
                <a:tc>
                  <a:txBody>
                    <a:bodyPr/>
                    <a:lstStyle/>
                    <a:p>
                      <a:pPr>
                        <a:buNone/>
                      </a:pPr>
                      <a:r>
                        <a:rPr lang="en-IN" sz="2000">
                          <a:latin typeface="Times New Roman" panose="02020603050405020304" pitchFamily="18" charset="0"/>
                          <a:cs typeface="Times New Roman" panose="02020603050405020304" pitchFamily="18" charset="0"/>
                        </a:rPr>
                        <a:t>Actual Price (y)</a:t>
                      </a:r>
                    </a:p>
                  </a:txBody>
                  <a:tcPr anchor="ctr">
                    <a:lnL>
                      <a:noFill/>
                    </a:lnL>
                    <a:lnR>
                      <a:noFill/>
                    </a:lnR>
                    <a:lnT>
                      <a:noFill/>
                    </a:lnT>
                    <a:lnB>
                      <a:noFill/>
                    </a:lnB>
                    <a:noFill/>
                  </a:tcPr>
                </a:tc>
                <a:tc>
                  <a:txBody>
                    <a:bodyPr/>
                    <a:lstStyle/>
                    <a:p>
                      <a:pPr>
                        <a:buNone/>
                      </a:pPr>
                      <a:r>
                        <a:rPr lang="cy-GB" sz="2000">
                          <a:latin typeface="Times New Roman" panose="02020603050405020304" pitchFamily="18" charset="0"/>
                          <a:cs typeface="Times New Roman" panose="02020603050405020304" pitchFamily="18" charset="0"/>
                        </a:rPr>
                        <a:t>Predicted Price (ŷ)</a:t>
                      </a:r>
                    </a:p>
                  </a:txBody>
                  <a:tcPr anchor="ctr">
                    <a:lnL>
                      <a:noFill/>
                    </a:lnL>
                    <a:lnR>
                      <a:noFill/>
                    </a:lnR>
                    <a:lnT>
                      <a:noFill/>
                    </a:lnT>
                    <a:lnB>
                      <a:noFill/>
                    </a:lnB>
                    <a:noFill/>
                  </a:tcPr>
                </a:tc>
                <a:extLst>
                  <a:ext uri="{0D108BD9-81ED-4DB2-BD59-A6C34878D82A}">
                    <a16:rowId xmlns:a16="http://schemas.microsoft.com/office/drawing/2014/main" val="2920357408"/>
                  </a:ext>
                </a:extLst>
              </a:tr>
              <a:tr h="438355">
                <a:tc>
                  <a:txBody>
                    <a:bodyPr/>
                    <a:lstStyle/>
                    <a:p>
                      <a:pPr>
                        <a:buNone/>
                      </a:pPr>
                      <a:r>
                        <a:rPr lang="en-IN" sz="2000">
                          <a:latin typeface="Times New Roman" panose="02020603050405020304" pitchFamily="18" charset="0"/>
                          <a:cs typeface="Times New Roman" panose="02020603050405020304" pitchFamily="18" charset="0"/>
                        </a:rPr>
                        <a:t>1</a:t>
                      </a:r>
                    </a:p>
                  </a:txBody>
                  <a:tcPr anchor="ctr">
                    <a:lnL>
                      <a:noFill/>
                    </a:lnL>
                    <a:lnR>
                      <a:noFill/>
                    </a:lnR>
                    <a:lnT>
                      <a:noFill/>
                    </a:lnT>
                    <a:lnB>
                      <a:noFill/>
                    </a:lnB>
                    <a:noFill/>
                  </a:tcPr>
                </a:tc>
                <a:tc>
                  <a:txBody>
                    <a:bodyPr/>
                    <a:lstStyle/>
                    <a:p>
                      <a:pPr>
                        <a:buNone/>
                      </a:pPr>
                      <a:r>
                        <a:rPr lang="en-IN" sz="2000">
                          <a:latin typeface="Times New Roman" panose="02020603050405020304" pitchFamily="18" charset="0"/>
                          <a:cs typeface="Times New Roman" panose="02020603050405020304" pitchFamily="18" charset="0"/>
                        </a:rPr>
                        <a:t>50</a:t>
                      </a:r>
                    </a:p>
                  </a:txBody>
                  <a:tcPr anchor="ctr">
                    <a:lnL>
                      <a:noFill/>
                    </a:lnL>
                    <a:lnR>
                      <a:noFill/>
                    </a:lnR>
                    <a:lnT>
                      <a:noFill/>
                    </a:lnT>
                    <a:lnB>
                      <a:noFill/>
                    </a:lnB>
                    <a:noFill/>
                  </a:tcPr>
                </a:tc>
                <a:tc>
                  <a:txBody>
                    <a:bodyPr/>
                    <a:lstStyle/>
                    <a:p>
                      <a:pPr>
                        <a:buNone/>
                      </a:pPr>
                      <a:r>
                        <a:rPr lang="en-IN" sz="2000">
                          <a:latin typeface="Times New Roman" panose="02020603050405020304" pitchFamily="18" charset="0"/>
                          <a:cs typeface="Times New Roman" panose="02020603050405020304" pitchFamily="18" charset="0"/>
                        </a:rPr>
                        <a:t>48</a:t>
                      </a:r>
                    </a:p>
                  </a:txBody>
                  <a:tcPr anchor="ctr">
                    <a:lnL>
                      <a:noFill/>
                    </a:lnL>
                    <a:lnR>
                      <a:noFill/>
                    </a:lnR>
                    <a:lnT>
                      <a:noFill/>
                    </a:lnT>
                    <a:lnB>
                      <a:noFill/>
                    </a:lnB>
                    <a:noFill/>
                  </a:tcPr>
                </a:tc>
                <a:extLst>
                  <a:ext uri="{0D108BD9-81ED-4DB2-BD59-A6C34878D82A}">
                    <a16:rowId xmlns:a16="http://schemas.microsoft.com/office/drawing/2014/main" val="1016572172"/>
                  </a:ext>
                </a:extLst>
              </a:tr>
              <a:tr h="438355">
                <a:tc>
                  <a:txBody>
                    <a:bodyPr/>
                    <a:lstStyle/>
                    <a:p>
                      <a:pPr>
                        <a:buNone/>
                      </a:pPr>
                      <a:r>
                        <a:rPr lang="en-IN" sz="2000" dirty="0">
                          <a:latin typeface="Times New Roman" panose="02020603050405020304" pitchFamily="18" charset="0"/>
                          <a:cs typeface="Times New Roman" panose="02020603050405020304" pitchFamily="18" charset="0"/>
                        </a:rPr>
                        <a:t>2</a:t>
                      </a:r>
                    </a:p>
                  </a:txBody>
                  <a:tcPr anchor="ctr">
                    <a:lnL>
                      <a:noFill/>
                    </a:lnL>
                    <a:lnR>
                      <a:noFill/>
                    </a:lnR>
                    <a:lnT>
                      <a:noFill/>
                    </a:lnT>
                    <a:lnB>
                      <a:noFill/>
                    </a:lnB>
                    <a:noFill/>
                  </a:tcPr>
                </a:tc>
                <a:tc>
                  <a:txBody>
                    <a:bodyPr/>
                    <a:lstStyle/>
                    <a:p>
                      <a:pPr>
                        <a:buNone/>
                      </a:pPr>
                      <a:r>
                        <a:rPr lang="en-IN" sz="2000">
                          <a:latin typeface="Times New Roman" panose="02020603050405020304" pitchFamily="18" charset="0"/>
                          <a:cs typeface="Times New Roman" panose="02020603050405020304" pitchFamily="18" charset="0"/>
                        </a:rPr>
                        <a:t>60</a:t>
                      </a:r>
                    </a:p>
                  </a:txBody>
                  <a:tcPr anchor="ctr">
                    <a:lnL>
                      <a:noFill/>
                    </a:lnL>
                    <a:lnR>
                      <a:noFill/>
                    </a:lnR>
                    <a:lnT>
                      <a:noFill/>
                    </a:lnT>
                    <a:lnB>
                      <a:noFill/>
                    </a:lnB>
                    <a:noFill/>
                  </a:tcPr>
                </a:tc>
                <a:tc>
                  <a:txBody>
                    <a:bodyPr/>
                    <a:lstStyle/>
                    <a:p>
                      <a:pPr>
                        <a:buNone/>
                      </a:pPr>
                      <a:r>
                        <a:rPr lang="en-IN" sz="2000">
                          <a:latin typeface="Times New Roman" panose="02020603050405020304" pitchFamily="18" charset="0"/>
                          <a:cs typeface="Times New Roman" panose="02020603050405020304" pitchFamily="18" charset="0"/>
                        </a:rPr>
                        <a:t>65</a:t>
                      </a:r>
                    </a:p>
                  </a:txBody>
                  <a:tcPr anchor="ctr">
                    <a:lnL>
                      <a:noFill/>
                    </a:lnL>
                    <a:lnR>
                      <a:noFill/>
                    </a:lnR>
                    <a:lnT>
                      <a:noFill/>
                    </a:lnT>
                    <a:lnB>
                      <a:noFill/>
                    </a:lnB>
                    <a:noFill/>
                  </a:tcPr>
                </a:tc>
                <a:extLst>
                  <a:ext uri="{0D108BD9-81ED-4DB2-BD59-A6C34878D82A}">
                    <a16:rowId xmlns:a16="http://schemas.microsoft.com/office/drawing/2014/main" val="3736280318"/>
                  </a:ext>
                </a:extLst>
              </a:tr>
              <a:tr h="438355">
                <a:tc>
                  <a:txBody>
                    <a:bodyPr/>
                    <a:lstStyle/>
                    <a:p>
                      <a:pPr>
                        <a:buNone/>
                      </a:pPr>
                      <a:r>
                        <a:rPr lang="en-IN" sz="2000">
                          <a:latin typeface="Times New Roman" panose="02020603050405020304" pitchFamily="18" charset="0"/>
                          <a:cs typeface="Times New Roman" panose="02020603050405020304" pitchFamily="18" charset="0"/>
                        </a:rPr>
                        <a:t>3</a:t>
                      </a:r>
                    </a:p>
                  </a:txBody>
                  <a:tcPr anchor="ctr">
                    <a:lnL>
                      <a:noFill/>
                    </a:lnL>
                    <a:lnR>
                      <a:noFill/>
                    </a:lnR>
                    <a:lnT>
                      <a:noFill/>
                    </a:lnT>
                    <a:lnB>
                      <a:noFill/>
                    </a:lnB>
                    <a:noFill/>
                  </a:tcPr>
                </a:tc>
                <a:tc>
                  <a:txBody>
                    <a:bodyPr/>
                    <a:lstStyle/>
                    <a:p>
                      <a:pPr>
                        <a:buNone/>
                      </a:pPr>
                      <a:r>
                        <a:rPr lang="en-IN" sz="2000">
                          <a:latin typeface="Times New Roman" panose="02020603050405020304" pitchFamily="18" charset="0"/>
                          <a:cs typeface="Times New Roman" panose="02020603050405020304" pitchFamily="18" charset="0"/>
                        </a:rPr>
                        <a:t>55</a:t>
                      </a:r>
                    </a:p>
                  </a:txBody>
                  <a:tcPr anchor="ctr">
                    <a:lnL>
                      <a:noFill/>
                    </a:lnL>
                    <a:lnR>
                      <a:noFill/>
                    </a:lnR>
                    <a:lnT>
                      <a:noFill/>
                    </a:lnT>
                    <a:lnB>
                      <a:noFill/>
                    </a:lnB>
                    <a:noFill/>
                  </a:tcPr>
                </a:tc>
                <a:tc>
                  <a:txBody>
                    <a:bodyPr/>
                    <a:lstStyle/>
                    <a:p>
                      <a:pPr>
                        <a:buNone/>
                      </a:pPr>
                      <a:r>
                        <a:rPr lang="en-IN" sz="2000">
                          <a:latin typeface="Times New Roman" panose="02020603050405020304" pitchFamily="18" charset="0"/>
                          <a:cs typeface="Times New Roman" panose="02020603050405020304" pitchFamily="18" charset="0"/>
                        </a:rPr>
                        <a:t>52</a:t>
                      </a:r>
                    </a:p>
                  </a:txBody>
                  <a:tcPr anchor="ctr">
                    <a:lnL>
                      <a:noFill/>
                    </a:lnL>
                    <a:lnR>
                      <a:noFill/>
                    </a:lnR>
                    <a:lnT>
                      <a:noFill/>
                    </a:lnT>
                    <a:lnB>
                      <a:noFill/>
                    </a:lnB>
                    <a:noFill/>
                  </a:tcPr>
                </a:tc>
                <a:extLst>
                  <a:ext uri="{0D108BD9-81ED-4DB2-BD59-A6C34878D82A}">
                    <a16:rowId xmlns:a16="http://schemas.microsoft.com/office/drawing/2014/main" val="1569846602"/>
                  </a:ext>
                </a:extLst>
              </a:tr>
              <a:tr h="438355">
                <a:tc>
                  <a:txBody>
                    <a:bodyPr/>
                    <a:lstStyle/>
                    <a:p>
                      <a:pPr>
                        <a:buNone/>
                      </a:pPr>
                      <a:r>
                        <a:rPr lang="en-IN" sz="2000">
                          <a:latin typeface="Times New Roman" panose="02020603050405020304" pitchFamily="18" charset="0"/>
                          <a:cs typeface="Times New Roman" panose="02020603050405020304" pitchFamily="18" charset="0"/>
                        </a:rPr>
                        <a:t>4</a:t>
                      </a:r>
                    </a:p>
                  </a:txBody>
                  <a:tcPr anchor="ctr">
                    <a:lnL>
                      <a:noFill/>
                    </a:lnL>
                    <a:lnR>
                      <a:noFill/>
                    </a:lnR>
                    <a:lnT>
                      <a:noFill/>
                    </a:lnT>
                    <a:lnB>
                      <a:noFill/>
                    </a:lnB>
                    <a:noFill/>
                  </a:tcPr>
                </a:tc>
                <a:tc>
                  <a:txBody>
                    <a:bodyPr/>
                    <a:lstStyle/>
                    <a:p>
                      <a:pPr>
                        <a:buNone/>
                      </a:pPr>
                      <a:r>
                        <a:rPr lang="en-IN" sz="2000">
                          <a:latin typeface="Times New Roman" panose="02020603050405020304" pitchFamily="18" charset="0"/>
                          <a:cs typeface="Times New Roman" panose="02020603050405020304" pitchFamily="18" charset="0"/>
                        </a:rPr>
                        <a:t>70</a:t>
                      </a:r>
                    </a:p>
                  </a:txBody>
                  <a:tcPr anchor="ctr">
                    <a:lnL>
                      <a:noFill/>
                    </a:lnL>
                    <a:lnR>
                      <a:noFill/>
                    </a:lnR>
                    <a:lnT>
                      <a:noFill/>
                    </a:lnT>
                    <a:lnB>
                      <a:noFill/>
                    </a:lnB>
                    <a:noFill/>
                  </a:tcPr>
                </a:tc>
                <a:tc>
                  <a:txBody>
                    <a:bodyPr/>
                    <a:lstStyle/>
                    <a:p>
                      <a:pPr>
                        <a:buNone/>
                      </a:pPr>
                      <a:r>
                        <a:rPr lang="en-IN" sz="2000" dirty="0">
                          <a:latin typeface="Times New Roman" panose="02020603050405020304" pitchFamily="18" charset="0"/>
                          <a:cs typeface="Times New Roman" panose="02020603050405020304" pitchFamily="18" charset="0"/>
                        </a:rPr>
                        <a:t>75</a:t>
                      </a:r>
                    </a:p>
                  </a:txBody>
                  <a:tcPr anchor="ctr">
                    <a:lnL>
                      <a:noFill/>
                    </a:lnL>
                    <a:lnR>
                      <a:noFill/>
                    </a:lnR>
                    <a:lnT>
                      <a:noFill/>
                    </a:lnT>
                    <a:lnB>
                      <a:noFill/>
                    </a:lnB>
                    <a:noFill/>
                  </a:tcPr>
                </a:tc>
                <a:extLst>
                  <a:ext uri="{0D108BD9-81ED-4DB2-BD59-A6C34878D82A}">
                    <a16:rowId xmlns:a16="http://schemas.microsoft.com/office/drawing/2014/main" val="2920665700"/>
                  </a:ext>
                </a:extLst>
              </a:tr>
            </a:tbl>
          </a:graphicData>
        </a:graphic>
      </p:graphicFrame>
    </p:spTree>
    <p:extLst>
      <p:ext uri="{BB962C8B-B14F-4D97-AF65-F5344CB8AC3E}">
        <p14:creationId xmlns:p14="http://schemas.microsoft.com/office/powerpoint/2010/main" val="35225837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178A806-930A-4274-92D5-30B28D6E690C}"/>
              </a:ext>
            </a:extLst>
          </p:cNvPr>
          <p:cNvSpPr>
            <a:spLocks noGrp="1"/>
          </p:cNvSpPr>
          <p:nvPr>
            <p:ph idx="1"/>
          </p:nvPr>
        </p:nvSpPr>
        <p:spPr>
          <a:xfrm>
            <a:off x="840658" y="822904"/>
            <a:ext cx="10055939" cy="5212191"/>
          </a:xfrm>
        </p:spPr>
        <p:txBody>
          <a:bodyPr>
            <a:normAutofit lnSpcReduction="10000"/>
          </a:bodyPr>
          <a:lstStyle/>
          <a:p>
            <a:r>
              <a:rPr lang="en-US" dirty="0">
                <a:latin typeface="Times New Roman" panose="02020603050405020304" pitchFamily="18" charset="0"/>
                <a:cs typeface="Times New Roman" panose="02020603050405020304" pitchFamily="18" charset="0"/>
              </a:rPr>
              <a:t>A real estate company in Mumbai is testing </a:t>
            </a:r>
            <a:r>
              <a:rPr lang="en-US" b="1" dirty="0">
                <a:latin typeface="Times New Roman" panose="02020603050405020304" pitchFamily="18" charset="0"/>
                <a:cs typeface="Times New Roman" panose="02020603050405020304" pitchFamily="18" charset="0"/>
              </a:rPr>
              <a:t>two machine learning models</a:t>
            </a:r>
            <a:r>
              <a:rPr lang="en-US" dirty="0">
                <a:latin typeface="Times New Roman" panose="02020603050405020304" pitchFamily="18" charset="0"/>
                <a:cs typeface="Times New Roman" panose="02020603050405020304" pitchFamily="18" charset="0"/>
              </a:rPr>
              <a:t> to predict house prices (in ₹ lakhs).</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The actual selling prices of 4 houses are:</a:t>
            </a:r>
          </a:p>
          <a:p>
            <a:r>
              <a:rPr lang="en-US" dirty="0">
                <a:latin typeface="Times New Roman" panose="02020603050405020304" pitchFamily="18" charset="0"/>
                <a:cs typeface="Times New Roman" panose="02020603050405020304" pitchFamily="18" charset="0"/>
              </a:rPr>
              <a:t>Two models give the following predictions:</a:t>
            </a:r>
          </a:p>
          <a:p>
            <a:r>
              <a:rPr lang="en-US" b="1" dirty="0">
                <a:latin typeface="Times New Roman" panose="02020603050405020304" pitchFamily="18" charset="0"/>
                <a:cs typeface="Times New Roman" panose="02020603050405020304" pitchFamily="18" charset="0"/>
              </a:rPr>
              <a:t>Model A:</a:t>
            </a:r>
            <a:r>
              <a:rPr lang="en-US" dirty="0">
                <a:latin typeface="Times New Roman" panose="02020603050405020304" pitchFamily="18" charset="0"/>
                <a:cs typeface="Times New Roman" panose="02020603050405020304" pitchFamily="18" charset="0"/>
              </a:rPr>
              <a:t> 40, 52, 58, 72</a:t>
            </a:r>
          </a:p>
          <a:p>
            <a:r>
              <a:rPr lang="en-US" b="1" dirty="0">
                <a:latin typeface="Times New Roman" panose="02020603050405020304" pitchFamily="18" charset="0"/>
                <a:cs typeface="Times New Roman" panose="02020603050405020304" pitchFamily="18" charset="0"/>
              </a:rPr>
              <a:t>Model B:</a:t>
            </a:r>
            <a:r>
              <a:rPr lang="en-US" dirty="0">
                <a:latin typeface="Times New Roman" panose="02020603050405020304" pitchFamily="18" charset="0"/>
                <a:cs typeface="Times New Roman" panose="02020603050405020304" pitchFamily="18" charset="0"/>
              </a:rPr>
              <a:t> 40, 50, 60, 120</a:t>
            </a:r>
          </a:p>
          <a:p>
            <a:r>
              <a:rPr lang="en-US" dirty="0">
                <a:latin typeface="Times New Roman" panose="02020603050405020304" pitchFamily="18" charset="0"/>
                <a:cs typeface="Times New Roman" panose="02020603050405020304" pitchFamily="18" charset="0"/>
              </a:rPr>
              <a:t>The company wants to evaluate both models using </a:t>
            </a:r>
            <a:r>
              <a:rPr lang="en-US" b="1" dirty="0">
                <a:latin typeface="Times New Roman" panose="02020603050405020304" pitchFamily="18" charset="0"/>
                <a:cs typeface="Times New Roman" panose="02020603050405020304" pitchFamily="18" charset="0"/>
              </a:rPr>
              <a:t>Mean Square Error (MSE)</a:t>
            </a:r>
            <a:r>
              <a:rPr lang="en-US" dirty="0">
                <a:latin typeface="Times New Roman" panose="02020603050405020304" pitchFamily="18" charset="0"/>
                <a:cs typeface="Times New Roman" panose="02020603050405020304" pitchFamily="18" charset="0"/>
              </a:rPr>
              <a:t> and </a:t>
            </a:r>
            <a:r>
              <a:rPr lang="en-US" b="1" dirty="0">
                <a:latin typeface="Times New Roman" panose="02020603050405020304" pitchFamily="18" charset="0"/>
                <a:cs typeface="Times New Roman" panose="02020603050405020304" pitchFamily="18" charset="0"/>
              </a:rPr>
              <a:t>Mean Absolute Error (MAE)</a:t>
            </a:r>
            <a:r>
              <a:rPr lang="en-US" dirty="0">
                <a:latin typeface="Times New Roman" panose="02020603050405020304" pitchFamily="18" charset="0"/>
                <a:cs typeface="Times New Roman" panose="02020603050405020304" pitchFamily="18" charset="0"/>
              </a:rPr>
              <a:t>.</a:t>
            </a:r>
          </a:p>
          <a:p>
            <a:r>
              <a:rPr lang="en-US" b="1" dirty="0">
                <a:latin typeface="Times New Roman" panose="02020603050405020304" pitchFamily="18" charset="0"/>
                <a:cs typeface="Times New Roman" panose="02020603050405020304" pitchFamily="18" charset="0"/>
              </a:rPr>
              <a:t>Question:</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Calculate MSE and MAE for both models.</a:t>
            </a:r>
          </a:p>
          <a:p>
            <a:r>
              <a:rPr lang="en-US" dirty="0">
                <a:latin typeface="Times New Roman" panose="02020603050405020304" pitchFamily="18" charset="0"/>
                <a:cs typeface="Times New Roman" panose="02020603050405020304" pitchFamily="18" charset="0"/>
              </a:rPr>
              <a:t>Which model is better? Justify your answer.</a:t>
            </a:r>
          </a:p>
          <a:p>
            <a:endParaRPr lang="en-US" dirty="0"/>
          </a:p>
          <a:p>
            <a:endParaRPr lang="en-US" dirty="0"/>
          </a:p>
          <a:p>
            <a:endParaRPr lang="en-US" dirty="0"/>
          </a:p>
          <a:p>
            <a:endParaRPr lang="en-IN" dirty="0"/>
          </a:p>
        </p:txBody>
      </p:sp>
      <p:graphicFrame>
        <p:nvGraphicFramePr>
          <p:cNvPr id="31" name="Table 30">
            <a:extLst>
              <a:ext uri="{FF2B5EF4-FFF2-40B4-BE49-F238E27FC236}">
                <a16:creationId xmlns:a16="http://schemas.microsoft.com/office/drawing/2014/main" id="{5EE27780-A735-8B51-E9C5-41F68B7041F6}"/>
              </a:ext>
            </a:extLst>
          </p:cNvPr>
          <p:cNvGraphicFramePr>
            <a:graphicFrameLocks noGrp="1"/>
          </p:cNvGraphicFramePr>
          <p:nvPr>
            <p:extLst>
              <p:ext uri="{D42A27DB-BD31-4B8C-83A1-F6EECF244321}">
                <p14:modId xmlns:p14="http://schemas.microsoft.com/office/powerpoint/2010/main" val="1822015334"/>
              </p:ext>
            </p:extLst>
          </p:nvPr>
        </p:nvGraphicFramePr>
        <p:xfrm>
          <a:off x="7106265" y="1288572"/>
          <a:ext cx="3571568" cy="1981200"/>
        </p:xfrm>
        <a:graphic>
          <a:graphicData uri="http://schemas.openxmlformats.org/drawingml/2006/table">
            <a:tbl>
              <a:tblPr/>
              <a:tblGrid>
                <a:gridCol w="1785784">
                  <a:extLst>
                    <a:ext uri="{9D8B030D-6E8A-4147-A177-3AD203B41FA5}">
                      <a16:colId xmlns:a16="http://schemas.microsoft.com/office/drawing/2014/main" val="502868655"/>
                    </a:ext>
                  </a:extLst>
                </a:gridCol>
                <a:gridCol w="1785784">
                  <a:extLst>
                    <a:ext uri="{9D8B030D-6E8A-4147-A177-3AD203B41FA5}">
                      <a16:colId xmlns:a16="http://schemas.microsoft.com/office/drawing/2014/main" val="2294876621"/>
                    </a:ext>
                  </a:extLst>
                </a:gridCol>
              </a:tblGrid>
              <a:tr h="363138">
                <a:tc>
                  <a:txBody>
                    <a:bodyPr/>
                    <a:lstStyle/>
                    <a:p>
                      <a:pPr>
                        <a:buNone/>
                      </a:pPr>
                      <a:r>
                        <a:rPr lang="en-IN" sz="2000">
                          <a:latin typeface="Times New Roman" panose="02020603050405020304" pitchFamily="18" charset="0"/>
                          <a:cs typeface="Times New Roman" panose="02020603050405020304" pitchFamily="18" charset="0"/>
                        </a:rPr>
                        <a:t>House</a:t>
                      </a:r>
                    </a:p>
                  </a:txBody>
                  <a:tcPr anchor="ctr">
                    <a:lnL>
                      <a:noFill/>
                    </a:lnL>
                    <a:lnR>
                      <a:noFill/>
                    </a:lnR>
                    <a:lnT>
                      <a:noFill/>
                    </a:lnT>
                    <a:lnB>
                      <a:noFill/>
                    </a:lnB>
                    <a:noFill/>
                  </a:tcPr>
                </a:tc>
                <a:tc>
                  <a:txBody>
                    <a:bodyPr/>
                    <a:lstStyle/>
                    <a:p>
                      <a:pPr>
                        <a:buNone/>
                      </a:pPr>
                      <a:r>
                        <a:rPr lang="en-IN" sz="2000">
                          <a:latin typeface="Times New Roman" panose="02020603050405020304" pitchFamily="18" charset="0"/>
                          <a:cs typeface="Times New Roman" panose="02020603050405020304" pitchFamily="18" charset="0"/>
                        </a:rPr>
                        <a:t>Actual Price</a:t>
                      </a:r>
                    </a:p>
                  </a:txBody>
                  <a:tcPr anchor="ctr">
                    <a:lnL>
                      <a:noFill/>
                    </a:lnL>
                    <a:lnR>
                      <a:noFill/>
                    </a:lnR>
                    <a:lnT>
                      <a:noFill/>
                    </a:lnT>
                    <a:lnB>
                      <a:noFill/>
                    </a:lnB>
                    <a:noFill/>
                  </a:tcPr>
                </a:tc>
                <a:extLst>
                  <a:ext uri="{0D108BD9-81ED-4DB2-BD59-A6C34878D82A}">
                    <a16:rowId xmlns:a16="http://schemas.microsoft.com/office/drawing/2014/main" val="4117334251"/>
                  </a:ext>
                </a:extLst>
              </a:tr>
              <a:tr h="363138">
                <a:tc>
                  <a:txBody>
                    <a:bodyPr/>
                    <a:lstStyle/>
                    <a:p>
                      <a:pPr>
                        <a:buNone/>
                      </a:pPr>
                      <a:r>
                        <a:rPr lang="en-IN" sz="2000">
                          <a:latin typeface="Times New Roman" panose="02020603050405020304" pitchFamily="18" charset="0"/>
                          <a:cs typeface="Times New Roman" panose="02020603050405020304" pitchFamily="18" charset="0"/>
                        </a:rPr>
                        <a:t>1</a:t>
                      </a:r>
                    </a:p>
                  </a:txBody>
                  <a:tcPr anchor="ctr">
                    <a:lnL>
                      <a:noFill/>
                    </a:lnL>
                    <a:lnR>
                      <a:noFill/>
                    </a:lnR>
                    <a:lnT>
                      <a:noFill/>
                    </a:lnT>
                    <a:lnB>
                      <a:noFill/>
                    </a:lnB>
                    <a:noFill/>
                  </a:tcPr>
                </a:tc>
                <a:tc>
                  <a:txBody>
                    <a:bodyPr/>
                    <a:lstStyle/>
                    <a:p>
                      <a:pPr>
                        <a:buNone/>
                      </a:pPr>
                      <a:r>
                        <a:rPr lang="en-IN" sz="2000">
                          <a:latin typeface="Times New Roman" panose="02020603050405020304" pitchFamily="18" charset="0"/>
                          <a:cs typeface="Times New Roman" panose="02020603050405020304" pitchFamily="18" charset="0"/>
                        </a:rPr>
                        <a:t>40</a:t>
                      </a:r>
                    </a:p>
                  </a:txBody>
                  <a:tcPr anchor="ctr">
                    <a:lnL>
                      <a:noFill/>
                    </a:lnL>
                    <a:lnR>
                      <a:noFill/>
                    </a:lnR>
                    <a:lnT>
                      <a:noFill/>
                    </a:lnT>
                    <a:lnB>
                      <a:noFill/>
                    </a:lnB>
                    <a:noFill/>
                  </a:tcPr>
                </a:tc>
                <a:extLst>
                  <a:ext uri="{0D108BD9-81ED-4DB2-BD59-A6C34878D82A}">
                    <a16:rowId xmlns:a16="http://schemas.microsoft.com/office/drawing/2014/main" val="1530975474"/>
                  </a:ext>
                </a:extLst>
              </a:tr>
              <a:tr h="363138">
                <a:tc>
                  <a:txBody>
                    <a:bodyPr/>
                    <a:lstStyle/>
                    <a:p>
                      <a:pPr>
                        <a:buNone/>
                      </a:pPr>
                      <a:r>
                        <a:rPr lang="en-IN" sz="2000">
                          <a:latin typeface="Times New Roman" panose="02020603050405020304" pitchFamily="18" charset="0"/>
                          <a:cs typeface="Times New Roman" panose="02020603050405020304" pitchFamily="18" charset="0"/>
                        </a:rPr>
                        <a:t>2</a:t>
                      </a:r>
                    </a:p>
                  </a:txBody>
                  <a:tcPr anchor="ctr">
                    <a:lnL>
                      <a:noFill/>
                    </a:lnL>
                    <a:lnR>
                      <a:noFill/>
                    </a:lnR>
                    <a:lnT>
                      <a:noFill/>
                    </a:lnT>
                    <a:lnB>
                      <a:noFill/>
                    </a:lnB>
                    <a:noFill/>
                  </a:tcPr>
                </a:tc>
                <a:tc>
                  <a:txBody>
                    <a:bodyPr/>
                    <a:lstStyle/>
                    <a:p>
                      <a:pPr>
                        <a:buNone/>
                      </a:pPr>
                      <a:r>
                        <a:rPr lang="en-IN" sz="2000" dirty="0">
                          <a:latin typeface="Times New Roman" panose="02020603050405020304" pitchFamily="18" charset="0"/>
                          <a:cs typeface="Times New Roman" panose="02020603050405020304" pitchFamily="18" charset="0"/>
                        </a:rPr>
                        <a:t>50</a:t>
                      </a:r>
                    </a:p>
                  </a:txBody>
                  <a:tcPr anchor="ctr">
                    <a:lnL>
                      <a:noFill/>
                    </a:lnL>
                    <a:lnR>
                      <a:noFill/>
                    </a:lnR>
                    <a:lnT>
                      <a:noFill/>
                    </a:lnT>
                    <a:lnB>
                      <a:noFill/>
                    </a:lnB>
                    <a:noFill/>
                  </a:tcPr>
                </a:tc>
                <a:extLst>
                  <a:ext uri="{0D108BD9-81ED-4DB2-BD59-A6C34878D82A}">
                    <a16:rowId xmlns:a16="http://schemas.microsoft.com/office/drawing/2014/main" val="162780196"/>
                  </a:ext>
                </a:extLst>
              </a:tr>
              <a:tr h="363138">
                <a:tc>
                  <a:txBody>
                    <a:bodyPr/>
                    <a:lstStyle/>
                    <a:p>
                      <a:pPr>
                        <a:buNone/>
                      </a:pPr>
                      <a:r>
                        <a:rPr lang="en-IN" sz="2000">
                          <a:latin typeface="Times New Roman" panose="02020603050405020304" pitchFamily="18" charset="0"/>
                          <a:cs typeface="Times New Roman" panose="02020603050405020304" pitchFamily="18" charset="0"/>
                        </a:rPr>
                        <a:t>3</a:t>
                      </a:r>
                    </a:p>
                  </a:txBody>
                  <a:tcPr anchor="ctr">
                    <a:lnL>
                      <a:noFill/>
                    </a:lnL>
                    <a:lnR>
                      <a:noFill/>
                    </a:lnR>
                    <a:lnT>
                      <a:noFill/>
                    </a:lnT>
                    <a:lnB>
                      <a:noFill/>
                    </a:lnB>
                    <a:noFill/>
                  </a:tcPr>
                </a:tc>
                <a:tc>
                  <a:txBody>
                    <a:bodyPr/>
                    <a:lstStyle/>
                    <a:p>
                      <a:pPr>
                        <a:buNone/>
                      </a:pPr>
                      <a:r>
                        <a:rPr lang="en-IN" sz="2000">
                          <a:latin typeface="Times New Roman" panose="02020603050405020304" pitchFamily="18" charset="0"/>
                          <a:cs typeface="Times New Roman" panose="02020603050405020304" pitchFamily="18" charset="0"/>
                        </a:rPr>
                        <a:t>60</a:t>
                      </a:r>
                    </a:p>
                  </a:txBody>
                  <a:tcPr anchor="ctr">
                    <a:lnL>
                      <a:noFill/>
                    </a:lnL>
                    <a:lnR>
                      <a:noFill/>
                    </a:lnR>
                    <a:lnT>
                      <a:noFill/>
                    </a:lnT>
                    <a:lnB>
                      <a:noFill/>
                    </a:lnB>
                    <a:noFill/>
                  </a:tcPr>
                </a:tc>
                <a:extLst>
                  <a:ext uri="{0D108BD9-81ED-4DB2-BD59-A6C34878D82A}">
                    <a16:rowId xmlns:a16="http://schemas.microsoft.com/office/drawing/2014/main" val="4192761714"/>
                  </a:ext>
                </a:extLst>
              </a:tr>
              <a:tr h="363138">
                <a:tc>
                  <a:txBody>
                    <a:bodyPr/>
                    <a:lstStyle/>
                    <a:p>
                      <a:pPr>
                        <a:buNone/>
                      </a:pPr>
                      <a:r>
                        <a:rPr lang="en-IN" sz="2000">
                          <a:latin typeface="Times New Roman" panose="02020603050405020304" pitchFamily="18" charset="0"/>
                          <a:cs typeface="Times New Roman" panose="02020603050405020304" pitchFamily="18" charset="0"/>
                        </a:rPr>
                        <a:t>4</a:t>
                      </a:r>
                    </a:p>
                  </a:txBody>
                  <a:tcPr anchor="ctr">
                    <a:lnL>
                      <a:noFill/>
                    </a:lnL>
                    <a:lnR>
                      <a:noFill/>
                    </a:lnR>
                    <a:lnT>
                      <a:noFill/>
                    </a:lnT>
                    <a:lnB>
                      <a:noFill/>
                    </a:lnB>
                    <a:noFill/>
                  </a:tcPr>
                </a:tc>
                <a:tc>
                  <a:txBody>
                    <a:bodyPr/>
                    <a:lstStyle/>
                    <a:p>
                      <a:pPr>
                        <a:buNone/>
                      </a:pPr>
                      <a:r>
                        <a:rPr lang="en-IN" sz="2000" dirty="0">
                          <a:latin typeface="Times New Roman" panose="02020603050405020304" pitchFamily="18" charset="0"/>
                          <a:cs typeface="Times New Roman" panose="02020603050405020304" pitchFamily="18" charset="0"/>
                        </a:rPr>
                        <a:t>70</a:t>
                      </a:r>
                    </a:p>
                  </a:txBody>
                  <a:tcPr anchor="ctr">
                    <a:lnL>
                      <a:noFill/>
                    </a:lnL>
                    <a:lnR>
                      <a:noFill/>
                    </a:lnR>
                    <a:lnT>
                      <a:noFill/>
                    </a:lnT>
                    <a:lnB>
                      <a:noFill/>
                    </a:lnB>
                    <a:noFill/>
                  </a:tcPr>
                </a:tc>
                <a:extLst>
                  <a:ext uri="{0D108BD9-81ED-4DB2-BD59-A6C34878D82A}">
                    <a16:rowId xmlns:a16="http://schemas.microsoft.com/office/drawing/2014/main" val="3851278676"/>
                  </a:ext>
                </a:extLst>
              </a:tr>
            </a:tbl>
          </a:graphicData>
        </a:graphic>
      </p:graphicFrame>
    </p:spTree>
    <p:extLst>
      <p:ext uri="{BB962C8B-B14F-4D97-AF65-F5344CB8AC3E}">
        <p14:creationId xmlns:p14="http://schemas.microsoft.com/office/powerpoint/2010/main" val="13572077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C323E4-7300-6D99-FAD6-03C7745FB0F0}"/>
              </a:ext>
            </a:extLst>
          </p:cNvPr>
          <p:cNvSpPr>
            <a:spLocks noGrp="1"/>
          </p:cNvSpPr>
          <p:nvPr>
            <p:ph type="title"/>
          </p:nvPr>
        </p:nvSpPr>
        <p:spPr/>
        <p:txBody>
          <a:bodyPr>
            <a:normAutofit fontScale="90000"/>
          </a:bodyPr>
          <a:lstStyle/>
          <a:p>
            <a:r>
              <a:rPr lang="en-US" b="1" dirty="0">
                <a:latin typeface="Times New Roman" panose="02020603050405020304" pitchFamily="18" charset="0"/>
                <a:cs typeface="Times New Roman" panose="02020603050405020304" pitchFamily="18" charset="0"/>
              </a:rPr>
              <a:t>Metrics for assessing classification accuracy</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CEDE003-1EC4-2BE7-F0AE-1E8FAB5F5418}"/>
              </a:ext>
            </a:extLst>
          </p:cNvPr>
          <p:cNvSpPr>
            <a:spLocks noGrp="1"/>
          </p:cNvSpPr>
          <p:nvPr>
            <p:ph idx="1"/>
          </p:nvPr>
        </p:nvSpPr>
        <p:spPr>
          <a:xfrm>
            <a:off x="1295401" y="2556932"/>
            <a:ext cx="9854380" cy="3548900"/>
          </a:xfrm>
        </p:spPr>
        <p:txBody>
          <a:bodyPr>
            <a:normAutofit/>
          </a:bodyPr>
          <a:lstStyle/>
          <a:p>
            <a:r>
              <a:rPr lang="en-IN" b="1" dirty="0">
                <a:solidFill>
                  <a:schemeClr val="tx1"/>
                </a:solidFill>
                <a:latin typeface="Times New Roman" panose="02020603050405020304" pitchFamily="18" charset="0"/>
                <a:cs typeface="Times New Roman" panose="02020603050405020304" pitchFamily="18" charset="0"/>
              </a:rPr>
              <a:t>In Classification </a:t>
            </a:r>
            <a:r>
              <a:rPr lang="en-IN" dirty="0">
                <a:solidFill>
                  <a:schemeClr val="tx1"/>
                </a:solidFill>
                <a:latin typeface="Times New Roman" panose="02020603050405020304" pitchFamily="18" charset="0"/>
                <a:cs typeface="Times New Roman" panose="02020603050405020304" pitchFamily="18" charset="0"/>
              </a:rPr>
              <a:t>we are teaching a computer to put things into categories—like "Spam" vs. "Not Spam" or "Cancerous" vs. "Healthy.“</a:t>
            </a:r>
          </a:p>
          <a:p>
            <a:r>
              <a:rPr lang="en-IN" dirty="0">
                <a:solidFill>
                  <a:schemeClr val="tx1"/>
                </a:solidFill>
                <a:latin typeface="Times New Roman" panose="02020603050405020304" pitchFamily="18" charset="0"/>
                <a:cs typeface="Times New Roman" panose="02020603050405020304" pitchFamily="18" charset="0"/>
              </a:rPr>
              <a:t>Unlike predicting a house price (Regression), where you can be "off by a little bit," classification is binary: you either got the label right, or you didn't.</a:t>
            </a:r>
          </a:p>
          <a:p>
            <a:r>
              <a:rPr lang="en-IN" b="1" dirty="0">
                <a:solidFill>
                  <a:schemeClr val="tx1"/>
                </a:solidFill>
                <a:latin typeface="Times New Roman" panose="02020603050405020304" pitchFamily="18" charset="0"/>
                <a:cs typeface="Times New Roman" panose="02020603050405020304" pitchFamily="18" charset="0"/>
              </a:rPr>
              <a:t>Why "Accuracy" Can Be Deceptive</a:t>
            </a:r>
          </a:p>
          <a:p>
            <a:r>
              <a:rPr lang="en-IN" dirty="0">
                <a:solidFill>
                  <a:schemeClr val="tx1"/>
                </a:solidFill>
                <a:latin typeface="Times New Roman" panose="02020603050405020304" pitchFamily="18" charset="0"/>
                <a:cs typeface="Times New Roman" panose="02020603050405020304" pitchFamily="18" charset="0"/>
              </a:rPr>
              <a:t>The most basic metric is </a:t>
            </a:r>
            <a:r>
              <a:rPr lang="en-IN" b="1" dirty="0">
                <a:solidFill>
                  <a:schemeClr val="tx1"/>
                </a:solidFill>
                <a:latin typeface="Times New Roman" panose="02020603050405020304" pitchFamily="18" charset="0"/>
                <a:cs typeface="Times New Roman" panose="02020603050405020304" pitchFamily="18" charset="0"/>
              </a:rPr>
              <a:t>Misclassification Error</a:t>
            </a:r>
            <a:r>
              <a:rPr lang="en-IN" dirty="0">
                <a:solidFill>
                  <a:schemeClr val="tx1"/>
                </a:solidFill>
                <a:latin typeface="Times New Roman" panose="02020603050405020304" pitchFamily="18" charset="0"/>
                <a:cs typeface="Times New Roman" panose="02020603050405020304" pitchFamily="18" charset="0"/>
              </a:rPr>
              <a:t> (how many times the model was wrong). However, the text highlights a huge trap: </a:t>
            </a:r>
            <a:r>
              <a:rPr lang="en-IN" b="1" dirty="0">
                <a:solidFill>
                  <a:schemeClr val="tx1"/>
                </a:solidFill>
                <a:latin typeface="Times New Roman" panose="02020603050405020304" pitchFamily="18" charset="0"/>
                <a:cs typeface="Times New Roman" panose="02020603050405020304" pitchFamily="18" charset="0"/>
              </a:rPr>
              <a:t>Imbalanced Data.</a:t>
            </a:r>
            <a:endParaRPr lang="en-IN" dirty="0">
              <a:solidFill>
                <a:schemeClr val="tx1"/>
              </a:solidFill>
              <a:latin typeface="Times New Roman" panose="02020603050405020304" pitchFamily="18" charset="0"/>
              <a:cs typeface="Times New Roman" panose="02020603050405020304" pitchFamily="18" charset="0"/>
            </a:endParaRPr>
          </a:p>
          <a:p>
            <a:endParaRPr lang="en-IN"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140476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88AF29-B084-2F80-F8B5-71AA8F016267}"/>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Confusion Matrix</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8B0D748E-FF42-1F85-3A50-EE62A6884B74}"/>
              </a:ext>
            </a:extLst>
          </p:cNvPr>
          <p:cNvSpPr>
            <a:spLocks noGrp="1"/>
          </p:cNvSpPr>
          <p:nvPr>
            <p:ph idx="1"/>
          </p:nvPr>
        </p:nvSpPr>
        <p:spPr/>
        <p:txBody>
          <a:bodyPr/>
          <a:lstStyle/>
          <a:p>
            <a:pPr lvl="0"/>
            <a:r>
              <a:rPr lang="en-IN" b="1" dirty="0">
                <a:solidFill>
                  <a:schemeClr val="tx1"/>
                </a:solidFill>
                <a:latin typeface="Times New Roman" panose="02020603050405020304" pitchFamily="18" charset="0"/>
                <a:cs typeface="Times New Roman" panose="02020603050405020304" pitchFamily="18" charset="0"/>
              </a:rPr>
              <a:t>True Positive (TP):</a:t>
            </a:r>
            <a:r>
              <a:rPr lang="en-IN" dirty="0">
                <a:solidFill>
                  <a:schemeClr val="tx1"/>
                </a:solidFill>
                <a:latin typeface="Times New Roman" panose="02020603050405020304" pitchFamily="18" charset="0"/>
                <a:cs typeface="Times New Roman" panose="02020603050405020304" pitchFamily="18" charset="0"/>
              </a:rPr>
              <a:t> You predicted "Sick," and they actually are. (Correct)</a:t>
            </a:r>
          </a:p>
          <a:p>
            <a:pPr lvl="0"/>
            <a:r>
              <a:rPr lang="en-IN" b="1" dirty="0">
                <a:solidFill>
                  <a:schemeClr val="tx1"/>
                </a:solidFill>
                <a:latin typeface="Times New Roman" panose="02020603050405020304" pitchFamily="18" charset="0"/>
                <a:cs typeface="Times New Roman" panose="02020603050405020304" pitchFamily="18" charset="0"/>
              </a:rPr>
              <a:t>True Negative (TN):</a:t>
            </a:r>
            <a:r>
              <a:rPr lang="en-IN" dirty="0">
                <a:solidFill>
                  <a:schemeClr val="tx1"/>
                </a:solidFill>
                <a:latin typeface="Times New Roman" panose="02020603050405020304" pitchFamily="18" charset="0"/>
                <a:cs typeface="Times New Roman" panose="02020603050405020304" pitchFamily="18" charset="0"/>
              </a:rPr>
              <a:t> You predicted "Healthy," and they actually are. (Correct)</a:t>
            </a:r>
          </a:p>
          <a:p>
            <a:pPr lvl="0"/>
            <a:r>
              <a:rPr lang="en-IN" b="1" dirty="0">
                <a:solidFill>
                  <a:schemeClr val="tx1"/>
                </a:solidFill>
                <a:latin typeface="Times New Roman" panose="02020603050405020304" pitchFamily="18" charset="0"/>
                <a:cs typeface="Times New Roman" panose="02020603050405020304" pitchFamily="18" charset="0"/>
              </a:rPr>
              <a:t>False Positive (FP):</a:t>
            </a:r>
            <a:r>
              <a:rPr lang="en-IN" dirty="0">
                <a:solidFill>
                  <a:schemeClr val="tx1"/>
                </a:solidFill>
                <a:latin typeface="Times New Roman" panose="02020603050405020304" pitchFamily="18" charset="0"/>
                <a:cs typeface="Times New Roman" panose="02020603050405020304" pitchFamily="18" charset="0"/>
              </a:rPr>
              <a:t> You predicted "Sick," but they are healthy. (</a:t>
            </a:r>
            <a:r>
              <a:rPr lang="en-IN" b="1" dirty="0">
                <a:solidFill>
                  <a:schemeClr val="tx1"/>
                </a:solidFill>
                <a:latin typeface="Times New Roman" panose="02020603050405020304" pitchFamily="18" charset="0"/>
                <a:cs typeface="Times New Roman" panose="02020603050405020304" pitchFamily="18" charset="0"/>
              </a:rPr>
              <a:t>False Alarm</a:t>
            </a:r>
            <a:r>
              <a:rPr lang="en-IN" dirty="0">
                <a:solidFill>
                  <a:schemeClr val="tx1"/>
                </a:solidFill>
                <a:latin typeface="Times New Roman" panose="02020603050405020304" pitchFamily="18" charset="0"/>
                <a:cs typeface="Times New Roman" panose="02020603050405020304" pitchFamily="18" charset="0"/>
              </a:rPr>
              <a:t>)</a:t>
            </a:r>
          </a:p>
          <a:p>
            <a:pPr lvl="0"/>
            <a:r>
              <a:rPr lang="en-IN" b="1" dirty="0">
                <a:solidFill>
                  <a:schemeClr val="tx1"/>
                </a:solidFill>
                <a:latin typeface="Times New Roman" panose="02020603050405020304" pitchFamily="18" charset="0"/>
                <a:cs typeface="Times New Roman" panose="02020603050405020304" pitchFamily="18" charset="0"/>
              </a:rPr>
              <a:t>False Negative (FN):</a:t>
            </a:r>
            <a:r>
              <a:rPr lang="en-IN" dirty="0">
                <a:solidFill>
                  <a:schemeClr val="tx1"/>
                </a:solidFill>
                <a:latin typeface="Times New Roman" panose="02020603050405020304" pitchFamily="18" charset="0"/>
                <a:cs typeface="Times New Roman" panose="02020603050405020304" pitchFamily="18" charset="0"/>
              </a:rPr>
              <a:t> You predicted "Healthy," but they are sick. (</a:t>
            </a:r>
            <a:r>
              <a:rPr lang="en-IN" b="1" dirty="0">
                <a:solidFill>
                  <a:schemeClr val="tx1"/>
                </a:solidFill>
                <a:latin typeface="Times New Roman" panose="02020603050405020304" pitchFamily="18" charset="0"/>
                <a:cs typeface="Times New Roman" panose="02020603050405020304" pitchFamily="18" charset="0"/>
              </a:rPr>
              <a:t>The "Dangerous Miss"</a:t>
            </a:r>
            <a:r>
              <a:rPr lang="en-IN" dirty="0">
                <a:solidFill>
                  <a:schemeClr val="tx1"/>
                </a:solidFill>
                <a:latin typeface="Times New Roman" panose="02020603050405020304" pitchFamily="18" charset="0"/>
                <a:cs typeface="Times New Roman" panose="02020603050405020304" pitchFamily="18" charset="0"/>
              </a:rPr>
              <a:t>)</a:t>
            </a:r>
          </a:p>
          <a:p>
            <a:endParaRPr lang="en-IN" dirty="0"/>
          </a:p>
        </p:txBody>
      </p:sp>
    </p:spTree>
    <p:extLst>
      <p:ext uri="{BB962C8B-B14F-4D97-AF65-F5344CB8AC3E}">
        <p14:creationId xmlns:p14="http://schemas.microsoft.com/office/powerpoint/2010/main" val="42710287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39DD21-B5F6-F5BE-C94F-22227E671907}"/>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Sensitivity</a:t>
            </a:r>
            <a:endParaRPr lang="en-IN" b="1"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FF8E5FF-C962-77B8-0CC7-7C25F8BBC0BC}"/>
                  </a:ext>
                </a:extLst>
              </p:cNvPr>
              <p:cNvSpPr>
                <a:spLocks noGrp="1"/>
              </p:cNvSpPr>
              <p:nvPr>
                <p:ph idx="1"/>
              </p:nvPr>
            </p:nvSpPr>
            <p:spPr/>
            <p:txBody>
              <a:bodyPr>
                <a:normAutofit lnSpcReduction="10000"/>
              </a:bodyPr>
              <a:lstStyle/>
              <a:p>
                <a:r>
                  <a:rPr lang="en-IN" dirty="0">
                    <a:solidFill>
                      <a:schemeClr val="tx1"/>
                    </a:solidFill>
                    <a:latin typeface="Times New Roman" panose="02020603050405020304" pitchFamily="18" charset="0"/>
                    <a:cs typeface="Times New Roman" panose="02020603050405020304" pitchFamily="18" charset="0"/>
                  </a:rPr>
                  <a:t>Since accuracy isn't enough, we use two specific "lenses" to look at the data:</a:t>
                </a:r>
              </a:p>
              <a:p>
                <a:r>
                  <a:rPr lang="en-IN" b="1" dirty="0">
                    <a:solidFill>
                      <a:schemeClr val="tx1"/>
                    </a:solidFill>
                    <a:latin typeface="Times New Roman" panose="02020603050405020304" pitchFamily="18" charset="0"/>
                    <a:cs typeface="Times New Roman" panose="02020603050405020304" pitchFamily="18" charset="0"/>
                  </a:rPr>
                  <a:t>Sensitivity (True Positive Rate)</a:t>
                </a:r>
                <a:endParaRPr lang="en-IN" dirty="0">
                  <a:solidFill>
                    <a:schemeClr val="tx1"/>
                  </a:solidFill>
                  <a:latin typeface="Times New Roman" panose="02020603050405020304" pitchFamily="18" charset="0"/>
                  <a:cs typeface="Times New Roman" panose="02020603050405020304" pitchFamily="18" charset="0"/>
                </a:endParaRPr>
              </a:p>
              <a:p>
                <a:r>
                  <a:rPr lang="en-IN" dirty="0">
                    <a:solidFill>
                      <a:schemeClr val="tx1"/>
                    </a:solidFill>
                    <a:latin typeface="Times New Roman" panose="02020603050405020304" pitchFamily="18" charset="0"/>
                    <a:cs typeface="Times New Roman" panose="02020603050405020304" pitchFamily="18" charset="0"/>
                  </a:rPr>
                  <a:t>This measures how good the model is at finding the "Positive" cases.</a:t>
                </a:r>
              </a:p>
              <a:p>
                <a:r>
                  <a:rPr lang="en-IN" b="1" dirty="0">
                    <a:solidFill>
                      <a:schemeClr val="tx1"/>
                    </a:solidFill>
                    <a:latin typeface="Times New Roman" panose="02020603050405020304" pitchFamily="18" charset="0"/>
                    <a:cs typeface="Times New Roman" panose="02020603050405020304" pitchFamily="18" charset="0"/>
                  </a:rPr>
                  <a:t>Sensitivity=</a:t>
                </a:r>
                <a14:m>
                  <m:oMath xmlns:m="http://schemas.openxmlformats.org/officeDocument/2006/math">
                    <m:f>
                      <m:fPr>
                        <m:ctrlPr>
                          <a:rPr lang="en-IN" b="1" i="1">
                            <a:solidFill>
                              <a:schemeClr val="tx1"/>
                            </a:solidFill>
                            <a:latin typeface="Cambria Math" panose="02040503050406030204" pitchFamily="18" charset="0"/>
                          </a:rPr>
                        </m:ctrlPr>
                      </m:fPr>
                      <m:num>
                        <m:r>
                          <a:rPr lang="en-IN" b="1" i="1">
                            <a:solidFill>
                              <a:schemeClr val="tx1"/>
                            </a:solidFill>
                            <a:latin typeface="Cambria Math" panose="02040503050406030204" pitchFamily="18" charset="0"/>
                          </a:rPr>
                          <m:t>𝑻𝑷</m:t>
                        </m:r>
                      </m:num>
                      <m:den>
                        <m:r>
                          <a:rPr lang="en-IN" b="1" i="1">
                            <a:solidFill>
                              <a:schemeClr val="tx1"/>
                            </a:solidFill>
                            <a:latin typeface="Cambria Math" panose="02040503050406030204" pitchFamily="18" charset="0"/>
                          </a:rPr>
                          <m:t>𝑻𝑷</m:t>
                        </m:r>
                        <m:r>
                          <a:rPr lang="en-IN" b="1" i="1">
                            <a:solidFill>
                              <a:schemeClr val="tx1"/>
                            </a:solidFill>
                            <a:latin typeface="Cambria Math" panose="02040503050406030204" pitchFamily="18" charset="0"/>
                          </a:rPr>
                          <m:t>+</m:t>
                        </m:r>
                        <m:r>
                          <a:rPr lang="en-IN" b="1" i="1">
                            <a:solidFill>
                              <a:schemeClr val="tx1"/>
                            </a:solidFill>
                            <a:latin typeface="Cambria Math" panose="02040503050406030204" pitchFamily="18" charset="0"/>
                          </a:rPr>
                          <m:t>𝑭𝑵</m:t>
                        </m:r>
                      </m:den>
                    </m:f>
                  </m:oMath>
                </a14:m>
                <a:endParaRPr lang="en-IN" dirty="0">
                  <a:solidFill>
                    <a:schemeClr val="tx1"/>
                  </a:solidFill>
                  <a:latin typeface="Times New Roman" panose="02020603050405020304" pitchFamily="18" charset="0"/>
                  <a:cs typeface="Times New Roman" panose="02020603050405020304" pitchFamily="18" charset="0"/>
                </a:endParaRPr>
              </a:p>
              <a:p>
                <a:r>
                  <a:rPr lang="en-IN" b="1" dirty="0">
                    <a:solidFill>
                      <a:schemeClr val="tx1"/>
                    </a:solidFill>
                    <a:latin typeface="Times New Roman" panose="02020603050405020304" pitchFamily="18" charset="0"/>
                    <a:cs typeface="Times New Roman" panose="02020603050405020304" pitchFamily="18" charset="0"/>
                  </a:rPr>
                  <a:t>High Sensitivity</a:t>
                </a:r>
                <a:r>
                  <a:rPr lang="en-IN" dirty="0">
                    <a:solidFill>
                      <a:schemeClr val="tx1"/>
                    </a:solidFill>
                    <a:latin typeface="Times New Roman" panose="02020603050405020304" pitchFamily="18" charset="0"/>
                    <a:cs typeface="Times New Roman" panose="02020603050405020304" pitchFamily="18" charset="0"/>
                  </a:rPr>
                  <a:t> means you rarely miss the "bad thing" (e.g., you catch almost every case of cancer).</a:t>
                </a:r>
              </a:p>
              <a:p>
                <a:endParaRPr lang="en-IN" dirty="0"/>
              </a:p>
            </p:txBody>
          </p:sp>
        </mc:Choice>
        <mc:Fallback xmlns="">
          <p:sp>
            <p:nvSpPr>
              <p:cNvPr id="3" name="Content Placeholder 2">
                <a:extLst>
                  <a:ext uri="{FF2B5EF4-FFF2-40B4-BE49-F238E27FC236}">
                    <a16:creationId xmlns:a16="http://schemas.microsoft.com/office/drawing/2014/main" id="{FFF8E5FF-C962-77B8-0CC7-7C25F8BBC0BC}"/>
                  </a:ext>
                </a:extLst>
              </p:cNvPr>
              <p:cNvSpPr>
                <a:spLocks noGrp="1" noRot="1" noChangeAspect="1" noMove="1" noResize="1" noEditPoints="1" noAdjustHandles="1" noChangeArrowheads="1" noChangeShapeType="1" noTextEdit="1"/>
              </p:cNvSpPr>
              <p:nvPr>
                <p:ph idx="1"/>
              </p:nvPr>
            </p:nvSpPr>
            <p:spPr>
              <a:blipFill>
                <a:blip r:embed="rId3"/>
                <a:stretch>
                  <a:fillRect l="-1144" t="-3670"/>
                </a:stretch>
              </a:blipFill>
            </p:spPr>
            <p:txBody>
              <a:bodyPr/>
              <a:lstStyle/>
              <a:p>
                <a:r>
                  <a:rPr lang="en-IN">
                    <a:noFill/>
                  </a:rPr>
                  <a:t> </a:t>
                </a:r>
              </a:p>
            </p:txBody>
          </p:sp>
        </mc:Fallback>
      </mc:AlternateContent>
    </p:spTree>
    <p:extLst>
      <p:ext uri="{BB962C8B-B14F-4D97-AF65-F5344CB8AC3E}">
        <p14:creationId xmlns:p14="http://schemas.microsoft.com/office/powerpoint/2010/main" val="40136628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4263BB-36D3-0DC0-1ED6-C50B272C0B4D}"/>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Specificity</a:t>
            </a:r>
            <a:endParaRPr lang="en-IN" b="1"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E0E8571-19FA-FDF9-B3C2-E54257544D14}"/>
                  </a:ext>
                </a:extLst>
              </p:cNvPr>
              <p:cNvSpPr>
                <a:spLocks noGrp="1"/>
              </p:cNvSpPr>
              <p:nvPr>
                <p:ph idx="1"/>
              </p:nvPr>
            </p:nvSpPr>
            <p:spPr/>
            <p:txBody>
              <a:bodyPr/>
              <a:lstStyle/>
              <a:p>
                <a:r>
                  <a:rPr lang="en-IN" dirty="0">
                    <a:solidFill>
                      <a:schemeClr val="tx1"/>
                    </a:solidFill>
                    <a:latin typeface="Times New Roman" panose="02020603050405020304" pitchFamily="18" charset="0"/>
                    <a:cs typeface="Times New Roman" panose="02020603050405020304" pitchFamily="18" charset="0"/>
                  </a:rPr>
                  <a:t>This measures how good the model is at avoiding "False Alarms."</a:t>
                </a:r>
              </a:p>
              <a:p>
                <a:r>
                  <a:rPr lang="en-IN" dirty="0">
                    <a:solidFill>
                      <a:schemeClr val="tx1"/>
                    </a:solidFill>
                    <a:latin typeface="Times New Roman" panose="02020603050405020304" pitchFamily="18" charset="0"/>
                    <a:cs typeface="Times New Roman" panose="02020603050405020304" pitchFamily="18" charset="0"/>
                  </a:rPr>
                  <a:t>Specificity =</a:t>
                </a:r>
                <a14:m>
                  <m:oMath xmlns:m="http://schemas.openxmlformats.org/officeDocument/2006/math">
                    <m:f>
                      <m:fPr>
                        <m:ctrlPr>
                          <a:rPr lang="en-IN" b="1" i="1">
                            <a:solidFill>
                              <a:schemeClr val="tx1"/>
                            </a:solidFill>
                            <a:latin typeface="Cambria Math" panose="02040503050406030204" pitchFamily="18" charset="0"/>
                          </a:rPr>
                        </m:ctrlPr>
                      </m:fPr>
                      <m:num>
                        <m:r>
                          <a:rPr lang="en-IN" b="1" i="1">
                            <a:solidFill>
                              <a:schemeClr val="tx1"/>
                            </a:solidFill>
                            <a:latin typeface="Cambria Math" panose="02040503050406030204" pitchFamily="18" charset="0"/>
                          </a:rPr>
                          <m:t>𝑻𝑵</m:t>
                        </m:r>
                      </m:num>
                      <m:den>
                        <m:r>
                          <a:rPr lang="en-IN" b="1" i="1">
                            <a:solidFill>
                              <a:schemeClr val="tx1"/>
                            </a:solidFill>
                            <a:latin typeface="Cambria Math" panose="02040503050406030204" pitchFamily="18" charset="0"/>
                          </a:rPr>
                          <m:t>𝑻𝑵</m:t>
                        </m:r>
                        <m:r>
                          <a:rPr lang="en-IN" b="1" i="1">
                            <a:solidFill>
                              <a:schemeClr val="tx1"/>
                            </a:solidFill>
                            <a:latin typeface="Cambria Math" panose="02040503050406030204" pitchFamily="18" charset="0"/>
                          </a:rPr>
                          <m:t>+</m:t>
                        </m:r>
                        <m:r>
                          <a:rPr lang="en-IN" b="1" i="1">
                            <a:solidFill>
                              <a:schemeClr val="tx1"/>
                            </a:solidFill>
                            <a:latin typeface="Cambria Math" panose="02040503050406030204" pitchFamily="18" charset="0"/>
                          </a:rPr>
                          <m:t>𝑭𝑷</m:t>
                        </m:r>
                      </m:den>
                    </m:f>
                  </m:oMath>
                </a14:m>
                <a:endParaRPr lang="en-IN" dirty="0">
                  <a:solidFill>
                    <a:schemeClr val="tx1"/>
                  </a:solidFill>
                  <a:latin typeface="Times New Roman" panose="02020603050405020304" pitchFamily="18" charset="0"/>
                  <a:cs typeface="Times New Roman" panose="02020603050405020304" pitchFamily="18" charset="0"/>
                </a:endParaRPr>
              </a:p>
              <a:p>
                <a:r>
                  <a:rPr lang="en-IN" b="1" dirty="0">
                    <a:solidFill>
                      <a:schemeClr val="tx1"/>
                    </a:solidFill>
                    <a:latin typeface="Times New Roman" panose="02020603050405020304" pitchFamily="18" charset="0"/>
                    <a:cs typeface="Times New Roman" panose="02020603050405020304" pitchFamily="18" charset="0"/>
                  </a:rPr>
                  <a:t>High Specificity</a:t>
                </a:r>
                <a:r>
                  <a:rPr lang="en-IN" dirty="0">
                    <a:solidFill>
                      <a:schemeClr val="tx1"/>
                    </a:solidFill>
                    <a:latin typeface="Times New Roman" panose="02020603050405020304" pitchFamily="18" charset="0"/>
                    <a:cs typeface="Times New Roman" panose="02020603050405020304" pitchFamily="18" charset="0"/>
                  </a:rPr>
                  <a:t> means you don't bother healthy people with scary wrong diagnoses.</a:t>
                </a:r>
              </a:p>
              <a:p>
                <a:r>
                  <a:rPr lang="en-IN" dirty="0"/>
                  <a:t> </a:t>
                </a:r>
              </a:p>
              <a:p>
                <a:endParaRPr lang="en-IN" dirty="0"/>
              </a:p>
            </p:txBody>
          </p:sp>
        </mc:Choice>
        <mc:Fallback xmlns="">
          <p:sp>
            <p:nvSpPr>
              <p:cNvPr id="3" name="Content Placeholder 2">
                <a:extLst>
                  <a:ext uri="{FF2B5EF4-FFF2-40B4-BE49-F238E27FC236}">
                    <a16:creationId xmlns:a16="http://schemas.microsoft.com/office/drawing/2014/main" id="{6E0E8571-19FA-FDF9-B3C2-E54257544D14}"/>
                  </a:ext>
                </a:extLst>
              </p:cNvPr>
              <p:cNvSpPr>
                <a:spLocks noGrp="1" noRot="1" noChangeAspect="1" noMove="1" noResize="1" noEditPoints="1" noAdjustHandles="1" noChangeArrowheads="1" noChangeShapeType="1" noTextEdit="1"/>
              </p:cNvSpPr>
              <p:nvPr>
                <p:ph idx="1"/>
              </p:nvPr>
            </p:nvSpPr>
            <p:spPr>
              <a:blipFill>
                <a:blip r:embed="rId3"/>
                <a:stretch>
                  <a:fillRect l="-1144" t="-2569" r="-826"/>
                </a:stretch>
              </a:blipFill>
            </p:spPr>
            <p:txBody>
              <a:bodyPr/>
              <a:lstStyle/>
              <a:p>
                <a:r>
                  <a:rPr lang="en-IN">
                    <a:noFill/>
                  </a:rPr>
                  <a:t> </a:t>
                </a:r>
              </a:p>
            </p:txBody>
          </p:sp>
        </mc:Fallback>
      </mc:AlternateContent>
    </p:spTree>
    <p:extLst>
      <p:ext uri="{BB962C8B-B14F-4D97-AF65-F5344CB8AC3E}">
        <p14:creationId xmlns:p14="http://schemas.microsoft.com/office/powerpoint/2010/main" val="17924940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3D37D7-67D9-90BE-6123-F75FB109D42A}"/>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Misclassification error</a:t>
            </a:r>
            <a:endParaRPr lang="en-IN" b="1"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527672E-6FE6-5B9C-513E-C7958A992BEF}"/>
                  </a:ext>
                </a:extLst>
              </p:cNvPr>
              <p:cNvSpPr>
                <a:spLocks noGrp="1"/>
              </p:cNvSpPr>
              <p:nvPr>
                <p:ph idx="1"/>
              </p:nvPr>
            </p:nvSpPr>
            <p:spPr/>
            <p:txBody>
              <a:bodyPr/>
              <a:lstStyle/>
              <a:p>
                <a:r>
                  <a:rPr lang="en-US" dirty="0">
                    <a:solidFill>
                      <a:schemeClr val="tx1"/>
                    </a:solidFill>
                    <a:latin typeface="Times New Roman" panose="02020603050405020304" pitchFamily="18" charset="0"/>
                    <a:cs typeface="Times New Roman" panose="02020603050405020304" pitchFamily="18" charset="0"/>
                  </a:rPr>
                  <a:t>Overall success rate on a given test set is the number of correct classification divided by total number of classification</a:t>
                </a:r>
              </a:p>
              <a:p>
                <a:r>
                  <a:rPr lang="en-IN" b="1" dirty="0">
                    <a:solidFill>
                      <a:schemeClr val="tx1"/>
                    </a:solidFill>
                    <a:latin typeface="Times New Roman" panose="02020603050405020304" pitchFamily="18" charset="0"/>
                    <a:cs typeface="Times New Roman" panose="02020603050405020304" pitchFamily="18" charset="0"/>
                  </a:rPr>
                  <a:t>Success rate= </a:t>
                </a:r>
                <a14:m>
                  <m:oMath xmlns:m="http://schemas.openxmlformats.org/officeDocument/2006/math">
                    <m:f>
                      <m:fPr>
                        <m:ctrlPr>
                          <a:rPr lang="en-IN" b="1" i="1" smtClean="0">
                            <a:solidFill>
                              <a:schemeClr val="tx1"/>
                            </a:solidFill>
                            <a:latin typeface="Cambria Math" panose="02040503050406030204" pitchFamily="18" charset="0"/>
                            <a:cs typeface="Times New Roman" panose="02020603050405020304" pitchFamily="18" charset="0"/>
                          </a:rPr>
                        </m:ctrlPr>
                      </m:fPr>
                      <m:num>
                        <m:r>
                          <a:rPr lang="en-US" b="1" i="1" smtClean="0">
                            <a:solidFill>
                              <a:schemeClr val="tx1"/>
                            </a:solidFill>
                            <a:latin typeface="Cambria Math" panose="02040503050406030204" pitchFamily="18" charset="0"/>
                            <a:cs typeface="Times New Roman" panose="02020603050405020304" pitchFamily="18" charset="0"/>
                          </a:rPr>
                          <m:t>𝑻𝑷</m:t>
                        </m:r>
                        <m:r>
                          <a:rPr lang="en-US" b="1" i="1" smtClean="0">
                            <a:solidFill>
                              <a:schemeClr val="tx1"/>
                            </a:solidFill>
                            <a:latin typeface="Cambria Math" panose="02040503050406030204" pitchFamily="18" charset="0"/>
                            <a:cs typeface="Times New Roman" panose="02020603050405020304" pitchFamily="18" charset="0"/>
                          </a:rPr>
                          <m:t>+</m:t>
                        </m:r>
                        <m:r>
                          <a:rPr lang="en-US" b="1" i="1" smtClean="0">
                            <a:solidFill>
                              <a:schemeClr val="tx1"/>
                            </a:solidFill>
                            <a:latin typeface="Cambria Math" panose="02040503050406030204" pitchFamily="18" charset="0"/>
                            <a:cs typeface="Times New Roman" panose="02020603050405020304" pitchFamily="18" charset="0"/>
                          </a:rPr>
                          <m:t>𝑻𝑵</m:t>
                        </m:r>
                      </m:num>
                      <m:den>
                        <m:r>
                          <a:rPr lang="en-US" b="1" i="1" smtClean="0">
                            <a:solidFill>
                              <a:schemeClr val="tx1"/>
                            </a:solidFill>
                            <a:latin typeface="Cambria Math" panose="02040503050406030204" pitchFamily="18" charset="0"/>
                            <a:cs typeface="Times New Roman" panose="02020603050405020304" pitchFamily="18" charset="0"/>
                          </a:rPr>
                          <m:t>𝑻𝑷</m:t>
                        </m:r>
                        <m:r>
                          <a:rPr lang="en-US" b="1" i="1" smtClean="0">
                            <a:solidFill>
                              <a:schemeClr val="tx1"/>
                            </a:solidFill>
                            <a:latin typeface="Cambria Math" panose="02040503050406030204" pitchFamily="18" charset="0"/>
                            <a:cs typeface="Times New Roman" panose="02020603050405020304" pitchFamily="18" charset="0"/>
                          </a:rPr>
                          <m:t>+</m:t>
                        </m:r>
                        <m:r>
                          <a:rPr lang="en-US" b="1" i="1" smtClean="0">
                            <a:solidFill>
                              <a:schemeClr val="tx1"/>
                            </a:solidFill>
                            <a:latin typeface="Cambria Math" panose="02040503050406030204" pitchFamily="18" charset="0"/>
                            <a:cs typeface="Times New Roman" panose="02020603050405020304" pitchFamily="18" charset="0"/>
                          </a:rPr>
                          <m:t>𝑻𝑵</m:t>
                        </m:r>
                        <m:r>
                          <a:rPr lang="en-US" b="1" i="1" smtClean="0">
                            <a:solidFill>
                              <a:schemeClr val="tx1"/>
                            </a:solidFill>
                            <a:latin typeface="Cambria Math" panose="02040503050406030204" pitchFamily="18" charset="0"/>
                            <a:cs typeface="Times New Roman" panose="02020603050405020304" pitchFamily="18" charset="0"/>
                          </a:rPr>
                          <m:t>+</m:t>
                        </m:r>
                        <m:r>
                          <a:rPr lang="en-US" b="1" i="1" smtClean="0">
                            <a:solidFill>
                              <a:schemeClr val="tx1"/>
                            </a:solidFill>
                            <a:latin typeface="Cambria Math" panose="02040503050406030204" pitchFamily="18" charset="0"/>
                            <a:cs typeface="Times New Roman" panose="02020603050405020304" pitchFamily="18" charset="0"/>
                          </a:rPr>
                          <m:t>𝑭𝑷</m:t>
                        </m:r>
                        <m:r>
                          <a:rPr lang="en-US" b="1" i="1" smtClean="0">
                            <a:solidFill>
                              <a:schemeClr val="tx1"/>
                            </a:solidFill>
                            <a:latin typeface="Cambria Math" panose="02040503050406030204" pitchFamily="18" charset="0"/>
                            <a:cs typeface="Times New Roman" panose="02020603050405020304" pitchFamily="18" charset="0"/>
                          </a:rPr>
                          <m:t>+</m:t>
                        </m:r>
                        <m:r>
                          <a:rPr lang="en-US" b="1" i="1" smtClean="0">
                            <a:solidFill>
                              <a:schemeClr val="tx1"/>
                            </a:solidFill>
                            <a:latin typeface="Cambria Math" panose="02040503050406030204" pitchFamily="18" charset="0"/>
                            <a:cs typeface="Times New Roman" panose="02020603050405020304" pitchFamily="18" charset="0"/>
                          </a:rPr>
                          <m:t>𝑭𝑵</m:t>
                        </m:r>
                      </m:den>
                    </m:f>
                  </m:oMath>
                </a14:m>
                <a:endParaRPr lang="en-IN" b="1" dirty="0">
                  <a:solidFill>
                    <a:schemeClr val="tx1"/>
                  </a:solidFill>
                  <a:latin typeface="Times New Roman" panose="02020603050405020304" pitchFamily="18" charset="0"/>
                  <a:cs typeface="Times New Roman" panose="02020603050405020304" pitchFamily="18" charset="0"/>
                </a:endParaRPr>
              </a:p>
              <a:p>
                <a:r>
                  <a:rPr lang="en-IN" b="1" dirty="0">
                    <a:solidFill>
                      <a:schemeClr val="tx1"/>
                    </a:solidFill>
                    <a:latin typeface="Times New Roman" panose="02020603050405020304" pitchFamily="18" charset="0"/>
                    <a:cs typeface="Times New Roman" panose="02020603050405020304" pitchFamily="18" charset="0"/>
                  </a:rPr>
                  <a:t>Misclassification rate=</a:t>
                </a:r>
                <a14:m>
                  <m:oMath xmlns:m="http://schemas.openxmlformats.org/officeDocument/2006/math">
                    <m:f>
                      <m:fPr>
                        <m:ctrlPr>
                          <a:rPr lang="en-IN" b="1" i="1" smtClean="0">
                            <a:solidFill>
                              <a:schemeClr val="tx1"/>
                            </a:solidFill>
                            <a:latin typeface="Cambria Math" panose="02040503050406030204" pitchFamily="18" charset="0"/>
                            <a:cs typeface="Times New Roman" panose="02020603050405020304" pitchFamily="18" charset="0"/>
                          </a:rPr>
                        </m:ctrlPr>
                      </m:fPr>
                      <m:num>
                        <m:r>
                          <a:rPr lang="en-US" b="1" i="1" smtClean="0">
                            <a:solidFill>
                              <a:schemeClr val="tx1"/>
                            </a:solidFill>
                            <a:latin typeface="Cambria Math" panose="02040503050406030204" pitchFamily="18" charset="0"/>
                            <a:cs typeface="Times New Roman" panose="02020603050405020304" pitchFamily="18" charset="0"/>
                          </a:rPr>
                          <m:t>𝑭𝑷</m:t>
                        </m:r>
                        <m:r>
                          <a:rPr lang="en-US" b="1" i="1" smtClean="0">
                            <a:solidFill>
                              <a:schemeClr val="tx1"/>
                            </a:solidFill>
                            <a:latin typeface="Cambria Math" panose="02040503050406030204" pitchFamily="18" charset="0"/>
                            <a:cs typeface="Times New Roman" panose="02020603050405020304" pitchFamily="18" charset="0"/>
                          </a:rPr>
                          <m:t>+</m:t>
                        </m:r>
                        <m:r>
                          <a:rPr lang="en-US" b="1" i="1" smtClean="0">
                            <a:solidFill>
                              <a:schemeClr val="tx1"/>
                            </a:solidFill>
                            <a:latin typeface="Cambria Math" panose="02040503050406030204" pitchFamily="18" charset="0"/>
                            <a:cs typeface="Times New Roman" panose="02020603050405020304" pitchFamily="18" charset="0"/>
                          </a:rPr>
                          <m:t>𝑭𝑵</m:t>
                        </m:r>
                      </m:num>
                      <m:den>
                        <m:r>
                          <a:rPr lang="en-US" b="1" i="1" smtClean="0">
                            <a:solidFill>
                              <a:schemeClr val="tx1"/>
                            </a:solidFill>
                            <a:latin typeface="Cambria Math" panose="02040503050406030204" pitchFamily="18" charset="0"/>
                            <a:cs typeface="Times New Roman" panose="02020603050405020304" pitchFamily="18" charset="0"/>
                          </a:rPr>
                          <m:t>𝑻𝑷</m:t>
                        </m:r>
                        <m:r>
                          <a:rPr lang="en-US" b="1" i="1" smtClean="0">
                            <a:solidFill>
                              <a:schemeClr val="tx1"/>
                            </a:solidFill>
                            <a:latin typeface="Cambria Math" panose="02040503050406030204" pitchFamily="18" charset="0"/>
                            <a:cs typeface="Times New Roman" panose="02020603050405020304" pitchFamily="18" charset="0"/>
                          </a:rPr>
                          <m:t>+</m:t>
                        </m:r>
                        <m:r>
                          <a:rPr lang="en-US" b="1" i="1" smtClean="0">
                            <a:solidFill>
                              <a:schemeClr val="tx1"/>
                            </a:solidFill>
                            <a:latin typeface="Cambria Math" panose="02040503050406030204" pitchFamily="18" charset="0"/>
                            <a:cs typeface="Times New Roman" panose="02020603050405020304" pitchFamily="18" charset="0"/>
                          </a:rPr>
                          <m:t>𝑻𝑵</m:t>
                        </m:r>
                        <m:r>
                          <a:rPr lang="en-US" b="1" i="1" smtClean="0">
                            <a:solidFill>
                              <a:schemeClr val="tx1"/>
                            </a:solidFill>
                            <a:latin typeface="Cambria Math" panose="02040503050406030204" pitchFamily="18" charset="0"/>
                            <a:cs typeface="Times New Roman" panose="02020603050405020304" pitchFamily="18" charset="0"/>
                          </a:rPr>
                          <m:t>+</m:t>
                        </m:r>
                        <m:r>
                          <a:rPr lang="en-US" b="1" i="1" smtClean="0">
                            <a:solidFill>
                              <a:schemeClr val="tx1"/>
                            </a:solidFill>
                            <a:latin typeface="Cambria Math" panose="02040503050406030204" pitchFamily="18" charset="0"/>
                            <a:cs typeface="Times New Roman" panose="02020603050405020304" pitchFamily="18" charset="0"/>
                          </a:rPr>
                          <m:t>𝑭𝑷</m:t>
                        </m:r>
                        <m:r>
                          <a:rPr lang="en-US" b="1" i="1" smtClean="0">
                            <a:solidFill>
                              <a:schemeClr val="tx1"/>
                            </a:solidFill>
                            <a:latin typeface="Cambria Math" panose="02040503050406030204" pitchFamily="18" charset="0"/>
                            <a:cs typeface="Times New Roman" panose="02020603050405020304" pitchFamily="18" charset="0"/>
                          </a:rPr>
                          <m:t>+</m:t>
                        </m:r>
                        <m:r>
                          <a:rPr lang="en-US" b="1" i="1" smtClean="0">
                            <a:solidFill>
                              <a:schemeClr val="tx1"/>
                            </a:solidFill>
                            <a:latin typeface="Cambria Math" panose="02040503050406030204" pitchFamily="18" charset="0"/>
                            <a:cs typeface="Times New Roman" panose="02020603050405020304" pitchFamily="18" charset="0"/>
                          </a:rPr>
                          <m:t>𝑭𝑵</m:t>
                        </m:r>
                      </m:den>
                    </m:f>
                  </m:oMath>
                </a14:m>
                <a:endParaRPr lang="en-IN" b="1" dirty="0">
                  <a:solidFill>
                    <a:schemeClr val="tx1"/>
                  </a:solidFill>
                  <a:latin typeface="Times New Roman" panose="02020603050405020304" pitchFamily="18" charset="0"/>
                  <a:cs typeface="Times New Roman" panose="02020603050405020304" pitchFamily="18" charset="0"/>
                </a:endParaRPr>
              </a:p>
            </p:txBody>
          </p:sp>
        </mc:Choice>
        <mc:Fallback xmlns="">
          <p:sp>
            <p:nvSpPr>
              <p:cNvPr id="3" name="Content Placeholder 2">
                <a:extLst>
                  <a:ext uri="{FF2B5EF4-FFF2-40B4-BE49-F238E27FC236}">
                    <a16:creationId xmlns:a16="http://schemas.microsoft.com/office/drawing/2014/main" id="{1527672E-6FE6-5B9C-513E-C7958A992BEF}"/>
                  </a:ext>
                </a:extLst>
              </p:cNvPr>
              <p:cNvSpPr>
                <a:spLocks noGrp="1" noRot="1" noChangeAspect="1" noMove="1" noResize="1" noEditPoints="1" noAdjustHandles="1" noChangeArrowheads="1" noChangeShapeType="1" noTextEdit="1"/>
              </p:cNvSpPr>
              <p:nvPr>
                <p:ph idx="1"/>
              </p:nvPr>
            </p:nvSpPr>
            <p:spPr>
              <a:blipFill>
                <a:blip r:embed="rId3"/>
                <a:stretch>
                  <a:fillRect l="-1144" t="-2569"/>
                </a:stretch>
              </a:blipFill>
            </p:spPr>
            <p:txBody>
              <a:bodyPr/>
              <a:lstStyle/>
              <a:p>
                <a:r>
                  <a:rPr lang="en-IN">
                    <a:noFill/>
                  </a:rPr>
                  <a:t> </a:t>
                </a:r>
              </a:p>
            </p:txBody>
          </p:sp>
        </mc:Fallback>
      </mc:AlternateContent>
    </p:spTree>
    <p:extLst>
      <p:ext uri="{BB962C8B-B14F-4D97-AF65-F5344CB8AC3E}">
        <p14:creationId xmlns:p14="http://schemas.microsoft.com/office/powerpoint/2010/main" val="368156997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ACA220-EE53-7FFC-2ACB-0D1A452F9FF0}"/>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Numerical</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A44E0CB4-FFB0-6F15-5A69-FCBB32D65358}"/>
              </a:ext>
            </a:extLst>
          </p:cNvPr>
          <p:cNvSpPr>
            <a:spLocks noGrp="1"/>
          </p:cNvSpPr>
          <p:nvPr>
            <p:ph idx="1"/>
          </p:nvPr>
        </p:nvSpPr>
        <p:spPr/>
        <p:txBody>
          <a:bodyPr>
            <a:normAutofit lnSpcReduction="10000"/>
          </a:bodyPr>
          <a:lstStyle/>
          <a:p>
            <a:r>
              <a:rPr lang="en-US" dirty="0">
                <a:latin typeface="Times New Roman" panose="02020603050405020304" pitchFamily="18" charset="0"/>
                <a:cs typeface="Times New Roman" panose="02020603050405020304" pitchFamily="18" charset="0"/>
              </a:rPr>
              <a:t>Confusion matrix of a model applied to a set of 200 observations is given in table below</a:t>
            </a: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Calculate success rate and misclassification rate</a:t>
            </a:r>
            <a:endParaRPr lang="en-IN" dirty="0">
              <a:latin typeface="Times New Roman" panose="02020603050405020304" pitchFamily="18" charset="0"/>
              <a:cs typeface="Times New Roman" panose="02020603050405020304" pitchFamily="18" charset="0"/>
            </a:endParaRPr>
          </a:p>
        </p:txBody>
      </p:sp>
      <p:graphicFrame>
        <p:nvGraphicFramePr>
          <p:cNvPr id="4" name="Table 3">
            <a:extLst>
              <a:ext uri="{FF2B5EF4-FFF2-40B4-BE49-F238E27FC236}">
                <a16:creationId xmlns:a16="http://schemas.microsoft.com/office/drawing/2014/main" id="{9963FBCF-C626-5164-0467-FB765D69C40D}"/>
              </a:ext>
            </a:extLst>
          </p:cNvPr>
          <p:cNvGraphicFramePr>
            <a:graphicFrameLocks noGrp="1"/>
          </p:cNvGraphicFramePr>
          <p:nvPr>
            <p:extLst>
              <p:ext uri="{D42A27DB-BD31-4B8C-83A1-F6EECF244321}">
                <p14:modId xmlns:p14="http://schemas.microsoft.com/office/powerpoint/2010/main" val="142892079"/>
              </p:ext>
            </p:extLst>
          </p:nvPr>
        </p:nvGraphicFramePr>
        <p:xfrm>
          <a:off x="2031999" y="3571648"/>
          <a:ext cx="5887884" cy="1487046"/>
        </p:xfrm>
        <a:graphic>
          <a:graphicData uri="http://schemas.openxmlformats.org/drawingml/2006/table">
            <a:tbl>
              <a:tblPr firstRow="1" bandRow="1">
                <a:tableStyleId>{5C22544A-7EE6-4342-B048-85BDC9FD1C3A}</a:tableStyleId>
              </a:tblPr>
              <a:tblGrid>
                <a:gridCol w="1962628">
                  <a:extLst>
                    <a:ext uri="{9D8B030D-6E8A-4147-A177-3AD203B41FA5}">
                      <a16:colId xmlns:a16="http://schemas.microsoft.com/office/drawing/2014/main" val="2145176239"/>
                    </a:ext>
                  </a:extLst>
                </a:gridCol>
                <a:gridCol w="1962628">
                  <a:extLst>
                    <a:ext uri="{9D8B030D-6E8A-4147-A177-3AD203B41FA5}">
                      <a16:colId xmlns:a16="http://schemas.microsoft.com/office/drawing/2014/main" val="325340899"/>
                    </a:ext>
                  </a:extLst>
                </a:gridCol>
                <a:gridCol w="1962628">
                  <a:extLst>
                    <a:ext uri="{9D8B030D-6E8A-4147-A177-3AD203B41FA5}">
                      <a16:colId xmlns:a16="http://schemas.microsoft.com/office/drawing/2014/main" val="2674053294"/>
                    </a:ext>
                  </a:extLst>
                </a:gridCol>
              </a:tblGrid>
              <a:tr h="495682">
                <a:tc>
                  <a:txBody>
                    <a:bodyPr/>
                    <a:lstStyle/>
                    <a:p>
                      <a:endParaRPr lang="en-IN">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Predicted +1</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Predicted -1</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642743124"/>
                  </a:ext>
                </a:extLst>
              </a:tr>
              <a:tr h="495682">
                <a:tc>
                  <a:txBody>
                    <a:bodyPr/>
                    <a:lstStyle/>
                    <a:p>
                      <a:r>
                        <a:rPr lang="en-US" dirty="0">
                          <a:latin typeface="Times New Roman" panose="02020603050405020304" pitchFamily="18" charset="0"/>
                          <a:cs typeface="Times New Roman" panose="02020603050405020304" pitchFamily="18" charset="0"/>
                        </a:rPr>
                        <a:t>Actual +1</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95</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7</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818380699"/>
                  </a:ext>
                </a:extLst>
              </a:tr>
              <a:tr h="495682">
                <a:tc>
                  <a:txBody>
                    <a:bodyPr/>
                    <a:lstStyle/>
                    <a:p>
                      <a:r>
                        <a:rPr lang="en-US" dirty="0">
                          <a:latin typeface="Times New Roman" panose="02020603050405020304" pitchFamily="18" charset="0"/>
                          <a:cs typeface="Times New Roman" panose="02020603050405020304" pitchFamily="18" charset="0"/>
                        </a:rPr>
                        <a:t>Actual -1</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4</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94</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119728559"/>
                  </a:ext>
                </a:extLst>
              </a:tr>
            </a:tbl>
          </a:graphicData>
        </a:graphic>
      </p:graphicFrame>
    </p:spTree>
    <p:extLst>
      <p:ext uri="{BB962C8B-B14F-4D97-AF65-F5344CB8AC3E}">
        <p14:creationId xmlns:p14="http://schemas.microsoft.com/office/powerpoint/2010/main" val="202282943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57BD99-667B-248A-2B2F-EBF47A05CF3C}"/>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9DC3E909-E675-DDDA-0C21-BA076C5A9F59}"/>
              </a:ext>
            </a:extLst>
          </p:cNvPr>
          <p:cNvSpPr>
            <a:spLocks noGrp="1"/>
          </p:cNvSpPr>
          <p:nvPr>
            <p:ph idx="1"/>
          </p:nvPr>
        </p:nvSpPr>
        <p:spPr/>
        <p:txBody>
          <a:bodyPr/>
          <a:lstStyle/>
          <a:p>
            <a:r>
              <a:rPr lang="en-US" dirty="0">
                <a:solidFill>
                  <a:schemeClr val="tx1"/>
                </a:solidFill>
                <a:latin typeface="Times New Roman" panose="02020603050405020304" pitchFamily="18" charset="0"/>
                <a:cs typeface="Times New Roman" panose="02020603050405020304" pitchFamily="18" charset="0"/>
              </a:rPr>
              <a:t>Consider a confusion matrix given below for a binary classifier predicting presence of disease.  Classifier made total of 150 predictions. Out of those 150 cases , classifier predicted “Yes”= 100 times and “No” 50 times. Calculate accuracy and misclassification rate </a:t>
            </a:r>
            <a:endParaRPr lang="en-IN" dirty="0">
              <a:solidFill>
                <a:schemeClr val="tx1"/>
              </a:solidFill>
              <a:latin typeface="Times New Roman" panose="02020603050405020304" pitchFamily="18" charset="0"/>
              <a:cs typeface="Times New Roman" panose="02020603050405020304" pitchFamily="18" charset="0"/>
            </a:endParaRPr>
          </a:p>
        </p:txBody>
      </p:sp>
      <p:graphicFrame>
        <p:nvGraphicFramePr>
          <p:cNvPr id="4" name="Table 3">
            <a:extLst>
              <a:ext uri="{FF2B5EF4-FFF2-40B4-BE49-F238E27FC236}">
                <a16:creationId xmlns:a16="http://schemas.microsoft.com/office/drawing/2014/main" id="{46E1A2B4-1D54-C81B-6186-16C2B25DC942}"/>
              </a:ext>
            </a:extLst>
          </p:cNvPr>
          <p:cNvGraphicFramePr>
            <a:graphicFrameLocks noGrp="1"/>
          </p:cNvGraphicFramePr>
          <p:nvPr>
            <p:extLst>
              <p:ext uri="{D42A27DB-BD31-4B8C-83A1-F6EECF244321}">
                <p14:modId xmlns:p14="http://schemas.microsoft.com/office/powerpoint/2010/main" val="4155857035"/>
              </p:ext>
            </p:extLst>
          </p:nvPr>
        </p:nvGraphicFramePr>
        <p:xfrm>
          <a:off x="1796027" y="4185537"/>
          <a:ext cx="6566310" cy="1813779"/>
        </p:xfrm>
        <a:graphic>
          <a:graphicData uri="http://schemas.openxmlformats.org/drawingml/2006/table">
            <a:tbl>
              <a:tblPr firstRow="1" bandRow="1">
                <a:tableStyleId>{5C22544A-7EE6-4342-B048-85BDC9FD1C3A}</a:tableStyleId>
              </a:tblPr>
              <a:tblGrid>
                <a:gridCol w="2188770">
                  <a:extLst>
                    <a:ext uri="{9D8B030D-6E8A-4147-A177-3AD203B41FA5}">
                      <a16:colId xmlns:a16="http://schemas.microsoft.com/office/drawing/2014/main" val="3484534154"/>
                    </a:ext>
                  </a:extLst>
                </a:gridCol>
                <a:gridCol w="2188770">
                  <a:extLst>
                    <a:ext uri="{9D8B030D-6E8A-4147-A177-3AD203B41FA5}">
                      <a16:colId xmlns:a16="http://schemas.microsoft.com/office/drawing/2014/main" val="3469462222"/>
                    </a:ext>
                  </a:extLst>
                </a:gridCol>
                <a:gridCol w="2188770">
                  <a:extLst>
                    <a:ext uri="{9D8B030D-6E8A-4147-A177-3AD203B41FA5}">
                      <a16:colId xmlns:a16="http://schemas.microsoft.com/office/drawing/2014/main" val="1892617258"/>
                    </a:ext>
                  </a:extLst>
                </a:gridCol>
              </a:tblGrid>
              <a:tr h="604593">
                <a:tc>
                  <a:txBody>
                    <a:bodyPr/>
                    <a:lstStyle/>
                    <a:p>
                      <a:endParaRPr lang="en-IN" sz="2000" dirty="0">
                        <a:latin typeface="Times New Roman" panose="02020603050405020304" pitchFamily="18" charset="0"/>
                        <a:cs typeface="Times New Roman" panose="02020603050405020304" pitchFamily="18" charset="0"/>
                      </a:endParaRPr>
                    </a:p>
                  </a:txBody>
                  <a:tcPr/>
                </a:tc>
                <a:tc>
                  <a:txBody>
                    <a:bodyPr/>
                    <a:lstStyle/>
                    <a:p>
                      <a:r>
                        <a:rPr lang="en-US" sz="2000" dirty="0">
                          <a:latin typeface="Times New Roman" panose="02020603050405020304" pitchFamily="18" charset="0"/>
                          <a:cs typeface="Times New Roman" panose="02020603050405020304" pitchFamily="18" charset="0"/>
                        </a:rPr>
                        <a:t>Predicted NO</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US" sz="2000" dirty="0">
                          <a:latin typeface="Times New Roman" panose="02020603050405020304" pitchFamily="18" charset="0"/>
                          <a:cs typeface="Times New Roman" panose="02020603050405020304" pitchFamily="18" charset="0"/>
                        </a:rPr>
                        <a:t>Predicted Yes</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766360067"/>
                  </a:ext>
                </a:extLst>
              </a:tr>
              <a:tr h="604593">
                <a:tc>
                  <a:txBody>
                    <a:bodyPr/>
                    <a:lstStyle/>
                    <a:p>
                      <a:r>
                        <a:rPr lang="en-US" sz="2000" dirty="0">
                          <a:latin typeface="Times New Roman" panose="02020603050405020304" pitchFamily="18" charset="0"/>
                          <a:cs typeface="Times New Roman" panose="02020603050405020304" pitchFamily="18" charset="0"/>
                        </a:rPr>
                        <a:t>Actual No</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US" sz="2000" dirty="0">
                          <a:latin typeface="Times New Roman" panose="02020603050405020304" pitchFamily="18" charset="0"/>
                          <a:cs typeface="Times New Roman" panose="02020603050405020304" pitchFamily="18" charset="0"/>
                        </a:rPr>
                        <a:t>45</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US" sz="2000" dirty="0">
                          <a:latin typeface="Times New Roman" panose="02020603050405020304" pitchFamily="18" charset="0"/>
                          <a:cs typeface="Times New Roman" panose="02020603050405020304" pitchFamily="18" charset="0"/>
                        </a:rPr>
                        <a:t>5</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017824756"/>
                  </a:ext>
                </a:extLst>
              </a:tr>
              <a:tr h="604593">
                <a:tc>
                  <a:txBody>
                    <a:bodyPr/>
                    <a:lstStyle/>
                    <a:p>
                      <a:r>
                        <a:rPr lang="en-US" sz="2000" dirty="0">
                          <a:latin typeface="Times New Roman" panose="02020603050405020304" pitchFamily="18" charset="0"/>
                          <a:cs typeface="Times New Roman" panose="02020603050405020304" pitchFamily="18" charset="0"/>
                        </a:rPr>
                        <a:t>Actual Yes</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US" sz="2000" dirty="0">
                          <a:latin typeface="Times New Roman" panose="02020603050405020304" pitchFamily="18" charset="0"/>
                          <a:cs typeface="Times New Roman" panose="02020603050405020304" pitchFamily="18" charset="0"/>
                        </a:rPr>
                        <a:t>5</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US" sz="2000" dirty="0">
                          <a:latin typeface="Times New Roman" panose="02020603050405020304" pitchFamily="18" charset="0"/>
                          <a:cs typeface="Times New Roman" panose="02020603050405020304" pitchFamily="18" charset="0"/>
                        </a:rPr>
                        <a:t>95</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199133028"/>
                  </a:ext>
                </a:extLst>
              </a:tr>
            </a:tbl>
          </a:graphicData>
        </a:graphic>
      </p:graphicFrame>
    </p:spTree>
    <p:extLst>
      <p:ext uri="{BB962C8B-B14F-4D97-AF65-F5344CB8AC3E}">
        <p14:creationId xmlns:p14="http://schemas.microsoft.com/office/powerpoint/2010/main" val="604210710"/>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Organic</Template>
  <TotalTime>302</TotalTime>
  <Words>1022</Words>
  <Application>Microsoft Office PowerPoint</Application>
  <PresentationFormat>Widescreen</PresentationFormat>
  <Paragraphs>166</Paragraphs>
  <Slides>16</Slides>
  <Notes>7</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16</vt:i4>
      </vt:variant>
    </vt:vector>
  </HeadingPairs>
  <TitlesOfParts>
    <vt:vector size="23" baseType="lpstr">
      <vt:lpstr>Arial</vt:lpstr>
      <vt:lpstr>Calibri</vt:lpstr>
      <vt:lpstr>Cambria Math</vt:lpstr>
      <vt:lpstr>Garamond</vt:lpstr>
      <vt:lpstr>Times New Roman</vt:lpstr>
      <vt:lpstr>Wingdings</vt:lpstr>
      <vt:lpstr>Organic</vt:lpstr>
      <vt:lpstr>Metrics for assessing regression accuracy</vt:lpstr>
      <vt:lpstr>Content</vt:lpstr>
      <vt:lpstr>Metrics for assessing regression accuracy</vt:lpstr>
      <vt:lpstr>Metrics</vt:lpstr>
      <vt:lpstr>Mean absolute Error</vt:lpstr>
      <vt:lpstr>PowerPoint Presentation</vt:lpstr>
      <vt:lpstr>PowerPoint Presentation</vt:lpstr>
      <vt:lpstr>PowerPoint Presentation</vt:lpstr>
      <vt:lpstr>PowerPoint Presentation</vt:lpstr>
      <vt:lpstr>Metrics for assessing classification accuracy</vt:lpstr>
      <vt:lpstr>Confusion Matrix</vt:lpstr>
      <vt:lpstr>Sensitivity</vt:lpstr>
      <vt:lpstr>Specificity</vt:lpstr>
      <vt:lpstr>Misclassification error</vt:lpstr>
      <vt:lpstr>Numerical</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Dell</dc:creator>
  <cp:lastModifiedBy>Shrikrishna Narvekar</cp:lastModifiedBy>
  <cp:revision>6</cp:revision>
  <dcterms:created xsi:type="dcterms:W3CDTF">2026-02-15T09:35:28Z</dcterms:created>
  <dcterms:modified xsi:type="dcterms:W3CDTF">2026-02-17T05:39:14Z</dcterms:modified>
</cp:coreProperties>
</file>