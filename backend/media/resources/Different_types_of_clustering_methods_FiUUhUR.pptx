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5D376F-6B6B-4CCD-95ED-D93BD35CF0E1}"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1F1C8-E2F7-47DD-9EA9-249E6C31EEC8}" type="slidenum">
              <a:rPr lang="en-IN" smtClean="0"/>
              <a:t>‹#›</a:t>
            </a:fld>
            <a:endParaRPr lang="en-IN"/>
          </a:p>
        </p:txBody>
      </p:sp>
    </p:spTree>
    <p:extLst>
      <p:ext uri="{BB962C8B-B14F-4D97-AF65-F5344CB8AC3E}">
        <p14:creationId xmlns:p14="http://schemas.microsoft.com/office/powerpoint/2010/main" val="413816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means that point (1,3) belongs to cluster 1 with the probability of 0.8 and belongs to cluster 2 with probability of 0.2. If we add the probability of a point belonging to cluster 1 and cluster 2 then it should give value of 1 i.e. 0.8+0.2=1.0</a:t>
            </a:r>
            <a:endParaRPr lang="en-IN" dirty="0"/>
          </a:p>
        </p:txBody>
      </p:sp>
      <p:sp>
        <p:nvSpPr>
          <p:cNvPr id="4" name="Slide Number Placeholder 3"/>
          <p:cNvSpPr>
            <a:spLocks noGrp="1"/>
          </p:cNvSpPr>
          <p:nvPr>
            <p:ph type="sldNum" sz="quarter" idx="5"/>
          </p:nvPr>
        </p:nvSpPr>
        <p:spPr/>
        <p:txBody>
          <a:bodyPr/>
          <a:lstStyle/>
          <a:p>
            <a:fld id="{20A1F1C8-E2F7-47DD-9EA9-249E6C31EEC8}" type="slidenum">
              <a:rPr lang="en-IN" smtClean="0"/>
              <a:t>12</a:t>
            </a:fld>
            <a:endParaRPr lang="en-IN"/>
          </a:p>
        </p:txBody>
      </p:sp>
    </p:spTree>
    <p:extLst>
      <p:ext uri="{BB962C8B-B14F-4D97-AF65-F5344CB8AC3E}">
        <p14:creationId xmlns:p14="http://schemas.microsoft.com/office/powerpoint/2010/main" val="364773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A1F1C8-E2F7-47DD-9EA9-249E6C31EEC8}" type="slidenum">
              <a:rPr lang="en-IN" smtClean="0"/>
              <a:t>15</a:t>
            </a:fld>
            <a:endParaRPr lang="en-IN"/>
          </a:p>
        </p:txBody>
      </p:sp>
    </p:spTree>
    <p:extLst>
      <p:ext uri="{BB962C8B-B14F-4D97-AF65-F5344CB8AC3E}">
        <p14:creationId xmlns:p14="http://schemas.microsoft.com/office/powerpoint/2010/main" val="40696729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30884FE6-9FC8-4F62-BDEB-982E0EE6BA2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8779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2636684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8394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9140B6-AE2D-4F37-9C39-9801410EF97D}"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2091251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9140B6-AE2D-4F37-9C39-9801410EF97D}" type="datetimeFigureOut">
              <a:rPr lang="en-IN" smtClean="0"/>
              <a:t>19-04-2026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884FE6-9FC8-4F62-BDEB-982E0EE6BA2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2441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9140B6-AE2D-4F37-9C39-9801410EF97D}" type="datetimeFigureOut">
              <a:rPr lang="en-IN" smtClean="0"/>
              <a:t>19-04-2026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884FE6-9FC8-4F62-BDEB-982E0EE6BA2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660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9140B6-AE2D-4F37-9C39-9801410EF97D}" type="datetimeFigureOut">
              <a:rPr lang="en-IN" smtClean="0"/>
              <a:t>19-04-2026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3073219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140B6-AE2D-4F37-9C39-9801410EF97D}"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84FE6-9FC8-4F62-BDEB-982E0EE6BA2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5179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140B6-AE2D-4F37-9C39-9801410EF97D}"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181943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140B6-AE2D-4F37-9C39-9801410EF97D}"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389097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1672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0091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spTree>
    <p:extLst>
      <p:ext uri="{BB962C8B-B14F-4D97-AF65-F5344CB8AC3E}">
        <p14:creationId xmlns:p14="http://schemas.microsoft.com/office/powerpoint/2010/main" val="395754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3274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4198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9625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140B6-AE2D-4F37-9C39-9801410EF97D}"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84FE6-9FC8-4F62-BDEB-982E0EE6BA2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01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9140B6-AE2D-4F37-9C39-9801410EF97D}" type="datetimeFigureOut">
              <a:rPr lang="en-IN" smtClean="0"/>
              <a:t>19-04-2026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884FE6-9FC8-4F62-BDEB-982E0EE6BA20}" type="slidenum">
              <a:rPr lang="en-IN" smtClean="0"/>
              <a:t>‹#›</a:t>
            </a:fld>
            <a:endParaRPr lang="en-IN"/>
          </a:p>
        </p:txBody>
      </p:sp>
    </p:spTree>
    <p:extLst>
      <p:ext uri="{BB962C8B-B14F-4D97-AF65-F5344CB8AC3E}">
        <p14:creationId xmlns:p14="http://schemas.microsoft.com/office/powerpoint/2010/main" val="3313712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A38BD-C798-A247-2D4E-CF447E872B63}"/>
              </a:ext>
            </a:extLst>
          </p:cNvPr>
          <p:cNvSpPr>
            <a:spLocks noGrp="1"/>
          </p:cNvSpPr>
          <p:nvPr>
            <p:ph type="ctrTitle"/>
          </p:nvPr>
        </p:nvSpPr>
        <p:spPr/>
        <p:txBody>
          <a:bodyPr/>
          <a:lstStyle/>
          <a:p>
            <a:r>
              <a:rPr lang="en-US" sz="4800" b="1" dirty="0">
                <a:latin typeface="Times New Roman" panose="02020603050405020304" pitchFamily="18" charset="0"/>
                <a:cs typeface="Times New Roman" panose="02020603050405020304" pitchFamily="18" charset="0"/>
              </a:rPr>
              <a:t>Different types of clustering methods</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0E55F38-34B6-DBCB-8FA3-ABC4D8A49E64}"/>
              </a:ext>
            </a:extLst>
          </p:cNvPr>
          <p:cNvSpPr>
            <a:spLocks noGrp="1"/>
          </p:cNvSpPr>
          <p:nvPr>
            <p:ph type="subTitle" idx="1"/>
          </p:nvPr>
        </p:nvSpPr>
        <p:spPr>
          <a:xfrm>
            <a:off x="2692398" y="3657596"/>
            <a:ext cx="7048761" cy="1763489"/>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Mr. Shrikrishna Anand Narvekar</a:t>
            </a:r>
          </a:p>
          <a:p>
            <a:r>
              <a:rPr lang="en-US" sz="2400" dirty="0">
                <a:latin typeface="Times New Roman" panose="02020603050405020304" pitchFamily="18" charset="0"/>
                <a:cs typeface="Times New Roman" panose="02020603050405020304" pitchFamily="18" charset="0"/>
              </a:rPr>
              <a:t>Assistant Professor</a:t>
            </a:r>
          </a:p>
          <a:p>
            <a:r>
              <a:rPr lang="en-US" sz="2400" dirty="0">
                <a:latin typeface="Times New Roman" panose="02020603050405020304" pitchFamily="18" charset="0"/>
                <a:cs typeface="Times New Roman" panose="02020603050405020304" pitchFamily="18" charset="0"/>
              </a:rPr>
              <a:t>Department of Computer Engineering</a:t>
            </a:r>
          </a:p>
          <a:p>
            <a:r>
              <a:rPr lang="en-IN" sz="2400" dirty="0">
                <a:latin typeface="Times New Roman" panose="02020603050405020304" pitchFamily="18" charset="0"/>
                <a:cs typeface="Times New Roman" panose="02020603050405020304" pitchFamily="18" charset="0"/>
              </a:rPr>
              <a:t>Agnel Institute of Technology and Design</a:t>
            </a:r>
          </a:p>
        </p:txBody>
      </p:sp>
    </p:spTree>
    <p:extLst>
      <p:ext uri="{BB962C8B-B14F-4D97-AF65-F5344CB8AC3E}">
        <p14:creationId xmlns:p14="http://schemas.microsoft.com/office/powerpoint/2010/main" val="99469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7EAF-6075-48F3-2022-6C0F4CEDF68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clustering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B900EB-3899-06CC-2D9B-3E03734AD6F3}"/>
              </a:ext>
            </a:extLst>
          </p:cNvPr>
          <p:cNvSpPr>
            <a:spLocks noGrp="1"/>
          </p:cNvSpPr>
          <p:nvPr>
            <p:ph idx="1"/>
          </p:nvPr>
        </p:nvSpPr>
        <p:spPr>
          <a:xfrm>
            <a:off x="1071466" y="2612915"/>
            <a:ext cx="7736632" cy="3759893"/>
          </a:xfrm>
        </p:spPr>
        <p:txBody>
          <a:bodyPr>
            <a:normAutofit fontScale="92500" lnSpcReduction="20000"/>
          </a:bodyPr>
          <a:lstStyle/>
          <a:p>
            <a:r>
              <a:rPr lang="en-IN" b="1" dirty="0">
                <a:solidFill>
                  <a:srgbClr val="FF0000"/>
                </a:solidFill>
                <a:latin typeface="Times New Roman" panose="02020603050405020304" pitchFamily="18" charset="0"/>
                <a:cs typeface="Times New Roman" panose="02020603050405020304" pitchFamily="18" charset="0"/>
              </a:rPr>
              <a:t>Partitioning Methods</a:t>
            </a:r>
          </a:p>
          <a:p>
            <a:r>
              <a:rPr lang="en-US" dirty="0">
                <a:latin typeface="Times New Roman" panose="02020603050405020304" pitchFamily="18" charset="0"/>
                <a:cs typeface="Times New Roman" panose="02020603050405020304" pitchFamily="18" charset="0"/>
              </a:rPr>
              <a:t>It is a type of clustering that </a:t>
            </a:r>
            <a:r>
              <a:rPr lang="en-US" b="1" dirty="0">
                <a:solidFill>
                  <a:srgbClr val="FF0000"/>
                </a:solidFill>
                <a:latin typeface="Times New Roman" panose="02020603050405020304" pitchFamily="18" charset="0"/>
                <a:cs typeface="Times New Roman" panose="02020603050405020304" pitchFamily="18" charset="0"/>
              </a:rPr>
              <a:t>divides the data into non-hierarchical groups. </a:t>
            </a:r>
            <a:r>
              <a:rPr lang="en-US" dirty="0">
                <a:latin typeface="Times New Roman" panose="02020603050405020304" pitchFamily="18" charset="0"/>
                <a:cs typeface="Times New Roman" panose="02020603050405020304" pitchFamily="18" charset="0"/>
              </a:rPr>
              <a:t>It is also known as the </a:t>
            </a:r>
            <a:r>
              <a:rPr lang="en-US" b="1" dirty="0">
                <a:solidFill>
                  <a:srgbClr val="FF0000"/>
                </a:solidFill>
                <a:latin typeface="Times New Roman" panose="02020603050405020304" pitchFamily="18" charset="0"/>
                <a:cs typeface="Times New Roman" panose="02020603050405020304" pitchFamily="18" charset="0"/>
              </a:rPr>
              <a:t>centroid-based method.</a:t>
            </a:r>
          </a:p>
          <a:p>
            <a:r>
              <a:rPr lang="en-US" dirty="0">
                <a:latin typeface="Times New Roman" panose="02020603050405020304" pitchFamily="18" charset="0"/>
                <a:cs typeface="Times New Roman" panose="02020603050405020304" pitchFamily="18" charset="0"/>
              </a:rPr>
              <a:t>Given a dataset of ‘n’ objects, a partitioning method assembles k partitions of the information, where each partition defines a cluster. ‘k’ &lt; ‘n’. • Each group must include a minimum of one object. • Each object should apply to accurately one group</a:t>
            </a:r>
          </a:p>
          <a:p>
            <a:r>
              <a:rPr lang="en-US" dirty="0">
                <a:latin typeface="Times New Roman" panose="02020603050405020304" pitchFamily="18" charset="0"/>
                <a:cs typeface="Times New Roman" panose="02020603050405020304" pitchFamily="18" charset="0"/>
              </a:rPr>
              <a:t>The general criterion of good partitioning is that objects in the same cluster are “close” or associated with each other, whereas objects of different clusters are “far apart” or very different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8498EB-9757-AB9E-F5C9-4C7ADD84B7A6}"/>
              </a:ext>
            </a:extLst>
          </p:cNvPr>
          <p:cNvPicPr>
            <a:picLocks noChangeAspect="1"/>
          </p:cNvPicPr>
          <p:nvPr/>
        </p:nvPicPr>
        <p:blipFill>
          <a:blip r:embed="rId2"/>
          <a:stretch>
            <a:fillRect/>
          </a:stretch>
        </p:blipFill>
        <p:spPr>
          <a:xfrm>
            <a:off x="8910734" y="2464549"/>
            <a:ext cx="2588564" cy="3834076"/>
          </a:xfrm>
          <a:prstGeom prst="rect">
            <a:avLst/>
          </a:prstGeom>
        </p:spPr>
      </p:pic>
    </p:spTree>
    <p:extLst>
      <p:ext uri="{BB962C8B-B14F-4D97-AF65-F5344CB8AC3E}">
        <p14:creationId xmlns:p14="http://schemas.microsoft.com/office/powerpoint/2010/main" val="1533747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6AAB-B88A-4058-4532-A3E11558CC45}"/>
              </a:ext>
            </a:extLst>
          </p:cNvPr>
          <p:cNvSpPr>
            <a:spLocks noGrp="1"/>
          </p:cNvSpPr>
          <p:nvPr>
            <p:ph type="title"/>
          </p:nvPr>
        </p:nvSpPr>
        <p:spPr>
          <a:xfrm>
            <a:off x="1174103" y="709127"/>
            <a:ext cx="9192207" cy="355771"/>
          </a:xfrm>
        </p:spPr>
        <p:txBody>
          <a:bodyPr>
            <a:normAutofit fontScale="90000"/>
          </a:bodyPr>
          <a:lstStyle/>
          <a:p>
            <a:r>
              <a:rPr lang="en-US" b="1" dirty="0">
                <a:latin typeface="Times New Roman" panose="02020603050405020304" pitchFamily="18" charset="0"/>
                <a:cs typeface="Times New Roman" panose="02020603050405020304" pitchFamily="18" charset="0"/>
              </a:rPr>
              <a:t>K-Means clustering Algorithm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B44F8F-5EB4-45B3-D84F-752280168AF3}"/>
              </a:ext>
            </a:extLst>
          </p:cNvPr>
          <p:cNvSpPr>
            <a:spLocks noGrp="1"/>
          </p:cNvSpPr>
          <p:nvPr>
            <p:ph idx="1"/>
          </p:nvPr>
        </p:nvSpPr>
        <p:spPr>
          <a:xfrm>
            <a:off x="821093" y="1278294"/>
            <a:ext cx="10720874" cy="5150498"/>
          </a:xfrm>
        </p:spPr>
        <p:txBody>
          <a:bodyPr>
            <a:normAutofit fontScale="92500" lnSpcReduction="10000"/>
          </a:bodyPr>
          <a:lstStyle/>
          <a:p>
            <a:r>
              <a:rPr lang="en-US" sz="2200" b="1" dirty="0">
                <a:solidFill>
                  <a:schemeClr val="tx1"/>
                </a:solidFill>
                <a:latin typeface="Times New Roman" panose="02020603050405020304" pitchFamily="18" charset="0"/>
                <a:cs typeface="Times New Roman" panose="02020603050405020304" pitchFamily="18" charset="0"/>
              </a:rPr>
              <a:t>Algorithm K-means: </a:t>
            </a:r>
            <a:r>
              <a:rPr lang="en-US" sz="2200" dirty="0">
                <a:solidFill>
                  <a:schemeClr val="tx1"/>
                </a:solidFill>
                <a:latin typeface="Times New Roman" panose="02020603050405020304" pitchFamily="18" charset="0"/>
                <a:cs typeface="Times New Roman" panose="02020603050405020304" pitchFamily="18" charset="0"/>
              </a:rPr>
              <a:t>The K-means algorithm for partitioning, where each clusters centre is represented by means value of objects in the cluster.</a:t>
            </a:r>
          </a:p>
          <a:p>
            <a:r>
              <a:rPr lang="en-US" sz="2200" b="1" dirty="0">
                <a:solidFill>
                  <a:schemeClr val="tx1"/>
                </a:solidFill>
                <a:latin typeface="Times New Roman" panose="02020603050405020304" pitchFamily="18" charset="0"/>
                <a:cs typeface="Times New Roman" panose="02020603050405020304" pitchFamily="18" charset="0"/>
              </a:rPr>
              <a:t>Input:</a:t>
            </a:r>
          </a:p>
          <a:p>
            <a:pPr>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K: the number of clusters</a:t>
            </a:r>
          </a:p>
          <a:p>
            <a:pPr>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D: a data containing n  objects </a:t>
            </a:r>
          </a:p>
          <a:p>
            <a:r>
              <a:rPr lang="en-US" sz="2200" b="1" dirty="0">
                <a:solidFill>
                  <a:schemeClr val="tx1"/>
                </a:solidFill>
                <a:latin typeface="Times New Roman" panose="02020603050405020304" pitchFamily="18" charset="0"/>
                <a:cs typeface="Times New Roman" panose="02020603050405020304" pitchFamily="18" charset="0"/>
              </a:rPr>
              <a:t>Output:</a:t>
            </a:r>
            <a:r>
              <a:rPr lang="en-US" sz="2200" dirty="0">
                <a:solidFill>
                  <a:schemeClr val="tx1"/>
                </a:solidFill>
                <a:latin typeface="Times New Roman" panose="02020603050405020304" pitchFamily="18" charset="0"/>
                <a:cs typeface="Times New Roman" panose="02020603050405020304" pitchFamily="18" charset="0"/>
              </a:rPr>
              <a:t> A set of k clusters.</a:t>
            </a:r>
          </a:p>
          <a:p>
            <a:r>
              <a:rPr lang="en-US" sz="2200" b="1" dirty="0">
                <a:solidFill>
                  <a:schemeClr val="tx1"/>
                </a:solidFill>
                <a:latin typeface="Times New Roman" panose="02020603050405020304" pitchFamily="18" charset="0"/>
                <a:cs typeface="Times New Roman" panose="02020603050405020304" pitchFamily="18" charset="0"/>
              </a:rPr>
              <a:t>Method:</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choose k instances randomly from objects from D as initial cluster centers.</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Compute mean of initial clusters and assign the remaining sample to the closet cluster based on Euclidean distance between the instances and centroid of the clusters.</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Compute new centroids again considering the newly added samples.</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Repeat steps 2-3 till the algorithm becomes stable with no more changes in assignments of instances and clusters.</a:t>
            </a:r>
          </a:p>
        </p:txBody>
      </p:sp>
    </p:spTree>
    <p:extLst>
      <p:ext uri="{BB962C8B-B14F-4D97-AF65-F5344CB8AC3E}">
        <p14:creationId xmlns:p14="http://schemas.microsoft.com/office/powerpoint/2010/main" val="397978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D1F54-E0F5-06F5-5BFF-B21A56BD3633}"/>
              </a:ext>
            </a:extLst>
          </p:cNvPr>
          <p:cNvSpPr>
            <a:spLocks noGrp="1"/>
          </p:cNvSpPr>
          <p:nvPr>
            <p:ph idx="1"/>
          </p:nvPr>
        </p:nvSpPr>
        <p:spPr>
          <a:xfrm>
            <a:off x="886408" y="746449"/>
            <a:ext cx="10375641" cy="5514392"/>
          </a:xfrm>
        </p:spPr>
        <p:txBody>
          <a:bodyPr/>
          <a:lstStyle/>
          <a:p>
            <a:r>
              <a:rPr lang="en-US" dirty="0">
                <a:solidFill>
                  <a:schemeClr val="tx1"/>
                </a:solidFill>
                <a:latin typeface="Times New Roman" panose="02020603050405020304" pitchFamily="18" charset="0"/>
                <a:cs typeface="Times New Roman" panose="02020603050405020304" pitchFamily="18" charset="0"/>
              </a:rPr>
              <a:t>Consider the dataset of 08 objects and perform cluster analysis using K-means algorithm </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08A0398-7668-6FEC-B0DE-71938A8E5FD0}"/>
              </a:ext>
            </a:extLst>
          </p:cNvPr>
          <p:cNvPicPr>
            <a:picLocks noChangeAspect="1"/>
          </p:cNvPicPr>
          <p:nvPr/>
        </p:nvPicPr>
        <p:blipFill>
          <a:blip r:embed="rId2"/>
          <a:stretch>
            <a:fillRect/>
          </a:stretch>
        </p:blipFill>
        <p:spPr>
          <a:xfrm>
            <a:off x="587828" y="1767390"/>
            <a:ext cx="10944809" cy="4685489"/>
          </a:xfrm>
          <a:prstGeom prst="rect">
            <a:avLst/>
          </a:prstGeom>
        </p:spPr>
      </p:pic>
    </p:spTree>
    <p:extLst>
      <p:ext uri="{BB962C8B-B14F-4D97-AF65-F5344CB8AC3E}">
        <p14:creationId xmlns:p14="http://schemas.microsoft.com/office/powerpoint/2010/main" val="250329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7E1B48-3C03-B363-856D-2887AF246271}"/>
              </a:ext>
            </a:extLst>
          </p:cNvPr>
          <p:cNvPicPr>
            <a:picLocks noChangeAspect="1"/>
          </p:cNvPicPr>
          <p:nvPr/>
        </p:nvPicPr>
        <p:blipFill>
          <a:blip r:embed="rId2"/>
          <a:stretch>
            <a:fillRect/>
          </a:stretch>
        </p:blipFill>
        <p:spPr>
          <a:xfrm>
            <a:off x="683390" y="787653"/>
            <a:ext cx="10825219" cy="5109294"/>
          </a:xfrm>
          <a:prstGeom prst="rect">
            <a:avLst/>
          </a:prstGeom>
        </p:spPr>
      </p:pic>
    </p:spTree>
    <p:extLst>
      <p:ext uri="{BB962C8B-B14F-4D97-AF65-F5344CB8AC3E}">
        <p14:creationId xmlns:p14="http://schemas.microsoft.com/office/powerpoint/2010/main" val="1560326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7E80F7-8667-3CBA-534A-3BD1E95E1E5B}"/>
              </a:ext>
            </a:extLst>
          </p:cNvPr>
          <p:cNvPicPr>
            <a:picLocks noChangeAspect="1"/>
          </p:cNvPicPr>
          <p:nvPr/>
        </p:nvPicPr>
        <p:blipFill>
          <a:blip r:embed="rId2"/>
          <a:stretch>
            <a:fillRect/>
          </a:stretch>
        </p:blipFill>
        <p:spPr>
          <a:xfrm>
            <a:off x="623972" y="1138335"/>
            <a:ext cx="10944055" cy="4226768"/>
          </a:xfrm>
          <a:prstGeom prst="rect">
            <a:avLst/>
          </a:prstGeom>
        </p:spPr>
      </p:pic>
    </p:spTree>
    <p:extLst>
      <p:ext uri="{BB962C8B-B14F-4D97-AF65-F5344CB8AC3E}">
        <p14:creationId xmlns:p14="http://schemas.microsoft.com/office/powerpoint/2010/main" val="318096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B935A7-3D0A-AA90-20F0-24D1DF83F31D}"/>
              </a:ext>
            </a:extLst>
          </p:cNvPr>
          <p:cNvPicPr>
            <a:picLocks noChangeAspect="1"/>
          </p:cNvPicPr>
          <p:nvPr/>
        </p:nvPicPr>
        <p:blipFill>
          <a:blip r:embed="rId2"/>
          <a:stretch>
            <a:fillRect/>
          </a:stretch>
        </p:blipFill>
        <p:spPr>
          <a:xfrm>
            <a:off x="0" y="26276"/>
            <a:ext cx="12192000" cy="6805448"/>
          </a:xfrm>
          <a:prstGeom prst="rect">
            <a:avLst/>
          </a:prstGeom>
        </p:spPr>
      </p:pic>
    </p:spTree>
    <p:extLst>
      <p:ext uri="{BB962C8B-B14F-4D97-AF65-F5344CB8AC3E}">
        <p14:creationId xmlns:p14="http://schemas.microsoft.com/office/powerpoint/2010/main" val="78898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38C2E2-85A2-CDD4-2A9F-794BDD12C329}"/>
              </a:ext>
            </a:extLst>
          </p:cNvPr>
          <p:cNvPicPr>
            <a:picLocks noChangeAspect="1"/>
          </p:cNvPicPr>
          <p:nvPr/>
        </p:nvPicPr>
        <p:blipFill>
          <a:blip r:embed="rId2"/>
          <a:stretch>
            <a:fillRect/>
          </a:stretch>
        </p:blipFill>
        <p:spPr>
          <a:xfrm>
            <a:off x="609697" y="517362"/>
            <a:ext cx="10506075" cy="5991225"/>
          </a:xfrm>
          <a:prstGeom prst="rect">
            <a:avLst/>
          </a:prstGeom>
        </p:spPr>
      </p:pic>
    </p:spTree>
    <p:extLst>
      <p:ext uri="{BB962C8B-B14F-4D97-AF65-F5344CB8AC3E}">
        <p14:creationId xmlns:p14="http://schemas.microsoft.com/office/powerpoint/2010/main" val="2950132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BEC18F-9DD9-F14B-2137-8259A90393C8}"/>
              </a:ext>
            </a:extLst>
          </p:cNvPr>
          <p:cNvPicPr>
            <a:picLocks noChangeAspect="1"/>
          </p:cNvPicPr>
          <p:nvPr/>
        </p:nvPicPr>
        <p:blipFill>
          <a:blip r:embed="rId2"/>
          <a:stretch>
            <a:fillRect/>
          </a:stretch>
        </p:blipFill>
        <p:spPr>
          <a:xfrm>
            <a:off x="55983" y="0"/>
            <a:ext cx="12080033" cy="6675337"/>
          </a:xfrm>
          <a:prstGeom prst="rect">
            <a:avLst/>
          </a:prstGeom>
        </p:spPr>
      </p:pic>
    </p:spTree>
    <p:extLst>
      <p:ext uri="{BB962C8B-B14F-4D97-AF65-F5344CB8AC3E}">
        <p14:creationId xmlns:p14="http://schemas.microsoft.com/office/powerpoint/2010/main" val="106775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79F3-590D-B780-DCBC-6302F615CD4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Fuzzy k-means clustering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783C34-4336-6DA4-6F5C-CB6AF6BE667A}"/>
              </a:ext>
            </a:extLst>
          </p:cNvPr>
          <p:cNvSpPr>
            <a:spLocks noGrp="1"/>
          </p:cNvSpPr>
          <p:nvPr>
            <p:ph idx="1"/>
          </p:nvPr>
        </p:nvSpPr>
        <p:spPr>
          <a:xfrm>
            <a:off x="1295401" y="2556931"/>
            <a:ext cx="4918787" cy="3713239"/>
          </a:xfrm>
        </p:spPr>
        <p:txBody>
          <a:bodyPr>
            <a:normAutofit fontScale="92500" lnSpcReduction="20000"/>
          </a:bodyPr>
          <a:lstStyle/>
          <a:p>
            <a:r>
              <a:rPr lang="en-US" b="1" u="sng" dirty="0">
                <a:solidFill>
                  <a:schemeClr val="tx1"/>
                </a:solidFill>
                <a:latin typeface="Times New Roman" panose="02020603050405020304" pitchFamily="18" charset="0"/>
                <a:cs typeface="Times New Roman" panose="02020603050405020304" pitchFamily="18" charset="0"/>
              </a:rPr>
              <a:t>Hard clustering </a:t>
            </a:r>
          </a:p>
          <a:p>
            <a:r>
              <a:rPr lang="en-US" dirty="0">
                <a:solidFill>
                  <a:schemeClr val="tx1"/>
                </a:solidFill>
                <a:latin typeface="Times New Roman" panose="02020603050405020304" pitchFamily="18" charset="0"/>
                <a:cs typeface="Times New Roman" panose="02020603050405020304" pitchFamily="18" charset="0"/>
              </a:rPr>
              <a:t>Each data point belongs to </a:t>
            </a:r>
            <a:r>
              <a:rPr lang="en-US" b="1" dirty="0">
                <a:solidFill>
                  <a:schemeClr val="tx1"/>
                </a:solidFill>
                <a:latin typeface="Times New Roman" panose="02020603050405020304" pitchFamily="18" charset="0"/>
                <a:cs typeface="Times New Roman" panose="02020603050405020304" pitchFamily="18" charset="0"/>
              </a:rPr>
              <a:t>only one cluster</a:t>
            </a:r>
          </a:p>
          <a:p>
            <a:r>
              <a:rPr lang="en-IN" dirty="0">
                <a:solidFill>
                  <a:schemeClr val="tx1"/>
                </a:solidFill>
                <a:latin typeface="Times New Roman" panose="02020603050405020304" pitchFamily="18" charset="0"/>
                <a:cs typeface="Times New Roman" panose="02020603050405020304" pitchFamily="18" charset="0"/>
              </a:rPr>
              <a:t>No sharing allowed</a:t>
            </a:r>
          </a:p>
          <a:p>
            <a:r>
              <a:rPr lang="en-IN" b="1" dirty="0">
                <a:solidFill>
                  <a:schemeClr val="tx1"/>
                </a:solidFill>
                <a:latin typeface="Times New Roman" panose="02020603050405020304" pitchFamily="18" charset="0"/>
                <a:cs typeface="Times New Roman" panose="02020603050405020304" pitchFamily="18" charset="0"/>
              </a:rPr>
              <a:t>K-means, K-medoids </a:t>
            </a:r>
            <a:r>
              <a:rPr lang="en-IN" dirty="0">
                <a:solidFill>
                  <a:schemeClr val="tx1"/>
                </a:solidFill>
                <a:latin typeface="Times New Roman" panose="02020603050405020304" pitchFamily="18" charset="0"/>
                <a:cs typeface="Times New Roman" panose="02020603050405020304" pitchFamily="18" charset="0"/>
              </a:rPr>
              <a:t>are hard clustering algorithms</a:t>
            </a:r>
          </a:p>
          <a:p>
            <a:r>
              <a:rPr lang="en-US" dirty="0">
                <a:solidFill>
                  <a:schemeClr val="tx1"/>
                </a:solidFill>
                <a:latin typeface="Times New Roman" panose="02020603050405020304" pitchFamily="18" charset="0"/>
                <a:cs typeface="Times New Roman" panose="02020603050405020304" pitchFamily="18" charset="0"/>
              </a:rPr>
              <a:t>A student is either:</a:t>
            </a:r>
          </a:p>
          <a:p>
            <a:r>
              <a:rPr lang="en-US" dirty="0">
                <a:solidFill>
                  <a:schemeClr val="tx1"/>
                </a:solidFill>
                <a:latin typeface="Times New Roman" panose="02020603050405020304" pitchFamily="18" charset="0"/>
                <a:cs typeface="Times New Roman" panose="02020603050405020304" pitchFamily="18" charset="0"/>
              </a:rPr>
              <a:t>“Low performer” OR </a:t>
            </a:r>
          </a:p>
          <a:p>
            <a:r>
              <a:rPr lang="en-US" dirty="0">
                <a:solidFill>
                  <a:schemeClr val="tx1"/>
                </a:solidFill>
                <a:latin typeface="Times New Roman" panose="02020603050405020304" pitchFamily="18" charset="0"/>
                <a:cs typeface="Times New Roman" panose="02020603050405020304" pitchFamily="18" charset="0"/>
              </a:rPr>
              <a:t>“High performer”</a:t>
            </a:r>
          </a:p>
          <a:p>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6E7CFA3-4404-724A-E2AD-D429EF528474}"/>
              </a:ext>
            </a:extLst>
          </p:cNvPr>
          <p:cNvPicPr>
            <a:picLocks noChangeAspect="1"/>
          </p:cNvPicPr>
          <p:nvPr/>
        </p:nvPicPr>
        <p:blipFill>
          <a:blip r:embed="rId2"/>
          <a:stretch>
            <a:fillRect/>
          </a:stretch>
        </p:blipFill>
        <p:spPr>
          <a:xfrm>
            <a:off x="7604086" y="2556931"/>
            <a:ext cx="3516546" cy="3631500"/>
          </a:xfrm>
          <a:prstGeom prst="rect">
            <a:avLst/>
          </a:prstGeom>
        </p:spPr>
      </p:pic>
    </p:spTree>
    <p:extLst>
      <p:ext uri="{BB962C8B-B14F-4D97-AF65-F5344CB8AC3E}">
        <p14:creationId xmlns:p14="http://schemas.microsoft.com/office/powerpoint/2010/main" val="2960570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5E1D50-900A-2B0E-5D46-EEE665EB397B}"/>
              </a:ext>
            </a:extLst>
          </p:cNvPr>
          <p:cNvSpPr>
            <a:spLocks noGrp="1"/>
          </p:cNvSpPr>
          <p:nvPr>
            <p:ph idx="1"/>
          </p:nvPr>
        </p:nvSpPr>
        <p:spPr>
          <a:xfrm>
            <a:off x="793102" y="783771"/>
            <a:ext cx="10580914" cy="5299788"/>
          </a:xfrm>
        </p:spPr>
        <p:txBody>
          <a:bodyPr/>
          <a:lstStyle/>
          <a:p>
            <a:r>
              <a:rPr lang="en-US" b="1" u="sng" dirty="0">
                <a:solidFill>
                  <a:schemeClr val="tx1"/>
                </a:solidFill>
                <a:latin typeface="Times New Roman" panose="02020603050405020304" pitchFamily="18" charset="0"/>
                <a:cs typeface="Times New Roman" panose="02020603050405020304" pitchFamily="18" charset="0"/>
              </a:rPr>
              <a:t>Soft clustering </a:t>
            </a:r>
          </a:p>
          <a:p>
            <a:r>
              <a:rPr lang="en-US" dirty="0">
                <a:solidFill>
                  <a:schemeClr val="tx1"/>
                </a:solidFill>
                <a:latin typeface="Times New Roman" panose="02020603050405020304" pitchFamily="18" charset="0"/>
                <a:cs typeface="Times New Roman" panose="02020603050405020304" pitchFamily="18" charset="0"/>
              </a:rPr>
              <a:t>A data point can belong to </a:t>
            </a:r>
            <a:r>
              <a:rPr lang="en-US" b="1" dirty="0">
                <a:solidFill>
                  <a:schemeClr val="tx1"/>
                </a:solidFill>
                <a:latin typeface="Times New Roman" panose="02020603050405020304" pitchFamily="18" charset="0"/>
                <a:cs typeface="Times New Roman" panose="02020603050405020304" pitchFamily="18" charset="0"/>
              </a:rPr>
              <a:t>multiple clusters.</a:t>
            </a:r>
          </a:p>
          <a:p>
            <a:r>
              <a:rPr lang="en-US" dirty="0">
                <a:solidFill>
                  <a:schemeClr val="tx1"/>
                </a:solidFill>
                <a:latin typeface="Times New Roman" panose="02020603050405020304" pitchFamily="18" charset="0"/>
                <a:cs typeface="Times New Roman" panose="02020603050405020304" pitchFamily="18" charset="0"/>
              </a:rPr>
              <a:t>Each cluster has a </a:t>
            </a:r>
            <a:r>
              <a:rPr lang="en-US" b="1" dirty="0">
                <a:solidFill>
                  <a:schemeClr val="tx1"/>
                </a:solidFill>
                <a:latin typeface="Times New Roman" panose="02020603050405020304" pitchFamily="18" charset="0"/>
                <a:cs typeface="Times New Roman" panose="02020603050405020304" pitchFamily="18" charset="0"/>
              </a:rPr>
              <a:t>membership value (0 to 1)</a:t>
            </a:r>
          </a:p>
          <a:p>
            <a:r>
              <a:rPr lang="en-US" b="1" dirty="0">
                <a:solidFill>
                  <a:schemeClr val="tx1"/>
                </a:solidFill>
                <a:latin typeface="Times New Roman" panose="02020603050405020304" pitchFamily="18" charset="0"/>
                <a:cs typeface="Times New Roman" panose="02020603050405020304" pitchFamily="18" charset="0"/>
              </a:rPr>
              <a:t>Ex: Fuzzy k-means </a:t>
            </a:r>
          </a:p>
          <a:p>
            <a:endParaRPr lang="en-IN"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9AF63A-4851-B594-11BF-DBED39706E80}"/>
              </a:ext>
            </a:extLst>
          </p:cNvPr>
          <p:cNvPicPr>
            <a:picLocks noChangeAspect="1"/>
          </p:cNvPicPr>
          <p:nvPr/>
        </p:nvPicPr>
        <p:blipFill>
          <a:blip r:embed="rId2"/>
          <a:stretch>
            <a:fillRect/>
          </a:stretch>
        </p:blipFill>
        <p:spPr>
          <a:xfrm>
            <a:off x="6982950" y="923731"/>
            <a:ext cx="4391066" cy="3972282"/>
          </a:xfrm>
          <a:prstGeom prst="rect">
            <a:avLst/>
          </a:prstGeom>
        </p:spPr>
      </p:pic>
    </p:spTree>
    <p:extLst>
      <p:ext uri="{BB962C8B-B14F-4D97-AF65-F5344CB8AC3E}">
        <p14:creationId xmlns:p14="http://schemas.microsoft.com/office/powerpoint/2010/main" val="428917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A7668-A10F-4DFB-DD4C-E59C9E3D123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Fuzzy K-means steps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831142-4709-A397-3707-B6B235E5065A}"/>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Step 1: </a:t>
            </a:r>
            <a:r>
              <a:rPr lang="en-US" dirty="0">
                <a:solidFill>
                  <a:schemeClr val="tx1"/>
                </a:solidFill>
                <a:latin typeface="Times New Roman" panose="02020603050405020304" pitchFamily="18" charset="0"/>
                <a:cs typeface="Times New Roman" panose="02020603050405020304" pitchFamily="18" charset="0"/>
              </a:rPr>
              <a:t>Given the data points based on number of clusters required initialize the membership table with random values.</a:t>
            </a:r>
          </a:p>
          <a:p>
            <a:r>
              <a:rPr lang="en-US" dirty="0">
                <a:solidFill>
                  <a:schemeClr val="tx1"/>
                </a:solidFill>
                <a:latin typeface="Times New Roman" panose="02020603050405020304" pitchFamily="18" charset="0"/>
                <a:cs typeface="Times New Roman" panose="02020603050405020304" pitchFamily="18" charset="0"/>
              </a:rPr>
              <a:t>Suppose given data points are </a:t>
            </a:r>
            <a:r>
              <a:rPr lang="en-US" b="1" dirty="0">
                <a:solidFill>
                  <a:schemeClr val="tx1"/>
                </a:solidFill>
                <a:latin typeface="Times New Roman" panose="02020603050405020304" pitchFamily="18" charset="0"/>
                <a:cs typeface="Times New Roman" panose="02020603050405020304" pitchFamily="18" charset="0"/>
              </a:rPr>
              <a:t>{(1,3),(2,5),(6,8),(7,9)}</a:t>
            </a:r>
          </a:p>
          <a:p>
            <a:r>
              <a:rPr lang="en-US" dirty="0">
                <a:solidFill>
                  <a:schemeClr val="tx1"/>
                </a:solidFill>
                <a:latin typeface="Times New Roman" panose="02020603050405020304" pitchFamily="18" charset="0"/>
                <a:cs typeface="Times New Roman" panose="02020603050405020304" pitchFamily="18" charset="0"/>
              </a:rPr>
              <a:t>Let us assume that we need to divide the data into two clusters</a:t>
            </a:r>
          </a:p>
          <a:p>
            <a:endParaRPr lang="en-US" dirty="0">
              <a:solidFill>
                <a:schemeClr val="tx1"/>
              </a:solidFill>
              <a:latin typeface="Times New Roman" panose="02020603050405020304" pitchFamily="18"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222E9126-E3DA-5D94-E294-2FFCEFDA9239}"/>
              </a:ext>
            </a:extLst>
          </p:cNvPr>
          <p:cNvGraphicFramePr>
            <a:graphicFrameLocks noGrp="1"/>
          </p:cNvGraphicFramePr>
          <p:nvPr>
            <p:extLst>
              <p:ext uri="{D42A27DB-BD31-4B8C-83A1-F6EECF244321}">
                <p14:modId xmlns:p14="http://schemas.microsoft.com/office/powerpoint/2010/main" val="560309978"/>
              </p:ext>
            </p:extLst>
          </p:nvPr>
        </p:nvGraphicFramePr>
        <p:xfrm>
          <a:off x="1556139" y="4498564"/>
          <a:ext cx="7438570" cy="1371600"/>
        </p:xfrm>
        <a:graphic>
          <a:graphicData uri="http://schemas.openxmlformats.org/drawingml/2006/table">
            <a:tbl>
              <a:tblPr firstRow="1" bandRow="1">
                <a:tableStyleId>{5C22544A-7EE6-4342-B048-85BDC9FD1C3A}</a:tableStyleId>
              </a:tblPr>
              <a:tblGrid>
                <a:gridCol w="1487714">
                  <a:extLst>
                    <a:ext uri="{9D8B030D-6E8A-4147-A177-3AD203B41FA5}">
                      <a16:colId xmlns:a16="http://schemas.microsoft.com/office/drawing/2014/main" val="2786686194"/>
                    </a:ext>
                  </a:extLst>
                </a:gridCol>
                <a:gridCol w="1487714">
                  <a:extLst>
                    <a:ext uri="{9D8B030D-6E8A-4147-A177-3AD203B41FA5}">
                      <a16:colId xmlns:a16="http://schemas.microsoft.com/office/drawing/2014/main" val="2052426101"/>
                    </a:ext>
                  </a:extLst>
                </a:gridCol>
                <a:gridCol w="1487714">
                  <a:extLst>
                    <a:ext uri="{9D8B030D-6E8A-4147-A177-3AD203B41FA5}">
                      <a16:colId xmlns:a16="http://schemas.microsoft.com/office/drawing/2014/main" val="1031088726"/>
                    </a:ext>
                  </a:extLst>
                </a:gridCol>
                <a:gridCol w="1487714">
                  <a:extLst>
                    <a:ext uri="{9D8B030D-6E8A-4147-A177-3AD203B41FA5}">
                      <a16:colId xmlns:a16="http://schemas.microsoft.com/office/drawing/2014/main" val="1209919503"/>
                    </a:ext>
                  </a:extLst>
                </a:gridCol>
                <a:gridCol w="1487714">
                  <a:extLst>
                    <a:ext uri="{9D8B030D-6E8A-4147-A177-3AD203B41FA5}">
                      <a16:colId xmlns:a16="http://schemas.microsoft.com/office/drawing/2014/main" val="32384217"/>
                    </a:ext>
                  </a:extLst>
                </a:gridCol>
              </a:tblGrid>
              <a:tr h="370840">
                <a:tc>
                  <a:txBody>
                    <a:bodyPr/>
                    <a:lstStyle/>
                    <a:p>
                      <a:r>
                        <a:rPr lang="en-US" sz="2400" dirty="0">
                          <a:latin typeface="Times New Roman" panose="02020603050405020304" pitchFamily="18" charset="0"/>
                          <a:cs typeface="Times New Roman" panose="02020603050405020304" pitchFamily="18" charset="0"/>
                        </a:rPr>
                        <a:t>Clusters </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(1,3)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(2,5)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(4,8)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(7,9)</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7868083"/>
                  </a:ext>
                </a:extLst>
              </a:tr>
              <a:tr h="370840">
                <a:tc>
                  <a:txBody>
                    <a:bodyPr/>
                    <a:lstStyle/>
                    <a:p>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0.1</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7818799"/>
                  </a:ext>
                </a:extLst>
              </a:tr>
              <a:tr h="370840">
                <a:tc>
                  <a:txBody>
                    <a:bodyPr/>
                    <a:lstStyle/>
                    <a:p>
                      <a:r>
                        <a:rPr lang="en-US" sz="2400" dirty="0">
                          <a:latin typeface="Times New Roman" panose="02020603050405020304" pitchFamily="18" charset="0"/>
                          <a:cs typeface="Times New Roman" panose="02020603050405020304" pitchFamily="18" charset="0"/>
                        </a:rPr>
                        <a:t>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0.9</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9793785"/>
                  </a:ext>
                </a:extLst>
              </a:tr>
            </a:tbl>
          </a:graphicData>
        </a:graphic>
      </p:graphicFrame>
    </p:spTree>
    <p:extLst>
      <p:ext uri="{BB962C8B-B14F-4D97-AF65-F5344CB8AC3E}">
        <p14:creationId xmlns:p14="http://schemas.microsoft.com/office/powerpoint/2010/main" val="480540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2936EE-7E1D-8C49-64D3-03808AB38194}"/>
                  </a:ext>
                </a:extLst>
              </p:cNvPr>
              <p:cNvSpPr>
                <a:spLocks noGrp="1"/>
              </p:cNvSpPr>
              <p:nvPr>
                <p:ph idx="1"/>
              </p:nvPr>
            </p:nvSpPr>
            <p:spPr>
              <a:xfrm>
                <a:off x="895738" y="821093"/>
                <a:ext cx="10823511" cy="5327779"/>
              </a:xfrm>
            </p:spPr>
            <p:txBody>
              <a:bodyPr/>
              <a:lstStyle/>
              <a:p>
                <a:r>
                  <a:rPr lang="en-US" b="1" dirty="0">
                    <a:solidFill>
                      <a:schemeClr val="tx1"/>
                    </a:solidFill>
                    <a:latin typeface="Times New Roman" panose="02020603050405020304" pitchFamily="18" charset="0"/>
                    <a:cs typeface="Times New Roman" panose="02020603050405020304" pitchFamily="18" charset="0"/>
                  </a:rPr>
                  <a:t>Step 2: Find out the centroid </a:t>
                </a:r>
              </a:p>
              <a:p>
                <a:r>
                  <a:rPr lang="en-US" dirty="0">
                    <a:solidFill>
                      <a:schemeClr val="tx1"/>
                    </a:solidFill>
                    <a:latin typeface="Times New Roman" panose="02020603050405020304" pitchFamily="18" charset="0"/>
                    <a:cs typeface="Times New Roman" panose="02020603050405020304" pitchFamily="18" charset="0"/>
                  </a:rPr>
                  <a:t>Formula for finding centroid V is </a:t>
                </a:r>
              </a:p>
              <a:p>
                <a14:m>
                  <m:oMath xmlns:m="http://schemas.openxmlformats.org/officeDocument/2006/math">
                    <m:sSub>
                      <m:sSubPr>
                        <m:ctrlPr>
                          <a:rPr lang="en-US" i="1" smtClean="0">
                            <a:solidFill>
                              <a:schemeClr val="tx1"/>
                            </a:solidFill>
                            <a:latin typeface="Cambria Math" panose="02040503050406030204" pitchFamily="18" charset="0"/>
                            <a:cs typeface="Times New Roman" panose="02020603050405020304" pitchFamily="18" charset="0"/>
                          </a:rPr>
                        </m:ctrlPr>
                      </m:sSubPr>
                      <m:e>
                        <m:r>
                          <a:rPr lang="en-US" b="0" i="1" smtClean="0">
                            <a:solidFill>
                              <a:schemeClr val="tx1"/>
                            </a:solidFill>
                            <a:latin typeface="Cambria Math" panose="02040503050406030204" pitchFamily="18" charset="0"/>
                            <a:cs typeface="Times New Roman" panose="02020603050405020304" pitchFamily="18" charset="0"/>
                          </a:rPr>
                          <m:t>𝑉</m:t>
                        </m:r>
                      </m:e>
                      <m:sub>
                        <m:r>
                          <a:rPr lang="en-US" b="0" i="1" smtClean="0">
                            <a:solidFill>
                              <a:schemeClr val="tx1"/>
                            </a:solidFill>
                            <a:latin typeface="Cambria Math" panose="02040503050406030204" pitchFamily="18" charset="0"/>
                            <a:cs typeface="Times New Roman" panose="02020603050405020304" pitchFamily="18" charset="0"/>
                          </a:rPr>
                          <m:t>𝑖𝑗</m:t>
                        </m:r>
                      </m:sub>
                    </m:sSub>
                  </m:oMath>
                </a14:m>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f>
                      <m:fPr>
                        <m:ctrlPr>
                          <a:rPr lang="en-US" i="1" dirty="0" smtClean="0">
                            <a:solidFill>
                              <a:schemeClr val="tx1"/>
                            </a:solidFill>
                            <a:latin typeface="Cambria Math" panose="02040503050406030204" pitchFamily="18" charset="0"/>
                            <a:cs typeface="Times New Roman" panose="02020603050405020304" pitchFamily="18" charset="0"/>
                          </a:rPr>
                        </m:ctrlPr>
                      </m:fPr>
                      <m:num>
                        <m:nary>
                          <m:naryPr>
                            <m:chr m:val="∑"/>
                            <m:ctrlPr>
                              <a:rPr lang="en-US" i="1" dirty="0" smtClean="0">
                                <a:solidFill>
                                  <a:schemeClr val="tx1"/>
                                </a:solidFill>
                                <a:latin typeface="Cambria Math" panose="02040503050406030204" pitchFamily="18" charset="0"/>
                                <a:cs typeface="Times New Roman" panose="02020603050405020304" pitchFamily="18" charset="0"/>
                              </a:rPr>
                            </m:ctrlPr>
                          </m:naryPr>
                          <m:sub>
                            <m:r>
                              <m:rPr>
                                <m:brk m:alnAt="23"/>
                              </m:rPr>
                              <a:rPr lang="en-US" b="0" i="1" dirty="0" smtClean="0">
                                <a:solidFill>
                                  <a:schemeClr val="tx1"/>
                                </a:solidFill>
                                <a:latin typeface="Cambria Math" panose="02040503050406030204" pitchFamily="18" charset="0"/>
                                <a:cs typeface="Times New Roman" panose="02020603050405020304" pitchFamily="18" charset="0"/>
                              </a:rPr>
                              <m:t>𝑘</m:t>
                            </m:r>
                            <m:r>
                              <a:rPr lang="en-US" b="0" i="1" dirty="0" smtClean="0">
                                <a:solidFill>
                                  <a:schemeClr val="tx1"/>
                                </a:solidFill>
                                <a:latin typeface="Cambria Math" panose="02040503050406030204" pitchFamily="18" charset="0"/>
                                <a:cs typeface="Times New Roman" panose="02020603050405020304" pitchFamily="18" charset="0"/>
                              </a:rPr>
                              <m:t>=1</m:t>
                            </m:r>
                          </m:sub>
                          <m:sup>
                            <m:r>
                              <a:rPr lang="en-US" b="0" i="1" dirty="0" smtClean="0">
                                <a:solidFill>
                                  <a:schemeClr val="tx1"/>
                                </a:solidFill>
                                <a:latin typeface="Cambria Math" panose="02040503050406030204" pitchFamily="18" charset="0"/>
                                <a:cs typeface="Times New Roman" panose="02020603050405020304" pitchFamily="18" charset="0"/>
                              </a:rPr>
                              <m:t>𝑛</m:t>
                            </m:r>
                          </m:sup>
                          <m:e>
                            <m:sSubSup>
                              <m:sSubSupPr>
                                <m:ctrlPr>
                                  <a:rPr lang="en-US" i="1" dirty="0" smtClean="0">
                                    <a:solidFill>
                                      <a:schemeClr val="tx1"/>
                                    </a:solidFill>
                                    <a:latin typeface="Cambria Math" panose="02040503050406030204" pitchFamily="18" charset="0"/>
                                    <a:cs typeface="Times New Roman" panose="02020603050405020304" pitchFamily="18" charset="0"/>
                                  </a:rPr>
                                </m:ctrlPr>
                              </m:sSubSupPr>
                              <m:e>
                                <m:r>
                                  <a:rPr lang="en-US"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0" i="1" dirty="0" smtClean="0">
                                    <a:solidFill>
                                      <a:schemeClr val="tx1"/>
                                    </a:solidFill>
                                    <a:latin typeface="Cambria Math" panose="02040503050406030204" pitchFamily="18" charset="0"/>
                                    <a:cs typeface="Times New Roman" panose="02020603050405020304" pitchFamily="18" charset="0"/>
                                  </a:rPr>
                                  <m:t>𝑖𝑘</m:t>
                                </m:r>
                              </m:sub>
                              <m:sup>
                                <m:r>
                                  <a:rPr lang="en-US" b="0" i="1" dirty="0" smtClean="0">
                                    <a:solidFill>
                                      <a:schemeClr val="tx1"/>
                                    </a:solidFill>
                                    <a:latin typeface="Cambria Math" panose="02040503050406030204" pitchFamily="18" charset="0"/>
                                    <a:cs typeface="Times New Roman" panose="02020603050405020304" pitchFamily="18" charset="0"/>
                                  </a:rPr>
                                  <m:t>𝑚</m:t>
                                </m:r>
                              </m:sup>
                            </m:sSubSup>
                            <m:r>
                              <a:rPr lang="en-US" b="0" i="1" dirty="0" smtClean="0">
                                <a:solidFill>
                                  <a:schemeClr val="tx1"/>
                                </a:solidFill>
                                <a:latin typeface="Cambria Math" panose="02040503050406030204" pitchFamily="18" charset="0"/>
                                <a:cs typeface="Times New Roman" panose="02020603050405020304" pitchFamily="18" charset="0"/>
                              </a:rPr>
                              <m:t> ∗ </m:t>
                            </m:r>
                            <m:sSub>
                              <m:sSubPr>
                                <m:ctrlPr>
                                  <a:rPr lang="en-US" b="0" i="1" dirty="0" smtClean="0">
                                    <a:solidFill>
                                      <a:schemeClr val="tx1"/>
                                    </a:solidFill>
                                    <a:latin typeface="Cambria Math" panose="02040503050406030204" pitchFamily="18" charset="0"/>
                                    <a:cs typeface="Times New Roman" panose="02020603050405020304" pitchFamily="18" charset="0"/>
                                  </a:rPr>
                                </m:ctrlPr>
                              </m:sSubPr>
                              <m:e>
                                <m:r>
                                  <a:rPr lang="en-US" b="0" i="1" dirty="0" smtClean="0">
                                    <a:solidFill>
                                      <a:schemeClr val="tx1"/>
                                    </a:solidFill>
                                    <a:latin typeface="Cambria Math" panose="02040503050406030204" pitchFamily="18" charset="0"/>
                                    <a:cs typeface="Times New Roman" panose="02020603050405020304" pitchFamily="18" charset="0"/>
                                  </a:rPr>
                                  <m:t>𝑥</m:t>
                                </m:r>
                              </m:e>
                              <m:sub>
                                <m:r>
                                  <a:rPr lang="en-US" b="0" i="1" dirty="0" smtClean="0">
                                    <a:solidFill>
                                      <a:schemeClr val="tx1"/>
                                    </a:solidFill>
                                    <a:latin typeface="Cambria Math" panose="02040503050406030204" pitchFamily="18" charset="0"/>
                                    <a:cs typeface="Times New Roman" panose="02020603050405020304" pitchFamily="18" charset="0"/>
                                  </a:rPr>
                                  <m:t>𝑘</m:t>
                                </m:r>
                              </m:sub>
                            </m:sSub>
                            <m:r>
                              <a:rPr lang="en-US" b="0" i="1" dirty="0" smtClean="0">
                                <a:solidFill>
                                  <a:schemeClr val="tx1"/>
                                </a:solidFill>
                                <a:latin typeface="Cambria Math" panose="02040503050406030204" pitchFamily="18" charset="0"/>
                                <a:cs typeface="Times New Roman" panose="02020603050405020304" pitchFamily="18" charset="0"/>
                              </a:rPr>
                              <m:t> </m:t>
                            </m:r>
                          </m:e>
                        </m:nary>
                      </m:num>
                      <m:den>
                        <m:nary>
                          <m:naryPr>
                            <m:chr m:val="∑"/>
                            <m:ctrlPr>
                              <a:rPr lang="en-US" i="1" dirty="0" smtClean="0">
                                <a:solidFill>
                                  <a:schemeClr val="tx1"/>
                                </a:solidFill>
                                <a:latin typeface="Cambria Math" panose="02040503050406030204" pitchFamily="18" charset="0"/>
                                <a:cs typeface="Times New Roman" panose="02020603050405020304" pitchFamily="18" charset="0"/>
                              </a:rPr>
                            </m:ctrlPr>
                          </m:naryPr>
                          <m:sub>
                            <m:r>
                              <m:rPr>
                                <m:brk m:alnAt="23"/>
                              </m:rPr>
                              <a:rPr lang="en-US" b="0" i="1" dirty="0" smtClean="0">
                                <a:solidFill>
                                  <a:schemeClr val="tx1"/>
                                </a:solidFill>
                                <a:latin typeface="Cambria Math" panose="02040503050406030204" pitchFamily="18" charset="0"/>
                                <a:cs typeface="Times New Roman" panose="02020603050405020304" pitchFamily="18" charset="0"/>
                              </a:rPr>
                              <m:t>𝑘</m:t>
                            </m:r>
                            <m:r>
                              <a:rPr lang="en-US" b="0" i="1" dirty="0" smtClean="0">
                                <a:solidFill>
                                  <a:schemeClr val="tx1"/>
                                </a:solidFill>
                                <a:latin typeface="Cambria Math" panose="02040503050406030204" pitchFamily="18" charset="0"/>
                                <a:cs typeface="Times New Roman" panose="02020603050405020304" pitchFamily="18" charset="0"/>
                              </a:rPr>
                              <m:t>=1</m:t>
                            </m:r>
                          </m:sub>
                          <m:sup>
                            <m:r>
                              <a:rPr lang="en-US" b="0" i="1" dirty="0" smtClean="0">
                                <a:solidFill>
                                  <a:schemeClr val="tx1"/>
                                </a:solidFill>
                                <a:latin typeface="Cambria Math" panose="02040503050406030204" pitchFamily="18" charset="0"/>
                                <a:cs typeface="Times New Roman" panose="02020603050405020304" pitchFamily="18" charset="0"/>
                              </a:rPr>
                              <m:t>𝑛</m:t>
                            </m:r>
                          </m:sup>
                          <m:e>
                            <m:sSubSup>
                              <m:sSubSupPr>
                                <m:ctrlPr>
                                  <a:rPr lang="en-US" i="1" dirty="0">
                                    <a:solidFill>
                                      <a:schemeClr val="tx1"/>
                                    </a:solidFill>
                                    <a:latin typeface="Cambria Math" panose="02040503050406030204" pitchFamily="18" charset="0"/>
                                    <a:cs typeface="Times New Roman" panose="02020603050405020304" pitchFamily="18" charset="0"/>
                                  </a:rPr>
                                </m:ctrlPr>
                              </m:sSubSupPr>
                              <m:e>
                                <m:r>
                                  <a:rPr lang="en-US"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i="1" dirty="0">
                                    <a:solidFill>
                                      <a:schemeClr val="tx1"/>
                                    </a:solidFill>
                                    <a:latin typeface="Cambria Math" panose="02040503050406030204" pitchFamily="18" charset="0"/>
                                    <a:cs typeface="Times New Roman" panose="02020603050405020304" pitchFamily="18" charset="0"/>
                                  </a:rPr>
                                  <m:t>𝑖𝑘</m:t>
                                </m:r>
                              </m:sub>
                              <m:sup>
                                <m:r>
                                  <a:rPr lang="en-US" i="1" dirty="0">
                                    <a:solidFill>
                                      <a:schemeClr val="tx1"/>
                                    </a:solidFill>
                                    <a:latin typeface="Cambria Math" panose="02040503050406030204" pitchFamily="18" charset="0"/>
                                    <a:cs typeface="Times New Roman" panose="02020603050405020304" pitchFamily="18" charset="0"/>
                                  </a:rPr>
                                  <m:t>𝑚</m:t>
                                </m:r>
                              </m:sup>
                            </m:sSubSup>
                          </m:e>
                        </m:nary>
                      </m:den>
                    </m:f>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chemeClr val="tx1"/>
                    </a:solidFill>
                    <a:latin typeface="Times New Roman" panose="02020603050405020304" pitchFamily="18" charset="0"/>
                    <a:cs typeface="Times New Roman" panose="02020603050405020304" pitchFamily="18" charset="0"/>
                  </a:rPr>
                  <a:t>     </a:t>
                </a:r>
              </a:p>
              <a:p>
                <a14:m>
                  <m:oMath xmlns:m="http://schemas.openxmlformats.org/officeDocument/2006/math">
                    <m:r>
                      <a:rPr lang="en-US" sz="20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r>
                      <a:rPr lang="en-US" sz="2000"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000"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Fuzzy</m:t>
                    </m:r>
                    <m:r>
                      <a:rPr lang="en-US" sz="2000"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sz="2000"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membership</m:t>
                    </m:r>
                    <m:r>
                      <a:rPr lang="en-US" sz="2000"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sz="2000" b="0" i="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value</m:t>
                    </m:r>
                  </m:oMath>
                </a14:m>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m: Fuzziness parameter generally taken as 2</a:t>
                </a:r>
              </a:p>
              <a:p>
                <a14:m>
                  <m:oMath xmlns:m="http://schemas.openxmlformats.org/officeDocument/2006/math">
                    <m:sSub>
                      <m:sSubPr>
                        <m:ctrlPr>
                          <a:rPr lang="en-US" sz="2000" i="1" dirty="0">
                            <a:solidFill>
                              <a:schemeClr val="tx1"/>
                            </a:solidFill>
                            <a:latin typeface="Cambria Math" panose="02040503050406030204" pitchFamily="18" charset="0"/>
                            <a:cs typeface="Times New Roman" panose="02020603050405020304" pitchFamily="18" charset="0"/>
                          </a:rPr>
                        </m:ctrlPr>
                      </m:sSubPr>
                      <m:e>
                        <m:r>
                          <a:rPr lang="en-US" sz="2000" i="1" dirty="0">
                            <a:solidFill>
                              <a:schemeClr val="tx1"/>
                            </a:solidFill>
                            <a:latin typeface="Cambria Math" panose="02040503050406030204" pitchFamily="18" charset="0"/>
                            <a:cs typeface="Times New Roman" panose="02020603050405020304" pitchFamily="18" charset="0"/>
                          </a:rPr>
                          <m:t>𝑥</m:t>
                        </m:r>
                      </m:e>
                      <m:sub>
                        <m:r>
                          <a:rPr lang="en-US" sz="2000" i="1" dirty="0">
                            <a:solidFill>
                              <a:schemeClr val="tx1"/>
                            </a:solidFill>
                            <a:latin typeface="Cambria Math" panose="02040503050406030204" pitchFamily="18" charset="0"/>
                            <a:cs typeface="Times New Roman" panose="02020603050405020304" pitchFamily="18" charset="0"/>
                          </a:rPr>
                          <m:t>𝑘</m:t>
                        </m:r>
                      </m:sub>
                    </m:sSub>
                    <m:r>
                      <a:rPr lang="en-US" sz="2000" b="0" i="1" dirty="0" smtClean="0">
                        <a:solidFill>
                          <a:schemeClr val="tx1"/>
                        </a:solidFill>
                        <a:latin typeface="Cambria Math" panose="02040503050406030204" pitchFamily="18" charset="0"/>
                        <a:cs typeface="Times New Roman" panose="02020603050405020304" pitchFamily="18" charset="0"/>
                      </a:rPr>
                      <m:t>:</m:t>
                    </m:r>
                    <m:r>
                      <m:rPr>
                        <m:sty m:val="p"/>
                      </m:rPr>
                      <a:rPr lang="en-US" sz="2000" b="0" i="0" dirty="0" smtClean="0">
                        <a:solidFill>
                          <a:schemeClr val="tx1"/>
                        </a:solidFill>
                        <a:latin typeface="Cambria Math" panose="02040503050406030204" pitchFamily="18" charset="0"/>
                        <a:cs typeface="Times New Roman" panose="02020603050405020304" pitchFamily="18" charset="0"/>
                      </a:rPr>
                      <m:t>is</m:t>
                    </m:r>
                    <m:r>
                      <a:rPr lang="en-US" sz="2000" b="0" i="0" dirty="0" smtClean="0">
                        <a:solidFill>
                          <a:schemeClr val="tx1"/>
                        </a:solidFill>
                        <a:latin typeface="Cambria Math" panose="02040503050406030204" pitchFamily="18" charset="0"/>
                        <a:cs typeface="Times New Roman" panose="02020603050405020304" pitchFamily="18" charset="0"/>
                      </a:rPr>
                      <m:t> </m:t>
                    </m:r>
                    <m:r>
                      <m:rPr>
                        <m:sty m:val="p"/>
                      </m:rPr>
                      <a:rPr lang="en-US" sz="2000" b="0" i="0" dirty="0" smtClean="0">
                        <a:solidFill>
                          <a:schemeClr val="tx1"/>
                        </a:solidFill>
                        <a:latin typeface="Cambria Math" panose="02040503050406030204" pitchFamily="18" charset="0"/>
                        <a:cs typeface="Times New Roman" panose="02020603050405020304" pitchFamily="18" charset="0"/>
                      </a:rPr>
                      <m:t>the</m:t>
                    </m:r>
                    <m:r>
                      <a:rPr lang="en-US" sz="2000" b="0" i="0" dirty="0" smtClean="0">
                        <a:solidFill>
                          <a:schemeClr val="tx1"/>
                        </a:solidFill>
                        <a:latin typeface="Cambria Math" panose="02040503050406030204" pitchFamily="18" charset="0"/>
                        <a:cs typeface="Times New Roman" panose="02020603050405020304" pitchFamily="18" charset="0"/>
                      </a:rPr>
                      <m:t> </m:t>
                    </m:r>
                    <m:r>
                      <m:rPr>
                        <m:sty m:val="p"/>
                      </m:rPr>
                      <a:rPr lang="en-US" sz="2000" b="0" i="0" dirty="0" smtClean="0">
                        <a:solidFill>
                          <a:schemeClr val="tx1"/>
                        </a:solidFill>
                        <a:latin typeface="Cambria Math" panose="02040503050406030204" pitchFamily="18" charset="0"/>
                        <a:cs typeface="Times New Roman" panose="02020603050405020304" pitchFamily="18" charset="0"/>
                      </a:rPr>
                      <m:t>data</m:t>
                    </m:r>
                    <m:r>
                      <a:rPr lang="en-US" sz="2000" b="0" i="0" dirty="0" smtClean="0">
                        <a:solidFill>
                          <a:schemeClr val="tx1"/>
                        </a:solidFill>
                        <a:latin typeface="Cambria Math" panose="02040503050406030204" pitchFamily="18" charset="0"/>
                        <a:cs typeface="Times New Roman" panose="02020603050405020304" pitchFamily="18" charset="0"/>
                      </a:rPr>
                      <m:t> </m:t>
                    </m:r>
                    <m:r>
                      <m:rPr>
                        <m:sty m:val="p"/>
                      </m:rPr>
                      <a:rPr lang="en-US" sz="2000" b="0" i="0" dirty="0" smtClean="0">
                        <a:solidFill>
                          <a:schemeClr val="tx1"/>
                        </a:solidFill>
                        <a:latin typeface="Cambria Math" panose="02040503050406030204" pitchFamily="18" charset="0"/>
                        <a:cs typeface="Times New Roman" panose="02020603050405020304" pitchFamily="18" charset="0"/>
                      </a:rPr>
                      <m:t>point</m:t>
                    </m:r>
                  </m:oMath>
                </a14:m>
                <a:endParaRPr lang="en-US" i="1" dirty="0">
                  <a:solidFill>
                    <a:schemeClr val="tx1"/>
                  </a:solidFill>
                  <a:latin typeface="Cambria Math" panose="02040503050406030204" pitchFamily="18" charset="0"/>
                  <a:cs typeface="Times New Roman" panose="02020603050405020304" pitchFamily="18" charset="0"/>
                </a:endParaRPr>
              </a:p>
              <a:p>
                <a14:m>
                  <m:oMath xmlns:m="http://schemas.openxmlformats.org/officeDocument/2006/math">
                    <m:sSub>
                      <m:sSubPr>
                        <m:ctrlPr>
                          <a:rPr lang="en-US" i="1" smtClean="0">
                            <a:solidFill>
                              <a:schemeClr val="tx1"/>
                            </a:solidFill>
                            <a:latin typeface="Cambria Math" panose="02040503050406030204" pitchFamily="18" charset="0"/>
                            <a:cs typeface="Times New Roman" panose="02020603050405020304" pitchFamily="18" charset="0"/>
                          </a:rPr>
                        </m:ctrlPr>
                      </m:sSubPr>
                      <m:e>
                        <m:r>
                          <a:rPr lang="en-US" b="0" i="1" smtClean="0">
                            <a:solidFill>
                              <a:schemeClr val="tx1"/>
                            </a:solidFill>
                            <a:latin typeface="Cambria Math" panose="02040503050406030204" pitchFamily="18" charset="0"/>
                            <a:cs typeface="Times New Roman" panose="02020603050405020304" pitchFamily="18" charset="0"/>
                          </a:rPr>
                          <m:t>𝑉</m:t>
                        </m:r>
                      </m:e>
                      <m:sub>
                        <m:r>
                          <a:rPr lang="en-US" b="0" i="1" smtClean="0">
                            <a:solidFill>
                              <a:schemeClr val="tx1"/>
                            </a:solidFill>
                            <a:latin typeface="Cambria Math" panose="02040503050406030204" pitchFamily="18" charset="0"/>
                            <a:cs typeface="Times New Roman" panose="02020603050405020304" pitchFamily="18" charset="0"/>
                          </a:rPr>
                          <m:t>11</m:t>
                        </m:r>
                      </m:sub>
                    </m:sSub>
                  </m:oMath>
                </a14:m>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f>
                      <m:fPr>
                        <m:ctrlPr>
                          <a:rPr lang="en-US" i="1" dirty="0" smtClean="0">
                            <a:solidFill>
                              <a:schemeClr val="tx1"/>
                            </a:solidFill>
                            <a:latin typeface="Cambria Math" panose="02040503050406030204" pitchFamily="18" charset="0"/>
                            <a:cs typeface="Times New Roman" panose="02020603050405020304" pitchFamily="18" charset="0"/>
                          </a:rPr>
                        </m:ctrlPr>
                      </m:fPr>
                      <m:num>
                        <m:r>
                          <a:rPr lang="en-US" b="0" i="1" dirty="0" smtClean="0">
                            <a:solidFill>
                              <a:schemeClr val="tx1"/>
                            </a:solidFill>
                            <a:latin typeface="Cambria Math" panose="02040503050406030204" pitchFamily="18" charset="0"/>
                            <a:cs typeface="Times New Roman" panose="02020603050405020304" pitchFamily="18" charset="0"/>
                          </a:rPr>
                          <m:t>(</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0.8</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∗1+</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0.7</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 ∗2 +</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0.2</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∗4+</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0.1</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∗7 )</m:t>
                        </m:r>
                      </m:num>
                      <m:den>
                        <m:r>
                          <a:rPr lang="en-US" b="0" i="1" dirty="0" smtClean="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0.7</m:t>
                            </m:r>
                          </m:e>
                          <m:sup>
                            <m:r>
                              <a:rPr lang="en-US" i="1" dirty="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m:t>
                        </m:r>
                      </m:den>
                    </m:f>
                  </m:oMath>
                </a14:m>
                <a:r>
                  <a:rPr lang="en-US" dirty="0">
                    <a:solidFill>
                      <a:schemeClr val="tx1"/>
                    </a:solidFill>
                    <a:latin typeface="Times New Roman" panose="02020603050405020304" pitchFamily="18" charset="0"/>
                    <a:cs typeface="Times New Roman" panose="02020603050405020304" pitchFamily="18" charset="0"/>
                  </a:rPr>
                  <a:t>=1.568    </a:t>
                </a:r>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𝑉</m:t>
                        </m:r>
                      </m:e>
                      <m:sub>
                        <m:r>
                          <a:rPr lang="en-US" b="0" i="1" smtClean="0">
                            <a:solidFill>
                              <a:schemeClr val="tx1"/>
                            </a:solidFill>
                            <a:latin typeface="Cambria Math" panose="02040503050406030204" pitchFamily="18" charset="0"/>
                            <a:cs typeface="Times New Roman" panose="02020603050405020304" pitchFamily="18" charset="0"/>
                          </a:rPr>
                          <m:t>2</m:t>
                        </m:r>
                        <m:r>
                          <a:rPr lang="en-US" i="1">
                            <a:solidFill>
                              <a:schemeClr val="tx1"/>
                            </a:solidFill>
                            <a:latin typeface="Cambria Math" panose="02040503050406030204" pitchFamily="18" charset="0"/>
                            <a:cs typeface="Times New Roman" panose="02020603050405020304" pitchFamily="18" charset="0"/>
                          </a:rPr>
                          <m:t>1</m:t>
                        </m:r>
                      </m:sub>
                    </m:sSub>
                  </m:oMath>
                </a14:m>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f>
                      <m:fPr>
                        <m:ctrlPr>
                          <a:rPr lang="en-US" i="1" dirty="0">
                            <a:solidFill>
                              <a:schemeClr val="tx1"/>
                            </a:solidFill>
                            <a:latin typeface="Cambria Math" panose="02040503050406030204" pitchFamily="18" charset="0"/>
                            <a:cs typeface="Times New Roman" panose="02020603050405020304" pitchFamily="18" charset="0"/>
                          </a:rPr>
                        </m:ctrlPr>
                      </m:fPr>
                      <m:num>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∗1+</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3</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∗2 +</m:t>
                        </m:r>
                        <m:sSup>
                          <m:sSupPr>
                            <m:ctrlPr>
                              <a:rPr lang="en-US" i="1" dirty="0" smtClean="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∗4+</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9</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∗7 )</m:t>
                        </m:r>
                      </m:num>
                      <m:den>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3</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smtClean="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m:t>
                            </m:r>
                            <m:r>
                              <a:rPr lang="en-US" b="0" i="1" dirty="0" smtClean="0">
                                <a:solidFill>
                                  <a:schemeClr val="tx1"/>
                                </a:solidFill>
                                <a:latin typeface="Cambria Math" panose="02040503050406030204" pitchFamily="18" charset="0"/>
                                <a:cs typeface="Times New Roman" panose="02020603050405020304" pitchFamily="18" charset="0"/>
                              </a:rPr>
                              <m:t>9</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den>
                    </m:f>
                  </m:oMath>
                </a14:m>
                <a:r>
                  <a:rPr lang="en-US" dirty="0">
                    <a:solidFill>
                      <a:schemeClr val="tx1"/>
                    </a:solidFill>
                    <a:latin typeface="Times New Roman" panose="02020603050405020304" pitchFamily="18" charset="0"/>
                    <a:cs typeface="Times New Roman" panose="02020603050405020304" pitchFamily="18" charset="0"/>
                  </a:rPr>
                  <a:t>=5.35</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𝑉</m:t>
                        </m:r>
                      </m:e>
                      <m:sub>
                        <m:r>
                          <a:rPr lang="en-US" i="1">
                            <a:solidFill>
                              <a:schemeClr val="tx1"/>
                            </a:solidFill>
                            <a:latin typeface="Cambria Math" panose="02040503050406030204" pitchFamily="18" charset="0"/>
                            <a:cs typeface="Times New Roman" panose="02020603050405020304" pitchFamily="18" charset="0"/>
                          </a:rPr>
                          <m:t>1</m:t>
                        </m:r>
                        <m:r>
                          <a:rPr lang="en-US" b="0" i="1" smtClean="0">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f>
                      <m:fPr>
                        <m:ctrlPr>
                          <a:rPr lang="en-US" i="1" dirty="0">
                            <a:solidFill>
                              <a:schemeClr val="tx1"/>
                            </a:solidFill>
                            <a:latin typeface="Cambria Math" panose="02040503050406030204" pitchFamily="18" charset="0"/>
                            <a:cs typeface="Times New Roman" panose="02020603050405020304" pitchFamily="18" charset="0"/>
                          </a:rPr>
                        </m:ctrlPr>
                      </m:fPr>
                      <m:num>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3</m:t>
                        </m:r>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0.7</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r>
                          <a:rPr lang="en-US" b="0" i="1" dirty="0" smtClean="0">
                            <a:solidFill>
                              <a:schemeClr val="tx1"/>
                            </a:solidFill>
                            <a:latin typeface="Cambria Math" panose="02040503050406030204" pitchFamily="18" charset="0"/>
                            <a:cs typeface="Times New Roman" panose="02020603050405020304" pitchFamily="18" charset="0"/>
                          </a:rPr>
                          <m:t>5</m:t>
                        </m:r>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8</m:t>
                        </m:r>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9</m:t>
                        </m:r>
                        <m:r>
                          <a:rPr lang="en-US" i="1" dirty="0">
                            <a:solidFill>
                              <a:schemeClr val="tx1"/>
                            </a:solidFill>
                            <a:latin typeface="Cambria Math" panose="02040503050406030204" pitchFamily="18" charset="0"/>
                            <a:cs typeface="Times New Roman" panose="02020603050405020304" pitchFamily="18" charset="0"/>
                          </a:rPr>
                          <m:t> )</m:t>
                        </m:r>
                      </m:num>
                      <m:den>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0.7</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den>
                    </m:f>
                  </m:oMath>
                </a14:m>
                <a:r>
                  <a:rPr lang="en-US" dirty="0">
                    <a:solidFill>
                      <a:schemeClr val="tx1"/>
                    </a:solidFill>
                    <a:latin typeface="Times New Roman" panose="02020603050405020304" pitchFamily="18" charset="0"/>
                    <a:cs typeface="Times New Roman" panose="02020603050405020304" pitchFamily="18" charset="0"/>
                  </a:rPr>
                  <a:t>=4.051 </a:t>
                </a:r>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b="0" i="1" smtClean="0">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𝑉</m:t>
                        </m:r>
                      </m:e>
                      <m:sub>
                        <m:r>
                          <a:rPr lang="en-US" i="1">
                            <a:solidFill>
                              <a:schemeClr val="tx1"/>
                            </a:solidFill>
                            <a:latin typeface="Cambria Math" panose="02040503050406030204" pitchFamily="18" charset="0"/>
                            <a:cs typeface="Times New Roman" panose="02020603050405020304" pitchFamily="18" charset="0"/>
                          </a:rPr>
                          <m:t>2</m:t>
                        </m:r>
                        <m:r>
                          <a:rPr lang="en-US" b="0" i="1" smtClean="0">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f>
                      <m:fPr>
                        <m:ctrlPr>
                          <a:rPr lang="en-US" i="1" dirty="0">
                            <a:solidFill>
                              <a:schemeClr val="tx1"/>
                            </a:solidFill>
                            <a:latin typeface="Cambria Math" panose="02040503050406030204" pitchFamily="18" charset="0"/>
                            <a:cs typeface="Times New Roman" panose="02020603050405020304" pitchFamily="18" charset="0"/>
                          </a:rPr>
                        </m:ctrlPr>
                      </m:fPr>
                      <m:num>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3</m:t>
                        </m:r>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0.3</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r>
                          <a:rPr lang="en-US" b="0" i="1" dirty="0" smtClean="0">
                            <a:solidFill>
                              <a:schemeClr val="tx1"/>
                            </a:solidFill>
                            <a:latin typeface="Cambria Math" panose="02040503050406030204" pitchFamily="18" charset="0"/>
                            <a:cs typeface="Times New Roman" panose="02020603050405020304" pitchFamily="18" charset="0"/>
                          </a:rPr>
                          <m:t>5</m:t>
                        </m:r>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8</m:t>
                        </m:r>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0.9</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9</m:t>
                        </m:r>
                        <m:r>
                          <a:rPr lang="en-US" i="1" dirty="0">
                            <a:solidFill>
                              <a:schemeClr val="tx1"/>
                            </a:solidFill>
                            <a:latin typeface="Cambria Math" panose="02040503050406030204" pitchFamily="18" charset="0"/>
                            <a:cs typeface="Times New Roman" panose="02020603050405020304" pitchFamily="18" charset="0"/>
                          </a:rPr>
                          <m:t> )</m:t>
                        </m:r>
                      </m:num>
                      <m:den>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0.2</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0.3</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0.9</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m:t>
                        </m:r>
                      </m:den>
                    </m:f>
                  </m:oMath>
                </a14:m>
                <a:r>
                  <a:rPr lang="en-US" dirty="0">
                    <a:solidFill>
                      <a:schemeClr val="tx1"/>
                    </a:solidFill>
                    <a:latin typeface="Times New Roman" panose="02020603050405020304" pitchFamily="18" charset="0"/>
                    <a:cs typeface="Times New Roman" panose="02020603050405020304" pitchFamily="18" charset="0"/>
                  </a:rPr>
                  <a:t>=8.215</a:t>
                </a:r>
              </a:p>
              <a:p>
                <a:r>
                  <a:rPr lang="en-US" b="1" dirty="0">
                    <a:solidFill>
                      <a:srgbClr val="FF0000"/>
                    </a:solidFill>
                    <a:latin typeface="Times New Roman" panose="02020603050405020304" pitchFamily="18" charset="0"/>
                    <a:cs typeface="Times New Roman" panose="02020603050405020304" pitchFamily="18" charset="0"/>
                  </a:rPr>
                  <a:t>Centroids are (1.568,4.051) and (5.35,8.215)</a:t>
                </a:r>
              </a:p>
            </p:txBody>
          </p:sp>
        </mc:Choice>
        <mc:Fallback xmlns="">
          <p:sp>
            <p:nvSpPr>
              <p:cNvPr id="3" name="Content Placeholder 2">
                <a:extLst>
                  <a:ext uri="{FF2B5EF4-FFF2-40B4-BE49-F238E27FC236}">
                    <a16:creationId xmlns:a16="http://schemas.microsoft.com/office/drawing/2014/main" id="{342936EE-7E1D-8C49-64D3-03808AB38194}"/>
                  </a:ext>
                </a:extLst>
              </p:cNvPr>
              <p:cNvSpPr>
                <a:spLocks noGrp="1" noRot="1" noChangeAspect="1" noMove="1" noResize="1" noEditPoints="1" noAdjustHandles="1" noChangeArrowheads="1" noChangeShapeType="1" noTextEdit="1"/>
              </p:cNvSpPr>
              <p:nvPr>
                <p:ph idx="1"/>
              </p:nvPr>
            </p:nvSpPr>
            <p:spPr>
              <a:xfrm>
                <a:off x="895738" y="821093"/>
                <a:ext cx="10823511" cy="5327779"/>
              </a:xfrm>
              <a:blipFill>
                <a:blip r:embed="rId2"/>
                <a:stretch>
                  <a:fillRect l="-1014" t="-1716" b="-2403"/>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13C2F8E8-0C6A-7BE1-58CD-F7509C339F5A}"/>
              </a:ext>
            </a:extLst>
          </p:cNvPr>
          <p:cNvGraphicFramePr>
            <a:graphicFrameLocks noGrp="1"/>
          </p:cNvGraphicFramePr>
          <p:nvPr>
            <p:extLst>
              <p:ext uri="{D42A27DB-BD31-4B8C-83A1-F6EECF244321}">
                <p14:modId xmlns:p14="http://schemas.microsoft.com/office/powerpoint/2010/main" val="3624774835"/>
              </p:ext>
            </p:extLst>
          </p:nvPr>
        </p:nvGraphicFramePr>
        <p:xfrm>
          <a:off x="5887614" y="709128"/>
          <a:ext cx="5542385" cy="1112520"/>
        </p:xfrm>
        <a:graphic>
          <a:graphicData uri="http://schemas.openxmlformats.org/drawingml/2006/table">
            <a:tbl>
              <a:tblPr firstRow="1" bandRow="1">
                <a:tableStyleId>{5C22544A-7EE6-4342-B048-85BDC9FD1C3A}</a:tableStyleId>
              </a:tblPr>
              <a:tblGrid>
                <a:gridCol w="1108477">
                  <a:extLst>
                    <a:ext uri="{9D8B030D-6E8A-4147-A177-3AD203B41FA5}">
                      <a16:colId xmlns:a16="http://schemas.microsoft.com/office/drawing/2014/main" val="3328759281"/>
                    </a:ext>
                  </a:extLst>
                </a:gridCol>
                <a:gridCol w="1108477">
                  <a:extLst>
                    <a:ext uri="{9D8B030D-6E8A-4147-A177-3AD203B41FA5}">
                      <a16:colId xmlns:a16="http://schemas.microsoft.com/office/drawing/2014/main" val="3098239073"/>
                    </a:ext>
                  </a:extLst>
                </a:gridCol>
                <a:gridCol w="1108477">
                  <a:extLst>
                    <a:ext uri="{9D8B030D-6E8A-4147-A177-3AD203B41FA5}">
                      <a16:colId xmlns:a16="http://schemas.microsoft.com/office/drawing/2014/main" val="4173124280"/>
                    </a:ext>
                  </a:extLst>
                </a:gridCol>
                <a:gridCol w="1108477">
                  <a:extLst>
                    <a:ext uri="{9D8B030D-6E8A-4147-A177-3AD203B41FA5}">
                      <a16:colId xmlns:a16="http://schemas.microsoft.com/office/drawing/2014/main" val="2657941240"/>
                    </a:ext>
                  </a:extLst>
                </a:gridCol>
                <a:gridCol w="1108477">
                  <a:extLst>
                    <a:ext uri="{9D8B030D-6E8A-4147-A177-3AD203B41FA5}">
                      <a16:colId xmlns:a16="http://schemas.microsoft.com/office/drawing/2014/main" val="514824522"/>
                    </a:ext>
                  </a:extLst>
                </a:gridCol>
              </a:tblGrid>
              <a:tr h="370840">
                <a:tc>
                  <a:txBody>
                    <a:bodyPr/>
                    <a:lstStyle/>
                    <a:p>
                      <a:r>
                        <a:rPr lang="en-US" sz="1800" dirty="0">
                          <a:latin typeface="Times New Roman" panose="02020603050405020304" pitchFamily="18" charset="0"/>
                          <a:cs typeface="Times New Roman" panose="02020603050405020304" pitchFamily="18" charset="0"/>
                        </a:rPr>
                        <a:t>Clusters </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(1,3)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(4,8)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(7,9)</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4226185"/>
                  </a:ext>
                </a:extLst>
              </a:tr>
              <a:tr h="370840">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0.7</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0.1</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7619061"/>
                  </a:ext>
                </a:extLst>
              </a:tr>
              <a:tr h="370840">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1302004"/>
                  </a:ext>
                </a:extLst>
              </a:tr>
            </a:tbl>
          </a:graphicData>
        </a:graphic>
      </p:graphicFrame>
    </p:spTree>
    <p:extLst>
      <p:ext uri="{BB962C8B-B14F-4D97-AF65-F5344CB8AC3E}">
        <p14:creationId xmlns:p14="http://schemas.microsoft.com/office/powerpoint/2010/main" val="2343369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14D448-2393-1B80-2032-CAB068EB1039}"/>
                  </a:ext>
                </a:extLst>
              </p:cNvPr>
              <p:cNvSpPr>
                <a:spLocks noGrp="1"/>
              </p:cNvSpPr>
              <p:nvPr>
                <p:ph idx="1"/>
              </p:nvPr>
            </p:nvSpPr>
            <p:spPr>
              <a:xfrm>
                <a:off x="914400" y="671804"/>
                <a:ext cx="9982197" cy="5204064"/>
              </a:xfrm>
            </p:spPr>
            <p:txBody>
              <a:bodyPr>
                <a:normAutofit lnSpcReduction="10000"/>
              </a:bodyPr>
              <a:lstStyle/>
              <a:p>
                <a:r>
                  <a:rPr lang="en-US" b="1" dirty="0">
                    <a:solidFill>
                      <a:schemeClr val="tx1"/>
                    </a:solidFill>
                    <a:latin typeface="Times New Roman" panose="02020603050405020304" pitchFamily="18" charset="0"/>
                    <a:cs typeface="Times New Roman" panose="02020603050405020304" pitchFamily="18" charset="0"/>
                  </a:rPr>
                  <a:t>Step 3: Find out the distance of each point from the centroid</a:t>
                </a:r>
              </a:p>
              <a:p>
                <a14:m>
                  <m:oMath xmlns:m="http://schemas.openxmlformats.org/officeDocument/2006/math">
                    <m:sSub>
                      <m:sSubPr>
                        <m:ctrlPr>
                          <a:rPr lang="en-US" i="1" smtClean="0">
                            <a:solidFill>
                              <a:schemeClr val="tx1"/>
                            </a:solidFill>
                            <a:latin typeface="Cambria Math" panose="02040503050406030204" pitchFamily="18" charset="0"/>
                            <a:cs typeface="Times New Roman" panose="02020603050405020304" pitchFamily="18" charset="0"/>
                          </a:rPr>
                        </m:ctrlPr>
                      </m:sSubPr>
                      <m:e>
                        <m:r>
                          <a:rPr lang="en-US" b="0" i="1" smtClean="0">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11</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smtClean="0">
                            <a:solidFill>
                              <a:schemeClr val="tx1"/>
                            </a:solidFill>
                            <a:latin typeface="Cambria Math" panose="02040503050406030204" pitchFamily="18" charset="0"/>
                            <a:cs typeface="Times New Roman" panose="02020603050405020304" pitchFamily="18" charset="0"/>
                          </a:rPr>
                        </m:ctrlPr>
                      </m:radPr>
                      <m:deg/>
                      <m:e>
                        <m:r>
                          <a:rPr lang="en-US" b="0" i="1" dirty="0" smtClean="0">
                            <a:solidFill>
                              <a:schemeClr val="tx1"/>
                            </a:solidFill>
                            <a:latin typeface="Cambria Math" panose="02040503050406030204" pitchFamily="18" charset="0"/>
                            <a:cs typeface="Times New Roman" panose="02020603050405020304" pitchFamily="18" charset="0"/>
                          </a:rPr>
                          <m:t>  </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(1−1.568)</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 </m:t>
                        </m:r>
                        <m:sSup>
                          <m:sSupPr>
                            <m:ctrlPr>
                              <a:rPr lang="en-US" b="0" i="1" dirty="0" smtClean="0">
                                <a:solidFill>
                                  <a:schemeClr val="tx1"/>
                                </a:solidFill>
                                <a:latin typeface="Cambria Math" panose="02040503050406030204" pitchFamily="18" charset="0"/>
                                <a:cs typeface="Times New Roman" panose="02020603050405020304" pitchFamily="18" charset="0"/>
                              </a:rPr>
                            </m:ctrlPr>
                          </m:sSupPr>
                          <m:e>
                            <m:r>
                              <a:rPr lang="en-US" b="0" i="1" dirty="0" smtClean="0">
                                <a:solidFill>
                                  <a:schemeClr val="tx1"/>
                                </a:solidFill>
                                <a:latin typeface="Cambria Math" panose="02040503050406030204" pitchFamily="18" charset="0"/>
                                <a:cs typeface="Times New Roman" panose="02020603050405020304" pitchFamily="18" charset="0"/>
                              </a:rPr>
                              <m:t>(3−4.051)</m:t>
                            </m:r>
                          </m:e>
                          <m:sup>
                            <m:r>
                              <a:rPr lang="en-US" b="0" i="1" dirty="0" smtClean="0">
                                <a:solidFill>
                                  <a:schemeClr val="tx1"/>
                                </a:solidFill>
                                <a:latin typeface="Cambria Math" panose="02040503050406030204" pitchFamily="18" charset="0"/>
                                <a:cs typeface="Times New Roman" panose="02020603050405020304" pitchFamily="18" charset="0"/>
                              </a:rPr>
                              <m:t>2</m:t>
                            </m:r>
                          </m:sup>
                        </m:sSup>
                        <m:r>
                          <a:rPr lang="en-US" b="0" i="1" dirty="0" smtClean="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a:t>
                </a:r>
                <a:r>
                  <a:rPr lang="en-IN" dirty="0">
                    <a:solidFill>
                      <a:srgbClr val="FF0000"/>
                    </a:solidFill>
                    <a:latin typeface="Times New Roman" panose="02020603050405020304" pitchFamily="18" charset="0"/>
                    <a:cs typeface="Times New Roman" panose="02020603050405020304" pitchFamily="18" charset="0"/>
                  </a:rPr>
                  <a:t>1.2</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i="1">
                            <a:solidFill>
                              <a:schemeClr val="tx1"/>
                            </a:solidFill>
                            <a:latin typeface="Cambria Math" panose="02040503050406030204" pitchFamily="18" charset="0"/>
                            <a:cs typeface="Times New Roman" panose="02020603050405020304" pitchFamily="18" charset="0"/>
                          </a:rPr>
                          <m:t>1</m:t>
                        </m:r>
                        <m:r>
                          <a:rPr lang="en-US" b="0" i="1" smtClean="0">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(1−</m:t>
                            </m:r>
                            <m:r>
                              <a:rPr lang="en-US" b="0" i="1" dirty="0" smtClean="0">
                                <a:solidFill>
                                  <a:schemeClr val="tx1"/>
                                </a:solidFill>
                                <a:latin typeface="Cambria Math" panose="02040503050406030204" pitchFamily="18" charset="0"/>
                                <a:cs typeface="Times New Roman" panose="02020603050405020304" pitchFamily="18" charset="0"/>
                              </a:rPr>
                              <m:t>5.35</m:t>
                            </m:r>
                            <m:r>
                              <a:rPr lang="en-US" i="1" dirty="0">
                                <a:solidFill>
                                  <a:schemeClr val="tx1"/>
                                </a:solidFill>
                                <a:latin typeface="Cambria Math" panose="02040503050406030204" pitchFamily="18" charset="0"/>
                                <a:cs typeface="Times New Roman" panose="02020603050405020304" pitchFamily="18" charset="0"/>
                              </a:rPr>
                              <m:t>)</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(3−4.051)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=6.79</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2</m:t>
                        </m:r>
                        <m:r>
                          <a:rPr lang="en-US" i="1">
                            <a:solidFill>
                              <a:schemeClr val="tx1"/>
                            </a:solidFill>
                            <a:latin typeface="Cambria Math" panose="02040503050406030204" pitchFamily="18" charset="0"/>
                            <a:cs typeface="Times New Roman" panose="02020603050405020304" pitchFamily="18" charset="0"/>
                          </a:rPr>
                          <m:t>1</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2</m:t>
                            </m:r>
                            <m:r>
                              <a:rPr lang="en-US" i="1" dirty="0">
                                <a:solidFill>
                                  <a:schemeClr val="tx1"/>
                                </a:solidFill>
                                <a:latin typeface="Cambria Math" panose="02040503050406030204" pitchFamily="18" charset="0"/>
                                <a:cs typeface="Times New Roman" panose="02020603050405020304" pitchFamily="18" charset="0"/>
                              </a:rPr>
                              <m:t>−1.568)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smtClean="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5</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a:t>
                </a:r>
                <a:r>
                  <a:rPr lang="en-IN" dirty="0">
                    <a:solidFill>
                      <a:srgbClr val="FF0000"/>
                    </a:solidFill>
                    <a:latin typeface="Times New Roman" panose="02020603050405020304" pitchFamily="18" charset="0"/>
                    <a:cs typeface="Times New Roman" panose="02020603050405020304" pitchFamily="18" charset="0"/>
                  </a:rPr>
                  <a:t>1.04</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2</m:t>
                        </m:r>
                        <m:r>
                          <a:rPr lang="en-US" i="1">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smtClean="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2</m:t>
                            </m:r>
                            <m:r>
                              <a:rPr lang="en-US" i="1" dirty="0">
                                <a:solidFill>
                                  <a:schemeClr val="tx1"/>
                                </a:solidFill>
                                <a:latin typeface="Cambria Math" panose="02040503050406030204" pitchFamily="18" charset="0"/>
                                <a:cs typeface="Times New Roman" panose="02020603050405020304" pitchFamily="18" charset="0"/>
                              </a:rPr>
                              <m:t>−5.35)</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5</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=4.64</a:t>
                </a:r>
              </a:p>
              <a:p>
                <a14:m>
                  <m:oMath xmlns:m="http://schemas.openxmlformats.org/officeDocument/2006/math">
                    <m:sSub>
                      <m:sSubPr>
                        <m:ctrlPr>
                          <a:rPr lang="en-US" i="1" smtClean="0">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3</m:t>
                        </m:r>
                        <m:r>
                          <a:rPr lang="en-US" i="1">
                            <a:solidFill>
                              <a:schemeClr val="tx1"/>
                            </a:solidFill>
                            <a:latin typeface="Cambria Math" panose="02040503050406030204" pitchFamily="18" charset="0"/>
                            <a:cs typeface="Times New Roman" panose="02020603050405020304" pitchFamily="18" charset="0"/>
                          </a:rPr>
                          <m:t>1</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4</m:t>
                            </m:r>
                            <m:r>
                              <a:rPr lang="en-US" i="1" dirty="0">
                                <a:solidFill>
                                  <a:schemeClr val="tx1"/>
                                </a:solidFill>
                                <a:latin typeface="Cambria Math" panose="02040503050406030204" pitchFamily="18" charset="0"/>
                                <a:cs typeface="Times New Roman" panose="02020603050405020304" pitchFamily="18" charset="0"/>
                              </a:rPr>
                              <m:t>−1.568)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8</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=4.63</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3</m:t>
                        </m:r>
                        <m:r>
                          <a:rPr lang="en-US" i="1">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4</m:t>
                            </m:r>
                            <m:r>
                              <a:rPr lang="en-US" i="1" dirty="0">
                                <a:solidFill>
                                  <a:schemeClr val="tx1"/>
                                </a:solidFill>
                                <a:latin typeface="Cambria Math" panose="02040503050406030204" pitchFamily="18" charset="0"/>
                                <a:cs typeface="Times New Roman" panose="02020603050405020304" pitchFamily="18" charset="0"/>
                              </a:rPr>
                              <m:t>−5.35)</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8</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a:t>
                </a:r>
                <a:r>
                  <a:rPr lang="en-IN" dirty="0">
                    <a:solidFill>
                      <a:srgbClr val="FF0000"/>
                    </a:solidFill>
                    <a:latin typeface="Times New Roman" panose="02020603050405020304" pitchFamily="18" charset="0"/>
                    <a:cs typeface="Times New Roman" panose="02020603050405020304" pitchFamily="18" charset="0"/>
                  </a:rPr>
                  <a:t>1.36</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4</m:t>
                        </m:r>
                        <m:r>
                          <a:rPr lang="en-US" i="1">
                            <a:solidFill>
                              <a:schemeClr val="tx1"/>
                            </a:solidFill>
                            <a:latin typeface="Cambria Math" panose="02040503050406030204" pitchFamily="18" charset="0"/>
                            <a:cs typeface="Times New Roman" panose="02020603050405020304" pitchFamily="18" charset="0"/>
                          </a:rPr>
                          <m:t>1</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7</m:t>
                            </m:r>
                            <m:r>
                              <a:rPr lang="en-US" i="1" dirty="0">
                                <a:solidFill>
                                  <a:schemeClr val="tx1"/>
                                </a:solidFill>
                                <a:latin typeface="Cambria Math" panose="02040503050406030204" pitchFamily="18" charset="0"/>
                                <a:cs typeface="Times New Roman" panose="02020603050405020304" pitchFamily="18" charset="0"/>
                              </a:rPr>
                              <m:t>−1.568)</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9</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=7.34</a:t>
                </a:r>
              </a:p>
              <a:p>
                <a14:m>
                  <m:oMath xmlns:m="http://schemas.openxmlformats.org/officeDocument/2006/math">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𝐷</m:t>
                        </m:r>
                      </m:e>
                      <m:sub>
                        <m:r>
                          <a:rPr lang="en-US" b="0" i="1" smtClean="0">
                            <a:solidFill>
                              <a:schemeClr val="tx1"/>
                            </a:solidFill>
                            <a:latin typeface="Cambria Math" panose="02040503050406030204" pitchFamily="18" charset="0"/>
                            <a:cs typeface="Times New Roman" panose="02020603050405020304" pitchFamily="18" charset="0"/>
                          </a:rPr>
                          <m:t>4</m:t>
                        </m:r>
                        <m:r>
                          <a:rPr lang="en-US" i="1">
                            <a:solidFill>
                              <a:schemeClr val="tx1"/>
                            </a:solidFill>
                            <a:latin typeface="Cambria Math" panose="02040503050406030204" pitchFamily="18" charset="0"/>
                            <a:cs typeface="Times New Roman" panose="020206030504050203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dirty="0">
                            <a:solidFill>
                              <a:schemeClr val="tx1"/>
                            </a:solidFill>
                            <a:latin typeface="Cambria Math" panose="02040503050406030204" pitchFamily="18" charset="0"/>
                            <a:cs typeface="Times New Roman" panose="02020603050405020304" pitchFamily="18" charset="0"/>
                          </a:rPr>
                        </m:ctrlPr>
                      </m:radPr>
                      <m:deg/>
                      <m:e>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7</m:t>
                            </m:r>
                            <m:r>
                              <a:rPr lang="en-US" i="1" dirty="0">
                                <a:solidFill>
                                  <a:schemeClr val="tx1"/>
                                </a:solidFill>
                                <a:latin typeface="Cambria Math" panose="02040503050406030204" pitchFamily="18" charset="0"/>
                                <a:cs typeface="Times New Roman" panose="02020603050405020304" pitchFamily="18" charset="0"/>
                              </a:rPr>
                              <m:t>−5.35)</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sSup>
                          <m:sSupPr>
                            <m:ctrlPr>
                              <a:rPr lang="en-US" i="1" dirty="0">
                                <a:solidFill>
                                  <a:schemeClr val="tx1"/>
                                </a:solidFill>
                                <a:latin typeface="Cambria Math" panose="02040503050406030204" pitchFamily="18" charset="0"/>
                                <a:cs typeface="Times New Roman" panose="02020603050405020304" pitchFamily="18" charset="0"/>
                              </a:rPr>
                            </m:ctrlPr>
                          </m:sSupPr>
                          <m:e>
                            <m:r>
                              <a:rPr lang="en-US" i="1" dirty="0">
                                <a:solidFill>
                                  <a:schemeClr val="tx1"/>
                                </a:solidFill>
                                <a:latin typeface="Cambria Math" panose="02040503050406030204" pitchFamily="18" charset="0"/>
                                <a:cs typeface="Times New Roman" panose="02020603050405020304" pitchFamily="18" charset="0"/>
                              </a:rPr>
                              <m:t>(</m:t>
                            </m:r>
                            <m:r>
                              <a:rPr lang="en-US" b="0" i="1" dirty="0" smtClean="0">
                                <a:solidFill>
                                  <a:schemeClr val="tx1"/>
                                </a:solidFill>
                                <a:latin typeface="Cambria Math" panose="02040503050406030204" pitchFamily="18" charset="0"/>
                                <a:cs typeface="Times New Roman" panose="02020603050405020304" pitchFamily="18" charset="0"/>
                              </a:rPr>
                              <m:t>9</m:t>
                            </m:r>
                            <m:r>
                              <a:rPr lang="en-US" i="1" dirty="0">
                                <a:solidFill>
                                  <a:schemeClr val="tx1"/>
                                </a:solidFill>
                                <a:latin typeface="Cambria Math" panose="02040503050406030204" pitchFamily="18" charset="0"/>
                                <a:cs typeface="Times New Roman" panose="02020603050405020304" pitchFamily="18" charset="0"/>
                              </a:rPr>
                              <m:t>−4.051)</m:t>
                            </m:r>
                          </m:e>
                          <m:sup>
                            <m:r>
                              <a:rPr lang="en-US" i="1" dirty="0">
                                <a:solidFill>
                                  <a:schemeClr val="tx1"/>
                                </a:solidFill>
                                <a:latin typeface="Cambria Math" panose="02040503050406030204" pitchFamily="18" charset="0"/>
                                <a:cs typeface="Times New Roman" panose="02020603050405020304" pitchFamily="18" charset="0"/>
                              </a:rPr>
                              <m:t>2</m:t>
                            </m:r>
                          </m:sup>
                        </m:sSup>
                        <m:r>
                          <a:rPr lang="en-US" i="1" dirty="0">
                            <a:solidFill>
                              <a:schemeClr val="tx1"/>
                            </a:solidFill>
                            <a:latin typeface="Cambria Math" panose="02040503050406030204" pitchFamily="18" charset="0"/>
                            <a:cs typeface="Times New Roman" panose="02020603050405020304" pitchFamily="18" charset="0"/>
                          </a:rPr>
                          <m:t>  </m:t>
                        </m:r>
                      </m:e>
                    </m:rad>
                  </m:oMath>
                </a14:m>
                <a:r>
                  <a:rPr lang="en-IN" dirty="0">
                    <a:solidFill>
                      <a:schemeClr val="tx1"/>
                    </a:solidFill>
                    <a:latin typeface="Times New Roman" panose="02020603050405020304" pitchFamily="18" charset="0"/>
                    <a:cs typeface="Times New Roman" panose="02020603050405020304" pitchFamily="18" charset="0"/>
                  </a:rPr>
                  <a:t>=</a:t>
                </a:r>
                <a:r>
                  <a:rPr lang="en-IN" dirty="0">
                    <a:solidFill>
                      <a:srgbClr val="FF0000"/>
                    </a:solidFill>
                    <a:latin typeface="Times New Roman" panose="02020603050405020304" pitchFamily="18" charset="0"/>
                    <a:cs typeface="Times New Roman" panose="02020603050405020304" pitchFamily="18" charset="0"/>
                  </a:rPr>
                  <a:t>1.82</a:t>
                </a:r>
              </a:p>
              <a:p>
                <a:endParaRPr lang="en-IN"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814D448-2393-1B80-2032-CAB068EB1039}"/>
                  </a:ext>
                </a:extLst>
              </p:cNvPr>
              <p:cNvSpPr>
                <a:spLocks noGrp="1" noRot="1" noChangeAspect="1" noMove="1" noResize="1" noEditPoints="1" noAdjustHandles="1" noChangeArrowheads="1" noChangeShapeType="1" noTextEdit="1"/>
              </p:cNvSpPr>
              <p:nvPr>
                <p:ph idx="1"/>
              </p:nvPr>
            </p:nvSpPr>
            <p:spPr>
              <a:xfrm>
                <a:off x="914400" y="671804"/>
                <a:ext cx="9982197" cy="5204064"/>
              </a:xfrm>
              <a:blipFill>
                <a:blip r:embed="rId2"/>
                <a:stretch>
                  <a:fillRect l="-1100" t="-2342"/>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99FF161D-20D9-8FC7-FD7E-528E64097B75}"/>
              </a:ext>
            </a:extLst>
          </p:cNvPr>
          <p:cNvSpPr txBox="1"/>
          <p:nvPr/>
        </p:nvSpPr>
        <p:spPr>
          <a:xfrm>
            <a:off x="9162662" y="1175657"/>
            <a:ext cx="2705877" cy="1477328"/>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Centroids are (1.568, 4.051) and (5.35, 8.215)</a:t>
            </a:r>
          </a:p>
          <a:p>
            <a:endParaRPr lang="en-IN" dirty="0"/>
          </a:p>
        </p:txBody>
      </p:sp>
      <p:graphicFrame>
        <p:nvGraphicFramePr>
          <p:cNvPr id="6" name="Table 5">
            <a:extLst>
              <a:ext uri="{FF2B5EF4-FFF2-40B4-BE49-F238E27FC236}">
                <a16:creationId xmlns:a16="http://schemas.microsoft.com/office/drawing/2014/main" id="{ABB40089-F022-E342-AB1F-790CD58AC113}"/>
              </a:ext>
            </a:extLst>
          </p:cNvPr>
          <p:cNvGraphicFramePr>
            <a:graphicFrameLocks noGrp="1"/>
          </p:cNvGraphicFramePr>
          <p:nvPr>
            <p:extLst>
              <p:ext uri="{D42A27DB-BD31-4B8C-83A1-F6EECF244321}">
                <p14:modId xmlns:p14="http://schemas.microsoft.com/office/powerpoint/2010/main" val="2362279950"/>
              </p:ext>
            </p:extLst>
          </p:nvPr>
        </p:nvGraphicFramePr>
        <p:xfrm>
          <a:off x="7119257" y="2817300"/>
          <a:ext cx="4086810" cy="1594240"/>
        </p:xfrm>
        <a:graphic>
          <a:graphicData uri="http://schemas.openxmlformats.org/drawingml/2006/table">
            <a:tbl>
              <a:tblPr firstRow="1" bandRow="1">
                <a:tableStyleId>{5C22544A-7EE6-4342-B048-85BDC9FD1C3A}</a:tableStyleId>
              </a:tblPr>
              <a:tblGrid>
                <a:gridCol w="1108477">
                  <a:extLst>
                    <a:ext uri="{9D8B030D-6E8A-4147-A177-3AD203B41FA5}">
                      <a16:colId xmlns:a16="http://schemas.microsoft.com/office/drawing/2014/main" val="3328759281"/>
                    </a:ext>
                  </a:extLst>
                </a:gridCol>
                <a:gridCol w="776309">
                  <a:extLst>
                    <a:ext uri="{9D8B030D-6E8A-4147-A177-3AD203B41FA5}">
                      <a16:colId xmlns:a16="http://schemas.microsoft.com/office/drawing/2014/main" val="3098239073"/>
                    </a:ext>
                  </a:extLst>
                </a:gridCol>
                <a:gridCol w="681135">
                  <a:extLst>
                    <a:ext uri="{9D8B030D-6E8A-4147-A177-3AD203B41FA5}">
                      <a16:colId xmlns:a16="http://schemas.microsoft.com/office/drawing/2014/main" val="4173124280"/>
                    </a:ext>
                  </a:extLst>
                </a:gridCol>
                <a:gridCol w="802432">
                  <a:extLst>
                    <a:ext uri="{9D8B030D-6E8A-4147-A177-3AD203B41FA5}">
                      <a16:colId xmlns:a16="http://schemas.microsoft.com/office/drawing/2014/main" val="2657941240"/>
                    </a:ext>
                  </a:extLst>
                </a:gridCol>
                <a:gridCol w="718457">
                  <a:extLst>
                    <a:ext uri="{9D8B030D-6E8A-4147-A177-3AD203B41FA5}">
                      <a16:colId xmlns:a16="http://schemas.microsoft.com/office/drawing/2014/main" val="514824522"/>
                    </a:ext>
                  </a:extLst>
                </a:gridCol>
              </a:tblGrid>
              <a:tr h="481720">
                <a:tc>
                  <a:txBody>
                    <a:bodyPr/>
                    <a:lstStyle/>
                    <a:p>
                      <a:r>
                        <a:rPr lang="en-US" sz="1800" dirty="0">
                          <a:latin typeface="Times New Roman" panose="02020603050405020304" pitchFamily="18" charset="0"/>
                          <a:cs typeface="Times New Roman" panose="02020603050405020304" pitchFamily="18" charset="0"/>
                        </a:rPr>
                        <a:t>Clusters </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(1,3)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(4,8)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(7,9)</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4226185"/>
                  </a:ext>
                </a:extLst>
              </a:tr>
              <a:tr h="370840">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0.7</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0.1</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7619061"/>
                  </a:ext>
                </a:extLst>
              </a:tr>
              <a:tr h="370840">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1302004"/>
                  </a:ext>
                </a:extLst>
              </a:tr>
              <a:tr h="370840">
                <a:tc>
                  <a:txBody>
                    <a:bodyPr/>
                    <a:lstStyle/>
                    <a:p>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1</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1</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2</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2</a:t>
                      </a:r>
                      <a:endParaRPr lang="en-IN" sz="1800"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6978003"/>
                  </a:ext>
                </a:extLst>
              </a:tr>
            </a:tbl>
          </a:graphicData>
        </a:graphic>
      </p:graphicFrame>
    </p:spTree>
    <p:extLst>
      <p:ext uri="{BB962C8B-B14F-4D97-AF65-F5344CB8AC3E}">
        <p14:creationId xmlns:p14="http://schemas.microsoft.com/office/powerpoint/2010/main" val="1053036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354D93-6F82-7C86-F3D1-B5010AC31E86}"/>
                  </a:ext>
                </a:extLst>
              </p:cNvPr>
              <p:cNvSpPr>
                <a:spLocks noGrp="1"/>
              </p:cNvSpPr>
              <p:nvPr>
                <p:ph idx="1"/>
              </p:nvPr>
            </p:nvSpPr>
            <p:spPr>
              <a:xfrm>
                <a:off x="886409" y="699796"/>
                <a:ext cx="10543591" cy="5458408"/>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Step 4: Update membership values</a:t>
                </a:r>
              </a:p>
              <a:p>
                <a14:m>
                  <m:oMath xmlns:m="http://schemas.openxmlformats.org/officeDocument/2006/math">
                    <m:sSub>
                      <m:sSubPr>
                        <m:ctrlPr>
                          <a:rPr lang="en-IN" b="1" i="1" smtClean="0">
                            <a:solidFill>
                              <a:schemeClr val="tx1"/>
                            </a:solidFill>
                            <a:latin typeface="Cambria Math" panose="02040503050406030204" pitchFamily="18" charset="0"/>
                            <a:cs typeface="Times New Roman" panose="02020603050405020304" pitchFamily="18" charset="0"/>
                          </a:rPr>
                        </m:ctrlPr>
                      </m:sSubPr>
                      <m:e>
                        <m:r>
                          <a:rPr lang="en-IN"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1" i="1" smtClean="0">
                            <a:solidFill>
                              <a:schemeClr val="tx1"/>
                            </a:solidFill>
                            <a:latin typeface="Cambria Math" panose="02040503050406030204" pitchFamily="18" charset="0"/>
                            <a:cs typeface="Times New Roman" panose="02020603050405020304" pitchFamily="18" charset="0"/>
                          </a:rPr>
                          <m:t>𝑲𝒊</m:t>
                        </m:r>
                      </m:sub>
                    </m:sSub>
                    <m:r>
                      <a:rPr lang="en-US" b="1" i="0" smtClean="0">
                        <a:solidFill>
                          <a:schemeClr val="tx1"/>
                        </a:solidFill>
                        <a:latin typeface="Cambria Math" panose="02040503050406030204" pitchFamily="18" charset="0"/>
                        <a:cs typeface="Times New Roman" panose="02020603050405020304" pitchFamily="18" charset="0"/>
                      </a:rPr>
                      <m:t>=</m:t>
                    </m:r>
                    <m:nary>
                      <m:naryPr>
                        <m:chr m:val="∑"/>
                        <m:ctrlPr>
                          <a:rPr lang="en-US" b="1" i="1" smtClean="0">
                            <a:solidFill>
                              <a:schemeClr val="tx1"/>
                            </a:solidFill>
                            <a:latin typeface="Cambria Math" panose="02040503050406030204" pitchFamily="18" charset="0"/>
                            <a:cs typeface="Times New Roman" panose="02020603050405020304" pitchFamily="18" charset="0"/>
                          </a:rPr>
                        </m:ctrlPr>
                      </m:naryPr>
                      <m:sub>
                        <m:r>
                          <m:rPr>
                            <m:brk m:alnAt="23"/>
                          </m:rPr>
                          <a:rPr lang="en-US" b="1" i="1" smtClean="0">
                            <a:solidFill>
                              <a:schemeClr val="tx1"/>
                            </a:solidFill>
                            <a:latin typeface="Cambria Math" panose="02040503050406030204" pitchFamily="18" charset="0"/>
                            <a:cs typeface="Times New Roman" panose="02020603050405020304" pitchFamily="18" charset="0"/>
                          </a:rPr>
                          <m:t>𝒋</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sub>
                      <m:sup>
                        <m:r>
                          <a:rPr lang="en-US" b="1" i="1" smtClean="0">
                            <a:solidFill>
                              <a:schemeClr val="tx1"/>
                            </a:solidFill>
                            <a:latin typeface="Cambria Math" panose="02040503050406030204" pitchFamily="18" charset="0"/>
                            <a:cs typeface="Times New Roman" panose="02020603050405020304" pitchFamily="18" charset="0"/>
                          </a:rPr>
                          <m:t>𝒏</m:t>
                        </m:r>
                      </m:sup>
                      <m:e>
                        <m:sSup>
                          <m:sSupPr>
                            <m:ctrlPr>
                              <a:rPr lang="en-US" b="1" i="1" smtClean="0">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bSup>
                                              <m:sSubSupPr>
                                                <m:ctrlPr>
                                                  <a:rPr lang="en-US" b="1" i="1">
                                                    <a:solidFill>
                                                      <a:schemeClr val="tx1"/>
                                                    </a:solidFill>
                                                    <a:latin typeface="Cambria Math" panose="02040503050406030204" pitchFamily="18" charset="0"/>
                                                    <a:cs typeface="Times New Roman" panose="02020603050405020304" pitchFamily="18" charset="0"/>
                                                  </a:rPr>
                                                </m:ctrlPr>
                                              </m:sSubSupPr>
                                              <m:e>
                                                <m:r>
                                                  <a:rPr lang="en-US" b="1" i="1">
                                                    <a:solidFill>
                                                      <a:schemeClr val="tx1"/>
                                                    </a:solidFill>
                                                    <a:latin typeface="Cambria Math" panose="02040503050406030204" pitchFamily="18" charset="0"/>
                                                    <a:cs typeface="Times New Roman" panose="02020603050405020304" pitchFamily="18" charset="0"/>
                                                  </a:rPr>
                                                  <m:t>𝒅</m:t>
                                                </m:r>
                                              </m:e>
                                              <m:sub>
                                                <m:r>
                                                  <a:rPr lang="en-US" b="1" i="1">
                                                    <a:solidFill>
                                                      <a:schemeClr val="tx1"/>
                                                    </a:solidFill>
                                                    <a:latin typeface="Cambria Math" panose="02040503050406030204" pitchFamily="18" charset="0"/>
                                                    <a:cs typeface="Times New Roman" panose="02020603050405020304" pitchFamily="18" charset="0"/>
                                                  </a:rPr>
                                                  <m:t>𝒌𝒊</m:t>
                                                </m:r>
                                              </m:sub>
                                              <m:sup>
                                                <m:r>
                                                  <a:rPr lang="en-US" b="1" i="1">
                                                    <a:solidFill>
                                                      <a:schemeClr val="tx1"/>
                                                    </a:solidFill>
                                                    <a:latin typeface="Cambria Math" panose="02040503050406030204" pitchFamily="18" charset="0"/>
                                                    <a:cs typeface="Times New Roman" panose="02020603050405020304" pitchFamily="18" charset="0"/>
                                                  </a:rPr>
                                                  <m:t>𝟐</m:t>
                                                </m:r>
                                              </m:sup>
                                            </m:sSubSup>
                                          </m:num>
                                          <m:den>
                                            <m:sSubSup>
                                              <m:sSubSupPr>
                                                <m:ctrlPr>
                                                  <a:rPr lang="en-US" b="1" i="1">
                                                    <a:solidFill>
                                                      <a:schemeClr val="tx1"/>
                                                    </a:solidFill>
                                                    <a:latin typeface="Cambria Math" panose="02040503050406030204" pitchFamily="18" charset="0"/>
                                                    <a:cs typeface="Times New Roman" panose="02020603050405020304" pitchFamily="18" charset="0"/>
                                                  </a:rPr>
                                                </m:ctrlPr>
                                              </m:sSubSupPr>
                                              <m:e>
                                                <m:r>
                                                  <a:rPr lang="en-US" b="1" i="1">
                                                    <a:solidFill>
                                                      <a:schemeClr val="tx1"/>
                                                    </a:solidFill>
                                                    <a:latin typeface="Cambria Math" panose="02040503050406030204" pitchFamily="18" charset="0"/>
                                                    <a:cs typeface="Times New Roman" panose="02020603050405020304" pitchFamily="18" charset="0"/>
                                                  </a:rPr>
                                                  <m:t>𝒅</m:t>
                                                </m:r>
                                              </m:e>
                                              <m:sub>
                                                <m:r>
                                                  <a:rPr lang="en-US" b="1" i="1">
                                                    <a:solidFill>
                                                      <a:schemeClr val="tx1"/>
                                                    </a:solidFill>
                                                    <a:latin typeface="Cambria Math" panose="02040503050406030204" pitchFamily="18" charset="0"/>
                                                    <a:cs typeface="Times New Roman" panose="02020603050405020304" pitchFamily="18" charset="0"/>
                                                  </a:rPr>
                                                  <m:t>𝒌𝒋</m:t>
                                                </m:r>
                                              </m:sub>
                                              <m:sup>
                                                <m:r>
                                                  <a:rPr lang="en-US" b="1" i="1">
                                                    <a:solidFill>
                                                      <a:schemeClr val="tx1"/>
                                                    </a:solidFill>
                                                    <a:latin typeface="Cambria Math" panose="02040503050406030204" pitchFamily="18" charset="0"/>
                                                    <a:cs typeface="Times New Roman" panose="02020603050405020304" pitchFamily="18" charset="0"/>
                                                  </a:rPr>
                                                  <m:t>𝟐</m:t>
                                                </m:r>
                                              </m:sup>
                                            </m:sSub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𝒎</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sup>
                        </m:sSup>
                      </m:e>
                    </m:nary>
                  </m:oMath>
                </a14:m>
                <a:r>
                  <a:rPr lang="en-IN" b="1"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rPr>
                  <a:t>here k is data point and </a:t>
                </a:r>
                <a:r>
                  <a:rPr lang="en-IN" sz="2000" dirty="0" err="1">
                    <a:solidFill>
                      <a:schemeClr val="tx1"/>
                    </a:solidFill>
                    <a:latin typeface="Times New Roman" panose="02020603050405020304" pitchFamily="18" charset="0"/>
                    <a:cs typeface="Times New Roman" panose="02020603050405020304" pitchFamily="18" charset="0"/>
                  </a:rPr>
                  <a:t>i</a:t>
                </a:r>
                <a:r>
                  <a:rPr lang="en-IN" sz="2000" dirty="0">
                    <a:solidFill>
                      <a:schemeClr val="tx1"/>
                    </a:solidFill>
                    <a:latin typeface="Times New Roman" panose="02020603050405020304" pitchFamily="18" charset="0"/>
                    <a:cs typeface="Times New Roman" panose="02020603050405020304" pitchFamily="18" charset="0"/>
                  </a:rPr>
                  <a:t> is the constant here </a:t>
                </a:r>
              </a:p>
              <a:p>
                <a:r>
                  <a:rPr lang="en-IN" sz="2000" dirty="0">
                    <a:solidFill>
                      <a:schemeClr val="tx1"/>
                    </a:solidFill>
                    <a:latin typeface="Times New Roman" panose="02020603050405020304" pitchFamily="18" charset="0"/>
                    <a:cs typeface="Times New Roman" panose="02020603050405020304" pitchFamily="18" charset="0"/>
                  </a:rPr>
                  <a:t>j will go from </a:t>
                </a:r>
                <a:r>
                  <a:rPr lang="en-IN" sz="2000" dirty="0" err="1">
                    <a:solidFill>
                      <a:schemeClr val="tx1"/>
                    </a:solidFill>
                    <a:latin typeface="Times New Roman" panose="02020603050405020304" pitchFamily="18" charset="0"/>
                    <a:cs typeface="Times New Roman" panose="02020603050405020304" pitchFamily="18" charset="0"/>
                  </a:rPr>
                  <a:t>i</a:t>
                </a:r>
                <a:r>
                  <a:rPr lang="en-IN" sz="2000" dirty="0">
                    <a:solidFill>
                      <a:schemeClr val="tx1"/>
                    </a:solidFill>
                    <a:latin typeface="Times New Roman" panose="02020603050405020304" pitchFamily="18" charset="0"/>
                    <a:cs typeface="Times New Roman" panose="02020603050405020304" pitchFamily="18" charset="0"/>
                  </a:rPr>
                  <a:t> to number of clusters here            </a:t>
                </a:r>
              </a:p>
              <a:p>
                <a:r>
                  <a:rPr lang="en-IN" dirty="0">
                    <a:solidFill>
                      <a:schemeClr val="tx1"/>
                    </a:solidFill>
                    <a:latin typeface="Times New Roman" panose="02020603050405020304" pitchFamily="18" charset="0"/>
                    <a:cs typeface="Times New Roman" panose="02020603050405020304" pitchFamily="18" charset="0"/>
                  </a:rPr>
                  <a:t>For point 1 new membership values are:</a:t>
                </a:r>
              </a:p>
              <a:p>
                <a14:m>
                  <m:oMath xmlns:m="http://schemas.openxmlformats.org/officeDocument/2006/math">
                    <m:sSub>
                      <m:sSubPr>
                        <m:ctrlPr>
                          <a:rPr lang="en-IN" i="1" smtClean="0">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0" i="1" smtClean="0">
                            <a:solidFill>
                              <a:schemeClr val="tx1"/>
                            </a:solidFill>
                            <a:latin typeface="Cambria Math" panose="02040503050406030204" pitchFamily="18" charset="0"/>
                            <a:cs typeface="Times New Roman" panose="02020603050405020304" pitchFamily="18" charset="0"/>
                          </a:rPr>
                          <m:t>11</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smtClean="0">
                                                <a:solidFill>
                                                  <a:schemeClr val="tx1"/>
                                                </a:solidFill>
                                                <a:latin typeface="Cambria Math" panose="02040503050406030204" pitchFamily="18" charset="0"/>
                                                <a:cs typeface="Times New Roman" panose="02020603050405020304" pitchFamily="18" charset="0"/>
                                              </a:rPr>
                                            </m:ctrlPr>
                                          </m:sSupPr>
                                          <m:e>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𝟐</m:t>
                                            </m:r>
                                            <m:r>
                                              <a:rPr lang="en-US" b="1" i="1" smtClean="0">
                                                <a:solidFill>
                                                  <a:schemeClr val="tx1"/>
                                                </a:solidFill>
                                                <a:latin typeface="Cambria Math" panose="02040503050406030204" pitchFamily="18" charset="0"/>
                                                <a:cs typeface="Times New Roman" panose="02020603050405020304" pitchFamily="18" charset="0"/>
                                              </a:rPr>
                                              <m:t>)</m:t>
                                            </m:r>
                                          </m:e>
                                          <m:sup>
                                            <m:r>
                                              <a:rPr lang="en-US" b="1" i="1" smtClean="0">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smtClean="0">
                                        <a:solidFill>
                                          <a:schemeClr val="tx1"/>
                                        </a:solidFill>
                                        <a:latin typeface="Cambria Math" panose="02040503050406030204" pitchFamily="18" charset="0"/>
                                        <a:cs typeface="Times New Roman" panose="02020603050405020304" pitchFamily="18" charset="0"/>
                                      </a:rPr>
                                      <m:t>+</m:t>
                                    </m:r>
                                    <m:f>
                                      <m:fPr>
                                        <m:ctrlPr>
                                          <a:rPr lang="en-US" b="1" i="1" smtClean="0">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𝟕𝟗</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=0.97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i="1">
                            <a:solidFill>
                              <a:schemeClr val="tx1"/>
                            </a:solidFill>
                            <a:latin typeface="Cambria Math" panose="02040503050406030204" pitchFamily="18" charset="0"/>
                            <a:cs typeface="Times New Roman" panose="02020603050405020304" pitchFamily="18" charset="0"/>
                          </a:rPr>
                          <m:t>2</m:t>
                        </m:r>
                        <m:r>
                          <a:rPr lang="en-US" b="0" i="1" smtClean="0">
                            <a:solidFill>
                              <a:schemeClr val="tx1"/>
                            </a:solidFill>
                            <a:latin typeface="Cambria Math" panose="02040503050406030204" pitchFamily="18" charset="0"/>
                            <a:cs typeface="Times New Roman" panose="02020603050405020304" pitchFamily="18" charset="0"/>
                          </a:rPr>
                          <m:t>1</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𝟎𝟒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𝟎𝟒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𝟎𝟒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=0.95</a:t>
                </a:r>
              </a:p>
              <a:p>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b="1" i="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𝝲</m:t>
                        </m:r>
                      </m:e>
                      <m:sub>
                        <m:r>
                          <a:rPr lang="en-US" i="0">
                            <a:solidFill>
                              <a:schemeClr val="tx1"/>
                            </a:solidFill>
                            <a:latin typeface="Cambria Math" panose="02040503050406030204" pitchFamily="18" charset="0"/>
                            <a:cs typeface="Times New Roman" panose="02020603050405020304" pitchFamily="18" charset="0"/>
                          </a:rPr>
                          <m:t>1</m:t>
                        </m:r>
                        <m:r>
                          <a:rPr lang="en-US" b="0" i="0" smtClean="0">
                            <a:solidFill>
                              <a:schemeClr val="tx1"/>
                            </a:solidFill>
                            <a:latin typeface="Cambria Math" panose="02040503050406030204" pitchFamily="18" charset="0"/>
                            <a:cs typeface="Times New Roman" panose="02020603050405020304" pitchFamily="18" charset="0"/>
                          </a:rPr>
                          <m:t>2</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𝟔</m:t>
                                            </m:r>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𝟕𝟗</m:t>
                                            </m:r>
                                            <m:r>
                                              <a:rPr lang="en-US" b="1" i="0">
                                                <a:solidFill>
                                                  <a:schemeClr val="tx1"/>
                                                </a:solidFill>
                                                <a:latin typeface="Cambria Math" panose="02040503050406030204" pitchFamily="18" charset="0"/>
                                                <a:cs typeface="Times New Roman" panose="02020603050405020304" pitchFamily="18" charset="0"/>
                                              </a:rPr>
                                              <m:t>)</m:t>
                                            </m:r>
                                          </m:e>
                                          <m:sup>
                                            <m:r>
                                              <a:rPr lang="en-US" b="1" i="0">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𝟏</m:t>
                                            </m:r>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𝟐</m:t>
                                            </m:r>
                                            <m:r>
                                              <a:rPr lang="en-US" b="1" i="0">
                                                <a:solidFill>
                                                  <a:schemeClr val="tx1"/>
                                                </a:solidFill>
                                                <a:latin typeface="Cambria Math" panose="02040503050406030204" pitchFamily="18" charset="0"/>
                                                <a:cs typeface="Times New Roman" panose="02020603050405020304" pitchFamily="18" charset="0"/>
                                              </a:rPr>
                                              <m:t>)</m:t>
                                            </m:r>
                                          </m:e>
                                          <m:sup>
                                            <m:r>
                                              <a:rPr lang="en-US" b="1" i="0">
                                                <a:solidFill>
                                                  <a:schemeClr val="tx1"/>
                                                </a:solidFill>
                                                <a:latin typeface="Cambria Math" panose="02040503050406030204" pitchFamily="18" charset="0"/>
                                                <a:cs typeface="Times New Roman" panose="02020603050405020304" pitchFamily="18" charset="0"/>
                                              </a:rPr>
                                              <m:t>𝟐</m:t>
                                            </m:r>
                                          </m:sup>
                                        </m:sSup>
                                      </m:den>
                                    </m:f>
                                    <m:r>
                                      <a:rPr lang="en-US" b="1" i="0">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𝟔</m:t>
                                            </m:r>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𝟕𝟗</m:t>
                                            </m:r>
                                            <m:r>
                                              <a:rPr lang="en-US" b="1" i="0">
                                                <a:solidFill>
                                                  <a:schemeClr val="tx1"/>
                                                </a:solidFill>
                                                <a:latin typeface="Cambria Math" panose="02040503050406030204" pitchFamily="18" charset="0"/>
                                                <a:cs typeface="Times New Roman" panose="02020603050405020304" pitchFamily="18" charset="0"/>
                                              </a:rPr>
                                              <m:t>)</m:t>
                                            </m:r>
                                          </m:e>
                                          <m:sup>
                                            <m:r>
                                              <a:rPr lang="en-US" b="1" i="0">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𝟔</m:t>
                                            </m:r>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𝟕𝟗</m:t>
                                            </m:r>
                                            <m:r>
                                              <a:rPr lang="en-US" b="1" i="0">
                                                <a:solidFill>
                                                  <a:schemeClr val="tx1"/>
                                                </a:solidFill>
                                                <a:latin typeface="Cambria Math" panose="02040503050406030204" pitchFamily="18" charset="0"/>
                                                <a:cs typeface="Times New Roman" panose="02020603050405020304" pitchFamily="18" charset="0"/>
                                              </a:rPr>
                                              <m:t>)</m:t>
                                            </m:r>
                                          </m:e>
                                          <m:sup>
                                            <m:r>
                                              <a:rPr lang="en-US" b="1" i="0">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0">
                                        <a:solidFill>
                                          <a:schemeClr val="tx1"/>
                                        </a:solidFill>
                                        <a:latin typeface="Cambria Math" panose="02040503050406030204" pitchFamily="18" charset="0"/>
                                        <a:cs typeface="Times New Roman" panose="02020603050405020304" pitchFamily="18" charset="0"/>
                                      </a:rPr>
                                      <m:t>𝟏</m:t>
                                    </m:r>
                                  </m:num>
                                  <m:den>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𝟐</m:t>
                                    </m:r>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𝟏</m:t>
                                    </m:r>
                                    <m:r>
                                      <a:rPr lang="en-US" b="1" i="0">
                                        <a:solidFill>
                                          <a:schemeClr val="tx1"/>
                                        </a:solidFill>
                                        <a:latin typeface="Cambria Math" panose="02040503050406030204" pitchFamily="18" charset="0"/>
                                        <a:cs typeface="Times New Roman" panose="02020603050405020304" pitchFamily="18" charset="0"/>
                                      </a:rPr>
                                      <m:t>)</m:t>
                                    </m:r>
                                  </m:den>
                                </m:f>
                              </m:sup>
                            </m:sSup>
                          </m:e>
                        </m:d>
                      </m:e>
                      <m:sup>
                        <m:r>
                          <a:rPr lang="en-US" b="1" i="0">
                            <a:solidFill>
                              <a:schemeClr val="tx1"/>
                            </a:solidFill>
                            <a:latin typeface="Cambria Math" panose="02040503050406030204" pitchFamily="18" charset="0"/>
                            <a:cs typeface="Times New Roman" panose="02020603050405020304" pitchFamily="18" charset="0"/>
                          </a:rPr>
                          <m:t>−</m:t>
                        </m:r>
                        <m:r>
                          <a:rPr lang="en-US" b="1" i="0">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=0.03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r>
                          <a:rPr lang="en-US" i="1">
                            <a:solidFill>
                              <a:schemeClr val="tx1"/>
                            </a:solidFill>
                            <a:latin typeface="Cambria Math" panose="02040503050406030204" pitchFamily="18" charset="0"/>
                            <a:cs typeface="Times New Roman" panose="02020603050405020304" pitchFamily="18" charset="0"/>
                          </a:rPr>
                          <m:t>2</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𝟎𝟒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=0.05</a:t>
                </a:r>
              </a:p>
              <a:p>
                <a:endParaRPr lang="en-IN"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4354D93-6F82-7C86-F3D1-B5010AC31E86}"/>
                  </a:ext>
                </a:extLst>
              </p:cNvPr>
              <p:cNvSpPr>
                <a:spLocks noGrp="1" noRot="1" noChangeAspect="1" noMove="1" noResize="1" noEditPoints="1" noAdjustHandles="1" noChangeArrowheads="1" noChangeShapeType="1" noTextEdit="1"/>
              </p:cNvSpPr>
              <p:nvPr>
                <p:ph idx="1"/>
              </p:nvPr>
            </p:nvSpPr>
            <p:spPr>
              <a:xfrm>
                <a:off x="886409" y="699796"/>
                <a:ext cx="10543591" cy="5458408"/>
              </a:xfrm>
              <a:blipFill>
                <a:blip r:embed="rId3"/>
                <a:stretch>
                  <a:fillRect l="-1040" t="-1564"/>
                </a:stretch>
              </a:blipFill>
            </p:spPr>
            <p:txBody>
              <a:bodyPr/>
              <a:lstStyle/>
              <a:p>
                <a:r>
                  <a:rPr lang="en-IN">
                    <a:noFill/>
                  </a:rPr>
                  <a:t> </a:t>
                </a:r>
              </a:p>
            </p:txBody>
          </p:sp>
        </mc:Fallback>
      </mc:AlternateContent>
    </p:spTree>
    <p:extLst>
      <p:ext uri="{BB962C8B-B14F-4D97-AF65-F5344CB8AC3E}">
        <p14:creationId xmlns:p14="http://schemas.microsoft.com/office/powerpoint/2010/main" val="102170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BF217A-D6BE-0E49-AA83-5B1BEE9048E6}"/>
                  </a:ext>
                </a:extLst>
              </p:cNvPr>
              <p:cNvSpPr>
                <a:spLocks noGrp="1"/>
              </p:cNvSpPr>
              <p:nvPr>
                <p:ph idx="1"/>
              </p:nvPr>
            </p:nvSpPr>
            <p:spPr>
              <a:xfrm>
                <a:off x="793102" y="681135"/>
                <a:ext cx="10487608" cy="5523722"/>
              </a:xfrm>
            </p:spPr>
            <p:txBody>
              <a:bodyPr/>
              <a:lstStyle/>
              <a:p>
                <a14:m>
                  <m:oMath xmlns:m="http://schemas.openxmlformats.org/officeDocument/2006/math">
                    <m:sSub>
                      <m:sSubPr>
                        <m:ctrlPr>
                          <a:rPr lang="en-IN" i="1" smtClean="0">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r>
                          <a:rPr lang="en-US" i="1">
                            <a:solidFill>
                              <a:schemeClr val="tx1"/>
                            </a:solidFill>
                            <a:latin typeface="Cambria Math" panose="02040503050406030204" pitchFamily="18" charset="0"/>
                            <a:cs typeface="Times New Roman" panose="02020603050405020304" pitchFamily="18" charset="0"/>
                          </a:rPr>
                          <m:t>1</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𝟔𝟑</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𝟔𝟑</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𝟒</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𝟔𝟒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𝟑𝟔</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=0.08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m:t>
                        </m:r>
                        <m:r>
                          <a:rPr lang="en-US" i="1">
                            <a:solidFill>
                              <a:schemeClr val="tx1"/>
                            </a:solidFill>
                            <a:latin typeface="Cambria Math" panose="02040503050406030204" pitchFamily="18" charset="0"/>
                            <a:cs typeface="Times New Roman" panose="02020603050405020304" pitchFamily="18" charset="0"/>
                          </a:rPr>
                          <m:t>1</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𝟕</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𝟕</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𝟕</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𝟖𝟐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=0.06</a:t>
                </a:r>
              </a:p>
              <a:p>
                <a14:m>
                  <m:oMath xmlns:m="http://schemas.openxmlformats.org/officeDocument/2006/math">
                    <m:sSub>
                      <m:sSubPr>
                        <m:ctrlPr>
                          <a:rPr lang="en-IN" i="1" smtClean="0">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𝟑𝟔</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𝟒</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𝟔𝟑</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𝟑𝟔</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𝟑𝟔</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solidFill>
                      <a:schemeClr val="tx1"/>
                    </a:solidFill>
                    <a:latin typeface="Times New Roman" panose="02020603050405020304" pitchFamily="18" charset="0"/>
                    <a:cs typeface="Times New Roman" panose="02020603050405020304" pitchFamily="18" charset="0"/>
                  </a:rPr>
                  <a:t>=0.92     </a:t>
                </a:r>
                <a14:m>
                  <m:oMath xmlns:m="http://schemas.openxmlformats.org/officeDocument/2006/math">
                    <m:sSub>
                      <m:sSubPr>
                        <m:ctrlPr>
                          <a:rPr lang="en-IN"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𝞬</m:t>
                        </m:r>
                      </m:e>
                      <m:sub>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n-IN"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cs typeface="Times New Roman" panose="02020603050405020304" pitchFamily="18" charset="0"/>
                  </a:rPr>
                  <a:t> </a:t>
                </a:r>
                <a14:m>
                  <m:oMath xmlns:m="http://schemas.openxmlformats.org/officeDocument/2006/math">
                    <m:sSup>
                      <m:sSupPr>
                        <m:ctrlPr>
                          <a:rPr lang="en-US" b="1" i="1" smtClean="0">
                            <a:solidFill>
                              <a:schemeClr val="tx1"/>
                            </a:solidFill>
                            <a:latin typeface="Cambria Math" panose="02040503050406030204" pitchFamily="18" charset="0"/>
                            <a:cs typeface="Times New Roman" panose="02020603050405020304" pitchFamily="18" charset="0"/>
                          </a:rPr>
                        </m:ctrlPr>
                      </m:sSupPr>
                      <m:e>
                        <m:d>
                          <m:dPr>
                            <m:ctrlPr>
                              <a:rPr lang="en-US" b="1" i="1">
                                <a:solidFill>
                                  <a:schemeClr val="tx1"/>
                                </a:solidFill>
                                <a:latin typeface="Cambria Math" panose="02040503050406030204" pitchFamily="18" charset="0"/>
                                <a:cs typeface="Times New Roman" panose="02020603050405020304" pitchFamily="18" charset="0"/>
                              </a:rPr>
                            </m:ctrlPr>
                          </m:dPr>
                          <m:e>
                            <m:sSup>
                              <m:sSupPr>
                                <m:ctrlPr>
                                  <a:rPr lang="en-US" b="1"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b="1" i="1">
                                        <a:solidFill>
                                          <a:schemeClr val="tx1"/>
                                        </a:solidFill>
                                        <a:latin typeface="Cambria Math" panose="02040503050406030204" pitchFamily="18" charset="0"/>
                                        <a:cs typeface="Times New Roman" panose="02020603050405020304" pitchFamily="18" charset="0"/>
                                      </a:rPr>
                                    </m:ctrlPr>
                                  </m:dPr>
                                  <m:e>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𝟖𝟐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𝟕</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𝟑𝟒</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r>
                                      <a:rPr lang="en-US" b="1" i="1">
                                        <a:solidFill>
                                          <a:schemeClr val="tx1"/>
                                        </a:solidFill>
                                        <a:latin typeface="Cambria Math" panose="02040503050406030204" pitchFamily="18" charset="0"/>
                                        <a:cs typeface="Times New Roman" panose="02020603050405020304" pitchFamily="18" charset="0"/>
                                      </a:rPr>
                                      <m:t>+</m:t>
                                    </m:r>
                                    <m:f>
                                      <m:fPr>
                                        <m:ctrlPr>
                                          <a:rPr lang="en-US" b="1" i="1">
                                            <a:solidFill>
                                              <a:schemeClr val="tx1"/>
                                            </a:solidFill>
                                            <a:latin typeface="Cambria Math" panose="02040503050406030204" pitchFamily="18" charset="0"/>
                                            <a:cs typeface="Times New Roman" panose="02020603050405020304" pitchFamily="18" charset="0"/>
                                          </a:rPr>
                                        </m:ctrlPr>
                                      </m:fPr>
                                      <m:num>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𝟏</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𝟖𝟐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num>
                                      <m:den>
                                        <m:sSup>
                                          <m:sSupPr>
                                            <m:ctrlPr>
                                              <a:rPr lang="en-US" b="1" i="1">
                                                <a:solidFill>
                                                  <a:schemeClr val="tx1"/>
                                                </a:solidFill>
                                                <a:latin typeface="Cambria Math" panose="02040503050406030204" pitchFamily="18" charset="0"/>
                                                <a:cs typeface="Times New Roman" panose="02020603050405020304" pitchFamily="18" charset="0"/>
                                              </a:rPr>
                                            </m:ctrlPr>
                                          </m:sSupPr>
                                          <m:e>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𝟖𝟐</m:t>
                                            </m:r>
                                            <m:r>
                                              <a:rPr lang="en-US" b="1" i="1">
                                                <a:solidFill>
                                                  <a:schemeClr val="tx1"/>
                                                </a:solidFill>
                                                <a:latin typeface="Cambria Math" panose="02040503050406030204" pitchFamily="18" charset="0"/>
                                                <a:cs typeface="Times New Roman" panose="02020603050405020304" pitchFamily="18" charset="0"/>
                                              </a:rPr>
                                              <m:t>)</m:t>
                                            </m:r>
                                          </m:e>
                                          <m:sup>
                                            <m:r>
                                              <a:rPr lang="en-US" b="1" i="1">
                                                <a:solidFill>
                                                  <a:schemeClr val="tx1"/>
                                                </a:solidFill>
                                                <a:latin typeface="Cambria Math" panose="02040503050406030204" pitchFamily="18" charset="0"/>
                                                <a:cs typeface="Times New Roman" panose="02020603050405020304" pitchFamily="18" charset="0"/>
                                              </a:rPr>
                                              <m:t>𝟐</m:t>
                                            </m:r>
                                          </m:sup>
                                        </m:sSup>
                                      </m:den>
                                    </m:f>
                                  </m:e>
                                </m:d>
                              </m:e>
                              <m:sup>
                                <m:f>
                                  <m:fPr>
                                    <m:ctrlPr>
                                      <a:rPr lang="en-US" b="1" i="1">
                                        <a:solidFill>
                                          <a:schemeClr val="tx1"/>
                                        </a:solidFill>
                                        <a:latin typeface="Cambria Math" panose="02040503050406030204" pitchFamily="18" charset="0"/>
                                        <a:cs typeface="Times New Roman" panose="02020603050405020304" pitchFamily="18" charset="0"/>
                                      </a:rPr>
                                    </m:ctrlPr>
                                  </m:fPr>
                                  <m:num>
                                    <m:r>
                                      <a:rPr lang="en-US" b="1" i="1">
                                        <a:solidFill>
                                          <a:schemeClr val="tx1"/>
                                        </a:solidFill>
                                        <a:latin typeface="Cambria Math" panose="02040503050406030204" pitchFamily="18" charset="0"/>
                                        <a:cs typeface="Times New Roman" panose="02020603050405020304" pitchFamily="18" charset="0"/>
                                      </a:rPr>
                                      <m:t>𝟏</m:t>
                                    </m:r>
                                  </m:num>
                                  <m:den>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𝟐</m:t>
                                    </m:r>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r>
                                      <a:rPr lang="en-US" b="1" i="1">
                                        <a:solidFill>
                                          <a:schemeClr val="tx1"/>
                                        </a:solidFill>
                                        <a:latin typeface="Cambria Math" panose="02040503050406030204" pitchFamily="18" charset="0"/>
                                        <a:cs typeface="Times New Roman" panose="02020603050405020304" pitchFamily="18" charset="0"/>
                                      </a:rPr>
                                      <m:t>)</m:t>
                                    </m:r>
                                  </m:den>
                                </m:f>
                              </m:sup>
                            </m:sSup>
                          </m:e>
                        </m:d>
                      </m:e>
                      <m:sup>
                        <m:r>
                          <a:rPr lang="en-US" b="1" i="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𝟏</m:t>
                        </m:r>
                      </m:sup>
                    </m:sSup>
                  </m:oMath>
                </a14:m>
                <a:r>
                  <a:rPr lang="en-IN" dirty="0"/>
                  <a:t>=0.94</a:t>
                </a:r>
              </a:p>
              <a:p>
                <a:endParaRPr lang="en-IN" dirty="0"/>
              </a:p>
              <a:p>
                <a:pPr marL="0" indent="0">
                  <a:buNone/>
                </a:pPr>
                <a:r>
                  <a:rPr lang="en-IN" dirty="0">
                    <a:solidFill>
                      <a:schemeClr val="tx1"/>
                    </a:solidFill>
                    <a:latin typeface="Times New Roman" panose="02020603050405020304" pitchFamily="18" charset="0"/>
                    <a:cs typeface="Times New Roman" panose="02020603050405020304" pitchFamily="18" charset="0"/>
                  </a:rPr>
                  <a:t>Step 5: Repeat step 2-4 until constant values are</a:t>
                </a:r>
              </a:p>
              <a:p>
                <a:pPr marL="0" indent="0">
                  <a:buNone/>
                </a:pPr>
                <a:r>
                  <a:rPr lang="en-IN" dirty="0">
                    <a:solidFill>
                      <a:schemeClr val="tx1"/>
                    </a:solidFill>
                    <a:latin typeface="Times New Roman" panose="02020603050405020304" pitchFamily="18" charset="0"/>
                    <a:cs typeface="Times New Roman" panose="02020603050405020304" pitchFamily="18" charset="0"/>
                  </a:rPr>
                  <a:t>Obtained for membership values or the difference</a:t>
                </a:r>
              </a:p>
              <a:p>
                <a:pPr marL="0" indent="0">
                  <a:buNone/>
                </a:pPr>
                <a:r>
                  <a:rPr lang="en-IN" dirty="0">
                    <a:solidFill>
                      <a:schemeClr val="tx1"/>
                    </a:solidFill>
                    <a:latin typeface="Times New Roman" panose="02020603050405020304" pitchFamily="18" charset="0"/>
                    <a:cs typeface="Times New Roman" panose="02020603050405020304" pitchFamily="18" charset="0"/>
                  </a:rPr>
                  <a:t>is less than tolerance value</a:t>
                </a:r>
              </a:p>
            </p:txBody>
          </p:sp>
        </mc:Choice>
        <mc:Fallback xmlns="">
          <p:sp>
            <p:nvSpPr>
              <p:cNvPr id="3" name="Content Placeholder 2">
                <a:extLst>
                  <a:ext uri="{FF2B5EF4-FFF2-40B4-BE49-F238E27FC236}">
                    <a16:creationId xmlns:a16="http://schemas.microsoft.com/office/drawing/2014/main" id="{7CBF217A-D6BE-0E49-AA83-5B1BEE9048E6}"/>
                  </a:ext>
                </a:extLst>
              </p:cNvPr>
              <p:cNvSpPr>
                <a:spLocks noGrp="1" noRot="1" noChangeAspect="1" noMove="1" noResize="1" noEditPoints="1" noAdjustHandles="1" noChangeArrowheads="1" noChangeShapeType="1" noTextEdit="1"/>
              </p:cNvSpPr>
              <p:nvPr>
                <p:ph idx="1"/>
              </p:nvPr>
            </p:nvSpPr>
            <p:spPr>
              <a:xfrm>
                <a:off x="793102" y="681135"/>
                <a:ext cx="10487608" cy="5523722"/>
              </a:xfrm>
              <a:blipFill>
                <a:blip r:embed="rId2"/>
                <a:stretch>
                  <a:fillRect l="-872"/>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17D86FE6-1A08-3648-58B8-07B2A52BE70C}"/>
              </a:ext>
            </a:extLst>
          </p:cNvPr>
          <p:cNvGraphicFramePr>
            <a:graphicFrameLocks noGrp="1"/>
          </p:cNvGraphicFramePr>
          <p:nvPr>
            <p:extLst>
              <p:ext uri="{D42A27DB-BD31-4B8C-83A1-F6EECF244321}">
                <p14:modId xmlns:p14="http://schemas.microsoft.com/office/powerpoint/2010/main" val="155279599"/>
              </p:ext>
            </p:extLst>
          </p:nvPr>
        </p:nvGraphicFramePr>
        <p:xfrm>
          <a:off x="6979298" y="3694923"/>
          <a:ext cx="4086810" cy="1594240"/>
        </p:xfrm>
        <a:graphic>
          <a:graphicData uri="http://schemas.openxmlformats.org/drawingml/2006/table">
            <a:tbl>
              <a:tblPr firstRow="1" bandRow="1">
                <a:tableStyleId>{5C22544A-7EE6-4342-B048-85BDC9FD1C3A}</a:tableStyleId>
              </a:tblPr>
              <a:tblGrid>
                <a:gridCol w="1108477">
                  <a:extLst>
                    <a:ext uri="{9D8B030D-6E8A-4147-A177-3AD203B41FA5}">
                      <a16:colId xmlns:a16="http://schemas.microsoft.com/office/drawing/2014/main" val="3328759281"/>
                    </a:ext>
                  </a:extLst>
                </a:gridCol>
                <a:gridCol w="776309">
                  <a:extLst>
                    <a:ext uri="{9D8B030D-6E8A-4147-A177-3AD203B41FA5}">
                      <a16:colId xmlns:a16="http://schemas.microsoft.com/office/drawing/2014/main" val="3098239073"/>
                    </a:ext>
                  </a:extLst>
                </a:gridCol>
                <a:gridCol w="681135">
                  <a:extLst>
                    <a:ext uri="{9D8B030D-6E8A-4147-A177-3AD203B41FA5}">
                      <a16:colId xmlns:a16="http://schemas.microsoft.com/office/drawing/2014/main" val="4173124280"/>
                    </a:ext>
                  </a:extLst>
                </a:gridCol>
                <a:gridCol w="802432">
                  <a:extLst>
                    <a:ext uri="{9D8B030D-6E8A-4147-A177-3AD203B41FA5}">
                      <a16:colId xmlns:a16="http://schemas.microsoft.com/office/drawing/2014/main" val="2657941240"/>
                    </a:ext>
                  </a:extLst>
                </a:gridCol>
                <a:gridCol w="718457">
                  <a:extLst>
                    <a:ext uri="{9D8B030D-6E8A-4147-A177-3AD203B41FA5}">
                      <a16:colId xmlns:a16="http://schemas.microsoft.com/office/drawing/2014/main" val="514824522"/>
                    </a:ext>
                  </a:extLst>
                </a:gridCol>
              </a:tblGrid>
              <a:tr h="481720">
                <a:tc>
                  <a:txBody>
                    <a:bodyPr/>
                    <a:lstStyle/>
                    <a:p>
                      <a:r>
                        <a:rPr lang="en-US" sz="1800" dirty="0">
                          <a:latin typeface="Times New Roman" panose="02020603050405020304" pitchFamily="18" charset="0"/>
                          <a:cs typeface="Times New Roman" panose="02020603050405020304" pitchFamily="18" charset="0"/>
                        </a:rPr>
                        <a:t>Clusters </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(1,3)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(4,8)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(7,9)</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4226185"/>
                  </a:ext>
                </a:extLst>
              </a:tr>
              <a:tr h="370840">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0.97</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0.08</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0.06</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7619061"/>
                  </a:ext>
                </a:extLst>
              </a:tr>
              <a:tr h="370840">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0.03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0.05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0.94</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1302004"/>
                  </a:ext>
                </a:extLst>
              </a:tr>
              <a:tr h="370840">
                <a:tc>
                  <a:txBody>
                    <a:bodyPr/>
                    <a:lstStyle/>
                    <a:p>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2</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2</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1</a:t>
                      </a:r>
                      <a:endParaRPr lang="en-IN" sz="1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1800" b="1" dirty="0">
                          <a:solidFill>
                            <a:srgbClr val="FF0000"/>
                          </a:solidFill>
                          <a:latin typeface="Times New Roman" panose="02020603050405020304" pitchFamily="18" charset="0"/>
                          <a:cs typeface="Times New Roman" panose="02020603050405020304" pitchFamily="18" charset="0"/>
                        </a:rPr>
                        <a:t>1</a:t>
                      </a:r>
                      <a:endParaRPr lang="en-IN" sz="1800"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6978003"/>
                  </a:ext>
                </a:extLst>
              </a:tr>
            </a:tbl>
          </a:graphicData>
        </a:graphic>
      </p:graphicFrame>
    </p:spTree>
    <p:extLst>
      <p:ext uri="{BB962C8B-B14F-4D97-AF65-F5344CB8AC3E}">
        <p14:creationId xmlns:p14="http://schemas.microsoft.com/office/powerpoint/2010/main" val="4062349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B19F8-9AEB-D1EB-9B3D-ADD33A3B8A46}"/>
              </a:ext>
            </a:extLst>
          </p:cNvPr>
          <p:cNvSpPr>
            <a:spLocks noGrp="1"/>
          </p:cNvSpPr>
          <p:nvPr>
            <p:ph type="title"/>
          </p:nvPr>
        </p:nvSpPr>
        <p:spPr/>
        <p:txBody>
          <a:bodyPr/>
          <a:lstStyle/>
          <a:p>
            <a:r>
              <a:rPr lang="en-US"/>
              <a:t>Advantages of K-means</a:t>
            </a:r>
            <a:endParaRPr lang="en-IN"/>
          </a:p>
        </p:txBody>
      </p:sp>
      <p:sp>
        <p:nvSpPr>
          <p:cNvPr id="3" name="Content Placeholder 2">
            <a:extLst>
              <a:ext uri="{FF2B5EF4-FFF2-40B4-BE49-F238E27FC236}">
                <a16:creationId xmlns:a16="http://schemas.microsoft.com/office/drawing/2014/main" id="{7E5F0486-5BA5-484B-FE95-842A1232BD8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954488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253</TotalTime>
  <Words>775</Words>
  <Application>Microsoft Office PowerPoint</Application>
  <PresentationFormat>Widescreen</PresentationFormat>
  <Paragraphs>141</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 Math</vt:lpstr>
      <vt:lpstr>Garamond</vt:lpstr>
      <vt:lpstr>Times New Roman</vt:lpstr>
      <vt:lpstr>Wingdings</vt:lpstr>
      <vt:lpstr>Organic</vt:lpstr>
      <vt:lpstr>Different types of clustering methods</vt:lpstr>
      <vt:lpstr>Types of clustering</vt:lpstr>
      <vt:lpstr>K-Means clustering Algorithm</vt:lpstr>
      <vt:lpstr>PowerPoint Presentation</vt:lpstr>
      <vt:lpstr>PowerPoint Presentation</vt:lpstr>
      <vt:lpstr>PowerPoint Presentation</vt:lpstr>
      <vt:lpstr>PowerPoint Presentation</vt:lpstr>
      <vt:lpstr>PowerPoint Presentation</vt:lpstr>
      <vt:lpstr>PowerPoint Presentation</vt:lpstr>
      <vt:lpstr>Fuzzy k-means clustering</vt:lpstr>
      <vt:lpstr>PowerPoint Presentation</vt:lpstr>
      <vt:lpstr>Fuzzy K-means steps</vt:lpstr>
      <vt:lpstr>PowerPoint Presentation</vt:lpstr>
      <vt:lpstr>PowerPoint Presentation</vt:lpstr>
      <vt:lpstr>PowerPoint Presentation</vt:lpstr>
      <vt:lpstr>PowerPoint Presentation</vt:lpstr>
      <vt:lpstr>Advantages of K-means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Dell</cp:lastModifiedBy>
  <cp:revision>9</cp:revision>
  <dcterms:created xsi:type="dcterms:W3CDTF">2026-04-15T06:16:58Z</dcterms:created>
  <dcterms:modified xsi:type="dcterms:W3CDTF">2026-04-19T09:56:48Z</dcterms:modified>
</cp:coreProperties>
</file>